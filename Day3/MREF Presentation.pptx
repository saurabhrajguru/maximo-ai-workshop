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147472800" r:id="rId2"/>
    <p:sldId id="2147483614" r:id="rId3"/>
    <p:sldId id="273" r:id="rId4"/>
    <p:sldId id="2142532875" r:id="rId5"/>
    <p:sldId id="5767" r:id="rId6"/>
    <p:sldId id="2147472796" r:id="rId7"/>
    <p:sldId id="2147472799" r:id="rId8"/>
    <p:sldId id="257" r:id="rId9"/>
    <p:sldId id="2142532890" r:id="rId10"/>
    <p:sldId id="2147472797" r:id="rId11"/>
    <p:sldId id="2147472810" r:id="rId12"/>
    <p:sldId id="260" r:id="rId13"/>
    <p:sldId id="261" r:id="rId14"/>
    <p:sldId id="2147472801" r:id="rId15"/>
    <p:sldId id="2147472802" r:id="rId16"/>
    <p:sldId id="2147472803" r:id="rId17"/>
    <p:sldId id="2147472804" r:id="rId18"/>
    <p:sldId id="2147472805" r:id="rId19"/>
    <p:sldId id="2147472806" r:id="rId20"/>
    <p:sldId id="2147472807" r:id="rId21"/>
    <p:sldId id="2147472808" r:id="rId22"/>
    <p:sldId id="2147472809" r:id="rId23"/>
    <p:sldId id="475"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51"/>
    <p:restoredTop sz="94731"/>
  </p:normalViewPr>
  <p:slideViewPr>
    <p:cSldViewPr snapToGrid="0">
      <p:cViewPr varScale="1">
        <p:scale>
          <a:sx n="151" d="100"/>
          <a:sy n="151" d="100"/>
        </p:scale>
        <p:origin x="208"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2FE505-E7DE-984D-A313-4666FC0F5CD7}" type="datetimeFigureOut">
              <a:rPr lang="en-US" smtClean="0"/>
              <a:t>10/29/25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359C5F-B4A7-C641-9DB5-22ABB8D26C96}" type="slidenum">
              <a:rPr lang="en-US" smtClean="0"/>
              <a:t>‹#›</a:t>
            </a:fld>
            <a:endParaRPr lang="en-US"/>
          </a:p>
        </p:txBody>
      </p:sp>
    </p:spTree>
    <p:extLst>
      <p:ext uri="{BB962C8B-B14F-4D97-AF65-F5344CB8AC3E}">
        <p14:creationId xmlns:p14="http://schemas.microsoft.com/office/powerpoint/2010/main" val="42599399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lang="en-US"/>
              <a:t>This file is updated regularly.  Always grab the latest version at:</a:t>
            </a:r>
          </a:p>
          <a:p>
            <a:endParaRPr lang="en-US"/>
          </a:p>
          <a:p>
            <a:r>
              <a:rPr lang="en-US" b="0" i="0">
                <a:solidFill>
                  <a:srgbClr val="333333"/>
                </a:solidFill>
                <a:effectLst/>
                <a:latin typeface="Source Sans Pro" panose="020B0503030403020204" pitchFamily="34" charset="0"/>
              </a:rPr>
              <a:t>https://</a:t>
            </a:r>
            <a:r>
              <a:rPr lang="en-US" b="0" i="0" err="1">
                <a:solidFill>
                  <a:srgbClr val="333333"/>
                </a:solidFill>
                <a:effectLst/>
                <a:latin typeface="Source Sans Pro" panose="020B0503030403020204" pitchFamily="34" charset="0"/>
              </a:rPr>
              <a:t>ibm.seismic.com</a:t>
            </a:r>
            <a:r>
              <a:rPr lang="en-US" b="0" i="0">
                <a:solidFill>
                  <a:srgbClr val="333333"/>
                </a:solidFill>
                <a:effectLst/>
                <a:latin typeface="Source Sans Pro" panose="020B0503030403020204" pitchFamily="34" charset="0"/>
              </a:rPr>
              <a:t>/Link/Content/DCGFbH76Hch2QGmGP262VBTmP37V</a:t>
            </a:r>
            <a:endParaRPr lang="en-US"/>
          </a:p>
        </p:txBody>
      </p:sp>
      <p:sp>
        <p:nvSpPr>
          <p:cNvPr id="4" name="Slide Number Placeholder 3"/>
          <p:cNvSpPr>
            <a:spLocks noGrp="1"/>
          </p:cNvSpPr>
          <p:nvPr>
            <p:ph type="sldNum" sz="quarter" idx="5"/>
          </p:nvPr>
        </p:nvSpPr>
        <p:spPr/>
        <p:txBody>
          <a:bodyPr/>
          <a:lstStyle/>
          <a:p>
            <a:fld id="{6E2E38B8-B0B4-AD41-AC6E-B781F46A9FD3}" type="slidenum">
              <a:rPr lang="en-US" smtClean="0"/>
              <a:pPr/>
              <a:t>1</a:t>
            </a:fld>
            <a:endParaRPr lang="en-US"/>
          </a:p>
        </p:txBody>
      </p:sp>
      <p:sp>
        <p:nvSpPr>
          <p:cNvPr id="5" name="Footer Placeholder 4"/>
          <p:cNvSpPr>
            <a:spLocks noGrp="1"/>
          </p:cNvSpPr>
          <p:nvPr>
            <p:ph type="ftr" sz="quarter" idx="4"/>
          </p:nvPr>
        </p:nvSpPr>
        <p:spPr/>
        <p:txBody>
          <a:bodyPr/>
          <a:lstStyle/>
          <a:p>
            <a:r>
              <a:rPr lang="en-US"/>
              <a:t>Footer</a:t>
            </a:r>
          </a:p>
        </p:txBody>
      </p:sp>
    </p:spTree>
    <p:extLst>
      <p:ext uri="{BB962C8B-B14F-4D97-AF65-F5344CB8AC3E}">
        <p14:creationId xmlns:p14="http://schemas.microsoft.com/office/powerpoint/2010/main" val="2520031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1EB0D-E2A0-E03C-8F50-861B4348DE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7CCFF0-5B43-0AC7-9A8B-A23422783562}"/>
              </a:ext>
            </a:extLst>
          </p:cNvPr>
          <p:cNvSpPr>
            <a:spLocks noGrp="1" noRot="1" noChangeAspect="1"/>
          </p:cNvSpPr>
          <p:nvPr>
            <p:ph type="sldImg"/>
          </p:nvPr>
        </p:nvSpPr>
        <p:spPr>
          <a:xfrm>
            <a:off x="273050" y="239713"/>
            <a:ext cx="6742113" cy="3792537"/>
          </a:xfrm>
        </p:spPr>
      </p:sp>
      <p:sp>
        <p:nvSpPr>
          <p:cNvPr id="3" name="Notes Placeholder 2">
            <a:extLst>
              <a:ext uri="{FF2B5EF4-FFF2-40B4-BE49-F238E27FC236}">
                <a16:creationId xmlns:a16="http://schemas.microsoft.com/office/drawing/2014/main" id="{0531332B-0433-0FD4-B44B-6905785F247F}"/>
              </a:ext>
            </a:extLst>
          </p:cNvPr>
          <p:cNvSpPr>
            <a:spLocks noGrp="1"/>
          </p:cNvSpPr>
          <p:nvPr>
            <p:ph type="body" idx="1"/>
          </p:nvPr>
        </p:nvSpPr>
        <p:spPr/>
        <p:txBody>
          <a:bodyPr/>
          <a:lstStyle/>
          <a:p>
            <a:r>
              <a:rPr lang="en-US"/>
              <a:t>KIM</a:t>
            </a:r>
          </a:p>
        </p:txBody>
      </p:sp>
      <p:sp>
        <p:nvSpPr>
          <p:cNvPr id="4" name="Slide Number Placeholder 3">
            <a:extLst>
              <a:ext uri="{FF2B5EF4-FFF2-40B4-BE49-F238E27FC236}">
                <a16:creationId xmlns:a16="http://schemas.microsoft.com/office/drawing/2014/main" id="{55582EE0-792C-60B2-F952-7114634C0AEB}"/>
              </a:ext>
            </a:extLst>
          </p:cNvPr>
          <p:cNvSpPr>
            <a:spLocks noGrp="1"/>
          </p:cNvSpPr>
          <p:nvPr>
            <p:ph type="sldNum" sz="quarter" idx="5"/>
          </p:nvPr>
        </p:nvSpPr>
        <p:spPr/>
        <p:txBody>
          <a:bodyPr/>
          <a:lstStyle/>
          <a:p>
            <a:pPr marL="0" marR="0" lvl="0" indent="0" algn="r" defTabSz="1933837"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ea typeface="+mn-ea"/>
                <a:cs typeface="Arial" panose="020B0604020202020204" pitchFamily="34" charset="0"/>
              </a:rPr>
              <a:pPr marL="0" marR="0" lvl="0" indent="0" algn="r" defTabSz="1933837" rtl="0" eaLnBrk="1" fontAlgn="auto" latinLnBrk="0" hangingPunct="1">
                <a:lnSpc>
                  <a:spcPct val="100000"/>
                </a:lnSpc>
                <a:spcBef>
                  <a:spcPts val="0"/>
                </a:spcBef>
                <a:spcAft>
                  <a:spcPts val="0"/>
                </a:spcAft>
                <a:buClrTx/>
                <a:buSzTx/>
                <a:buFontTx/>
                <a:buNone/>
                <a:tabLst/>
                <a:defRPr/>
              </a:pPr>
              <a:t>2</a:t>
            </a:fld>
            <a:endPar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ea typeface="+mn-ea"/>
              <a:cs typeface="Arial" panose="020B0604020202020204" pitchFamily="34" charset="0"/>
            </a:endParaRPr>
          </a:p>
        </p:txBody>
      </p:sp>
    </p:spTree>
    <p:extLst>
      <p:ext uri="{BB962C8B-B14F-4D97-AF65-F5344CB8AC3E}">
        <p14:creationId xmlns:p14="http://schemas.microsoft.com/office/powerpoint/2010/main" val="18661649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22450" y="228600"/>
            <a:ext cx="3213100" cy="1808163"/>
          </a:xfrm>
        </p:spPr>
      </p:sp>
      <p:sp>
        <p:nvSpPr>
          <p:cNvPr id="3" name="Notes Placeholder 2"/>
          <p:cNvSpPr>
            <a:spLocks noGrp="1"/>
          </p:cNvSpPr>
          <p:nvPr>
            <p:ph type="body" idx="1"/>
          </p:nvPr>
        </p:nvSpPr>
        <p:spPr/>
        <p:txBody>
          <a:bodyPr/>
          <a:lstStyle/>
          <a:p>
            <a:r>
              <a:rPr lang="en-US" b="0" i="0" dirty="0">
                <a:effectLst/>
                <a:latin typeface="IBM Plex Sans" panose="020B0503050203000203" pitchFamily="34" charset="0"/>
                <a:cs typeface="Arial"/>
              </a:rPr>
              <a:t>IBM TRIRIGA is a market-leading integrated workplace management solution (IWMS) that provides a variety of </a:t>
            </a:r>
            <a:r>
              <a:rPr lang="en-US" dirty="0">
                <a:latin typeface="IBM Plex Sans" panose="020B0503050203000203" pitchFamily="34" charset="0"/>
                <a:cs typeface="Arial"/>
              </a:rPr>
              <a:t>capabilities related to facilities management. It integrates data and automates processes through the complex lifecycle of workplaces and facilities. </a:t>
            </a:r>
            <a:r>
              <a:rPr lang="en-US" b="0" i="0" dirty="0">
                <a:effectLst/>
                <a:latin typeface="IBM Plex Sans" panose="020B0503050203000203" pitchFamily="34" charset="0"/>
                <a:cs typeface="Arial"/>
              </a:rPr>
              <a:t>It helps organizations manage and optimize their:</a:t>
            </a:r>
            <a:endParaRPr lang="en-US" dirty="0">
              <a:latin typeface="IBM Plex Sans" panose="020B0503050203000203" pitchFamily="34" charset="0"/>
            </a:endParaRPr>
          </a:p>
          <a:p>
            <a:endParaRPr lang="en-US" dirty="0">
              <a:latin typeface="IBM Plex Sans" panose="020B0503050203000203" pitchFamily="34" charset="0"/>
              <a:cs typeface="Arial"/>
            </a:endParaRPr>
          </a:p>
          <a:p>
            <a:pPr marL="285750" indent="-285750">
              <a:buFont typeface="Arial"/>
              <a:buChar char="•"/>
            </a:pPr>
            <a:r>
              <a:rPr lang="en-US" dirty="0">
                <a:latin typeface="IBM Plex Sans" panose="020B0503050203000203" pitchFamily="34" charset="0"/>
                <a:cs typeface="Arial"/>
              </a:rPr>
              <a:t>Workplace</a:t>
            </a:r>
            <a:r>
              <a:rPr lang="en-US" b="0" i="0" dirty="0">
                <a:effectLst/>
                <a:latin typeface="IBM Plex Sans" panose="020B0503050203000203" pitchFamily="34" charset="0"/>
                <a:cs typeface="Arial"/>
              </a:rPr>
              <a:t> experience</a:t>
            </a:r>
            <a:endParaRPr lang="en-US" dirty="0">
              <a:latin typeface="IBM Plex Sans" panose="020B0503050203000203" pitchFamily="34" charset="0"/>
            </a:endParaRPr>
          </a:p>
          <a:p>
            <a:pPr marL="285750" indent="-285750">
              <a:buFont typeface="Arial"/>
              <a:buChar char="•"/>
            </a:pPr>
            <a:r>
              <a:rPr lang="en-US" dirty="0">
                <a:latin typeface="IBM Plex Sans" panose="020B0503050203000203" pitchFamily="34" charset="0"/>
                <a:cs typeface="Arial"/>
              </a:rPr>
              <a:t>Facility</a:t>
            </a:r>
            <a:r>
              <a:rPr lang="en-US" b="0" i="0" dirty="0">
                <a:effectLst/>
                <a:latin typeface="IBM Plex Sans" panose="020B0503050203000203" pitchFamily="34" charset="0"/>
                <a:cs typeface="Arial"/>
              </a:rPr>
              <a:t> resource scheduling</a:t>
            </a:r>
            <a:endParaRPr lang="en-US" dirty="0">
              <a:latin typeface="IBM Plex Sans" panose="020B0503050203000203" pitchFamily="34" charset="0"/>
            </a:endParaRPr>
          </a:p>
          <a:p>
            <a:pPr marL="285750" indent="-285750">
              <a:buFont typeface="Arial"/>
              <a:buChar char="•"/>
            </a:pPr>
            <a:r>
              <a:rPr lang="en-US" dirty="0">
                <a:latin typeface="IBM Plex Sans" panose="020B0503050203000203" pitchFamily="34" charset="0"/>
                <a:cs typeface="Arial"/>
              </a:rPr>
              <a:t>Facility </a:t>
            </a:r>
            <a:r>
              <a:rPr lang="en-US" b="0" i="0" dirty="0">
                <a:effectLst/>
                <a:latin typeface="IBM Plex Sans" panose="020B0503050203000203" pitchFamily="34" charset="0"/>
                <a:cs typeface="Arial"/>
              </a:rPr>
              <a:t>strategic planning</a:t>
            </a:r>
            <a:endParaRPr lang="en-US" dirty="0">
              <a:latin typeface="IBM Plex Sans" panose="020B0503050203000203" pitchFamily="34" charset="0"/>
            </a:endParaRPr>
          </a:p>
          <a:p>
            <a:pPr marL="285750" indent="-285750">
              <a:buFont typeface="Arial"/>
              <a:buChar char="•"/>
            </a:pPr>
            <a:r>
              <a:rPr lang="en-US" dirty="0">
                <a:latin typeface="IBM Plex Sans" panose="020B0503050203000203" pitchFamily="34" charset="0"/>
                <a:cs typeface="Arial"/>
              </a:rPr>
              <a:t>Transaction</a:t>
            </a:r>
            <a:r>
              <a:rPr lang="en-US" b="0" i="0" dirty="0">
                <a:effectLst/>
                <a:latin typeface="IBM Plex Sans" panose="020B0503050203000203" pitchFamily="34" charset="0"/>
                <a:cs typeface="Arial"/>
              </a:rPr>
              <a:t> management</a:t>
            </a:r>
            <a:endParaRPr lang="en-US" dirty="0">
              <a:latin typeface="IBM Plex Sans" panose="020B0503050203000203" pitchFamily="34" charset="0"/>
            </a:endParaRPr>
          </a:p>
          <a:p>
            <a:pPr marL="285750" indent="-285750">
              <a:buFont typeface="Arial"/>
              <a:buChar char="•"/>
            </a:pPr>
            <a:r>
              <a:rPr lang="en-US" dirty="0">
                <a:latin typeface="IBM Plex Sans" panose="020B0503050203000203" pitchFamily="34" charset="0"/>
                <a:cs typeface="Arial"/>
              </a:rPr>
              <a:t>Lease</a:t>
            </a:r>
            <a:r>
              <a:rPr lang="en-US" b="0" i="0" dirty="0">
                <a:effectLst/>
                <a:latin typeface="IBM Plex Sans" panose="020B0503050203000203" pitchFamily="34" charset="0"/>
                <a:cs typeface="Arial"/>
              </a:rPr>
              <a:t> accounting</a:t>
            </a:r>
            <a:endParaRPr lang="en-US" dirty="0">
              <a:latin typeface="IBM Plex Sans" panose="020B0503050203000203" pitchFamily="34" charset="0"/>
            </a:endParaRPr>
          </a:p>
          <a:p>
            <a:pPr marL="285750" indent="-285750">
              <a:buFont typeface="Arial"/>
              <a:buChar char="•"/>
            </a:pPr>
            <a:r>
              <a:rPr lang="en-US" dirty="0">
                <a:latin typeface="IBM Plex Sans" panose="020B0503050203000203" pitchFamily="34" charset="0"/>
                <a:cs typeface="Arial"/>
              </a:rPr>
              <a:t>Capital</a:t>
            </a:r>
            <a:r>
              <a:rPr lang="en-US" b="0" i="0" dirty="0">
                <a:effectLst/>
                <a:latin typeface="IBM Plex Sans" panose="020B0503050203000203" pitchFamily="34" charset="0"/>
                <a:cs typeface="Arial"/>
              </a:rPr>
              <a:t> project management</a:t>
            </a:r>
            <a:endParaRPr lang="en-US" dirty="0">
              <a:latin typeface="IBM Plex Sans" panose="020B0503050203000203" pitchFamily="34" charset="0"/>
            </a:endParaRPr>
          </a:p>
          <a:p>
            <a:pPr marL="285750" indent="-285750">
              <a:buFont typeface="Arial"/>
              <a:buChar char="•"/>
            </a:pPr>
            <a:r>
              <a:rPr lang="en-US" dirty="0">
                <a:latin typeface="IBM Plex Sans" panose="020B0503050203000203" pitchFamily="34" charset="0"/>
                <a:cs typeface="Arial"/>
              </a:rPr>
              <a:t>Space</a:t>
            </a:r>
            <a:r>
              <a:rPr lang="en-US" b="0" i="0" dirty="0">
                <a:effectLst/>
                <a:latin typeface="IBM Plex Sans" panose="020B0503050203000203" pitchFamily="34" charset="0"/>
                <a:cs typeface="Arial"/>
              </a:rPr>
              <a:t> management</a:t>
            </a:r>
            <a:endParaRPr lang="en-US" dirty="0">
              <a:latin typeface="IBM Plex Sans" panose="020B0503050203000203" pitchFamily="34" charset="0"/>
            </a:endParaRPr>
          </a:p>
          <a:p>
            <a:pPr marL="285750" indent="-285750">
              <a:buFont typeface="Arial"/>
              <a:buChar char="•"/>
            </a:pPr>
            <a:r>
              <a:rPr lang="en-US" dirty="0">
                <a:latin typeface="IBM Plex Sans" panose="020B0503050203000203" pitchFamily="34" charset="0"/>
                <a:cs typeface="Arial"/>
              </a:rPr>
              <a:t>Facility</a:t>
            </a:r>
            <a:r>
              <a:rPr lang="en-US" b="0" i="0" dirty="0">
                <a:effectLst/>
                <a:latin typeface="IBM Plex Sans" panose="020B0503050203000203" pitchFamily="34" charset="0"/>
                <a:cs typeface="Arial"/>
              </a:rPr>
              <a:t> maintenance management</a:t>
            </a:r>
            <a:endParaRPr lang="en-US" dirty="0">
              <a:latin typeface="IBM Plex Sans" panose="020B0503050203000203" pitchFamily="34" charset="0"/>
            </a:endParaRPr>
          </a:p>
          <a:p>
            <a:pPr marL="285750" indent="-285750">
              <a:buFont typeface="Arial"/>
              <a:buChar char="•"/>
            </a:pPr>
            <a:r>
              <a:rPr lang="en-US" dirty="0">
                <a:latin typeface="IBM Plex Sans" panose="020B0503050203000203" pitchFamily="34" charset="0"/>
                <a:cs typeface="Arial"/>
              </a:rPr>
              <a:t>Facility</a:t>
            </a:r>
            <a:r>
              <a:rPr lang="en-US" b="0" i="0" dirty="0">
                <a:effectLst/>
                <a:latin typeface="IBM Plex Sans" panose="020B0503050203000203" pitchFamily="34" charset="0"/>
                <a:cs typeface="Arial"/>
              </a:rPr>
              <a:t> sustainability management</a:t>
            </a:r>
            <a:endParaRPr lang="en-US" dirty="0">
              <a:latin typeface="IBM Plex Sans" panose="020B0503050203000203" pitchFamily="34" charset="0"/>
            </a:endParaRPr>
          </a:p>
          <a:p>
            <a:pPr marL="285750" indent="-285750">
              <a:buFont typeface="Arial"/>
              <a:buChar char="•"/>
            </a:pPr>
            <a:r>
              <a:rPr lang="en-US" dirty="0">
                <a:latin typeface="IBM Plex Sans" panose="020B0503050203000203" pitchFamily="34" charset="0"/>
                <a:cs typeface="Arial"/>
              </a:rPr>
              <a:t>Asset disposal</a:t>
            </a:r>
            <a:endParaRPr lang="en-US" dirty="0">
              <a:latin typeface="IBM Plex Sans" panose="020B0503050203000203" pitchFamily="34" charset="0"/>
            </a:endParaRPr>
          </a:p>
          <a:p>
            <a:endParaRPr lang="en-US" b="0" i="0" dirty="0">
              <a:effectLst/>
              <a:latin typeface="IBM Plex Sans" panose="020B0503050203000203" pitchFamily="34" charset="0"/>
            </a:endParaRPr>
          </a:p>
          <a:p>
            <a:r>
              <a:rPr lang="en-US" b="0" i="0" dirty="0">
                <a:effectLst/>
                <a:latin typeface="IBM Plex Sans" panose="020B0503050203000203" pitchFamily="34" charset="0"/>
                <a:cs typeface="Arial"/>
              </a:rPr>
              <a:t>In short, TRIRIGA helps organizations control costs, optimize performance, and improve underperforming properties. </a:t>
            </a:r>
            <a:r>
              <a:rPr lang="en-US" dirty="0">
                <a:latin typeface="IBM Plex Sans" panose="020B0503050203000203" pitchFamily="34" charset="0"/>
                <a:cs typeface="Arial"/>
              </a:rPr>
              <a:t>Moreover, it can create an engaging experience for the workforce and add productivity to their day. TRIRIGA is able to do</a:t>
            </a:r>
            <a:r>
              <a:rPr lang="en-US" b="0" i="0" dirty="0">
                <a:effectLst/>
                <a:latin typeface="IBM Plex Sans" panose="020B0503050203000203" pitchFamily="34" charset="0"/>
                <a:cs typeface="Arial"/>
              </a:rPr>
              <a:t> so by answering questions such as:</a:t>
            </a:r>
            <a:endParaRPr lang="en-US" dirty="0">
              <a:latin typeface="IBM Plex Sans" panose="020B0503050203000203" pitchFamily="34" charset="0"/>
              <a:cs typeface="Arial"/>
            </a:endParaRPr>
          </a:p>
          <a:p>
            <a:endParaRPr lang="en-US" dirty="0">
              <a:latin typeface="IBM Plex Sans" panose="020B0503050203000203" pitchFamily="34" charset="0"/>
              <a:cs typeface="Arial"/>
            </a:endParaRPr>
          </a:p>
          <a:p>
            <a:pPr marL="285750" indent="-285750">
              <a:buFont typeface="Arial"/>
              <a:buChar char="•"/>
            </a:pPr>
            <a:r>
              <a:rPr lang="en-US" b="0" i="0" dirty="0">
                <a:effectLst/>
                <a:latin typeface="IBM Plex Sans" panose="020B0503050203000203" pitchFamily="34" charset="0"/>
                <a:cs typeface="Arial"/>
              </a:rPr>
              <a:t>What action should be taken with an expiring lease?</a:t>
            </a:r>
            <a:endParaRPr lang="en-US" dirty="0">
              <a:latin typeface="IBM Plex Sans" panose="020B0503050203000203" pitchFamily="34" charset="0"/>
            </a:endParaRPr>
          </a:p>
          <a:p>
            <a:pPr marL="285750" indent="-285750">
              <a:buFont typeface="Arial"/>
              <a:buChar char="•"/>
            </a:pPr>
            <a:r>
              <a:rPr lang="en-US" b="0" i="0" dirty="0">
                <a:effectLst/>
                <a:latin typeface="IBM Plex Sans" panose="020B0503050203000203" pitchFamily="34" charset="0"/>
                <a:cs typeface="Arial"/>
              </a:rPr>
              <a:t>Where are some opportunities to reduce organizational footprint without sacrificing occupant experience?</a:t>
            </a:r>
            <a:endParaRPr lang="en-US" dirty="0">
              <a:latin typeface="IBM Plex Sans" panose="020B0503050203000203" pitchFamily="34" charset="0"/>
              <a:cs typeface="Arial"/>
            </a:endParaRPr>
          </a:p>
          <a:p>
            <a:pPr marL="285750" indent="-285750">
              <a:buFont typeface="Arial"/>
              <a:buChar char="•"/>
            </a:pPr>
            <a:r>
              <a:rPr lang="en-US" b="0" i="0" dirty="0">
                <a:effectLst/>
                <a:latin typeface="IBM Plex Sans" panose="020B0503050203000203" pitchFamily="34" charset="0"/>
                <a:cs typeface="Arial"/>
              </a:rPr>
              <a:t>How can the floor plans be reconfigured based on changing needs?</a:t>
            </a:r>
            <a:endParaRPr lang="en-US" dirty="0">
              <a:latin typeface="IBM Plex Sans" panose="020B0503050203000203" pitchFamily="34" charset="0"/>
            </a:endParaRPr>
          </a:p>
          <a:p>
            <a:pPr marL="174625" lvl="1" indent="0" algn="l" fontAlgn="base">
              <a:buFont typeface="Arial" panose="020B0604020202020204" pitchFamily="34" charset="0"/>
              <a:buNone/>
            </a:pPr>
            <a:endParaRPr lang="en-US" b="0" i="0" dirty="0">
              <a:effectLst/>
              <a:latin typeface="IBM Plex Sans" panose="020B0503050203000203" pitchFamily="34" charset="0"/>
            </a:endParaRPr>
          </a:p>
          <a:p>
            <a:r>
              <a:rPr lang="en-US" b="0" i="0" dirty="0">
                <a:effectLst/>
                <a:latin typeface="IBM Plex Sans" panose="020B0503050203000203" pitchFamily="34" charset="0"/>
              </a:rPr>
              <a:t>TRIRIGA provides a platform for managing enterprise real estate throughout its entire lifecycle, from on-boarding new facilities to disposing of old ones as shown on the circular diagram on the right of this slide. It helps organizations make decisions about size, location, lease vs. purchase, and more. Additionally, it provides the operational tools necessary to manage and optimize facilities on a daily or weekly basis.</a:t>
            </a:r>
            <a:endParaRPr lang="en-US" dirty="0">
              <a:latin typeface="IBM Plex Sans" panose="020B0503050203000203" pitchFamily="34" charset="0"/>
            </a:endParaRPr>
          </a:p>
          <a:p>
            <a:endParaRPr lang="en-US" b="0" i="0" dirty="0">
              <a:effectLst/>
              <a:latin typeface="IBM Plex Sans" panose="020B0503050203000203" pitchFamily="34" charset="0"/>
            </a:endParaRPr>
          </a:p>
          <a:p>
            <a:r>
              <a:rPr lang="en-US" b="0" i="0" dirty="0">
                <a:effectLst/>
                <a:latin typeface="IBM Plex Sans" panose="020B0503050203000203" pitchFamily="34" charset="0"/>
              </a:rPr>
              <a:t>TRIRIGA uses real-time insights infused with artificial intelligence (AI) to support dynamic space planning. This can help to:</a:t>
            </a:r>
          </a:p>
          <a:p>
            <a:endParaRPr lang="en-US" b="0" i="0" dirty="0">
              <a:effectLst/>
              <a:latin typeface="IBM Plex Sans" panose="020B0503050203000203" pitchFamily="34" charset="0"/>
            </a:endParaRPr>
          </a:p>
          <a:p>
            <a:pPr marL="285750" indent="-285750">
              <a:buFont typeface="Arial"/>
              <a:buChar char="•"/>
            </a:pPr>
            <a:r>
              <a:rPr lang="en-US" b="0" i="0" dirty="0">
                <a:effectLst/>
                <a:latin typeface="IBM Plex Sans" panose="020B0503050203000203" pitchFamily="34" charset="0"/>
                <a:cs typeface="Arial"/>
              </a:rPr>
              <a:t>Ensure a safe return to the workplace with real-time occupancy insights</a:t>
            </a:r>
            <a:br>
              <a:rPr lang="en-US" b="0" i="0" dirty="0">
                <a:effectLst/>
                <a:latin typeface="IBM Plex Sans" panose="020B0503050203000203" pitchFamily="34" charset="0"/>
              </a:rPr>
            </a:br>
            <a:endParaRPr lang="en-US" b="0" i="0" dirty="0">
              <a:effectLst/>
              <a:latin typeface="IBM Plex Sans" panose="020B0503050203000203" pitchFamily="34" charset="0"/>
            </a:endParaRPr>
          </a:p>
          <a:p>
            <a:pPr marL="285750" indent="-285750">
              <a:buFont typeface="Arial"/>
              <a:buChar char="•"/>
            </a:pPr>
            <a:r>
              <a:rPr lang="en-US" b="0" i="0" dirty="0">
                <a:effectLst/>
                <a:latin typeface="IBM Plex Sans" panose="020B0503050203000203" pitchFamily="34" charset="0"/>
                <a:cs typeface="Arial"/>
              </a:rPr>
              <a:t>Allow occupants to easily make service requests, book rooms, and navigate seamlessly in new, unfamiliar or redesigned spaces</a:t>
            </a:r>
            <a:br>
              <a:rPr lang="en-US" b="0" i="0" dirty="0">
                <a:effectLst/>
                <a:latin typeface="IBM Plex Sans" panose="020B0503050203000203" pitchFamily="34" charset="0"/>
              </a:rPr>
            </a:br>
            <a:endParaRPr lang="en-US" b="0" i="0" dirty="0">
              <a:effectLst/>
              <a:latin typeface="IBM Plex Sans" panose="020B0503050203000203" pitchFamily="34" charset="0"/>
            </a:endParaRPr>
          </a:p>
          <a:p>
            <a:pPr marL="285750" indent="-285750">
              <a:buFont typeface="Arial"/>
              <a:buChar char="•"/>
            </a:pPr>
            <a:r>
              <a:rPr lang="en-US" b="0" i="0" dirty="0">
                <a:effectLst/>
                <a:latin typeface="IBM Plex Sans" panose="020B0503050203000203" pitchFamily="34" charset="0"/>
                <a:cs typeface="Arial"/>
              </a:rPr>
              <a:t>Reduce the overall real estate costs by right-sizing an enterprise’s real-estate portfolio</a:t>
            </a:r>
            <a:br>
              <a:rPr lang="en-US" b="0" i="0" dirty="0">
                <a:effectLst/>
                <a:latin typeface="IBM Plex Sans" panose="020B0503050203000203" pitchFamily="34" charset="0"/>
              </a:rPr>
            </a:br>
            <a:endParaRPr lang="en-US" b="0" i="0" dirty="0">
              <a:effectLst/>
              <a:latin typeface="IBM Plex Sans" panose="020B0503050203000203" pitchFamily="34" charset="0"/>
            </a:endParaRPr>
          </a:p>
          <a:p>
            <a:pPr marL="285750" indent="-285750">
              <a:buFont typeface="Arial"/>
              <a:buChar char="•"/>
            </a:pPr>
            <a:r>
              <a:rPr lang="en-US" b="0" i="0" dirty="0">
                <a:effectLst/>
                <a:latin typeface="IBM Plex Sans" panose="020B0503050203000203" pitchFamily="34" charset="0"/>
                <a:cs typeface="Arial"/>
              </a:rPr>
              <a:t>Increase efficiency of lease administration and accounting, capital projects, and maintenance efforts</a:t>
            </a:r>
            <a:br>
              <a:rPr lang="en-US" b="0" i="0" dirty="0">
                <a:effectLst/>
                <a:latin typeface="IBM Plex Sans" panose="020B0503050203000203" pitchFamily="34" charset="0"/>
              </a:rPr>
            </a:br>
            <a:endParaRPr lang="en-US" b="0" i="0" dirty="0">
              <a:effectLst/>
              <a:latin typeface="IBM Plex Sans" panose="020B0503050203000203" pitchFamily="34" charset="0"/>
            </a:endParaRPr>
          </a:p>
          <a:p>
            <a:pPr marL="285750" indent="-285750">
              <a:buFont typeface="Arial"/>
              <a:buChar char="•"/>
            </a:pPr>
            <a:r>
              <a:rPr lang="en-US" sz="1000" dirty="0">
                <a:latin typeface="IBM Plex Sans" panose="020B0503050203000203" pitchFamily="34" charset="0"/>
                <a:cs typeface="Arial"/>
              </a:rPr>
              <a:t>Reduce the amount of technical proficiency required at a local level. Clients no longer need boots on the ground to have technical expertise</a:t>
            </a:r>
            <a:r>
              <a:rPr lang="en-US" dirty="0">
                <a:latin typeface="IBM Plex Sans" panose="020B0503050203000203" pitchFamily="34" charset="0"/>
                <a:cs typeface="Arial"/>
              </a:rPr>
              <a:t>;</a:t>
            </a:r>
            <a:r>
              <a:rPr lang="en-US" sz="1000" dirty="0">
                <a:latin typeface="IBM Plex Sans" panose="020B0503050203000203" pitchFamily="34" charset="0"/>
                <a:cs typeface="Arial"/>
              </a:rPr>
              <a:t> instead, they can better administer and manage issues from a centralized location.</a:t>
            </a:r>
          </a:p>
          <a:p>
            <a:pPr marL="171450" indent="-171450">
              <a:buFont typeface="Arial" panose="020B0604020202020204" pitchFamily="34" charset="0"/>
              <a:buChar char="•"/>
            </a:pPr>
            <a:endParaRPr lang="en-US" sz="1000" dirty="0">
              <a:latin typeface="IBM Plex Sans" panose="020B0503050203000203" pitchFamily="34" charset="0"/>
            </a:endParaRPr>
          </a:p>
          <a:p>
            <a:pPr marL="171450" indent="-171450">
              <a:buFont typeface="Arial" panose="020B0604020202020204" pitchFamily="34" charset="0"/>
              <a:buChar char="•"/>
            </a:pPr>
            <a:endParaRPr lang="en-US" sz="1000" dirty="0">
              <a:latin typeface="IBM Plex Sans" panose="020B0503050203000203" pitchFamily="34" charset="0"/>
            </a:endParaRPr>
          </a:p>
          <a:p>
            <a:pPr marL="0" indent="0">
              <a:buFont typeface="Arial" panose="020B0604020202020204" pitchFamily="34" charset="0"/>
              <a:buNone/>
            </a:pPr>
            <a:r>
              <a:rPr lang="en-US" sz="1000" b="1" dirty="0">
                <a:latin typeface="IBM Plex Sans" panose="020B0503050203000203" pitchFamily="34" charset="0"/>
                <a:cs typeface="Arial"/>
              </a:rPr>
              <a:t>Acronyms:</a:t>
            </a:r>
            <a:br>
              <a:rPr lang="en-US" sz="1000" b="1" dirty="0">
                <a:latin typeface="IBM Plex Sans" panose="020B0503050203000203" pitchFamily="34" charset="0"/>
              </a:rPr>
            </a:br>
            <a:endParaRPr lang="en-US" sz="1000" b="1" dirty="0">
              <a:latin typeface="IBM Plex Sans" panose="020B0503050203000203" pitchFamily="34" charset="0"/>
            </a:endParaRPr>
          </a:p>
          <a:p>
            <a:pPr marL="285750" indent="-285750">
              <a:buFont typeface="Arial" panose="020B0604020202020204" pitchFamily="34" charset="0"/>
              <a:buChar char="•"/>
            </a:pPr>
            <a:r>
              <a:rPr lang="en-US" sz="1000" b="1" dirty="0">
                <a:latin typeface="IBM Plex Sans" panose="020B0503050203000203" pitchFamily="34" charset="0"/>
                <a:cs typeface="Arial"/>
              </a:rPr>
              <a:t>NLP: </a:t>
            </a:r>
            <a:r>
              <a:rPr lang="en-US" sz="1000" b="0" dirty="0">
                <a:latin typeface="IBM Plex Sans" panose="020B0503050203000203" pitchFamily="34" charset="0"/>
                <a:cs typeface="Arial"/>
              </a:rPr>
              <a:t>Natural Language Processing</a:t>
            </a:r>
          </a:p>
          <a:p>
            <a:pPr marL="285750" indent="-285750">
              <a:buFont typeface="Arial" panose="020B0604020202020204" pitchFamily="34" charset="0"/>
              <a:buChar char="•"/>
            </a:pPr>
            <a:r>
              <a:rPr lang="en-US" b="1" dirty="0">
                <a:latin typeface="IBM Plex Sans" panose="020B0503050203000203" pitchFamily="34" charset="0"/>
                <a:cs typeface="Arial"/>
              </a:rPr>
              <a:t>API</a:t>
            </a:r>
            <a:r>
              <a:rPr lang="en-US" sz="1000" b="1" dirty="0">
                <a:latin typeface="IBM Plex Sans" panose="020B0503050203000203" pitchFamily="34" charset="0"/>
                <a:cs typeface="Arial"/>
              </a:rPr>
              <a:t>: </a:t>
            </a:r>
            <a:r>
              <a:rPr lang="en-US" sz="1000" b="0" dirty="0">
                <a:latin typeface="IBM Plex Sans" panose="020B0503050203000203" pitchFamily="34" charset="0"/>
                <a:cs typeface="Arial"/>
              </a:rPr>
              <a:t>Application Programming Interface</a:t>
            </a:r>
          </a:p>
          <a:p>
            <a:pPr marL="285750" indent="-285750">
              <a:buFont typeface="Arial" panose="020B0604020202020204" pitchFamily="34" charset="0"/>
              <a:buChar char="•"/>
            </a:pPr>
            <a:r>
              <a:rPr lang="en-US" sz="1000" b="1" dirty="0">
                <a:latin typeface="IBM Plex Sans" panose="020B0503050203000203" pitchFamily="34" charset="0"/>
                <a:cs typeface="Arial"/>
              </a:rPr>
              <a:t>ML/AI</a:t>
            </a:r>
            <a:r>
              <a:rPr lang="en-US" sz="1000" b="0" dirty="0">
                <a:latin typeface="IBM Plex Sans" panose="020B0503050203000203" pitchFamily="34" charset="0"/>
                <a:cs typeface="Arial"/>
              </a:rPr>
              <a:t>: Machine Learning / Artificial Intelligence</a:t>
            </a:r>
            <a:endParaRPr lang="en-US" dirty="0">
              <a:latin typeface="IBM Plex Sans" panose="020B0503050203000203" pitchFamily="34" charset="0"/>
            </a:endParaRPr>
          </a:p>
        </p:txBody>
      </p:sp>
      <p:sp>
        <p:nvSpPr>
          <p:cNvPr id="4" name="Slide Number Placeholder 3"/>
          <p:cNvSpPr>
            <a:spLocks noGrp="1"/>
          </p:cNvSpPr>
          <p:nvPr>
            <p:ph type="sldNum" sz="quarter" idx="5"/>
          </p:nvPr>
        </p:nvSpPr>
        <p:spPr/>
        <p:txBody>
          <a:bodyPr/>
          <a:lstStyle/>
          <a:p>
            <a:fld id="{6E2E38B8-B0B4-AD41-AC6E-B781F46A9FD3}" type="slidenum">
              <a:rPr lang="en-US" smtClean="0"/>
              <a:pPr/>
              <a:t>3</a:t>
            </a:fld>
            <a:endParaRPr lang="en-US" dirty="0"/>
          </a:p>
        </p:txBody>
      </p:sp>
      <p:sp>
        <p:nvSpPr>
          <p:cNvPr id="5" name="Footer Placeholder 4"/>
          <p:cNvSpPr>
            <a:spLocks noGrp="1"/>
          </p:cNvSpPr>
          <p:nvPr>
            <p:ph type="ftr" sz="quarter" idx="4"/>
          </p:nvPr>
        </p:nvSpPr>
        <p:spPr/>
        <p:txBody>
          <a:bodyPr/>
          <a:lstStyle/>
          <a:p>
            <a:r>
              <a:rPr lang="en-US" dirty="0"/>
              <a:t>Group Name / DOC ID / Month XX, 2022 / © 2022 IBM Corporation</a:t>
            </a:r>
          </a:p>
        </p:txBody>
      </p:sp>
    </p:spTree>
    <p:extLst>
      <p:ext uri="{BB962C8B-B14F-4D97-AF65-F5344CB8AC3E}">
        <p14:creationId xmlns:p14="http://schemas.microsoft.com/office/powerpoint/2010/main" val="3519371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228600"/>
            <a:ext cx="4572000" cy="2571750"/>
          </a:xfrm>
        </p:spPr>
      </p:sp>
      <p:sp>
        <p:nvSpPr>
          <p:cNvPr id="3" name="Notes Placeholder 2"/>
          <p:cNvSpPr>
            <a:spLocks noGrp="1"/>
          </p:cNvSpPr>
          <p:nvPr>
            <p:ph type="body" idx="1"/>
          </p:nvPr>
        </p:nvSpPr>
        <p:spPr/>
        <p:txBody>
          <a:bodyPr/>
          <a:lstStyle/>
          <a:p>
            <a:r>
              <a:rPr lang="en-US" dirty="0">
                <a:latin typeface="IBM Plex Sans" panose="020B0503050203000203" pitchFamily="34" charset="0"/>
                <a:cs typeface="Arial"/>
              </a:rPr>
              <a:t>IBM TRIRIGA offers out-of-the box (OOB) capability to deliver the core functions of Corporate Real Estate and Facilities Management.</a:t>
            </a:r>
            <a:endParaRPr lang="en-US" dirty="0">
              <a:latin typeface="IBM Plex Sans" panose="020B0503050203000203" pitchFamily="34" charset="0"/>
            </a:endParaRPr>
          </a:p>
          <a:p>
            <a:pPr>
              <a:defRPr/>
            </a:pPr>
            <a:endParaRPr lang="en-US" dirty="0">
              <a:latin typeface="IBM Plex Sans" panose="020B0503050203000203" pitchFamily="34" charset="0"/>
              <a:cs typeface="Arial"/>
            </a:endParaRPr>
          </a:p>
          <a:p>
            <a:pPr>
              <a:defRPr/>
            </a:pPr>
            <a:r>
              <a:rPr lang="en-US" dirty="0">
                <a:latin typeface="IBM Plex Sans" panose="020B0503050203000203" pitchFamily="34" charset="0"/>
                <a:cs typeface="Arial"/>
              </a:rPr>
              <a:t>The five main areas in which TRIRIGA’s capabilities optimize enterprise spaces throughout its lifecycle are:</a:t>
            </a:r>
          </a:p>
          <a:p>
            <a:pPr>
              <a:defRPr/>
            </a:pPr>
            <a:endParaRPr lang="en-US" dirty="0">
              <a:latin typeface="IBM Plex Sans" panose="020B0503050203000203" pitchFamily="34" charset="0"/>
              <a:cs typeface="Arial"/>
            </a:endParaRPr>
          </a:p>
          <a:p>
            <a:pPr marL="228600" indent="-228600">
              <a:buAutoNum type="arabicPeriod"/>
              <a:defRPr/>
            </a:pPr>
            <a:r>
              <a:rPr lang="en-US" b="1" dirty="0">
                <a:latin typeface="IBM Plex Sans" panose="020B0503050203000203" pitchFamily="34" charset="0"/>
                <a:cs typeface="Arial"/>
              </a:rPr>
              <a:t>Lease accounting: </a:t>
            </a:r>
            <a:r>
              <a:rPr lang="en-US" dirty="0">
                <a:latin typeface="IBM Plex Sans" panose="020B0503050203000203" pitchFamily="34" charset="0"/>
                <a:cs typeface="Arial"/>
              </a:rPr>
              <a:t>The “devil is in the details” when it comes to managing leases across real estate and asset portfolios. TRIRGA helps businesses conform to lease accounting standards, ensuring accurate financial reporting, adherence to lease requirements, and managing payments.</a:t>
            </a:r>
          </a:p>
          <a:p>
            <a:pPr marL="228600" indent="-228600">
              <a:buAutoNum type="arabicPeriod"/>
              <a:defRPr/>
            </a:pPr>
            <a:endParaRPr lang="en-US" dirty="0">
              <a:latin typeface="IBM Plex Sans" panose="020B0503050203000203" pitchFamily="34" charset="0"/>
            </a:endParaRPr>
          </a:p>
          <a:p>
            <a:pPr marL="228600" indent="-228600">
              <a:buAutoNum type="arabicPeriod"/>
              <a:defRPr/>
            </a:pPr>
            <a:r>
              <a:rPr lang="en-US" b="1" dirty="0">
                <a:latin typeface="IBM Plex Sans" panose="020B0503050203000203" pitchFamily="34" charset="0"/>
                <a:cs typeface="Arial"/>
              </a:rPr>
              <a:t>Sustainability</a:t>
            </a:r>
            <a:r>
              <a:rPr lang="en-US" dirty="0">
                <a:latin typeface="IBM Plex Sans" panose="020B0503050203000203" pitchFamily="34" charset="0"/>
                <a:cs typeface="Arial"/>
              </a:rPr>
              <a:t>: TRIRIGA helps to manage buildings in a way that encourages sustainability through the entire real estate lifecycle — from acquisition to disposal — without sacrificing operational resiliency or occupant experience. It helps to enable energy efficiency with green leases, reduce waste and energy usage by integrating the right data, extend asset life through improved maintenance, and detect and dispose of inefficient and wasteful spaces.</a:t>
            </a:r>
            <a:br>
              <a:rPr lang="en-US" dirty="0">
                <a:latin typeface="IBM Plex Sans" panose="020B0503050203000203" pitchFamily="34" charset="0"/>
              </a:rPr>
            </a:br>
            <a:endParaRPr lang="en-US" dirty="0">
              <a:latin typeface="IBM Plex Sans" panose="020B0503050203000203" pitchFamily="34" charset="0"/>
            </a:endParaRPr>
          </a:p>
          <a:p>
            <a:pPr marL="228600" indent="-228600">
              <a:buAutoNum type="arabicPeriod"/>
              <a:defRPr/>
            </a:pPr>
            <a:r>
              <a:rPr lang="en-US" b="1" dirty="0">
                <a:latin typeface="IBM Plex Sans" panose="020B0503050203000203" pitchFamily="34" charset="0"/>
                <a:cs typeface="Arial"/>
              </a:rPr>
              <a:t>Operations and maintenance</a:t>
            </a:r>
            <a:r>
              <a:rPr lang="en-US" dirty="0">
                <a:latin typeface="IBM Plex Sans" panose="020B0503050203000203" pitchFamily="34" charset="0"/>
                <a:cs typeface="Arial"/>
              </a:rPr>
              <a:t>: Building maintenance and repairs are inevitable — TRIRIGA helps to better understand the condition of enterprise buildings, and the assets that reside within. This enables clients to better optimize repairs and maintenance projects accordingly.</a:t>
            </a:r>
            <a:br>
              <a:rPr lang="en-US" dirty="0">
                <a:latin typeface="IBM Plex Sans" panose="020B0503050203000203" pitchFamily="34" charset="0"/>
              </a:rPr>
            </a:br>
            <a:endParaRPr lang="en-US" dirty="0">
              <a:latin typeface="IBM Plex Sans" panose="020B0503050203000203" pitchFamily="34" charset="0"/>
            </a:endParaRPr>
          </a:p>
          <a:p>
            <a:pPr marL="228600" indent="-228600">
              <a:buAutoNum type="arabicPeriod"/>
              <a:defRPr/>
            </a:pPr>
            <a:r>
              <a:rPr lang="en-US" b="1" dirty="0">
                <a:latin typeface="IBM Plex Sans" panose="020B0503050203000203" pitchFamily="34" charset="0"/>
                <a:cs typeface="Arial"/>
              </a:rPr>
              <a:t>Capital projects and planning: </a:t>
            </a:r>
            <a:r>
              <a:rPr lang="en-US" dirty="0">
                <a:latin typeface="IBM Plex Sans" panose="020B0503050203000203" pitchFamily="34" charset="0"/>
                <a:cs typeface="Arial"/>
              </a:rPr>
              <a:t>Capital projects have many moving pieces that are too cumbersome to be handled by manual or spreadsheet solutions. TRIRIGA helps cut through the complexity, with tools to help quickly and easily identify priorities, plan, secure budget, select vendors, and manage contracts.</a:t>
            </a:r>
            <a:br>
              <a:rPr lang="en-US" dirty="0">
                <a:latin typeface="IBM Plex Sans" panose="020B0503050203000203" pitchFamily="34" charset="0"/>
              </a:rPr>
            </a:br>
            <a:endParaRPr lang="en-US" dirty="0">
              <a:latin typeface="IBM Plex Sans" panose="020B0503050203000203" pitchFamily="34" charset="0"/>
            </a:endParaRPr>
          </a:p>
          <a:p>
            <a:pPr marL="228600" indent="-228600">
              <a:buAutoNum type="arabicPeriod"/>
              <a:defRPr/>
            </a:pPr>
            <a:r>
              <a:rPr lang="en-US" b="1" dirty="0">
                <a:latin typeface="IBM Plex Sans" panose="020B0503050203000203" pitchFamily="34" charset="0"/>
                <a:cs typeface="Arial"/>
              </a:rPr>
              <a:t>Space optimization:</a:t>
            </a:r>
            <a:r>
              <a:rPr lang="en-US" dirty="0">
                <a:latin typeface="IBM Plex Sans" panose="020B0503050203000203" pitchFamily="34" charset="0"/>
                <a:cs typeface="Arial"/>
              </a:rPr>
              <a:t> Optimizing building space helps to improve the bottom line. This further enables increased productivity and engagement of occupants. TRIRIGA offers comprehensive reservation tools to reserve flexible spaces, as well as to ensure that they have all the amenities that they require.</a:t>
            </a:r>
          </a:p>
          <a:p>
            <a:pPr>
              <a:defRPr/>
            </a:pPr>
            <a:endParaRPr lang="en-US" dirty="0">
              <a:latin typeface="IBM Plex Sans" panose="020B0503050203000203" pitchFamily="34" charset="0"/>
              <a:cs typeface="Arial"/>
            </a:endParaRPr>
          </a:p>
          <a:p>
            <a:pPr>
              <a:defRPr/>
            </a:pPr>
            <a:r>
              <a:rPr lang="en-US" dirty="0">
                <a:latin typeface="IBM Plex Sans" panose="020B0503050203000203" pitchFamily="34" charset="0"/>
                <a:cs typeface="Arial"/>
              </a:rPr>
              <a:t>The capabilities of TRIRIGA can be enhanced by combining with two other best-in-class applications: IBM Maximo Application Suite and IBM Envizi. This helps IBM TRIRIGA to extend beyond traditional Integrated workplace management systems (IWMS) to manage complex business operations.</a:t>
            </a:r>
            <a:endParaRPr lang="en-US" dirty="0">
              <a:latin typeface="IBM Plex Sans" panose="020B0503050203000203" pitchFamily="34" charset="0"/>
            </a:endParaRPr>
          </a:p>
          <a:p>
            <a:endParaRPr lang="en-US" dirty="0">
              <a:latin typeface="IBM Plex Sans" panose="020B0503050203000203" pitchFamily="34" charset="0"/>
            </a:endParaRPr>
          </a:p>
          <a:p>
            <a:r>
              <a:rPr lang="en-US" dirty="0">
                <a:latin typeface="IBM Plex Sans" panose="020B0503050203000203" pitchFamily="34" charset="0"/>
                <a:cs typeface="Arial"/>
              </a:rPr>
              <a:t>A user can initiate a request using TRIRIGA’s “Request” portal. This works as a “front door” to initiate requests of any kind. Depending on the nature of the request, it is delegated to the appropriate application (either Maximo or Envizi) downstream.</a:t>
            </a:r>
          </a:p>
          <a:p>
            <a:endParaRPr lang="en-US" dirty="0">
              <a:latin typeface="IBM Plex Sans" panose="020B0503050203000203" pitchFamily="34" charset="0"/>
            </a:endParaRPr>
          </a:p>
          <a:p>
            <a:r>
              <a:rPr lang="en-US" dirty="0">
                <a:latin typeface="IBM Plex Sans" panose="020B0503050203000203" pitchFamily="34" charset="0"/>
                <a:cs typeface="Arial"/>
              </a:rPr>
              <a:t>For environmental sustainability, TRIRIGA’s capabilities are enhanced through IBM Envizi for goal setting and comprehensive reporting. For equipment maintenance, TRIRIGA is elevated by IBM Maximo Application Suite. Maximo can handle complex predictive and condition-based maintenance, and can help decide where it makes sense to automate AI-powered visual inspections.</a:t>
            </a:r>
          </a:p>
          <a:p>
            <a:endParaRPr lang="en-US" dirty="0">
              <a:latin typeface="IBM Plex Sans" panose="020B0503050203000203" pitchFamily="34" charset="0"/>
            </a:endParaRPr>
          </a:p>
          <a:p>
            <a:r>
              <a:rPr lang="en-US" dirty="0">
                <a:latin typeface="IBM Plex Sans" panose="020B0503050203000203" pitchFamily="34" charset="0"/>
                <a:cs typeface="Arial"/>
              </a:rPr>
              <a:t>All three of these products work together through connectors and integration to provide a complete solution.</a:t>
            </a:r>
          </a:p>
          <a:p>
            <a:pPr marL="171450" indent="-171450">
              <a:buFont typeface="Arial" panose="020B0604020202020204" pitchFamily="34" charset="0"/>
              <a:buChar char="•"/>
            </a:pPr>
            <a:endParaRPr lang="en-US" dirty="0">
              <a:latin typeface="IBM Plex Sans" panose="020B0503050203000203" pitchFamily="34" charset="0"/>
            </a:endParaRPr>
          </a:p>
          <a:p>
            <a:endParaRPr lang="en-US" dirty="0">
              <a:latin typeface="IBM Plex Sans" panose="020B0503050203000203" pitchFamily="34" charset="0"/>
            </a:endParaRPr>
          </a:p>
          <a:p>
            <a:r>
              <a:rPr lang="en-US" b="1" dirty="0">
                <a:latin typeface="IBM Plex Sans" panose="020B0503050203000203" pitchFamily="34" charset="0"/>
                <a:cs typeface="Arial"/>
              </a:rPr>
              <a:t>Glossary:</a:t>
            </a:r>
          </a:p>
          <a:p>
            <a:pPr marL="171450" indent="-171450">
              <a:buFont typeface="Arial" panose="020B0604020202020204" pitchFamily="34" charset="0"/>
              <a:buChar char="•"/>
            </a:pPr>
            <a:endParaRPr lang="en-US" dirty="0">
              <a:latin typeface="IBM Plex Sans" panose="020B0503050203000203" pitchFamily="34" charset="0"/>
            </a:endParaRPr>
          </a:p>
          <a:p>
            <a:pPr marL="171450" indent="-171450">
              <a:buFont typeface="Arial" panose="020B0604020202020204" pitchFamily="34" charset="0"/>
              <a:buChar char="•"/>
            </a:pPr>
            <a:r>
              <a:rPr lang="en-US" b="1" dirty="0">
                <a:latin typeface="IBM Plex Sans" panose="020B0503050203000203" pitchFamily="34" charset="0"/>
                <a:cs typeface="Arial"/>
              </a:rPr>
              <a:t>Envizi</a:t>
            </a:r>
            <a:r>
              <a:rPr lang="en-US" dirty="0">
                <a:latin typeface="IBM Plex Sans" panose="020B0503050203000203" pitchFamily="34" charset="0"/>
                <a:cs typeface="Arial"/>
              </a:rPr>
              <a:t> is an IBM Company and market leader in data and analytics software for sustainability and energy. It can be used as a decision support tool to unlock the insights that organizations need at every step of its decarbonization journey. More information can be found here: </a:t>
            </a:r>
            <a:r>
              <a:rPr lang="en-US" u="sng" dirty="0">
                <a:latin typeface="IBM Plex Sans" panose="020B0503050203000203" pitchFamily="34" charset="0"/>
                <a:cs typeface="Arial"/>
              </a:rPr>
              <a:t>https://www.ibm.com/products/envizi</a:t>
            </a:r>
            <a:r>
              <a:rPr lang="en-US" dirty="0">
                <a:latin typeface="IBM Plex Sans" panose="020B0503050203000203" pitchFamily="34" charset="0"/>
                <a:cs typeface="Arial"/>
              </a:rPr>
              <a:t>.</a:t>
            </a:r>
            <a:endParaRPr lang="en-US" dirty="0">
              <a:latin typeface="IBM Plex Sans" panose="020B0503050203000203" pitchFamily="34" charset="0"/>
            </a:endParaRPr>
          </a:p>
          <a:p>
            <a:pPr marL="171450" indent="-171450">
              <a:buFont typeface="Arial" panose="020B0604020202020204" pitchFamily="34" charset="0"/>
              <a:buChar char="•"/>
            </a:pPr>
            <a:endParaRPr lang="en-US" dirty="0">
              <a:latin typeface="IBM Plex Sans" panose="020B0503050203000203" pitchFamily="34" charset="0"/>
            </a:endParaRPr>
          </a:p>
          <a:p>
            <a:pPr marL="171450" indent="-171450">
              <a:buFont typeface="Arial" panose="020B0604020202020204" pitchFamily="34" charset="0"/>
              <a:buChar char="•"/>
            </a:pPr>
            <a:r>
              <a:rPr lang="en-US" b="1" dirty="0">
                <a:latin typeface="IBM Plex Sans" panose="020B0503050203000203" pitchFamily="34" charset="0"/>
                <a:cs typeface="Arial"/>
              </a:rPr>
              <a:t>Maximo Application Suite </a:t>
            </a:r>
            <a:r>
              <a:rPr lang="en-US" dirty="0">
                <a:latin typeface="IBM Plex Sans" panose="020B0503050203000203" pitchFamily="34" charset="0"/>
                <a:cs typeface="Arial"/>
              </a:rPr>
              <a:t>is a single, integrated application platform that uses Artificial Intelligence (AI), Internet of Things (IoT), and analytics to optimize performance, extend asset lifecycles, and reduce operational downtime and costs. More information can be found here: </a:t>
            </a:r>
            <a:r>
              <a:rPr lang="en-US" u="sng" dirty="0">
                <a:latin typeface="IBM Plex Sans" panose="020B0503050203000203" pitchFamily="34" charset="0"/>
                <a:cs typeface="Arial"/>
              </a:rPr>
              <a:t>https://www.ibm.com/products/maximo</a:t>
            </a:r>
            <a:r>
              <a:rPr lang="en-US" dirty="0">
                <a:latin typeface="IBM Plex Sans" panose="020B0503050203000203" pitchFamily="34" charset="0"/>
                <a:cs typeface="Arial"/>
              </a:rPr>
              <a:t>.</a:t>
            </a:r>
            <a:endParaRPr lang="en-US" dirty="0">
              <a:latin typeface="IBM Plex Sans" panose="020B0503050203000203" pitchFamily="34" charset="0"/>
            </a:endParaRPr>
          </a:p>
          <a:p>
            <a:pPr marL="171450" indent="-171450">
              <a:buFont typeface="Arial" panose="020B0604020202020204" pitchFamily="34" charset="0"/>
              <a:buChar char="•"/>
            </a:pPr>
            <a:endParaRPr lang="en-US" b="0" i="0" dirty="0">
              <a:effectLst/>
              <a:latin typeface="IBM Plex Sans" panose="020B0503050203000203" pitchFamily="34" charset="0"/>
            </a:endParaRPr>
          </a:p>
          <a:p>
            <a:pPr marL="171450" indent="-171450">
              <a:buFont typeface="Arial" panose="020B0604020202020204" pitchFamily="34" charset="0"/>
              <a:buChar char="•"/>
              <a:defRPr/>
            </a:pPr>
            <a:r>
              <a:rPr lang="en-US" b="1" i="0" dirty="0">
                <a:effectLst/>
                <a:latin typeface="IBM Plex Sans" panose="020B0503050203000203" pitchFamily="34" charset="0"/>
                <a:cs typeface="Arial"/>
              </a:rPr>
              <a:t>Wayfinding</a:t>
            </a:r>
            <a:r>
              <a:rPr lang="en-US" b="0" i="0" dirty="0">
                <a:effectLst/>
                <a:latin typeface="IBM Plex Sans" panose="020B0503050203000203" pitchFamily="34" charset="0"/>
                <a:cs typeface="Arial"/>
              </a:rPr>
              <a:t> refers to information systems that guide people through a physical environment and enhance their understanding and experience of the space they are in. Wayfinding is particularly important in </a:t>
            </a:r>
            <a:r>
              <a:rPr lang="en-US" dirty="0">
                <a:latin typeface="IBM Plex Sans" panose="020B0503050203000203" pitchFamily="34" charset="0"/>
                <a:cs typeface="Arial"/>
              </a:rPr>
              <a:t>complex-to-navigate environments</a:t>
            </a:r>
            <a:r>
              <a:rPr lang="en-US" b="0" i="0" dirty="0">
                <a:effectLst/>
                <a:latin typeface="IBM Plex Sans" panose="020B0503050203000203" pitchFamily="34" charset="0"/>
                <a:cs typeface="Arial"/>
              </a:rPr>
              <a:t>. As architectural environments become more complicated, </a:t>
            </a:r>
            <a:r>
              <a:rPr lang="en-US" dirty="0">
                <a:latin typeface="IBM Plex Sans" panose="020B0503050203000203" pitchFamily="34" charset="0"/>
                <a:cs typeface="Arial"/>
              </a:rPr>
              <a:t>people need</a:t>
            </a:r>
            <a:r>
              <a:rPr lang="en-US" b="0" i="0" dirty="0">
                <a:effectLst/>
                <a:latin typeface="IBM Plex Sans" panose="020B0503050203000203" pitchFamily="34" charset="0"/>
                <a:cs typeface="Arial"/>
              </a:rPr>
              <a:t> visual cues such as maps, directions, and symbols to help guide them to their destinations. In these often high-stress environments, effective wayfinding systems contribute to a sense of well-being, safety, and security.</a:t>
            </a:r>
            <a:endParaRPr lang="en-US" b="0" i="0" dirty="0">
              <a:effectLst/>
              <a:latin typeface="IBM Plex Sans" panose="020B0503050203000203" pitchFamily="34" charset="0"/>
            </a:endParaRPr>
          </a:p>
          <a:p>
            <a:pPr marL="171450" indent="-171450">
              <a:buFont typeface="Arial" panose="020B0604020202020204" pitchFamily="34" charset="0"/>
              <a:buChar char="•"/>
              <a:defRPr/>
            </a:pPr>
            <a:endParaRPr lang="en-US" dirty="0">
              <a:latin typeface="IBM Plex Sans" panose="020B0503050203000203" pitchFamily="34" charset="0"/>
              <a:cs typeface="Aria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latin typeface="IBM Plex Sans" panose="020B0503050203000203" pitchFamily="34" charset="0"/>
                <a:cs typeface="Arial"/>
              </a:rPr>
              <a:t>Workplace flexibility </a:t>
            </a:r>
            <a:r>
              <a:rPr lang="en-US" dirty="0">
                <a:latin typeface="IBM Plex Sans" panose="020B0503050203000203" pitchFamily="34" charset="0"/>
                <a:cs typeface="Arial"/>
              </a:rPr>
              <a:t>is an arrangement between employees and employers in which both parties agree on when, where, and how the employee will work to meet the organization’s needs. Flexibility can be formal and officially approved through Human Resources (HR) policies, or informal and available on a discretionary basis.</a:t>
            </a:r>
          </a:p>
        </p:txBody>
      </p:sp>
    </p:spTree>
    <p:extLst>
      <p:ext uri="{BB962C8B-B14F-4D97-AF65-F5344CB8AC3E}">
        <p14:creationId xmlns:p14="http://schemas.microsoft.com/office/powerpoint/2010/main" val="24530906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CD85A66-5158-5244-99A3-93DBC76D2576}" type="slidenum">
              <a:rPr lang="en-US" smtClean="0"/>
              <a:t>5</a:t>
            </a:fld>
            <a:endParaRPr lang="en-US"/>
          </a:p>
        </p:txBody>
      </p:sp>
    </p:spTree>
    <p:extLst>
      <p:ext uri="{BB962C8B-B14F-4D97-AF65-F5344CB8AC3E}">
        <p14:creationId xmlns:p14="http://schemas.microsoft.com/office/powerpoint/2010/main" val="30035027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22450" y="228600"/>
            <a:ext cx="3213100" cy="1808163"/>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dirty="0"/>
              <a:t>Managing the space an enterprise needs has a distinct lifecycle.  This includes on-boarding new space, using and managing it and ultimately disposing of space when its no longer needed.  All enterprises that own or lease facilities are already doing all these process steps in one form or another.  The more of these processes and data that are integrated and accessible across this lifecycle the better operational performance and reduced cost and enterprise may realize.</a:t>
            </a:r>
          </a:p>
          <a:p>
            <a:endParaRPr lang="en-US" dirty="0"/>
          </a:p>
          <a:p>
            <a:pPr marL="0" marR="0" lvl="0" indent="0" algn="l" defTabSz="914400" rtl="0" eaLnBrk="1" fontAlgn="auto" latinLnBrk="0" hangingPunct="1">
              <a:lnSpc>
                <a:spcPct val="100000"/>
              </a:lnSpc>
              <a:spcBef>
                <a:spcPts val="600"/>
              </a:spcBef>
              <a:spcAft>
                <a:spcPts val="0"/>
              </a:spcAft>
              <a:buClrTx/>
              <a:buSzTx/>
              <a:buFontTx/>
              <a:buNone/>
              <a:tabLst/>
              <a:defRPr/>
            </a:pPr>
            <a:r>
              <a:rPr lang="en-US" dirty="0"/>
              <a:t>This is work that all are already doing.  Its not uncommon for large enterprises to have 20, 30 or even 40 systems that executed this work. </a:t>
            </a:r>
            <a:r>
              <a:rPr lang="en-US" sz="1000" kern="1200" baseline="0" dirty="0">
                <a:solidFill>
                  <a:schemeClr val="tx1"/>
                </a:solidFill>
                <a:latin typeface="+mn-lt"/>
                <a:ea typeface="+mn-ea"/>
                <a:cs typeface="+mn-cs"/>
              </a:rPr>
              <a:t>T</a:t>
            </a:r>
            <a:r>
              <a:rPr lang="en-US" altLang="en-US" sz="1000" kern="1200" baseline="0" dirty="0">
                <a:solidFill>
                  <a:schemeClr val="tx1"/>
                </a:solidFill>
                <a:latin typeface="+mn-lt"/>
                <a:ea typeface="+mn-ea"/>
                <a:cs typeface="+mn-cs"/>
              </a:rPr>
              <a:t>hat includes spreadsheets, e-mail and paper files.  </a:t>
            </a:r>
            <a:r>
              <a:rPr lang="en-US" dirty="0"/>
              <a:t>All of it can be done with TRIRIGA.  These use all represent </a:t>
            </a:r>
            <a:r>
              <a:rPr lang="en-US" b="1" dirty="0"/>
              <a:t>out-of-box capabilities </a:t>
            </a:r>
            <a:r>
              <a:rPr lang="en-US" dirty="0"/>
              <a:t>that don’t require customization. They can be configured to meet customer needs.</a:t>
            </a:r>
          </a:p>
        </p:txBody>
      </p:sp>
      <p:sp>
        <p:nvSpPr>
          <p:cNvPr id="4" name="Slide Number Placeholder 3"/>
          <p:cNvSpPr>
            <a:spLocks noGrp="1"/>
          </p:cNvSpPr>
          <p:nvPr>
            <p:ph type="sldNum" sz="quarter" idx="5"/>
          </p:nvPr>
        </p:nvSpPr>
        <p:spPr/>
        <p:txBody>
          <a:bodyPr/>
          <a:lstStyle/>
          <a:p>
            <a:fld id="{6E2E38B8-B0B4-AD41-AC6E-B781F46A9FD3}" type="slidenum">
              <a:rPr lang="en-US" smtClean="0"/>
              <a:pPr/>
              <a:t>6</a:t>
            </a:fld>
            <a:endParaRPr lang="en-US" dirty="0"/>
          </a:p>
        </p:txBody>
      </p:sp>
      <p:sp>
        <p:nvSpPr>
          <p:cNvPr id="5" name="Footer Placeholder 4"/>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34079235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22450" y="228600"/>
            <a:ext cx="3213100" cy="1808163"/>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dirty="0"/>
              <a:t>Managing the space an enterprise needs has a distinct lifecycle.  This includes on-boarding new space, using and managing it and ultimately disposing of space when its no longer needed.  All enterprises that own or lease facilities are already doing all these process steps in one form or another.  The more of these processes and data that are integrated and accessible across this lifecycle the better operational performance and reduced cost and enterprise may realize.</a:t>
            </a:r>
          </a:p>
          <a:p>
            <a:endParaRPr lang="en-US" dirty="0"/>
          </a:p>
          <a:p>
            <a:pPr marL="0" marR="0" lvl="0" indent="0" algn="l" defTabSz="914400" rtl="0" eaLnBrk="1" fontAlgn="auto" latinLnBrk="0" hangingPunct="1">
              <a:lnSpc>
                <a:spcPct val="100000"/>
              </a:lnSpc>
              <a:spcBef>
                <a:spcPts val="600"/>
              </a:spcBef>
              <a:spcAft>
                <a:spcPts val="0"/>
              </a:spcAft>
              <a:buClrTx/>
              <a:buSzTx/>
              <a:buFontTx/>
              <a:buNone/>
              <a:tabLst/>
              <a:defRPr/>
            </a:pPr>
            <a:r>
              <a:rPr lang="en-US" dirty="0"/>
              <a:t>This is work that all are already doing.  Its not uncommon for large enterprises to have 20, 30 or even 40 systems that executed this work. </a:t>
            </a:r>
            <a:r>
              <a:rPr lang="en-US" sz="1000" kern="1200" baseline="0" dirty="0">
                <a:solidFill>
                  <a:schemeClr val="tx1"/>
                </a:solidFill>
                <a:latin typeface="+mn-lt"/>
                <a:ea typeface="+mn-ea"/>
                <a:cs typeface="+mn-cs"/>
              </a:rPr>
              <a:t>T</a:t>
            </a:r>
            <a:r>
              <a:rPr lang="en-US" altLang="en-US" sz="1000" kern="1200" baseline="0" dirty="0">
                <a:solidFill>
                  <a:schemeClr val="tx1"/>
                </a:solidFill>
                <a:latin typeface="+mn-lt"/>
                <a:ea typeface="+mn-ea"/>
                <a:cs typeface="+mn-cs"/>
              </a:rPr>
              <a:t>hat includes spreadsheets, e-mail and paper files.  </a:t>
            </a:r>
            <a:r>
              <a:rPr lang="en-US" dirty="0"/>
              <a:t>All of it can be done with TRIRIGA.  These use all represent </a:t>
            </a:r>
            <a:r>
              <a:rPr lang="en-US" b="1" dirty="0"/>
              <a:t>out-of-box capabilities </a:t>
            </a:r>
            <a:r>
              <a:rPr lang="en-US" dirty="0"/>
              <a:t>that don’t require customization. They can be configured to meet customer needs.</a:t>
            </a:r>
          </a:p>
        </p:txBody>
      </p:sp>
      <p:sp>
        <p:nvSpPr>
          <p:cNvPr id="4" name="Slide Number Placeholder 3"/>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7</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
        <p:nvSpPr>
          <p:cNvPr id="5" name="Footer Placeholder 4"/>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Group Name / DOC ID / Month XX, 2022 / © 2022 IBM Corporation</a:t>
            </a:r>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Tree>
    <p:extLst>
      <p:ext uri="{BB962C8B-B14F-4D97-AF65-F5344CB8AC3E}">
        <p14:creationId xmlns:p14="http://schemas.microsoft.com/office/powerpoint/2010/main" val="34079235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228600"/>
            <a:ext cx="4572000" cy="2571750"/>
          </a:xfrm>
        </p:spPr>
      </p:sp>
      <p:sp>
        <p:nvSpPr>
          <p:cNvPr id="3" name="Notes Placeholder 2"/>
          <p:cNvSpPr>
            <a:spLocks noGrp="1"/>
          </p:cNvSpPr>
          <p:nvPr>
            <p:ph type="body" idx="1"/>
          </p:nvPr>
        </p:nvSpPr>
        <p:spPr/>
        <p:txBody>
          <a:bodyPr/>
          <a:lstStyle/>
          <a:p>
            <a:pPr>
              <a:defRPr/>
            </a:pPr>
            <a:r>
              <a:rPr lang="en-US" b="0" i="0" dirty="0">
                <a:effectLst/>
                <a:latin typeface="IBM Plex Sans" panose="020B0503050203000203" pitchFamily="34" charset="0"/>
                <a:cs typeface="Arial"/>
              </a:rPr>
              <a:t>TRIRIGA </a:t>
            </a:r>
            <a:r>
              <a:rPr lang="en-US" dirty="0">
                <a:latin typeface="IBM Plex Sans" panose="020B0503050203000203" pitchFamily="34" charset="0"/>
                <a:cs typeface="Arial"/>
              </a:rPr>
              <a:t>differentiates through its ability to automate business processes out-of-the-box </a:t>
            </a:r>
            <a:r>
              <a:rPr lang="en-US" b="0" i="0" dirty="0">
                <a:effectLst/>
                <a:latin typeface="IBM Plex Sans" panose="020B0503050203000203" pitchFamily="34" charset="0"/>
                <a:cs typeface="Arial"/>
              </a:rPr>
              <a:t>and </a:t>
            </a:r>
            <a:r>
              <a:rPr lang="en-US" dirty="0">
                <a:latin typeface="IBM Plex Sans" panose="020B0503050203000203" pitchFamily="34" charset="0"/>
                <a:cs typeface="Arial"/>
              </a:rPr>
              <a:t>be further configured.</a:t>
            </a:r>
            <a:r>
              <a:rPr lang="en-US" b="0" i="0" dirty="0">
                <a:effectLst/>
                <a:latin typeface="IBM Plex Sans" panose="020B0503050203000203" pitchFamily="34" charset="0"/>
                <a:cs typeface="Arial"/>
              </a:rPr>
              <a:t> </a:t>
            </a:r>
            <a:r>
              <a:rPr lang="en-US" dirty="0">
                <a:latin typeface="IBM Plex Sans" panose="020B0503050203000203" pitchFamily="34" charset="0"/>
                <a:cs typeface="Arial"/>
              </a:rPr>
              <a:t>This slide shows some of the</a:t>
            </a:r>
            <a:r>
              <a:rPr lang="en-US" b="0" i="0" dirty="0">
                <a:effectLst/>
                <a:latin typeface="IBM Plex Sans" panose="020B0503050203000203" pitchFamily="34" charset="0"/>
                <a:cs typeface="Arial"/>
              </a:rPr>
              <a:t> different options available to automate a business process flow. Each of these features can be tailored to fit a unique business use case.</a:t>
            </a:r>
            <a:r>
              <a:rPr lang="en-US" dirty="0">
                <a:latin typeface="IBM Plex Sans" panose="020B0503050203000203" pitchFamily="34" charset="0"/>
                <a:cs typeface="Arial"/>
              </a:rPr>
              <a:t> These building blocks provide powerful capabilities to enable complex business processes:</a:t>
            </a:r>
            <a:endParaRPr lang="en-US" dirty="0">
              <a:latin typeface="IBM Plex Sans" panose="020B0503050203000203" pitchFamily="34" charset="0"/>
            </a:endParaRPr>
          </a:p>
          <a:p>
            <a:pPr marL="0" marR="0" lvl="0" indent="0" algn="l" defTabSz="914400">
              <a:lnSpc>
                <a:spcPct val="100000"/>
              </a:lnSpc>
              <a:buClrTx/>
              <a:buSzTx/>
              <a:buFontTx/>
              <a:buNone/>
              <a:tabLst/>
              <a:defRPr/>
            </a:pPr>
            <a:endParaRPr lang="en-US" b="0" i="0" dirty="0">
              <a:effectLst/>
              <a:latin typeface="IBM Plex Sans" panose="020B0503050203000203" pitchFamily="34" charset="0"/>
            </a:endParaRPr>
          </a:p>
          <a:p>
            <a:pPr marL="285750" indent="-285750">
              <a:buFont typeface="Arial"/>
              <a:buChar char="•"/>
              <a:defRPr/>
            </a:pPr>
            <a:r>
              <a:rPr lang="en-US" b="1" dirty="0">
                <a:latin typeface="IBM Plex Sans" panose="020B0503050203000203" pitchFamily="34" charset="0"/>
                <a:cs typeface="Arial"/>
              </a:rPr>
              <a:t>Request:</a:t>
            </a:r>
            <a:r>
              <a:rPr lang="en-US" dirty="0">
                <a:latin typeface="IBM Plex Sans" panose="020B0503050203000203" pitchFamily="34" charset="0"/>
                <a:cs typeface="Arial"/>
              </a:rPr>
              <a:t> Entry point for users to initiate a wide range of requests</a:t>
            </a:r>
            <a:endParaRPr lang="en-US" dirty="0">
              <a:latin typeface="IBM Plex Sans" panose="020B0503050203000203" pitchFamily="34" charset="0"/>
            </a:endParaRPr>
          </a:p>
          <a:p>
            <a:pPr marL="285750" indent="-285750">
              <a:buFont typeface="Arial"/>
              <a:buChar char="•"/>
              <a:defRPr/>
            </a:pPr>
            <a:r>
              <a:rPr lang="en-US" b="1" dirty="0">
                <a:latin typeface="IBM Plex Sans" panose="020B0503050203000203" pitchFamily="34" charset="0"/>
                <a:cs typeface="Arial"/>
              </a:rPr>
              <a:t>Templates:</a:t>
            </a:r>
            <a:r>
              <a:rPr lang="en-US" dirty="0">
                <a:latin typeface="IBM Plex Sans" panose="020B0503050203000203" pitchFamily="34" charset="0"/>
                <a:cs typeface="Arial"/>
              </a:rPr>
              <a:t> Pre-denied process steps that may be commonly utilized</a:t>
            </a:r>
            <a:endParaRPr lang="en-US" dirty="0">
              <a:latin typeface="IBM Plex Sans" panose="020B0503050203000203" pitchFamily="34" charset="0"/>
            </a:endParaRPr>
          </a:p>
          <a:p>
            <a:pPr marL="285750" indent="-285750">
              <a:buFont typeface="Arial"/>
              <a:buChar char="•"/>
              <a:defRPr/>
            </a:pPr>
            <a:r>
              <a:rPr lang="en-US" b="1" dirty="0">
                <a:latin typeface="IBM Plex Sans" panose="020B0503050203000203" pitchFamily="34" charset="0"/>
                <a:cs typeface="Arial"/>
              </a:rPr>
              <a:t>Approvals:</a:t>
            </a:r>
            <a:r>
              <a:rPr lang="en-US" dirty="0">
                <a:latin typeface="IBM Plex Sans" panose="020B0503050203000203" pitchFamily="34" charset="0"/>
                <a:cs typeface="Arial"/>
              </a:rPr>
              <a:t> Action items requiring user approval</a:t>
            </a:r>
            <a:endParaRPr lang="en-US" dirty="0">
              <a:latin typeface="IBM Plex Sans" panose="020B0503050203000203" pitchFamily="34" charset="0"/>
            </a:endParaRPr>
          </a:p>
          <a:p>
            <a:pPr marL="285750" indent="-285750">
              <a:buFont typeface="Arial"/>
              <a:buChar char="•"/>
              <a:defRPr/>
            </a:pPr>
            <a:r>
              <a:rPr lang="en-US" b="1" dirty="0">
                <a:latin typeface="IBM Plex Sans" panose="020B0503050203000203" pitchFamily="34" charset="0"/>
                <a:cs typeface="Arial"/>
              </a:rPr>
              <a:t>Tasks and projects:</a:t>
            </a:r>
            <a:r>
              <a:rPr lang="en-US" dirty="0">
                <a:latin typeface="IBM Plex Sans" panose="020B0503050203000203" pitchFamily="34" charset="0"/>
                <a:cs typeface="Arial"/>
              </a:rPr>
              <a:t> Activities with a defined start, end, resource, status, and sometimes cost</a:t>
            </a:r>
            <a:endParaRPr lang="en-US" dirty="0">
              <a:latin typeface="IBM Plex Sans" panose="020B0503050203000203" pitchFamily="34" charset="0"/>
            </a:endParaRPr>
          </a:p>
          <a:p>
            <a:pPr marL="285750" indent="-285750">
              <a:buFont typeface="Arial"/>
              <a:buChar char="•"/>
              <a:defRPr/>
            </a:pPr>
            <a:r>
              <a:rPr lang="en-US" b="1" dirty="0">
                <a:latin typeface="IBM Plex Sans" panose="020B0503050203000203" pitchFamily="34" charset="0"/>
                <a:cs typeface="Arial"/>
              </a:rPr>
              <a:t>Service matrix:</a:t>
            </a:r>
            <a:r>
              <a:rPr lang="en-US" dirty="0">
                <a:latin typeface="IBM Plex Sans" panose="020B0503050203000203" pitchFamily="34" charset="0"/>
                <a:cs typeface="Arial"/>
              </a:rPr>
              <a:t> Specify parameters for request processing and routing through workflow engine</a:t>
            </a:r>
            <a:endParaRPr lang="en-US" dirty="0">
              <a:latin typeface="IBM Plex Sans" panose="020B0503050203000203" pitchFamily="34" charset="0"/>
            </a:endParaRPr>
          </a:p>
          <a:p>
            <a:pPr marL="285750" indent="-285750">
              <a:buFont typeface="Arial"/>
              <a:buChar char="•"/>
              <a:defRPr/>
            </a:pPr>
            <a:r>
              <a:rPr lang="en-US" b="1" dirty="0">
                <a:latin typeface="IBM Plex Sans" panose="020B0503050203000203" pitchFamily="34" charset="0"/>
                <a:cs typeface="Arial"/>
              </a:rPr>
              <a:t>Action items:</a:t>
            </a:r>
            <a:r>
              <a:rPr lang="en-US" dirty="0">
                <a:latin typeface="IBM Plex Sans" panose="020B0503050203000203" pitchFamily="34" charset="0"/>
                <a:cs typeface="Arial"/>
              </a:rPr>
              <a:t> Pauses in work workflow processes that require a user action</a:t>
            </a:r>
            <a:endParaRPr lang="en-US" dirty="0">
              <a:latin typeface="IBM Plex Sans" panose="020B0503050203000203" pitchFamily="34" charset="0"/>
            </a:endParaRPr>
          </a:p>
          <a:p>
            <a:pPr marL="285750" indent="-285750">
              <a:buFont typeface="Arial"/>
              <a:buChar char="•"/>
              <a:defRPr/>
            </a:pPr>
            <a:r>
              <a:rPr lang="en-US" b="1" dirty="0">
                <a:latin typeface="IBM Plex Sans" panose="020B0503050203000203" pitchFamily="34" charset="0"/>
                <a:cs typeface="Arial"/>
              </a:rPr>
              <a:t>Integration:</a:t>
            </a:r>
            <a:r>
              <a:rPr lang="en-US" dirty="0">
                <a:latin typeface="IBM Plex Sans" panose="020B0503050203000203" pitchFamily="34" charset="0"/>
                <a:cs typeface="Arial"/>
              </a:rPr>
              <a:t> External systems of record to pull data from. This includes Enterprise Resource Planning (ERP) tools, Human Resources (HR) tools, and Financial tools.</a:t>
            </a:r>
            <a:endParaRPr lang="en-US" dirty="0">
              <a:latin typeface="IBM Plex Sans" panose="020B0503050203000203" pitchFamily="34" charset="0"/>
            </a:endParaRPr>
          </a:p>
          <a:p>
            <a:pPr marL="285750" indent="-285750">
              <a:buFont typeface="Arial"/>
              <a:buChar char="•"/>
              <a:defRPr/>
            </a:pPr>
            <a:r>
              <a:rPr lang="en-US" b="1" dirty="0">
                <a:latin typeface="IBM Plex Sans" panose="020B0503050203000203" pitchFamily="34" charset="0"/>
                <a:cs typeface="Arial"/>
              </a:rPr>
              <a:t>Workflow engine:</a:t>
            </a:r>
            <a:r>
              <a:rPr lang="en-US" dirty="0">
                <a:latin typeface="IBM Plex Sans" panose="020B0503050203000203" pitchFamily="34" charset="0"/>
                <a:cs typeface="Arial"/>
              </a:rPr>
              <a:t> Complex business logic and rules engine</a:t>
            </a:r>
            <a:endParaRPr lang="en-US" dirty="0">
              <a:latin typeface="IBM Plex Sans" panose="020B0503050203000203" pitchFamily="34" charset="0"/>
            </a:endParaRPr>
          </a:p>
          <a:p>
            <a:pPr marL="285750" indent="-285750">
              <a:buFont typeface="Arial"/>
              <a:buChar char="•"/>
              <a:defRPr/>
            </a:pPr>
            <a:r>
              <a:rPr lang="en-US" b="1" dirty="0">
                <a:latin typeface="IBM Plex Sans" panose="020B0503050203000203" pitchFamily="34" charset="0"/>
                <a:cs typeface="Arial"/>
              </a:rPr>
              <a:t>State family:</a:t>
            </a:r>
            <a:r>
              <a:rPr lang="en-US" dirty="0">
                <a:latin typeface="IBM Plex Sans" panose="020B0503050203000203" pitchFamily="34" charset="0"/>
                <a:cs typeface="Arial"/>
              </a:rPr>
              <a:t> Superset of entity lifecycle and state transitions</a:t>
            </a:r>
            <a:endParaRPr lang="en-US" dirty="0">
              <a:latin typeface="IBM Plex Sans" panose="020B0503050203000203" pitchFamily="34" charset="0"/>
            </a:endParaRPr>
          </a:p>
          <a:p>
            <a:pPr marL="285750" indent="-285750">
              <a:buFont typeface="Arial"/>
              <a:buChar char="•"/>
              <a:defRPr/>
            </a:pPr>
            <a:r>
              <a:rPr lang="en-US" b="1" dirty="0">
                <a:latin typeface="IBM Plex Sans" panose="020B0503050203000203" pitchFamily="34" charset="0"/>
                <a:cs typeface="Arial"/>
              </a:rPr>
              <a:t>Data model:</a:t>
            </a:r>
            <a:r>
              <a:rPr lang="en-US" dirty="0">
                <a:latin typeface="IBM Plex Sans" panose="020B0503050203000203" pitchFamily="34" charset="0"/>
                <a:cs typeface="Arial"/>
              </a:rPr>
              <a:t> Entity definitions, attributes, and relationships</a:t>
            </a:r>
            <a:endParaRPr lang="en-US" dirty="0">
              <a:latin typeface="IBM Plex Sans" panose="020B0503050203000203" pitchFamily="34" charset="0"/>
            </a:endParaRPr>
          </a:p>
          <a:p>
            <a:endParaRPr lang="en-US" dirty="0">
              <a:latin typeface="IBM Plex Sans" panose="020B0503050203000203" pitchFamily="34" charset="0"/>
            </a:endParaRPr>
          </a:p>
          <a:p>
            <a:pPr>
              <a:buFont typeface="Arial" panose="020B0604020202020204" pitchFamily="34" charset="0"/>
              <a:defRPr/>
            </a:pPr>
            <a:endParaRPr lang="en-US" dirty="0">
              <a:latin typeface="IBM Plex Sans" panose="020B0503050203000203" pitchFamily="34" charset="0"/>
              <a:ea typeface="IBM Plex Sans" charset="0"/>
              <a:cs typeface="Arial"/>
            </a:endParaRPr>
          </a:p>
          <a:p>
            <a:pPr>
              <a:defRPr/>
            </a:pPr>
            <a:r>
              <a:rPr kumimoji="0" lang="en-US" b="1" i="0" strike="noStrike" kern="1200" cap="none" spc="0" normalizeH="0" baseline="0" noProof="0" dirty="0">
                <a:ln>
                  <a:noFill/>
                </a:ln>
                <a:effectLst/>
                <a:uLnTx/>
                <a:uFillTx/>
                <a:latin typeface="IBM Plex Sans" panose="020B0503050203000203" pitchFamily="34" charset="0"/>
                <a:ea typeface="IBM Plex Sans" charset="0"/>
                <a:cs typeface="Arial"/>
              </a:rPr>
              <a:t>Acronym:</a:t>
            </a:r>
          </a:p>
          <a:p>
            <a:pPr>
              <a:defRPr/>
            </a:pPr>
            <a:endParaRPr lang="en-US" b="1" dirty="0">
              <a:latin typeface="IBM Plex Sans" panose="020B0503050203000203" pitchFamily="34" charset="0"/>
              <a:ea typeface="IBM Plex Sans" charset="0"/>
              <a:cs typeface="Arial"/>
            </a:endParaRPr>
          </a:p>
          <a:p>
            <a:pPr marL="285750" indent="-285750">
              <a:buFont typeface="Arial"/>
              <a:buChar char="•"/>
              <a:defRPr/>
            </a:pPr>
            <a:r>
              <a:rPr kumimoji="0" lang="en-US" b="1" i="0" u="none" strike="noStrike" kern="1200" cap="none" spc="0" normalizeH="0" baseline="0" noProof="0" dirty="0">
                <a:ln>
                  <a:noFill/>
                </a:ln>
                <a:effectLst/>
                <a:uLnTx/>
                <a:uFillTx/>
                <a:latin typeface="IBM Plex Sans" panose="020B0503050203000203" pitchFamily="34" charset="0"/>
                <a:ea typeface="IBM Plex Sans" charset="0"/>
                <a:cs typeface="Arial"/>
              </a:rPr>
              <a:t>ERP : </a:t>
            </a:r>
            <a:r>
              <a:rPr kumimoji="0" lang="en-US" b="0" i="0" u="none" strike="noStrike" kern="1200" cap="none" spc="0" normalizeH="0" baseline="0" noProof="0" dirty="0">
                <a:ln>
                  <a:noFill/>
                </a:ln>
                <a:effectLst/>
                <a:uLnTx/>
                <a:uFillTx/>
                <a:latin typeface="IBM Plex Sans" panose="020B0503050203000203" pitchFamily="34" charset="0"/>
                <a:ea typeface="IBM Plex Sans" charset="0"/>
                <a:cs typeface="Arial"/>
              </a:rPr>
              <a:t>Enterprise Resource Planning</a:t>
            </a:r>
            <a:r>
              <a:rPr lang="en-US" dirty="0">
                <a:latin typeface="IBM Plex Sans" panose="020B0503050203000203" pitchFamily="34" charset="0"/>
                <a:ea typeface="IBM Plex Sans" charset="0"/>
                <a:cs typeface="Arial"/>
              </a:rPr>
              <a:t> </a:t>
            </a:r>
            <a:endParaRPr lang="en-US" b="0" i="0" u="none" strike="noStrike" kern="1200" cap="none" spc="0" normalizeH="0" baseline="0" noProof="0" dirty="0">
              <a:ln>
                <a:noFill/>
              </a:ln>
              <a:effectLst/>
              <a:uLnTx/>
              <a:uFillTx/>
              <a:latin typeface="IBM Plex Sans" panose="020B0503050203000203" pitchFamily="34" charset="0"/>
              <a:ea typeface="IBM Plex Sans" charset="0"/>
            </a:endParaRPr>
          </a:p>
        </p:txBody>
      </p:sp>
    </p:spTree>
    <p:extLst>
      <p:ext uri="{BB962C8B-B14F-4D97-AF65-F5344CB8AC3E}">
        <p14:creationId xmlns:p14="http://schemas.microsoft.com/office/powerpoint/2010/main" val="75989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228600"/>
            <a:ext cx="4572000" cy="2571750"/>
          </a:xfrm>
        </p:spPr>
      </p:sp>
      <p:sp>
        <p:nvSpPr>
          <p:cNvPr id="3" name="Notes Placeholder 2"/>
          <p:cNvSpPr>
            <a:spLocks noGrp="1"/>
          </p:cNvSpPr>
          <p:nvPr>
            <p:ph type="body" idx="1"/>
          </p:nvPr>
        </p:nvSpPr>
        <p:spPr/>
        <p:txBody>
          <a:bodyPr/>
          <a:lstStyle/>
          <a:p>
            <a:r>
              <a:rPr lang="en-US" b="0" dirty="0">
                <a:latin typeface="IBM Plex Sans" panose="020B0503050203000203" pitchFamily="34" charset="0"/>
                <a:cs typeface="Arial"/>
              </a:rPr>
              <a:t>The earlier building block slide (titled: These embedded building blocks provide powerful……..) </a:t>
            </a:r>
            <a:r>
              <a:rPr lang="en-US" dirty="0">
                <a:latin typeface="IBM Plex Sans" panose="020B0503050203000203" pitchFamily="34" charset="0"/>
                <a:cs typeface="Arial"/>
              </a:rPr>
              <a:t>showed</a:t>
            </a:r>
            <a:r>
              <a:rPr lang="en-US" b="0" dirty="0">
                <a:latin typeface="IBM Plex Sans" panose="020B0503050203000203" pitchFamily="34" charset="0"/>
                <a:cs typeface="Arial"/>
              </a:rPr>
              <a:t> a detailed view of the platform automation building blocks. This slide brings that discussion back up to a </a:t>
            </a:r>
            <a:r>
              <a:rPr lang="en-US" dirty="0">
                <a:latin typeface="IBM Plex Sans" panose="020B0503050203000203" pitchFamily="34" charset="0"/>
                <a:cs typeface="Arial"/>
              </a:rPr>
              <a:t>slightly</a:t>
            </a:r>
            <a:r>
              <a:rPr lang="en-US" b="0" dirty="0">
                <a:latin typeface="IBM Plex Sans" panose="020B0503050203000203" pitchFamily="34" charset="0"/>
                <a:cs typeface="Arial"/>
              </a:rPr>
              <a:t> higher level to summarize the configurable platform benefits across automation and User interface (UI) /</a:t>
            </a:r>
            <a:r>
              <a:rPr lang="en-US" dirty="0">
                <a:latin typeface="IBM Plex Sans" panose="020B0503050203000203" pitchFamily="34" charset="0"/>
                <a:cs typeface="Arial"/>
              </a:rPr>
              <a:t> </a:t>
            </a:r>
            <a:r>
              <a:rPr lang="en-US" b="0" dirty="0">
                <a:latin typeface="IBM Plex Sans" panose="020B0503050203000203" pitchFamily="34" charset="0"/>
                <a:cs typeface="Arial"/>
              </a:rPr>
              <a:t>User Experience (UX</a:t>
            </a:r>
            <a:r>
              <a:rPr lang="en-US" dirty="0">
                <a:latin typeface="IBM Plex Sans" panose="020B0503050203000203" pitchFamily="34" charset="0"/>
                <a:cs typeface="Arial"/>
              </a:rPr>
              <a:t>).</a:t>
            </a:r>
            <a:endParaRPr lang="en-US" b="0" dirty="0">
              <a:latin typeface="IBM Plex Sans" panose="020B0503050203000203" pitchFamily="34" charset="0"/>
              <a:cs typeface="Arial"/>
            </a:endParaRPr>
          </a:p>
          <a:p>
            <a:endParaRPr lang="en-US" dirty="0">
              <a:latin typeface="IBM Plex Sans" panose="020B0503050203000203" pitchFamily="34" charset="0"/>
            </a:endParaRPr>
          </a:p>
          <a:p>
            <a:pPr>
              <a:spcAft>
                <a:spcPts val="1100"/>
              </a:spcAft>
              <a:defRPr/>
            </a:pPr>
            <a:r>
              <a:rPr lang="en-US" dirty="0">
                <a:latin typeface="IBM Plex Sans" panose="020B0503050203000203" pitchFamily="34" charset="0"/>
                <a:ea typeface="IBM Plex Sans" charset="0"/>
                <a:cs typeface="Arial"/>
              </a:rPr>
              <a:t>IBM TRIRIGA is built on an integrated application platform that comes with a wide range of builder tools. These tools enable TRIRIGA’s functionality and provide implementers the ability to extend the system as business requirements change. Though many enterprises say they want simple out-of-box solutions to manage their real estate portfolios, they often have complex processes that are essential to their business. Therefore, it is important for solutions to be able to be configured to work with these processes, so that work isn't disrupted.</a:t>
            </a:r>
            <a:br>
              <a:rPr lang="en-US" dirty="0">
                <a:latin typeface="IBM Plex Sans" panose="020B0503050203000203" pitchFamily="34" charset="0"/>
                <a:ea typeface="IBM Plex Sans" charset="0"/>
                <a:cs typeface="Arial" panose="020B0604020202020204" pitchFamily="34" charset="0"/>
              </a:rPr>
            </a:br>
            <a:endParaRPr lang="en-US" dirty="0">
              <a:latin typeface="IBM Plex Sans" panose="020B0503050203000203" pitchFamily="34" charset="0"/>
              <a:ea typeface="IBM Plex Sans" charset="0"/>
              <a:cs typeface="Arial" panose="020B0604020202020204" pitchFamily="34" charset="0"/>
            </a:endParaRPr>
          </a:p>
          <a:p>
            <a:pPr>
              <a:spcAft>
                <a:spcPts val="1100"/>
              </a:spcAft>
              <a:defRPr/>
            </a:pPr>
            <a:r>
              <a:rPr lang="en-US" dirty="0">
                <a:latin typeface="IBM Plex Sans" panose="020B0503050203000203" pitchFamily="34" charset="0"/>
                <a:ea typeface="IBM Plex Sans" charset="0"/>
                <a:cs typeface="Arial"/>
              </a:rPr>
              <a:t>TRIRIGA provides organizations with graphical tools to rapidly configure applications and extend the use and value of existing systems. This allows users to create customized applications tailored for their business and allows them to focus on the functionality of the application rather than the technical details. This separation usually results in a better fit for business needs. Furthermore, many users only need a few weeks of training to be able to use the platform to build applications. This eases the burden on businesses, as they do not need to hire programmers to build custom applications. </a:t>
            </a:r>
            <a:br>
              <a:rPr lang="en-US" dirty="0">
                <a:latin typeface="IBM Plex Sans" panose="020B0503050203000203" pitchFamily="34" charset="0"/>
                <a:ea typeface="IBM Plex Sans" charset="0"/>
                <a:cs typeface="Arial" panose="020B0604020202020204" pitchFamily="34" charset="0"/>
              </a:rPr>
            </a:br>
            <a:endParaRPr lang="en-US" dirty="0">
              <a:latin typeface="IBM Plex Sans" panose="020B0503050203000203" pitchFamily="34" charset="0"/>
              <a:ea typeface="IBM Plex Sans" charset="0"/>
              <a:cs typeface="Arial" panose="020B0604020202020204" pitchFamily="34" charset="0"/>
            </a:endParaRPr>
          </a:p>
          <a:p>
            <a:pPr>
              <a:spcAft>
                <a:spcPts val="1100"/>
              </a:spcAft>
              <a:defRPr/>
            </a:pPr>
            <a:r>
              <a:rPr lang="en-US" dirty="0">
                <a:latin typeface="IBM Plex Sans" panose="020B0503050203000203" pitchFamily="34" charset="0"/>
                <a:ea typeface="IBM Plex Sans" charset="0"/>
                <a:cs typeface="Arial"/>
              </a:rPr>
              <a:t>The three main parts of TRIRIGA that users can customize are Data Modeler, Workflow and User interface (UI) builder:</a:t>
            </a:r>
            <a:br>
              <a:rPr lang="en-US" dirty="0">
                <a:latin typeface="IBM Plex Sans" panose="020B0503050203000203" pitchFamily="34" charset="0"/>
                <a:ea typeface="IBM Plex Sans" charset="0"/>
                <a:cs typeface="Arial" panose="020B0604020202020204" pitchFamily="34" charset="0"/>
              </a:rPr>
            </a:br>
            <a:endParaRPr lang="en-US" dirty="0">
              <a:latin typeface="IBM Plex Sans" panose="020B0503050203000203" pitchFamily="34" charset="0"/>
              <a:ea typeface="IBM Plex Sans" charset="0"/>
              <a:cs typeface="Arial" panose="020B0604020202020204" pitchFamily="34" charset="0"/>
            </a:endParaRPr>
          </a:p>
          <a:p>
            <a:pPr marL="285750" indent="-285750">
              <a:buFont typeface="Arial"/>
              <a:buChar char="•"/>
              <a:defRPr/>
            </a:pPr>
            <a:r>
              <a:rPr lang="en-US" b="1" dirty="0">
                <a:latin typeface="IBM Plex Sans" panose="020B0503050203000203" pitchFamily="34" charset="0"/>
                <a:cs typeface="Arial"/>
              </a:rPr>
              <a:t>Data Modeler: </a:t>
            </a:r>
            <a:r>
              <a:rPr lang="en-US" dirty="0">
                <a:latin typeface="IBM Plex Sans" panose="020B0503050203000203" pitchFamily="34" charset="0"/>
                <a:cs typeface="Arial"/>
              </a:rPr>
              <a:t>As the name implies, Data</a:t>
            </a:r>
            <a:r>
              <a:rPr kumimoji="0" lang="en-US" b="0" i="0" u="none" strike="noStrike" kern="1200" cap="none" spc="0" normalizeH="0" baseline="0" noProof="0" dirty="0">
                <a:ln>
                  <a:noFill/>
                </a:ln>
                <a:effectLst/>
                <a:uLnTx/>
                <a:uFillTx/>
                <a:latin typeface="IBM Plex Sans" panose="020B0503050203000203" pitchFamily="34" charset="0"/>
                <a:ea typeface="IBM Plex Sans" charset="0"/>
                <a:cs typeface="Arial"/>
              </a:rPr>
              <a:t> Modeler is responsible for designing the data model for the application that represents the client business. This includes defining the data attributes, associations, data events, and transitions. For example, the data model for a software application that tracks employee attendance would include attributes for employee name, employee ID, date, time in to work, time out to work, and total hours worked. These associations would define the relationships between employees and their attendance data. The events and transitions would define the sequence of events that occur when an employee clocks in or out.</a:t>
            </a:r>
            <a:endParaRPr lang="en-US" b="0" i="0" u="none" strike="noStrike" kern="1200" cap="none" spc="0" normalizeH="0" baseline="0" noProof="0" dirty="0">
              <a:ln>
                <a:noFill/>
              </a:ln>
              <a:effectLst/>
              <a:uLnTx/>
              <a:uFillTx/>
              <a:latin typeface="IBM Plex Sans" panose="020B0503050203000203" pitchFamily="34" charset="0"/>
              <a:ea typeface="IBM Plex Sans" charset="0"/>
              <a:cs typeface="Arial"/>
            </a:endParaRPr>
          </a:p>
          <a:p>
            <a:pPr marL="285750" indent="-285750">
              <a:buFont typeface="Arial" panose="020B0604020202020204" pitchFamily="34" charset="0"/>
              <a:buChar char="•"/>
            </a:pPr>
            <a:endParaRPr lang="en-US" dirty="0">
              <a:latin typeface="IBM Plex Sans" panose="020B0503050203000203" pitchFamily="34" charset="0"/>
            </a:endParaRPr>
          </a:p>
          <a:p>
            <a:pPr marL="285750" indent="-285750">
              <a:spcBef>
                <a:spcPts val="600"/>
              </a:spcBef>
              <a:buFont typeface="Arial"/>
              <a:buChar char="•"/>
              <a:defRPr/>
            </a:pPr>
            <a:r>
              <a:rPr lang="en-US" b="1" dirty="0">
                <a:latin typeface="IBM Plex Sans" panose="020B0503050203000203" pitchFamily="34" charset="0"/>
                <a:cs typeface="Arial"/>
              </a:rPr>
              <a:t>Workflow: </a:t>
            </a:r>
            <a:r>
              <a:rPr kumimoji="0" lang="en-US" b="0" i="0" u="none" strike="noStrike" kern="1200" cap="none" spc="0" normalizeH="0" baseline="0" noProof="0" dirty="0">
                <a:ln>
                  <a:noFill/>
                </a:ln>
                <a:effectLst/>
                <a:uLnTx/>
                <a:uFillTx/>
                <a:latin typeface="IBM Plex Sans" panose="020B0503050203000203" pitchFamily="34" charset="0"/>
                <a:ea typeface="IBM Plex Sans" charset="0"/>
                <a:cs typeface="Arial"/>
              </a:rPr>
              <a:t>A Workflow is responsible for defining the sequence of steps that need to be executed in order to complete a task. This includes defining the service matrix, approvals, action items, process automation</a:t>
            </a:r>
            <a:r>
              <a:rPr lang="en-US" dirty="0">
                <a:latin typeface="IBM Plex Sans" panose="020B0503050203000203" pitchFamily="34" charset="0"/>
                <a:ea typeface="IBM Plex Sans" charset="0"/>
                <a:cs typeface="Arial"/>
              </a:rPr>
              <a:t>,</a:t>
            </a:r>
            <a:r>
              <a:rPr kumimoji="0" lang="en-US" b="0" i="0" u="none" strike="noStrike" kern="1200" cap="none" spc="0" normalizeH="0" baseline="0" noProof="0" dirty="0">
                <a:ln>
                  <a:noFill/>
                </a:ln>
                <a:effectLst/>
                <a:uLnTx/>
                <a:uFillTx/>
                <a:latin typeface="IBM Plex Sans" panose="020B0503050203000203" pitchFamily="34" charset="0"/>
                <a:ea typeface="IBM Plex Sans" charset="0"/>
                <a:cs typeface="Arial"/>
              </a:rPr>
              <a:t> and integration. For example, a workflow can be used to automatically create a task when an email arrives in a certain mailbox. Tasks may be assigned to specific individuals or groups for completion</a:t>
            </a:r>
            <a:r>
              <a:rPr lang="en-US" dirty="0">
                <a:latin typeface="IBM Plex Sans" panose="020B0503050203000203" pitchFamily="34" charset="0"/>
                <a:ea typeface="IBM Plex Sans" charset="0"/>
                <a:cs typeface="Arial"/>
              </a:rPr>
              <a:t>,</a:t>
            </a:r>
            <a:r>
              <a:rPr kumimoji="0" lang="en-US" b="0" i="0" u="none" strike="noStrike" kern="1200" cap="none" spc="0" normalizeH="0" baseline="0" noProof="0" dirty="0">
                <a:ln>
                  <a:noFill/>
                </a:ln>
                <a:effectLst/>
                <a:uLnTx/>
                <a:uFillTx/>
                <a:latin typeface="IBM Plex Sans" panose="020B0503050203000203" pitchFamily="34" charset="0"/>
                <a:ea typeface="IBM Plex Sans" charset="0"/>
                <a:cs typeface="Arial"/>
              </a:rPr>
              <a:t> and action items can be inserted before the process can continue. Users can also create approval requirements from one or more individuals or groups before the process can be finally completed.</a:t>
            </a:r>
            <a:r>
              <a:rPr lang="en-US" dirty="0">
                <a:latin typeface="IBM Plex Sans" panose="020B0503050203000203" pitchFamily="34" charset="0"/>
                <a:ea typeface="IBM Plex Sans" charset="0"/>
                <a:cs typeface="Arial"/>
              </a:rPr>
              <a:t> For example, a manager needs to sign off on paid time off (PTO) whenever an employee enters a time-off request in the system.  </a:t>
            </a:r>
            <a:endParaRPr lang="en-US" b="0" i="0" u="none" strike="noStrike" kern="1200" cap="none" spc="0" normalizeH="0" baseline="0" noProof="0" dirty="0">
              <a:ln>
                <a:noFill/>
              </a:ln>
              <a:effectLst/>
              <a:uLnTx/>
              <a:uFillTx/>
              <a:latin typeface="IBM Plex Sans" panose="020B0503050203000203" pitchFamily="34" charset="0"/>
              <a:ea typeface="IBM Plex Sans" charset="0"/>
            </a:endParaRPr>
          </a:p>
          <a:p>
            <a:pPr marL="285750" marR="0" lvl="0" indent="-285750" algn="l" defTabSz="914400" rtl="0" eaLnBrk="1" fontAlgn="auto" latinLnBrk="0" hangingPunct="1">
              <a:lnSpc>
                <a:spcPct val="100000"/>
              </a:lnSpc>
              <a:spcBef>
                <a:spcPts val="600"/>
              </a:spcBef>
              <a:spcAft>
                <a:spcPts val="0"/>
              </a:spcAft>
              <a:buClrTx/>
              <a:buSzTx/>
              <a:buFont typeface="Arial"/>
              <a:buChar char="•"/>
              <a:tabLst/>
              <a:defRPr/>
            </a:pPr>
            <a:endParaRPr lang="en-US" b="1" i="0" u="none" strike="noStrike" kern="1200" cap="none" spc="0" normalizeH="0" baseline="0" noProof="0" dirty="0">
              <a:ln>
                <a:noFill/>
              </a:ln>
              <a:effectLst/>
              <a:uLnTx/>
              <a:uFillTx/>
              <a:latin typeface="IBM Plex Sans" panose="020B0503050203000203" pitchFamily="34" charset="0"/>
              <a:ea typeface="IBM Plex Sans" charset="0"/>
            </a:endParaRPr>
          </a:p>
          <a:p>
            <a:pPr marL="285750" indent="-285750">
              <a:buFont typeface="Arial"/>
              <a:buChar char="•"/>
              <a:defRPr/>
            </a:pPr>
            <a:r>
              <a:rPr kumimoji="0" lang="en-US" b="1" i="0" u="none" strike="noStrike" kern="1200" cap="none" spc="0" normalizeH="0" baseline="0" noProof="0" dirty="0">
                <a:ln>
                  <a:noFill/>
                </a:ln>
                <a:effectLst/>
                <a:uLnTx/>
                <a:uFillTx/>
                <a:latin typeface="IBM Plex Sans" panose="020B0503050203000203" pitchFamily="34" charset="0"/>
                <a:ea typeface="IBM Plex Sans" charset="0"/>
                <a:cs typeface="Arial"/>
              </a:rPr>
              <a:t>User Interface (</a:t>
            </a:r>
            <a:r>
              <a:rPr lang="en-US" b="1" dirty="0">
                <a:latin typeface="IBM Plex Sans" panose="020B0503050203000203" pitchFamily="34" charset="0"/>
                <a:cs typeface="Arial"/>
              </a:rPr>
              <a:t>UI) Builder: </a:t>
            </a:r>
            <a:r>
              <a:rPr lang="en-US" dirty="0">
                <a:latin typeface="IBM Plex Sans" panose="020B0503050203000203" pitchFamily="34" charset="0"/>
                <a:cs typeface="Arial"/>
              </a:rPr>
              <a:t>The UI</a:t>
            </a:r>
            <a:r>
              <a:rPr kumimoji="0" lang="en-US" b="0" i="0" u="none" strike="noStrike" kern="1200" cap="none" spc="0" normalizeH="0" baseline="0" noProof="0" dirty="0">
                <a:ln>
                  <a:noFill/>
                </a:ln>
                <a:effectLst/>
                <a:uLnTx/>
                <a:uFillTx/>
                <a:latin typeface="IBM Plex Sans" panose="020B0503050203000203" pitchFamily="34" charset="0"/>
                <a:ea typeface="IBM Plex Sans" charset="0"/>
                <a:cs typeface="Arial"/>
              </a:rPr>
              <a:t> Builder is responsible for designing the user interface for a software application. This includes defining the navigation, reports and dashboards, and forms.</a:t>
            </a:r>
            <a:endParaRPr lang="en-US" b="0" i="0" u="none" strike="noStrike" kern="1200" cap="none" spc="0" normalizeH="0" baseline="0" noProof="0" dirty="0">
              <a:ln>
                <a:noFill/>
              </a:ln>
              <a:effectLst/>
              <a:uLnTx/>
              <a:uFillTx/>
              <a:latin typeface="IBM Plex Sans" panose="020B0503050203000203" pitchFamily="34" charset="0"/>
              <a:ea typeface="IBM Plex Sans" charset="0"/>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effectLst/>
              <a:uLnTx/>
              <a:uFillTx/>
              <a:latin typeface="IBM Plex Sans" panose="020B0503050203000203" pitchFamily="34" charset="0"/>
              <a:ea typeface="IBM Plex Sans" charset="0"/>
              <a:cs typeface="Arial" panose="020B0604020202020204" pitchFamily="34" charset="0"/>
            </a:endParaRPr>
          </a:p>
          <a:p>
            <a:pPr>
              <a:defRPr/>
            </a:pPr>
            <a:r>
              <a:rPr lang="en-US" dirty="0">
                <a:latin typeface="IBM Plex Sans" panose="020B0503050203000203" pitchFamily="34" charset="0"/>
                <a:ea typeface="IBM Plex Sans" charset="0"/>
                <a:cs typeface="Arial"/>
              </a:rPr>
              <a:t>A</a:t>
            </a:r>
            <a:r>
              <a:rPr kumimoji="0" lang="en-US" b="0" i="0" u="none" strike="noStrike" kern="1200" cap="none" spc="0" normalizeH="0" baseline="0" noProof="0" dirty="0">
                <a:ln>
                  <a:noFill/>
                </a:ln>
                <a:effectLst/>
                <a:uLnTx/>
                <a:uFillTx/>
                <a:latin typeface="IBM Plex Sans" panose="020B0503050203000203" pitchFamily="34" charset="0"/>
                <a:ea typeface="IBM Plex Sans" charset="0"/>
                <a:cs typeface="Arial"/>
              </a:rPr>
              <a:t> detailed description of TRIRIGA application platform builder tools </a:t>
            </a:r>
            <a:r>
              <a:rPr lang="en-US" dirty="0">
                <a:latin typeface="IBM Plex Sans" panose="020B0503050203000203" pitchFamily="34" charset="0"/>
                <a:ea typeface="IBM Plex Sans" charset="0"/>
                <a:cs typeface="Arial"/>
              </a:rPr>
              <a:t>can be found at </a:t>
            </a:r>
            <a:r>
              <a:rPr kumimoji="0" lang="en-US" b="0" i="0" u="sng" strike="noStrike" kern="1200" cap="none" spc="0" normalizeH="0" baseline="0" noProof="0" dirty="0">
                <a:ln>
                  <a:noFill/>
                </a:ln>
                <a:effectLst/>
                <a:uLnTx/>
                <a:uFillTx/>
                <a:latin typeface="IBM Plex Sans" panose="020B0503050203000203" pitchFamily="34" charset="0"/>
                <a:ea typeface="IBM Plex Sans" charset="0"/>
                <a:cs typeface="Arial"/>
              </a:rPr>
              <a:t>https://www.ibm.com/docs/en/SSHEB3_4.0/pdf/pdf_tap_appbuild.pdf</a:t>
            </a:r>
            <a:r>
              <a:rPr lang="en-US" dirty="0">
                <a:latin typeface="IBM Plex Sans" panose="020B0503050203000203" pitchFamily="34" charset="0"/>
                <a:ea typeface="IBM Plex Sans" charset="0"/>
                <a:cs typeface="Arial"/>
              </a:rPr>
              <a:t>.</a:t>
            </a:r>
            <a:endParaRPr lang="en-US" b="0" i="0" u="none" strike="noStrike" kern="1200" cap="none" spc="0" normalizeH="0" baseline="0" noProof="0" dirty="0">
              <a:ln>
                <a:noFill/>
              </a:ln>
              <a:effectLst/>
              <a:uLnTx/>
              <a:uFillTx/>
              <a:latin typeface="IBM Plex Sans" panose="020B0503050203000203" pitchFamily="34" charset="0"/>
              <a:ea typeface="IBM Plex Sans" charset="0"/>
              <a:cs typeface="Arial"/>
            </a:endParaRPr>
          </a:p>
        </p:txBody>
      </p:sp>
    </p:spTree>
    <p:extLst>
      <p:ext uri="{BB962C8B-B14F-4D97-AF65-F5344CB8AC3E}">
        <p14:creationId xmlns:p14="http://schemas.microsoft.com/office/powerpoint/2010/main" val="29444354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22450" y="228600"/>
            <a:ext cx="3213100" cy="18081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E2E38B8-B0B4-AD41-AC6E-B781F46A9FD3}" type="slidenum">
              <a:rPr lang="en-US" smtClean="0"/>
              <a:pPr/>
              <a:t>11</a:t>
            </a:fld>
            <a:endParaRPr lang="en-US" dirty="0"/>
          </a:p>
        </p:txBody>
      </p:sp>
      <p:sp>
        <p:nvSpPr>
          <p:cNvPr id="5" name="Footer Placeholder 4"/>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15348371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sz="120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2A5243-A039-5740-A8CB-8E8DC772F02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640017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7C568-24EB-E667-61D4-7921DC5563F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1CD6AEBE-8775-227F-5859-1DB498A757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407E57D5-2F5C-C715-C353-3C70F4F31CE1}"/>
              </a:ext>
            </a:extLst>
          </p:cNvPr>
          <p:cNvSpPr>
            <a:spLocks noGrp="1"/>
          </p:cNvSpPr>
          <p:nvPr>
            <p:ph type="dt" sz="half" idx="10"/>
          </p:nvPr>
        </p:nvSpPr>
        <p:spPr/>
        <p:txBody>
          <a:bodyPr/>
          <a:lstStyle/>
          <a:p>
            <a:fld id="{54EF8678-7504-7C42-ABB5-931E80DB5FD9}" type="datetimeFigureOut">
              <a:rPr lang="en-US" smtClean="0"/>
              <a:t>10/29/25</a:t>
            </a:fld>
            <a:endParaRPr lang="en-US"/>
          </a:p>
        </p:txBody>
      </p:sp>
      <p:sp>
        <p:nvSpPr>
          <p:cNvPr id="5" name="Footer Placeholder 4">
            <a:extLst>
              <a:ext uri="{FF2B5EF4-FFF2-40B4-BE49-F238E27FC236}">
                <a16:creationId xmlns:a16="http://schemas.microsoft.com/office/drawing/2014/main" id="{E0358D62-639C-DBF9-1507-81D3F39A74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920A06-E9BF-E8CB-F3CA-5B0EB9E7C151}"/>
              </a:ext>
            </a:extLst>
          </p:cNvPr>
          <p:cNvSpPr>
            <a:spLocks noGrp="1"/>
          </p:cNvSpPr>
          <p:nvPr>
            <p:ph type="sldNum" sz="quarter" idx="12"/>
          </p:nvPr>
        </p:nvSpPr>
        <p:spPr/>
        <p:txBody>
          <a:bodyPr/>
          <a:lstStyle/>
          <a:p>
            <a:fld id="{B1BE7081-AB8E-A542-B37A-7611237D872C}" type="slidenum">
              <a:rPr lang="en-US" smtClean="0"/>
              <a:t>‹#›</a:t>
            </a:fld>
            <a:endParaRPr lang="en-US"/>
          </a:p>
        </p:txBody>
      </p:sp>
    </p:spTree>
    <p:extLst>
      <p:ext uri="{BB962C8B-B14F-4D97-AF65-F5344CB8AC3E}">
        <p14:creationId xmlns:p14="http://schemas.microsoft.com/office/powerpoint/2010/main" val="1085078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5A98B-D83F-7162-4609-BD5804DDCD5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413C5A9-7AA3-F523-ECF4-9631CFE0A69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FAAB9E5-364F-8D03-A264-570435B99A9C}"/>
              </a:ext>
            </a:extLst>
          </p:cNvPr>
          <p:cNvSpPr>
            <a:spLocks noGrp="1"/>
          </p:cNvSpPr>
          <p:nvPr>
            <p:ph type="dt" sz="half" idx="10"/>
          </p:nvPr>
        </p:nvSpPr>
        <p:spPr/>
        <p:txBody>
          <a:bodyPr/>
          <a:lstStyle/>
          <a:p>
            <a:fld id="{54EF8678-7504-7C42-ABB5-931E80DB5FD9}" type="datetimeFigureOut">
              <a:rPr lang="en-US" smtClean="0"/>
              <a:t>10/29/25</a:t>
            </a:fld>
            <a:endParaRPr lang="en-US"/>
          </a:p>
        </p:txBody>
      </p:sp>
      <p:sp>
        <p:nvSpPr>
          <p:cNvPr id="5" name="Footer Placeholder 4">
            <a:extLst>
              <a:ext uri="{FF2B5EF4-FFF2-40B4-BE49-F238E27FC236}">
                <a16:creationId xmlns:a16="http://schemas.microsoft.com/office/drawing/2014/main" id="{693489BE-966F-1638-FE8A-EB490733E6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17F7A6-4B33-C36F-2871-620068E1878C}"/>
              </a:ext>
            </a:extLst>
          </p:cNvPr>
          <p:cNvSpPr>
            <a:spLocks noGrp="1"/>
          </p:cNvSpPr>
          <p:nvPr>
            <p:ph type="sldNum" sz="quarter" idx="12"/>
          </p:nvPr>
        </p:nvSpPr>
        <p:spPr/>
        <p:txBody>
          <a:bodyPr/>
          <a:lstStyle/>
          <a:p>
            <a:fld id="{B1BE7081-AB8E-A542-B37A-7611237D872C}" type="slidenum">
              <a:rPr lang="en-US" smtClean="0"/>
              <a:t>‹#›</a:t>
            </a:fld>
            <a:endParaRPr lang="en-US"/>
          </a:p>
        </p:txBody>
      </p:sp>
    </p:spTree>
    <p:extLst>
      <p:ext uri="{BB962C8B-B14F-4D97-AF65-F5344CB8AC3E}">
        <p14:creationId xmlns:p14="http://schemas.microsoft.com/office/powerpoint/2010/main" val="9563360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6888C-AC21-20AC-B96E-CCEE284AEFB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89AD376B-ADF2-71F1-169A-4EBB4B80C3C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208D0BB-2D8F-C3F7-F1C2-99E1EB0A314F}"/>
              </a:ext>
            </a:extLst>
          </p:cNvPr>
          <p:cNvSpPr>
            <a:spLocks noGrp="1"/>
          </p:cNvSpPr>
          <p:nvPr>
            <p:ph type="dt" sz="half" idx="10"/>
          </p:nvPr>
        </p:nvSpPr>
        <p:spPr/>
        <p:txBody>
          <a:bodyPr/>
          <a:lstStyle/>
          <a:p>
            <a:fld id="{54EF8678-7504-7C42-ABB5-931E80DB5FD9}" type="datetimeFigureOut">
              <a:rPr lang="en-US" smtClean="0"/>
              <a:t>10/29/25</a:t>
            </a:fld>
            <a:endParaRPr lang="en-US"/>
          </a:p>
        </p:txBody>
      </p:sp>
      <p:sp>
        <p:nvSpPr>
          <p:cNvPr id="5" name="Footer Placeholder 4">
            <a:extLst>
              <a:ext uri="{FF2B5EF4-FFF2-40B4-BE49-F238E27FC236}">
                <a16:creationId xmlns:a16="http://schemas.microsoft.com/office/drawing/2014/main" id="{78A01C76-C867-C328-6095-5D27D86801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773233-518E-DFE8-D1B0-2A567D5DB37E}"/>
              </a:ext>
            </a:extLst>
          </p:cNvPr>
          <p:cNvSpPr>
            <a:spLocks noGrp="1"/>
          </p:cNvSpPr>
          <p:nvPr>
            <p:ph type="sldNum" sz="quarter" idx="12"/>
          </p:nvPr>
        </p:nvSpPr>
        <p:spPr/>
        <p:txBody>
          <a:bodyPr/>
          <a:lstStyle/>
          <a:p>
            <a:fld id="{B1BE7081-AB8E-A542-B37A-7611237D872C}" type="slidenum">
              <a:rPr lang="en-US" smtClean="0"/>
              <a:t>‹#›</a:t>
            </a:fld>
            <a:endParaRPr lang="en-US"/>
          </a:p>
        </p:txBody>
      </p:sp>
    </p:spTree>
    <p:extLst>
      <p:ext uri="{BB962C8B-B14F-4D97-AF65-F5344CB8AC3E}">
        <p14:creationId xmlns:p14="http://schemas.microsoft.com/office/powerpoint/2010/main" val="35397963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045BE-DB0C-368B-03A6-830818D741E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F7E7ADC-18D3-87E4-7A0B-52E11A2D917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D1E44AB1-1871-AB73-867D-45EEDA216A1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D2220872-2BF3-39BB-BC7B-7EFF7B80087B}"/>
              </a:ext>
            </a:extLst>
          </p:cNvPr>
          <p:cNvSpPr>
            <a:spLocks noGrp="1"/>
          </p:cNvSpPr>
          <p:nvPr>
            <p:ph type="dt" sz="half" idx="10"/>
          </p:nvPr>
        </p:nvSpPr>
        <p:spPr/>
        <p:txBody>
          <a:bodyPr/>
          <a:lstStyle/>
          <a:p>
            <a:fld id="{54EF8678-7504-7C42-ABB5-931E80DB5FD9}" type="datetimeFigureOut">
              <a:rPr lang="en-US" smtClean="0"/>
              <a:t>10/29/25</a:t>
            </a:fld>
            <a:endParaRPr lang="en-US"/>
          </a:p>
        </p:txBody>
      </p:sp>
      <p:sp>
        <p:nvSpPr>
          <p:cNvPr id="6" name="Footer Placeholder 5">
            <a:extLst>
              <a:ext uri="{FF2B5EF4-FFF2-40B4-BE49-F238E27FC236}">
                <a16:creationId xmlns:a16="http://schemas.microsoft.com/office/drawing/2014/main" id="{FE914740-6860-A4F2-A920-9509111F95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0877A5-8A70-E3F9-9B07-0D3E9126AB87}"/>
              </a:ext>
            </a:extLst>
          </p:cNvPr>
          <p:cNvSpPr>
            <a:spLocks noGrp="1"/>
          </p:cNvSpPr>
          <p:nvPr>
            <p:ph type="sldNum" sz="quarter" idx="12"/>
          </p:nvPr>
        </p:nvSpPr>
        <p:spPr/>
        <p:txBody>
          <a:bodyPr/>
          <a:lstStyle/>
          <a:p>
            <a:fld id="{B1BE7081-AB8E-A542-B37A-7611237D872C}" type="slidenum">
              <a:rPr lang="en-US" smtClean="0"/>
              <a:t>‹#›</a:t>
            </a:fld>
            <a:endParaRPr lang="en-US"/>
          </a:p>
        </p:txBody>
      </p:sp>
    </p:spTree>
    <p:extLst>
      <p:ext uri="{BB962C8B-B14F-4D97-AF65-F5344CB8AC3E}">
        <p14:creationId xmlns:p14="http://schemas.microsoft.com/office/powerpoint/2010/main" val="18587808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55330-9C05-D0B6-D885-CD78E416C733}"/>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BA8F619-D4B0-678F-3033-D75F9ECBED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2967C0A-68B8-7089-32AD-406685F68B4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BA58FCA8-8948-6209-9904-DD95BB8C5E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5BD9D8F-0D65-CE93-EADF-4CBFE4CA952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E0B42EB6-3651-9661-BD6A-FDC3DD9988E9}"/>
              </a:ext>
            </a:extLst>
          </p:cNvPr>
          <p:cNvSpPr>
            <a:spLocks noGrp="1"/>
          </p:cNvSpPr>
          <p:nvPr>
            <p:ph type="dt" sz="half" idx="10"/>
          </p:nvPr>
        </p:nvSpPr>
        <p:spPr/>
        <p:txBody>
          <a:bodyPr/>
          <a:lstStyle/>
          <a:p>
            <a:fld id="{54EF8678-7504-7C42-ABB5-931E80DB5FD9}" type="datetimeFigureOut">
              <a:rPr lang="en-US" smtClean="0"/>
              <a:t>10/29/25</a:t>
            </a:fld>
            <a:endParaRPr lang="en-US"/>
          </a:p>
        </p:txBody>
      </p:sp>
      <p:sp>
        <p:nvSpPr>
          <p:cNvPr id="8" name="Footer Placeholder 7">
            <a:extLst>
              <a:ext uri="{FF2B5EF4-FFF2-40B4-BE49-F238E27FC236}">
                <a16:creationId xmlns:a16="http://schemas.microsoft.com/office/drawing/2014/main" id="{3AB217CA-F7FC-805B-C7FF-E11DD16DC76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0D5D7D8-1B90-2419-7097-30B6848B286B}"/>
              </a:ext>
            </a:extLst>
          </p:cNvPr>
          <p:cNvSpPr>
            <a:spLocks noGrp="1"/>
          </p:cNvSpPr>
          <p:nvPr>
            <p:ph type="sldNum" sz="quarter" idx="12"/>
          </p:nvPr>
        </p:nvSpPr>
        <p:spPr/>
        <p:txBody>
          <a:bodyPr/>
          <a:lstStyle/>
          <a:p>
            <a:fld id="{B1BE7081-AB8E-A542-B37A-7611237D872C}" type="slidenum">
              <a:rPr lang="en-US" smtClean="0"/>
              <a:t>‹#›</a:t>
            </a:fld>
            <a:endParaRPr lang="en-US"/>
          </a:p>
        </p:txBody>
      </p:sp>
    </p:spTree>
    <p:extLst>
      <p:ext uri="{BB962C8B-B14F-4D97-AF65-F5344CB8AC3E}">
        <p14:creationId xmlns:p14="http://schemas.microsoft.com/office/powerpoint/2010/main" val="3099815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B88C3-0AF2-0BFA-4DB8-E4D8EF2D9981}"/>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3EE073B-EECF-DFA3-3EFB-2505FB75AEE0}"/>
              </a:ext>
            </a:extLst>
          </p:cNvPr>
          <p:cNvSpPr>
            <a:spLocks noGrp="1"/>
          </p:cNvSpPr>
          <p:nvPr>
            <p:ph type="dt" sz="half" idx="10"/>
          </p:nvPr>
        </p:nvSpPr>
        <p:spPr/>
        <p:txBody>
          <a:bodyPr/>
          <a:lstStyle/>
          <a:p>
            <a:fld id="{54EF8678-7504-7C42-ABB5-931E80DB5FD9}" type="datetimeFigureOut">
              <a:rPr lang="en-US" smtClean="0"/>
              <a:t>10/29/25</a:t>
            </a:fld>
            <a:endParaRPr lang="en-US"/>
          </a:p>
        </p:txBody>
      </p:sp>
      <p:sp>
        <p:nvSpPr>
          <p:cNvPr id="4" name="Footer Placeholder 3">
            <a:extLst>
              <a:ext uri="{FF2B5EF4-FFF2-40B4-BE49-F238E27FC236}">
                <a16:creationId xmlns:a16="http://schemas.microsoft.com/office/drawing/2014/main" id="{5F5B91C6-0B11-9A31-6158-9561BE437A0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1BE72EE-F56A-F418-84EE-00ACF5E0DCED}"/>
              </a:ext>
            </a:extLst>
          </p:cNvPr>
          <p:cNvSpPr>
            <a:spLocks noGrp="1"/>
          </p:cNvSpPr>
          <p:nvPr>
            <p:ph type="sldNum" sz="quarter" idx="12"/>
          </p:nvPr>
        </p:nvSpPr>
        <p:spPr/>
        <p:txBody>
          <a:bodyPr/>
          <a:lstStyle/>
          <a:p>
            <a:fld id="{B1BE7081-AB8E-A542-B37A-7611237D872C}" type="slidenum">
              <a:rPr lang="en-US" smtClean="0"/>
              <a:t>‹#›</a:t>
            </a:fld>
            <a:endParaRPr lang="en-US"/>
          </a:p>
        </p:txBody>
      </p:sp>
    </p:spTree>
    <p:extLst>
      <p:ext uri="{BB962C8B-B14F-4D97-AF65-F5344CB8AC3E}">
        <p14:creationId xmlns:p14="http://schemas.microsoft.com/office/powerpoint/2010/main" val="1460469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F4FAE6-2039-8C93-B3D8-49F567E4F4D9}"/>
              </a:ext>
            </a:extLst>
          </p:cNvPr>
          <p:cNvSpPr>
            <a:spLocks noGrp="1"/>
          </p:cNvSpPr>
          <p:nvPr>
            <p:ph type="dt" sz="half" idx="10"/>
          </p:nvPr>
        </p:nvSpPr>
        <p:spPr/>
        <p:txBody>
          <a:bodyPr/>
          <a:lstStyle/>
          <a:p>
            <a:fld id="{54EF8678-7504-7C42-ABB5-931E80DB5FD9}" type="datetimeFigureOut">
              <a:rPr lang="en-US" smtClean="0"/>
              <a:t>10/29/25</a:t>
            </a:fld>
            <a:endParaRPr lang="en-US"/>
          </a:p>
        </p:txBody>
      </p:sp>
      <p:sp>
        <p:nvSpPr>
          <p:cNvPr id="3" name="Footer Placeholder 2">
            <a:extLst>
              <a:ext uri="{FF2B5EF4-FFF2-40B4-BE49-F238E27FC236}">
                <a16:creationId xmlns:a16="http://schemas.microsoft.com/office/drawing/2014/main" id="{6F6338F5-F843-2B0D-2AC1-43DD86C9CCE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4AC75C2-4035-1568-3DC7-7591ADF4611D}"/>
              </a:ext>
            </a:extLst>
          </p:cNvPr>
          <p:cNvSpPr>
            <a:spLocks noGrp="1"/>
          </p:cNvSpPr>
          <p:nvPr>
            <p:ph type="sldNum" sz="quarter" idx="12"/>
          </p:nvPr>
        </p:nvSpPr>
        <p:spPr/>
        <p:txBody>
          <a:bodyPr/>
          <a:lstStyle/>
          <a:p>
            <a:fld id="{B1BE7081-AB8E-A542-B37A-7611237D872C}" type="slidenum">
              <a:rPr lang="en-US" smtClean="0"/>
              <a:t>‹#›</a:t>
            </a:fld>
            <a:endParaRPr lang="en-US"/>
          </a:p>
        </p:txBody>
      </p:sp>
    </p:spTree>
    <p:extLst>
      <p:ext uri="{BB962C8B-B14F-4D97-AF65-F5344CB8AC3E}">
        <p14:creationId xmlns:p14="http://schemas.microsoft.com/office/powerpoint/2010/main" val="29232191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6DFDD-72E5-8BBF-011C-7E56EDEB5C4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EC5F63A-A753-9184-E169-2417E55DEC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127DDF70-2081-BADC-1DAB-04E17C72AB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C5096C5-EAEF-5811-04D6-92EE020BD333}"/>
              </a:ext>
            </a:extLst>
          </p:cNvPr>
          <p:cNvSpPr>
            <a:spLocks noGrp="1"/>
          </p:cNvSpPr>
          <p:nvPr>
            <p:ph type="dt" sz="half" idx="10"/>
          </p:nvPr>
        </p:nvSpPr>
        <p:spPr/>
        <p:txBody>
          <a:bodyPr/>
          <a:lstStyle/>
          <a:p>
            <a:fld id="{54EF8678-7504-7C42-ABB5-931E80DB5FD9}" type="datetimeFigureOut">
              <a:rPr lang="en-US" smtClean="0"/>
              <a:t>10/29/25</a:t>
            </a:fld>
            <a:endParaRPr lang="en-US"/>
          </a:p>
        </p:txBody>
      </p:sp>
      <p:sp>
        <p:nvSpPr>
          <p:cNvPr id="6" name="Footer Placeholder 5">
            <a:extLst>
              <a:ext uri="{FF2B5EF4-FFF2-40B4-BE49-F238E27FC236}">
                <a16:creationId xmlns:a16="http://schemas.microsoft.com/office/drawing/2014/main" id="{34214F64-E5E6-2EB3-6AF1-66AF14637D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B7D098-AFC8-224B-90BA-E47A393CF223}"/>
              </a:ext>
            </a:extLst>
          </p:cNvPr>
          <p:cNvSpPr>
            <a:spLocks noGrp="1"/>
          </p:cNvSpPr>
          <p:nvPr>
            <p:ph type="sldNum" sz="quarter" idx="12"/>
          </p:nvPr>
        </p:nvSpPr>
        <p:spPr/>
        <p:txBody>
          <a:bodyPr/>
          <a:lstStyle/>
          <a:p>
            <a:fld id="{B1BE7081-AB8E-A542-B37A-7611237D872C}" type="slidenum">
              <a:rPr lang="en-US" smtClean="0"/>
              <a:t>‹#›</a:t>
            </a:fld>
            <a:endParaRPr lang="en-US"/>
          </a:p>
        </p:txBody>
      </p:sp>
    </p:spTree>
    <p:extLst>
      <p:ext uri="{BB962C8B-B14F-4D97-AF65-F5344CB8AC3E}">
        <p14:creationId xmlns:p14="http://schemas.microsoft.com/office/powerpoint/2010/main" val="2177519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57B73-0FFA-91C7-EE89-13D9B6119DC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C7CAD77B-8FC5-7404-4F86-57A9C727D6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E45A476-4DCD-577F-2463-72920E7878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4B8D58A-EB8E-4273-2DB7-1A93EEA5BA67}"/>
              </a:ext>
            </a:extLst>
          </p:cNvPr>
          <p:cNvSpPr>
            <a:spLocks noGrp="1"/>
          </p:cNvSpPr>
          <p:nvPr>
            <p:ph type="dt" sz="half" idx="10"/>
          </p:nvPr>
        </p:nvSpPr>
        <p:spPr/>
        <p:txBody>
          <a:bodyPr/>
          <a:lstStyle/>
          <a:p>
            <a:fld id="{54EF8678-7504-7C42-ABB5-931E80DB5FD9}" type="datetimeFigureOut">
              <a:rPr lang="en-US" smtClean="0"/>
              <a:t>10/29/25</a:t>
            </a:fld>
            <a:endParaRPr lang="en-US"/>
          </a:p>
        </p:txBody>
      </p:sp>
      <p:sp>
        <p:nvSpPr>
          <p:cNvPr id="6" name="Footer Placeholder 5">
            <a:extLst>
              <a:ext uri="{FF2B5EF4-FFF2-40B4-BE49-F238E27FC236}">
                <a16:creationId xmlns:a16="http://schemas.microsoft.com/office/drawing/2014/main" id="{3B33EA1C-3C91-5A6D-3C40-7C3E8DFAF9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22A8264-A90D-E3D6-7319-6963B2EA2567}"/>
              </a:ext>
            </a:extLst>
          </p:cNvPr>
          <p:cNvSpPr>
            <a:spLocks noGrp="1"/>
          </p:cNvSpPr>
          <p:nvPr>
            <p:ph type="sldNum" sz="quarter" idx="12"/>
          </p:nvPr>
        </p:nvSpPr>
        <p:spPr/>
        <p:txBody>
          <a:bodyPr/>
          <a:lstStyle/>
          <a:p>
            <a:fld id="{B1BE7081-AB8E-A542-B37A-7611237D872C}" type="slidenum">
              <a:rPr lang="en-US" smtClean="0"/>
              <a:t>‹#›</a:t>
            </a:fld>
            <a:endParaRPr lang="en-US"/>
          </a:p>
        </p:txBody>
      </p:sp>
    </p:spTree>
    <p:extLst>
      <p:ext uri="{BB962C8B-B14F-4D97-AF65-F5344CB8AC3E}">
        <p14:creationId xmlns:p14="http://schemas.microsoft.com/office/powerpoint/2010/main" val="714483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F7D73-60E2-B31D-D539-4BA79655D952}"/>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9800CD5-B159-07F7-1943-4D0CC820F42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CAB31FA-3128-E01F-BB34-5698EEF0BE14}"/>
              </a:ext>
            </a:extLst>
          </p:cNvPr>
          <p:cNvSpPr>
            <a:spLocks noGrp="1"/>
          </p:cNvSpPr>
          <p:nvPr>
            <p:ph type="dt" sz="half" idx="10"/>
          </p:nvPr>
        </p:nvSpPr>
        <p:spPr/>
        <p:txBody>
          <a:bodyPr/>
          <a:lstStyle/>
          <a:p>
            <a:fld id="{54EF8678-7504-7C42-ABB5-931E80DB5FD9}" type="datetimeFigureOut">
              <a:rPr lang="en-US" smtClean="0"/>
              <a:t>10/29/25</a:t>
            </a:fld>
            <a:endParaRPr lang="en-US"/>
          </a:p>
        </p:txBody>
      </p:sp>
      <p:sp>
        <p:nvSpPr>
          <p:cNvPr id="5" name="Footer Placeholder 4">
            <a:extLst>
              <a:ext uri="{FF2B5EF4-FFF2-40B4-BE49-F238E27FC236}">
                <a16:creationId xmlns:a16="http://schemas.microsoft.com/office/drawing/2014/main" id="{18754001-8698-6361-32AD-F95B05BF50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DEFD94-B304-739F-E19F-F4992B2DB7A9}"/>
              </a:ext>
            </a:extLst>
          </p:cNvPr>
          <p:cNvSpPr>
            <a:spLocks noGrp="1"/>
          </p:cNvSpPr>
          <p:nvPr>
            <p:ph type="sldNum" sz="quarter" idx="12"/>
          </p:nvPr>
        </p:nvSpPr>
        <p:spPr/>
        <p:txBody>
          <a:bodyPr/>
          <a:lstStyle/>
          <a:p>
            <a:fld id="{B1BE7081-AB8E-A542-B37A-7611237D872C}" type="slidenum">
              <a:rPr lang="en-US" smtClean="0"/>
              <a:t>‹#›</a:t>
            </a:fld>
            <a:endParaRPr lang="en-US"/>
          </a:p>
        </p:txBody>
      </p:sp>
    </p:spTree>
    <p:extLst>
      <p:ext uri="{BB962C8B-B14F-4D97-AF65-F5344CB8AC3E}">
        <p14:creationId xmlns:p14="http://schemas.microsoft.com/office/powerpoint/2010/main" val="2451653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69DF30-ECFD-52C3-F533-F941C381555A}"/>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ED7469C-39D8-91E3-D3A1-6113BD53715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BFCBC42-10BE-8B8D-50F8-05B40620B0EE}"/>
              </a:ext>
            </a:extLst>
          </p:cNvPr>
          <p:cNvSpPr>
            <a:spLocks noGrp="1"/>
          </p:cNvSpPr>
          <p:nvPr>
            <p:ph type="dt" sz="half" idx="10"/>
          </p:nvPr>
        </p:nvSpPr>
        <p:spPr/>
        <p:txBody>
          <a:bodyPr/>
          <a:lstStyle/>
          <a:p>
            <a:fld id="{54EF8678-7504-7C42-ABB5-931E80DB5FD9}" type="datetimeFigureOut">
              <a:rPr lang="en-US" smtClean="0"/>
              <a:t>10/29/25</a:t>
            </a:fld>
            <a:endParaRPr lang="en-US"/>
          </a:p>
        </p:txBody>
      </p:sp>
      <p:sp>
        <p:nvSpPr>
          <p:cNvPr id="5" name="Footer Placeholder 4">
            <a:extLst>
              <a:ext uri="{FF2B5EF4-FFF2-40B4-BE49-F238E27FC236}">
                <a16:creationId xmlns:a16="http://schemas.microsoft.com/office/drawing/2014/main" id="{2AF8CB1E-A1A0-D148-5449-DDC66C6AC0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91FC48-A5BB-978F-48F1-EA38A48B6565}"/>
              </a:ext>
            </a:extLst>
          </p:cNvPr>
          <p:cNvSpPr>
            <a:spLocks noGrp="1"/>
          </p:cNvSpPr>
          <p:nvPr>
            <p:ph type="sldNum" sz="quarter" idx="12"/>
          </p:nvPr>
        </p:nvSpPr>
        <p:spPr/>
        <p:txBody>
          <a:bodyPr/>
          <a:lstStyle/>
          <a:p>
            <a:fld id="{B1BE7081-AB8E-A542-B37A-7611237D872C}" type="slidenum">
              <a:rPr lang="en-US" smtClean="0"/>
              <a:t>‹#›</a:t>
            </a:fld>
            <a:endParaRPr lang="en-US"/>
          </a:p>
        </p:txBody>
      </p:sp>
    </p:spTree>
    <p:extLst>
      <p:ext uri="{BB962C8B-B14F-4D97-AF65-F5344CB8AC3E}">
        <p14:creationId xmlns:p14="http://schemas.microsoft.com/office/powerpoint/2010/main" val="2620512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ver, imagery">
    <p:spTree>
      <p:nvGrpSpPr>
        <p:cNvPr id="1" name=""/>
        <p:cNvGrpSpPr/>
        <p:nvPr/>
      </p:nvGrpSpPr>
      <p:grpSpPr>
        <a:xfrm>
          <a:off x="0" y="0"/>
          <a:ext cx="0" cy="0"/>
          <a:chOff x="0" y="0"/>
          <a:chExt cx="0" cy="0"/>
        </a:xfrm>
      </p:grpSpPr>
      <p:sp>
        <p:nvSpPr>
          <p:cNvPr id="5" name="Picture Placeholder 4" descr="Place imagery here">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0"/>
            <a:ext cx="12192000" cy="6097588"/>
          </a:xfrm>
          <a:solidFill>
            <a:srgbClr val="E0E0E0"/>
          </a:solidFill>
        </p:spPr>
        <p:txBody>
          <a:bodyPr anchor="ctr"/>
          <a:lstStyle>
            <a:lvl1pPr algn="ctr">
              <a:defRPr>
                <a:solidFill>
                  <a:schemeClr val="accent5"/>
                </a:solidFill>
              </a:defRPr>
            </a:lvl1pPr>
          </a:lstStyle>
          <a:p>
            <a:r>
              <a:rPr lang="en-US" dirty="0"/>
              <a:t>Place imagery here</a:t>
            </a:r>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287963" y="6083300"/>
            <a:ext cx="2470906" cy="537147"/>
          </a:xfrm>
        </p:spPr>
        <p:txBody>
          <a:bodyPr anchor="b"/>
          <a:lstStyle>
            <a:lvl1pPr>
              <a:lnSpc>
                <a:spcPct val="110000"/>
              </a:lnSpc>
              <a:spcBef>
                <a:spcPts val="0"/>
              </a:spcBef>
              <a:defRPr sz="1200">
                <a:solidFill>
                  <a:schemeClr val="tx1"/>
                </a:solidFill>
              </a:defRPr>
            </a:lvl1pPr>
            <a:lvl2pPr marL="127990" indent="-127990">
              <a:lnSpc>
                <a:spcPct val="110000"/>
              </a:lnSpc>
              <a:spcBef>
                <a:spcPts val="0"/>
              </a:spcBef>
              <a:defRPr sz="1200">
                <a:solidFill>
                  <a:schemeClr val="tx1"/>
                </a:solidFill>
              </a:defRPr>
            </a:lvl2pPr>
            <a:lvl3pPr marL="255981" indent="-127990">
              <a:lnSpc>
                <a:spcPct val="110000"/>
              </a:lnSpc>
              <a:spcBef>
                <a:spcPts val="0"/>
              </a:spcBef>
              <a:defRPr sz="1200">
                <a:solidFill>
                  <a:schemeClr val="tx1"/>
                </a:solidFill>
              </a:defRPr>
            </a:lvl3pPr>
            <a:lvl4pPr marL="383971" indent="-127990">
              <a:lnSpc>
                <a:spcPct val="110000"/>
              </a:lnSpc>
              <a:spcBef>
                <a:spcPts val="0"/>
              </a:spcBef>
              <a:defRPr sz="12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3335316" y="6083300"/>
            <a:ext cx="2473384" cy="538507"/>
          </a:xfrm>
        </p:spPr>
        <p:txBody>
          <a:bodyPr anchor="b"/>
          <a:lstStyle>
            <a:lvl1pPr>
              <a:lnSpc>
                <a:spcPct val="110000"/>
              </a:lnSpc>
              <a:spcBef>
                <a:spcPts val="0"/>
              </a:spcBef>
              <a:defRPr sz="1200">
                <a:solidFill>
                  <a:schemeClr val="tx1"/>
                </a:solidFill>
              </a:defRPr>
            </a:lvl1pPr>
            <a:lvl2pPr marL="127990" indent="-127990">
              <a:lnSpc>
                <a:spcPct val="110000"/>
              </a:lnSpc>
              <a:spcBef>
                <a:spcPts val="0"/>
              </a:spcBef>
              <a:defRPr sz="1200">
                <a:solidFill>
                  <a:schemeClr val="tx1"/>
                </a:solidFill>
              </a:defRPr>
            </a:lvl2pPr>
            <a:lvl3pPr marL="255981" indent="-127990">
              <a:lnSpc>
                <a:spcPct val="110000"/>
              </a:lnSpc>
              <a:spcBef>
                <a:spcPts val="0"/>
              </a:spcBef>
              <a:defRPr sz="1200">
                <a:solidFill>
                  <a:schemeClr val="tx1"/>
                </a:solidFill>
              </a:defRPr>
            </a:lvl3pPr>
            <a:lvl4pPr marL="383971" indent="-127990">
              <a:lnSpc>
                <a:spcPct val="110000"/>
              </a:lnSpc>
              <a:spcBef>
                <a:spcPts val="0"/>
              </a:spcBef>
              <a:defRPr sz="12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descr="IBM 8-bar logo">
            <a:extLst>
              <a:ext uri="{FF2B5EF4-FFF2-40B4-BE49-F238E27FC236}">
                <a16:creationId xmlns:a16="http://schemas.microsoft.com/office/drawing/2014/main" id="{09935B61-CCB4-2F0F-6720-2DE3FDE1A05B}"/>
              </a:ext>
            </a:extLst>
          </p:cNvPr>
          <p:cNvPicPr>
            <a:picLocks noChangeAspect="1"/>
          </p:cNvPicPr>
          <p:nvPr userDrawn="1"/>
        </p:nvPicPr>
        <p:blipFill>
          <a:blip r:embed="rId2"/>
          <a:stretch>
            <a:fillRect/>
          </a:stretch>
        </p:blipFill>
        <p:spPr>
          <a:xfrm>
            <a:off x="11185445" y="6288882"/>
            <a:ext cx="769062" cy="286200"/>
          </a:xfrm>
          <a:prstGeom prst="rect">
            <a:avLst/>
          </a:prstGeom>
        </p:spPr>
      </p:pic>
      <p:sp>
        <p:nvSpPr>
          <p:cNvPr id="10" name="Title 1">
            <a:extLst>
              <a:ext uri="{FF2B5EF4-FFF2-40B4-BE49-F238E27FC236}">
                <a16:creationId xmlns:a16="http://schemas.microsoft.com/office/drawing/2014/main" id="{3F3BE6BB-D7C0-3C9B-44F9-5D564E48D8B6}"/>
              </a:ext>
            </a:extLst>
          </p:cNvPr>
          <p:cNvSpPr>
            <a:spLocks noGrp="1"/>
          </p:cNvSpPr>
          <p:nvPr>
            <p:ph type="title"/>
          </p:nvPr>
        </p:nvSpPr>
        <p:spPr>
          <a:xfrm>
            <a:off x="287963" y="155575"/>
            <a:ext cx="5049878" cy="3654425"/>
          </a:xfrm>
        </p:spPr>
        <p:txBody>
          <a:bodyPr/>
          <a:lstStyle>
            <a:lvl1pPr>
              <a:lnSpc>
                <a:spcPct val="100000"/>
              </a:lnSpc>
              <a:defRPr sz="4199">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3693334022"/>
      </p:ext>
    </p:extLst>
  </p:cSld>
  <p:clrMapOvr>
    <a:masterClrMapping/>
  </p:clrMapOvr>
  <p:transition spd="med"/>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blank">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2023 / © 2023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2577759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blank">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en-US"/>
              <a:t>Click to edit Master title style</a:t>
            </a:r>
          </a:p>
        </p:txBody>
      </p:sp>
      <p:sp>
        <p:nvSpPr>
          <p:cNvPr id="3" name="Footer Placeholder"/>
          <p:cNvSpPr>
            <a:spLocks noGrp="1"/>
          </p:cNvSpPr>
          <p:nvPr>
            <p:ph type="ftr" sz="quarter" idx="10"/>
          </p:nvPr>
        </p:nvSpPr>
        <p:spPr>
          <a:xfrm>
            <a:off x="281174" y="6569965"/>
            <a:ext cx="3985471" cy="222249"/>
          </a:xfrm>
          <a:prstGeom prst="rect">
            <a:avLst/>
          </a:prstGeom>
        </p:spPr>
        <p:txBody>
          <a:bodyPr/>
          <a:lstStyle>
            <a:lvl1pPr>
              <a:defRPr>
                <a:solidFill>
                  <a:schemeClr val="tx1"/>
                </a:solidFill>
              </a:defRPr>
            </a:lvl1pPr>
          </a:lstStyle>
          <a:p>
            <a:pPr defTabSz="914141">
              <a:defRPr/>
            </a:pPr>
            <a:r>
              <a:rPr lang="en-US">
                <a:solidFill>
                  <a:srgbClr val="000000"/>
                </a:solidFill>
              </a:rPr>
              <a:t>Group Name / DOC ID / Month XX, 2024 / © 2024 IBM Corporation</a:t>
            </a:r>
          </a:p>
        </p:txBody>
      </p:sp>
      <p:sp>
        <p:nvSpPr>
          <p:cNvPr id="4" name="Slide Number Placeholder"/>
          <p:cNvSpPr>
            <a:spLocks noGrp="1"/>
          </p:cNvSpPr>
          <p:nvPr>
            <p:ph type="sldNum" sz="quarter" idx="11"/>
          </p:nvPr>
        </p:nvSpPr>
        <p:spPr>
          <a:xfrm>
            <a:off x="23541593" y="12920936"/>
            <a:ext cx="305333" cy="276999"/>
          </a:xfrm>
        </p:spPr>
        <p:txBody>
          <a:bodyPr/>
          <a:lstStyle>
            <a:lvl1pPr>
              <a:defRPr>
                <a:solidFill>
                  <a:schemeClr val="tx1"/>
                </a:solidFill>
              </a:defRPr>
            </a:lvl1pPr>
          </a:lstStyle>
          <a:p>
            <a:pPr algn="l" defTabSz="914141">
              <a:defRPr/>
            </a:pPr>
            <a:fld id="{59395FB3-9C97-154F-86B2-7E381B951268}" type="slidenum">
              <a:rPr lang="en-US" sz="1800" smtClean="0">
                <a:solidFill>
                  <a:srgbClr val="000000"/>
                </a:solidFill>
              </a:rPr>
              <a:pPr algn="l" defTabSz="914141">
                <a:defRPr/>
              </a:pPr>
              <a:t>‹#›</a:t>
            </a:fld>
            <a:endParaRPr lang="en-US" sz="1800">
              <a:solidFill>
                <a:srgbClr val="000000"/>
              </a:solidFill>
            </a:endParaRPr>
          </a:p>
        </p:txBody>
      </p:sp>
    </p:spTree>
    <p:extLst>
      <p:ext uri="{BB962C8B-B14F-4D97-AF65-F5344CB8AC3E}">
        <p14:creationId xmlns:p14="http://schemas.microsoft.com/office/powerpoint/2010/main" val="2727483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300" y="28495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11769264" y="6450369"/>
            <a:ext cx="135436" cy="123111"/>
          </a:xfrm>
          <a:prstGeom prst="rect">
            <a:avLst/>
          </a:prstGeom>
        </p:spPr>
        <p:txBody>
          <a:bodyPr/>
          <a:lstStyle>
            <a:lvl1pPr>
              <a:defRPr b="0" i="0">
                <a:latin typeface="IBM Plex Sans" panose="020B0503050203000203" pitchFamily="34" charset="0"/>
              </a:defRPr>
            </a:lvl1pPr>
          </a:lstStyle>
          <a:p>
            <a:fld id="{86CB4B4D-7CA3-9044-876B-883B54F8677D}" type="slidenum">
              <a:rPr lang="en-US" smtClean="0"/>
              <a:pPr/>
              <a:t>‹#›</a:t>
            </a:fld>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lvl1pPr>
              <a:defRPr b="0" i="0">
                <a:latin typeface="IBM Plex Sans" panose="020B0503050203000203" pitchFamily="34" charset="0"/>
              </a:defRPr>
            </a:lvl1pPr>
          </a:lstStyle>
          <a:p>
            <a:endParaRPr lang="en-US" dirty="0"/>
          </a:p>
        </p:txBody>
      </p:sp>
    </p:spTree>
    <p:extLst>
      <p:ext uri="{BB962C8B-B14F-4D97-AF65-F5344CB8AC3E}">
        <p14:creationId xmlns:p14="http://schemas.microsoft.com/office/powerpoint/2010/main" val="3328299657"/>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300" y="28495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11769264" y="6450369"/>
            <a:ext cx="135436" cy="123111"/>
          </a:xfrm>
          <a:prstGeom prst="rect">
            <a:avLst/>
          </a:prstGeom>
        </p:spPr>
        <p:txBody>
          <a:bodyPr/>
          <a:lstStyle>
            <a:lvl1pPr>
              <a:defRPr b="0" i="0">
                <a:latin typeface="IBM Plex Sans" panose="020B0503050203000203" pitchFamily="34" charset="0"/>
              </a:defRPr>
            </a:lvl1pPr>
          </a:lstStyle>
          <a:p>
            <a:fld id="{86CB4B4D-7CA3-9044-876B-883B54F8677D}" type="slidenum">
              <a:rPr lang="en-US" smtClean="0"/>
              <a:pPr/>
              <a:t>‹#›</a:t>
            </a:fld>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lvl1pPr>
              <a:defRPr b="0" i="0">
                <a:latin typeface="IBM Plex Sans" panose="020B0503050203000203" pitchFamily="34" charset="0"/>
              </a:defRPr>
            </a:lvl1pPr>
          </a:lstStyle>
          <a:p>
            <a:endParaRPr lang="en-US" dirty="0"/>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284126" y="1714500"/>
            <a:ext cx="2477765" cy="4286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3047603" y="0"/>
            <a:ext cx="9144397" cy="6858000"/>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964841189"/>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5232004" y="3084230"/>
            <a:ext cx="1727991" cy="689541"/>
          </a:xfrm>
          <a:prstGeom prst="rect">
            <a:avLst/>
          </a:prstGeom>
        </p:spPr>
      </p:pic>
    </p:spTree>
    <p:extLst>
      <p:ext uri="{BB962C8B-B14F-4D97-AF65-F5344CB8AC3E}">
        <p14:creationId xmlns:p14="http://schemas.microsoft.com/office/powerpoint/2010/main" val="4242062939"/>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417C14-4556-3F71-174A-667695C3D9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A4FFAAA-3751-56AC-ABD4-777BDB7502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77E30F6-EEBC-0383-DABC-E52DE417CC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4EF8678-7504-7C42-ABB5-931E80DB5FD9}" type="datetimeFigureOut">
              <a:rPr lang="en-US" smtClean="0"/>
              <a:t>10/29/25</a:t>
            </a:fld>
            <a:endParaRPr lang="en-US"/>
          </a:p>
        </p:txBody>
      </p:sp>
      <p:sp>
        <p:nvSpPr>
          <p:cNvPr id="5" name="Footer Placeholder 4">
            <a:extLst>
              <a:ext uri="{FF2B5EF4-FFF2-40B4-BE49-F238E27FC236}">
                <a16:creationId xmlns:a16="http://schemas.microsoft.com/office/drawing/2014/main" id="{8A9C8E4D-71F6-BFF0-3061-C145BCD965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EF6E45C-9816-8AFA-FB5B-C483833739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1BE7081-AB8E-A542-B37A-7611237D872C}" type="slidenum">
              <a:rPr lang="en-US" smtClean="0"/>
              <a:t>‹#›</a:t>
            </a:fld>
            <a:endParaRPr lang="en-US"/>
          </a:p>
        </p:txBody>
      </p:sp>
    </p:spTree>
    <p:extLst>
      <p:ext uri="{BB962C8B-B14F-4D97-AF65-F5344CB8AC3E}">
        <p14:creationId xmlns:p14="http://schemas.microsoft.com/office/powerpoint/2010/main" val="9885756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8.emf"/><Relationship Id="rId13" Type="http://schemas.openxmlformats.org/officeDocument/2006/relationships/image" Target="../media/image12.png"/><Relationship Id="rId3" Type="http://schemas.openxmlformats.org/officeDocument/2006/relationships/image" Target="../media/image4.png"/><Relationship Id="rId7" Type="http://schemas.microsoft.com/office/2007/relationships/hdphoto" Target="../media/hdphoto1.wdp"/><Relationship Id="rId12"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5.xml"/><Relationship Id="rId6" Type="http://schemas.openxmlformats.org/officeDocument/2006/relationships/image" Target="../media/image7.png"/><Relationship Id="rId11" Type="http://schemas.openxmlformats.org/officeDocument/2006/relationships/image" Target="../media/image10.svg"/><Relationship Id="rId5" Type="http://schemas.openxmlformats.org/officeDocument/2006/relationships/image" Target="../media/image6.pn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5.png"/><Relationship Id="rId9" Type="http://schemas.microsoft.com/office/2007/relationships/hdphoto" Target="../media/hdphoto2.wdp"/><Relationship Id="rId14"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5.xml"/><Relationship Id="rId4" Type="http://schemas.openxmlformats.org/officeDocument/2006/relationships/image" Target="../media/image18.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A person holding a tablet with a city model&#10;&#10;AI-generated content may be incorrect.">
            <a:extLst>
              <a:ext uri="{FF2B5EF4-FFF2-40B4-BE49-F238E27FC236}">
                <a16:creationId xmlns:a16="http://schemas.microsoft.com/office/drawing/2014/main" id="{02BB6B4A-B54B-8F98-C659-AE4E63698939}"/>
              </a:ext>
            </a:extLst>
          </p:cNvPr>
          <p:cNvPicPr>
            <a:picLocks noGrp="1" noChangeAspect="1"/>
          </p:cNvPicPr>
          <p:nvPr>
            <p:ph type="pic" sz="quarter" idx="11"/>
          </p:nvPr>
        </p:nvPicPr>
        <p:blipFill>
          <a:blip r:embed="rId3"/>
          <a:srcRect t="5390" b="5390"/>
          <a:stretch>
            <a:fillRect/>
          </a:stretch>
        </p:blipFill>
        <p:spPr>
          <a:xfrm>
            <a:off x="0" y="907"/>
            <a:ext cx="12192000" cy="6096794"/>
          </a:xfrm>
        </p:spPr>
      </p:pic>
      <p:sp>
        <p:nvSpPr>
          <p:cNvPr id="3" name="Title 2">
            <a:extLst>
              <a:ext uri="{FF2B5EF4-FFF2-40B4-BE49-F238E27FC236}">
                <a16:creationId xmlns:a16="http://schemas.microsoft.com/office/drawing/2014/main" id="{02126D7B-9102-E21E-2B99-B968818162B8}"/>
              </a:ext>
            </a:extLst>
          </p:cNvPr>
          <p:cNvSpPr>
            <a:spLocks noGrp="1"/>
          </p:cNvSpPr>
          <p:nvPr>
            <p:ph type="title"/>
          </p:nvPr>
        </p:nvSpPr>
        <p:spPr>
          <a:xfrm>
            <a:off x="287963" y="156002"/>
            <a:ext cx="6545702" cy="3653949"/>
          </a:xfrm>
        </p:spPr>
        <p:txBody>
          <a:bodyPr/>
          <a:lstStyle/>
          <a:p>
            <a:r>
              <a:rPr lang="en-US">
                <a:solidFill>
                  <a:schemeClr val="bg1"/>
                </a:solidFill>
              </a:rPr>
              <a:t>IBM Maximo </a:t>
            </a:r>
            <a:br>
              <a:rPr lang="en-US">
                <a:solidFill>
                  <a:schemeClr val="bg1"/>
                </a:solidFill>
              </a:rPr>
            </a:br>
            <a:r>
              <a:rPr lang="en-US">
                <a:solidFill>
                  <a:schemeClr val="bg1"/>
                </a:solidFill>
              </a:rPr>
              <a:t>Real Estate and Facilities</a:t>
            </a:r>
            <a:br>
              <a:rPr lang="en-US">
                <a:solidFill>
                  <a:schemeClr val="bg1"/>
                </a:solidFill>
              </a:rPr>
            </a:br>
            <a:r>
              <a:rPr lang="en-US" sz="2699">
                <a:solidFill>
                  <a:schemeClr val="bg1"/>
                </a:solidFill>
              </a:rPr>
              <a:t>the evolution of TRIRIGA</a:t>
            </a:r>
            <a:endParaRPr lang="en-US">
              <a:solidFill>
                <a:schemeClr val="bg1"/>
              </a:solidFill>
            </a:endParaRPr>
          </a:p>
        </p:txBody>
      </p:sp>
    </p:spTree>
    <p:extLst>
      <p:ext uri="{BB962C8B-B14F-4D97-AF65-F5344CB8AC3E}">
        <p14:creationId xmlns:p14="http://schemas.microsoft.com/office/powerpoint/2010/main" val="1892066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F8918-30D7-035A-AE78-5E08910C3604}"/>
            </a:ext>
          </a:extLst>
        </p:cNvPr>
        <p:cNvGrpSpPr/>
        <p:nvPr/>
      </p:nvGrpSpPr>
      <p:grpSpPr>
        <a:xfrm>
          <a:off x="0" y="0"/>
          <a:ext cx="0" cy="0"/>
          <a:chOff x="0" y="0"/>
          <a:chExt cx="0" cy="0"/>
        </a:xfrm>
      </p:grpSpPr>
      <p:pic>
        <p:nvPicPr>
          <p:cNvPr id="34" name="Picture 33">
            <a:extLst>
              <a:ext uri="{FF2B5EF4-FFF2-40B4-BE49-F238E27FC236}">
                <a16:creationId xmlns:a16="http://schemas.microsoft.com/office/drawing/2014/main" id="{DA04C303-297C-B9C4-7E2B-6B1D7606827E}"/>
              </a:ext>
            </a:extLst>
          </p:cNvPr>
          <p:cNvPicPr>
            <a:picLocks noChangeAspect="1"/>
          </p:cNvPicPr>
          <p:nvPr/>
        </p:nvPicPr>
        <p:blipFill>
          <a:blip r:embed="rId3"/>
          <a:srcRect l="54578" t="30610" r="40208" b="47673"/>
          <a:stretch/>
        </p:blipFill>
        <p:spPr>
          <a:xfrm>
            <a:off x="5331252" y="1511104"/>
            <a:ext cx="711918" cy="1146176"/>
          </a:xfrm>
          <a:prstGeom prst="rect">
            <a:avLst/>
          </a:prstGeom>
        </p:spPr>
      </p:pic>
      <p:pic>
        <p:nvPicPr>
          <p:cNvPr id="36" name="Picture 35">
            <a:extLst>
              <a:ext uri="{FF2B5EF4-FFF2-40B4-BE49-F238E27FC236}">
                <a16:creationId xmlns:a16="http://schemas.microsoft.com/office/drawing/2014/main" id="{B61BB541-E2DB-18C1-8600-9BAD4456DFA8}"/>
              </a:ext>
            </a:extLst>
          </p:cNvPr>
          <p:cNvPicPr>
            <a:picLocks noChangeAspect="1"/>
          </p:cNvPicPr>
          <p:nvPr/>
        </p:nvPicPr>
        <p:blipFill>
          <a:blip r:embed="rId3"/>
          <a:srcRect l="88473" t="20587" r="5555" b="52457"/>
          <a:stretch/>
        </p:blipFill>
        <p:spPr>
          <a:xfrm>
            <a:off x="9872685" y="1325649"/>
            <a:ext cx="700977" cy="1222894"/>
          </a:xfrm>
          <a:prstGeom prst="rect">
            <a:avLst/>
          </a:prstGeom>
        </p:spPr>
      </p:pic>
      <p:pic>
        <p:nvPicPr>
          <p:cNvPr id="3" name="Picture 2" hidden="1">
            <a:extLst>
              <a:ext uri="{FF2B5EF4-FFF2-40B4-BE49-F238E27FC236}">
                <a16:creationId xmlns:a16="http://schemas.microsoft.com/office/drawing/2014/main" id="{F93F7B4D-173B-1334-FAC8-8C502A50BCD6}"/>
              </a:ext>
            </a:extLst>
          </p:cNvPr>
          <p:cNvPicPr>
            <a:picLocks noChangeAspect="1"/>
          </p:cNvPicPr>
          <p:nvPr/>
        </p:nvPicPr>
        <p:blipFill>
          <a:blip r:embed="rId4"/>
          <a:stretch>
            <a:fillRect/>
          </a:stretch>
        </p:blipFill>
        <p:spPr>
          <a:xfrm>
            <a:off x="2382" y="1340"/>
            <a:ext cx="12187239" cy="6855322"/>
          </a:xfrm>
          <a:prstGeom prst="rect">
            <a:avLst/>
          </a:prstGeom>
        </p:spPr>
      </p:pic>
      <p:sp>
        <p:nvSpPr>
          <p:cNvPr id="2" name="Title 1">
            <a:extLst>
              <a:ext uri="{FF2B5EF4-FFF2-40B4-BE49-F238E27FC236}">
                <a16:creationId xmlns:a16="http://schemas.microsoft.com/office/drawing/2014/main" id="{5AEC6545-D647-A4B9-108D-E6954F83D031}"/>
              </a:ext>
            </a:extLst>
          </p:cNvPr>
          <p:cNvSpPr>
            <a:spLocks noGrp="1"/>
          </p:cNvSpPr>
          <p:nvPr>
            <p:ph type="title"/>
          </p:nvPr>
        </p:nvSpPr>
        <p:spPr>
          <a:xfrm>
            <a:off x="288814" y="248131"/>
            <a:ext cx="2473946" cy="762497"/>
          </a:xfrm>
        </p:spPr>
        <p:txBody>
          <a:bodyPr/>
          <a:lstStyle/>
          <a:p>
            <a:pPr>
              <a:lnSpc>
                <a:spcPct val="100000"/>
              </a:lnSpc>
            </a:pPr>
            <a:r>
              <a:rPr lang="en-US" sz="2200">
                <a:solidFill>
                  <a:srgbClr val="061F80"/>
                </a:solidFill>
              </a:rPr>
              <a:t>Maximo Application Suite</a:t>
            </a:r>
          </a:p>
        </p:txBody>
      </p:sp>
      <p:sp>
        <p:nvSpPr>
          <p:cNvPr id="8" name="Text Placeholder 3">
            <a:extLst>
              <a:ext uri="{FF2B5EF4-FFF2-40B4-BE49-F238E27FC236}">
                <a16:creationId xmlns:a16="http://schemas.microsoft.com/office/drawing/2014/main" id="{FBBE2235-B917-8CB9-F0DD-0115139174C5}"/>
              </a:ext>
            </a:extLst>
          </p:cNvPr>
          <p:cNvSpPr txBox="1">
            <a:spLocks/>
          </p:cNvSpPr>
          <p:nvPr/>
        </p:nvSpPr>
        <p:spPr>
          <a:xfrm>
            <a:off x="327833" y="1430918"/>
            <a:ext cx="2271882" cy="898319"/>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defTabSz="914335">
              <a:lnSpc>
                <a:spcPct val="110000"/>
              </a:lnSpc>
              <a:defRPr/>
            </a:pPr>
            <a:r>
              <a:rPr lang="en-US" sz="1400">
                <a:solidFill>
                  <a:srgbClr val="000000"/>
                </a:solidFill>
                <a:latin typeface="IBM Plex Sans Light" panose="020B0403050203000203" pitchFamily="34" charset="0"/>
              </a:rPr>
              <a:t>Best-of-class capabilities to provide complete view of your assets addressing the needs of key personas in your organization.</a:t>
            </a:r>
          </a:p>
        </p:txBody>
      </p:sp>
      <p:sp>
        <p:nvSpPr>
          <p:cNvPr id="25" name="Rectangle 24">
            <a:extLst>
              <a:ext uri="{FF2B5EF4-FFF2-40B4-BE49-F238E27FC236}">
                <a16:creationId xmlns:a16="http://schemas.microsoft.com/office/drawing/2014/main" id="{B2455FEA-EBBB-849D-9381-18AFDD593FFA}"/>
              </a:ext>
            </a:extLst>
          </p:cNvPr>
          <p:cNvSpPr/>
          <p:nvPr/>
        </p:nvSpPr>
        <p:spPr>
          <a:xfrm>
            <a:off x="3054655" y="5194267"/>
            <a:ext cx="8854791" cy="332410"/>
          </a:xfrm>
          <a:prstGeom prst="rect">
            <a:avLst/>
          </a:prstGeom>
          <a:solidFill>
            <a:schemeClr val="accent1"/>
          </a:solidFill>
          <a:ln>
            <a:solidFill>
              <a:schemeClr val="accent1"/>
            </a:solidFill>
          </a:ln>
        </p:spPr>
        <p:txBody>
          <a:bodyPr wrap="square" anchor="ctr">
            <a:noAutofit/>
          </a:bodyPr>
          <a:lstStyle/>
          <a:p>
            <a:pPr algn="ctr" defTabSz="342858">
              <a:spcBef>
                <a:spcPts val="1500"/>
              </a:spcBef>
              <a:spcAft>
                <a:spcPts val="1500"/>
              </a:spcAft>
              <a:defRPr/>
            </a:pPr>
            <a:r>
              <a:rPr lang="en-US" sz="1200">
                <a:solidFill>
                  <a:srgbClr val="FFFFFF"/>
                </a:solidFill>
                <a:latin typeface="IBM Plex Sans Light"/>
              </a:rPr>
              <a:t>IBM Cloud Pak for Data | Watson | App Connect | Cognos Analytics</a:t>
            </a:r>
          </a:p>
        </p:txBody>
      </p:sp>
      <p:cxnSp>
        <p:nvCxnSpPr>
          <p:cNvPr id="1025" name="Straight Connector 1024">
            <a:extLst>
              <a:ext uri="{FF2B5EF4-FFF2-40B4-BE49-F238E27FC236}">
                <a16:creationId xmlns:a16="http://schemas.microsoft.com/office/drawing/2014/main" id="{EC7F61E2-2FED-EA42-9B1E-3D24D859DF1E}"/>
              </a:ext>
            </a:extLst>
          </p:cNvPr>
          <p:cNvCxnSpPr>
            <a:cxnSpLocks/>
          </p:cNvCxnSpPr>
          <p:nvPr/>
        </p:nvCxnSpPr>
        <p:spPr bwMode="auto">
          <a:xfrm>
            <a:off x="3067094" y="2901935"/>
            <a:ext cx="885479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36" name="Straight Connector 1035">
            <a:extLst>
              <a:ext uri="{FF2B5EF4-FFF2-40B4-BE49-F238E27FC236}">
                <a16:creationId xmlns:a16="http://schemas.microsoft.com/office/drawing/2014/main" id="{8478AFF9-4954-48B1-C309-24BA31DD21D3}"/>
              </a:ext>
            </a:extLst>
          </p:cNvPr>
          <p:cNvCxnSpPr>
            <a:cxnSpLocks/>
          </p:cNvCxnSpPr>
          <p:nvPr/>
        </p:nvCxnSpPr>
        <p:spPr bwMode="auto">
          <a:xfrm>
            <a:off x="3051571" y="1589221"/>
            <a:ext cx="885479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40" name="Straight Connector 1039">
            <a:extLst>
              <a:ext uri="{FF2B5EF4-FFF2-40B4-BE49-F238E27FC236}">
                <a16:creationId xmlns:a16="http://schemas.microsoft.com/office/drawing/2014/main" id="{07A97B2A-39F5-A252-5995-355DD471C003}"/>
              </a:ext>
            </a:extLst>
          </p:cNvPr>
          <p:cNvCxnSpPr>
            <a:cxnSpLocks/>
          </p:cNvCxnSpPr>
          <p:nvPr/>
        </p:nvCxnSpPr>
        <p:spPr bwMode="auto">
          <a:xfrm>
            <a:off x="9623365" y="1723736"/>
            <a:ext cx="0" cy="117819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46" name="Straight Connector 1045">
            <a:extLst>
              <a:ext uri="{FF2B5EF4-FFF2-40B4-BE49-F238E27FC236}">
                <a16:creationId xmlns:a16="http://schemas.microsoft.com/office/drawing/2014/main" id="{EE9BD505-3957-3F8D-A59C-E089E81EE11F}"/>
              </a:ext>
            </a:extLst>
          </p:cNvPr>
          <p:cNvCxnSpPr>
            <a:cxnSpLocks/>
          </p:cNvCxnSpPr>
          <p:nvPr/>
        </p:nvCxnSpPr>
        <p:spPr bwMode="auto">
          <a:xfrm>
            <a:off x="5226756" y="1801964"/>
            <a:ext cx="13337" cy="1099971"/>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51" name="Straight Connector 1050">
            <a:extLst>
              <a:ext uri="{FF2B5EF4-FFF2-40B4-BE49-F238E27FC236}">
                <a16:creationId xmlns:a16="http://schemas.microsoft.com/office/drawing/2014/main" id="{3586078F-A3E7-6225-2BF6-B09FA975BC49}"/>
              </a:ext>
            </a:extLst>
          </p:cNvPr>
          <p:cNvCxnSpPr/>
          <p:nvPr/>
        </p:nvCxnSpPr>
        <p:spPr bwMode="auto">
          <a:xfrm>
            <a:off x="3051571" y="323779"/>
            <a:ext cx="0" cy="483901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6" name="Rectangle 25">
            <a:extLst>
              <a:ext uri="{FF2B5EF4-FFF2-40B4-BE49-F238E27FC236}">
                <a16:creationId xmlns:a16="http://schemas.microsoft.com/office/drawing/2014/main" id="{B43BB9B9-C5C9-7402-45FE-A2926A8E9365}"/>
              </a:ext>
            </a:extLst>
          </p:cNvPr>
          <p:cNvSpPr/>
          <p:nvPr/>
        </p:nvSpPr>
        <p:spPr>
          <a:xfrm>
            <a:off x="8212314" y="5555495"/>
            <a:ext cx="3694049" cy="545874"/>
          </a:xfrm>
          <a:prstGeom prst="rect">
            <a:avLst/>
          </a:prstGeom>
          <a:noFill/>
          <a:ln>
            <a:noFill/>
          </a:ln>
        </p:spPr>
        <p:txBody>
          <a:bodyPr wrap="square" lIns="0" rIns="0" anchor="ctr">
            <a:noAutofit/>
          </a:bodyPr>
          <a:lstStyle/>
          <a:p>
            <a:pPr defTabSz="342858">
              <a:defRPr/>
            </a:pPr>
            <a:r>
              <a:rPr lang="en-US" sz="1200">
                <a:solidFill>
                  <a:srgbClr val="000000"/>
                </a:solidFill>
                <a:latin typeface="IBM Plex Sans Light"/>
              </a:rPr>
              <a:t>Infrastructure Independent</a:t>
            </a:r>
          </a:p>
          <a:p>
            <a:pPr defTabSz="342858">
              <a:defRPr/>
            </a:pPr>
            <a:r>
              <a:rPr lang="en-US" sz="1200">
                <a:solidFill>
                  <a:srgbClr val="000000"/>
                </a:solidFill>
                <a:latin typeface="IBM Plex Sans Light"/>
              </a:rPr>
              <a:t>Common Operating Environment</a:t>
            </a:r>
          </a:p>
        </p:txBody>
      </p:sp>
      <p:grpSp>
        <p:nvGrpSpPr>
          <p:cNvPr id="55" name="Group 54">
            <a:extLst>
              <a:ext uri="{FF2B5EF4-FFF2-40B4-BE49-F238E27FC236}">
                <a16:creationId xmlns:a16="http://schemas.microsoft.com/office/drawing/2014/main" id="{56A81901-9352-DEC3-C811-376BD1B1CA9B}"/>
              </a:ext>
            </a:extLst>
          </p:cNvPr>
          <p:cNvGrpSpPr>
            <a:grpSpLocks noChangeAspect="1"/>
          </p:cNvGrpSpPr>
          <p:nvPr/>
        </p:nvGrpSpPr>
        <p:grpSpPr>
          <a:xfrm>
            <a:off x="4505195" y="274839"/>
            <a:ext cx="547114" cy="472402"/>
            <a:chOff x="776093" y="2913287"/>
            <a:chExt cx="489745" cy="422867"/>
          </a:xfrm>
        </p:grpSpPr>
        <p:sp>
          <p:nvSpPr>
            <p:cNvPr id="44" name="Freeform 43">
              <a:extLst>
                <a:ext uri="{FF2B5EF4-FFF2-40B4-BE49-F238E27FC236}">
                  <a16:creationId xmlns:a16="http://schemas.microsoft.com/office/drawing/2014/main" id="{6F108F52-8C6C-CBCB-C739-BDACA0C6CCBD}"/>
                </a:ext>
              </a:extLst>
            </p:cNvPr>
            <p:cNvSpPr/>
            <p:nvPr/>
          </p:nvSpPr>
          <p:spPr>
            <a:xfrm>
              <a:off x="776093" y="2913287"/>
              <a:ext cx="489745" cy="422867"/>
            </a:xfrm>
            <a:custGeom>
              <a:avLst/>
              <a:gdLst>
                <a:gd name="connsiteX0" fmla="*/ 451520 w 489745"/>
                <a:gd name="connsiteY0" fmla="*/ 260088 h 422867"/>
                <a:gd name="connsiteX1" fmla="*/ 245098 w 489745"/>
                <a:gd name="connsiteY1" fmla="*/ 422868 h 422867"/>
                <a:gd name="connsiteX2" fmla="*/ 32830 w 489745"/>
                <a:gd name="connsiteY2" fmla="*/ 211210 h 422867"/>
                <a:gd name="connsiteX3" fmla="*/ 0 w 489745"/>
                <a:gd name="connsiteY3" fmla="*/ 243945 h 422867"/>
                <a:gd name="connsiteX4" fmla="*/ 32830 w 489745"/>
                <a:gd name="connsiteY4" fmla="*/ 211210 h 422867"/>
                <a:gd name="connsiteX5" fmla="*/ 65659 w 489745"/>
                <a:gd name="connsiteY5" fmla="*/ 243945 h 422867"/>
                <a:gd name="connsiteX6" fmla="*/ 38226 w 489745"/>
                <a:gd name="connsiteY6" fmla="*/ 162780 h 422867"/>
                <a:gd name="connsiteX7" fmla="*/ 244648 w 489745"/>
                <a:gd name="connsiteY7" fmla="*/ 0 h 422867"/>
                <a:gd name="connsiteX8" fmla="*/ 456916 w 489745"/>
                <a:gd name="connsiteY8" fmla="*/ 211658 h 422867"/>
                <a:gd name="connsiteX9" fmla="*/ 489746 w 489745"/>
                <a:gd name="connsiteY9" fmla="*/ 178923 h 422867"/>
                <a:gd name="connsiteX10" fmla="*/ 456916 w 489745"/>
                <a:gd name="connsiteY10" fmla="*/ 211658 h 422867"/>
                <a:gd name="connsiteX11" fmla="*/ 424087 w 489745"/>
                <a:gd name="connsiteY11" fmla="*/ 178923 h 422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9745" h="422867">
                  <a:moveTo>
                    <a:pt x="451520" y="260088"/>
                  </a:moveTo>
                  <a:cubicBezTo>
                    <a:pt x="429483" y="353362"/>
                    <a:pt x="345386" y="422868"/>
                    <a:pt x="245098" y="422868"/>
                  </a:cubicBezTo>
                  <a:cubicBezTo>
                    <a:pt x="127721" y="422868"/>
                    <a:pt x="32830" y="328250"/>
                    <a:pt x="32830" y="211210"/>
                  </a:cubicBezTo>
                  <a:moveTo>
                    <a:pt x="0" y="243945"/>
                  </a:moveTo>
                  <a:lnTo>
                    <a:pt x="32830" y="211210"/>
                  </a:lnTo>
                  <a:lnTo>
                    <a:pt x="65659" y="243945"/>
                  </a:lnTo>
                  <a:moveTo>
                    <a:pt x="38226" y="162780"/>
                  </a:moveTo>
                  <a:cubicBezTo>
                    <a:pt x="60263" y="69506"/>
                    <a:pt x="144360" y="0"/>
                    <a:pt x="244648" y="0"/>
                  </a:cubicBezTo>
                  <a:cubicBezTo>
                    <a:pt x="362025" y="0"/>
                    <a:pt x="456916" y="94618"/>
                    <a:pt x="456916" y="211658"/>
                  </a:cubicBezTo>
                  <a:moveTo>
                    <a:pt x="489746" y="178923"/>
                  </a:moveTo>
                  <a:lnTo>
                    <a:pt x="456916" y="211658"/>
                  </a:lnTo>
                  <a:lnTo>
                    <a:pt x="424087" y="178923"/>
                  </a:lnTo>
                </a:path>
              </a:pathLst>
            </a:custGeom>
            <a:noFill/>
            <a:ln w="19050" cap="flat">
              <a:solidFill>
                <a:schemeClr val="accent1">
                  <a:lumMod val="75000"/>
                </a:schemeClr>
              </a:solidFill>
              <a:prstDash val="solid"/>
              <a:miter/>
            </a:ln>
          </p:spPr>
          <p:txBody>
            <a:bodyPr rtlCol="0" anchor="ctr"/>
            <a:lstStyle/>
            <a:p>
              <a:pPr defTabSz="914335">
                <a:defRPr/>
              </a:pPr>
              <a:endParaRPr lang="en-US" sz="900">
                <a:solidFill>
                  <a:srgbClr val="000000"/>
                </a:solidFill>
                <a:latin typeface="IBM Plex Sans Light"/>
              </a:endParaRPr>
            </a:p>
          </p:txBody>
        </p:sp>
        <p:sp>
          <p:nvSpPr>
            <p:cNvPr id="45" name="Freeform 44">
              <a:extLst>
                <a:ext uri="{FF2B5EF4-FFF2-40B4-BE49-F238E27FC236}">
                  <a16:creationId xmlns:a16="http://schemas.microsoft.com/office/drawing/2014/main" id="{F78997D5-DDE7-A195-7DDE-F2C99B7A7474}"/>
                </a:ext>
              </a:extLst>
            </p:cNvPr>
            <p:cNvSpPr/>
            <p:nvPr/>
          </p:nvSpPr>
          <p:spPr>
            <a:xfrm>
              <a:off x="898866" y="3003421"/>
              <a:ext cx="244198" cy="243496"/>
            </a:xfrm>
            <a:custGeom>
              <a:avLst/>
              <a:gdLst>
                <a:gd name="connsiteX0" fmla="*/ 244198 w 244198"/>
                <a:gd name="connsiteY0" fmla="*/ 145291 h 243496"/>
                <a:gd name="connsiteX1" fmla="*/ 244198 w 244198"/>
                <a:gd name="connsiteY1" fmla="*/ 97309 h 243496"/>
                <a:gd name="connsiteX2" fmla="*/ 212718 w 244198"/>
                <a:gd name="connsiteY2" fmla="*/ 97309 h 243496"/>
                <a:gd name="connsiteX3" fmla="*/ 203274 w 244198"/>
                <a:gd name="connsiteY3" fmla="*/ 74439 h 243496"/>
                <a:gd name="connsiteX4" fmla="*/ 225310 w 244198"/>
                <a:gd name="connsiteY4" fmla="*/ 52466 h 243496"/>
                <a:gd name="connsiteX5" fmla="*/ 191131 w 244198"/>
                <a:gd name="connsiteY5" fmla="*/ 18386 h 243496"/>
                <a:gd name="connsiteX6" fmla="*/ 168645 w 244198"/>
                <a:gd name="connsiteY6" fmla="*/ 40807 h 243496"/>
                <a:gd name="connsiteX7" fmla="*/ 145709 w 244198"/>
                <a:gd name="connsiteY7" fmla="*/ 31390 h 243496"/>
                <a:gd name="connsiteX8" fmla="*/ 145709 w 244198"/>
                <a:gd name="connsiteY8" fmla="*/ 0 h 243496"/>
                <a:gd name="connsiteX9" fmla="*/ 97589 w 244198"/>
                <a:gd name="connsiteY9" fmla="*/ 0 h 243496"/>
                <a:gd name="connsiteX10" fmla="*/ 97589 w 244198"/>
                <a:gd name="connsiteY10" fmla="*/ 31390 h 243496"/>
                <a:gd name="connsiteX11" fmla="*/ 74654 w 244198"/>
                <a:gd name="connsiteY11" fmla="*/ 40807 h 243496"/>
                <a:gd name="connsiteX12" fmla="*/ 52617 w 244198"/>
                <a:gd name="connsiteY12" fmla="*/ 18834 h 243496"/>
                <a:gd name="connsiteX13" fmla="*/ 18439 w 244198"/>
                <a:gd name="connsiteY13" fmla="*/ 52915 h 243496"/>
                <a:gd name="connsiteX14" fmla="*/ 40925 w 244198"/>
                <a:gd name="connsiteY14" fmla="*/ 75336 h 243496"/>
                <a:gd name="connsiteX15" fmla="*/ 31480 w 244198"/>
                <a:gd name="connsiteY15" fmla="*/ 98206 h 243496"/>
                <a:gd name="connsiteX16" fmla="*/ 0 w 244198"/>
                <a:gd name="connsiteY16" fmla="*/ 98206 h 243496"/>
                <a:gd name="connsiteX17" fmla="*/ 0 w 244198"/>
                <a:gd name="connsiteY17" fmla="*/ 146188 h 243496"/>
                <a:gd name="connsiteX18" fmla="*/ 31480 w 244198"/>
                <a:gd name="connsiteY18" fmla="*/ 146188 h 243496"/>
                <a:gd name="connsiteX19" fmla="*/ 40925 w 244198"/>
                <a:gd name="connsiteY19" fmla="*/ 169058 h 243496"/>
                <a:gd name="connsiteX20" fmla="*/ 18888 w 244198"/>
                <a:gd name="connsiteY20" fmla="*/ 191030 h 243496"/>
                <a:gd name="connsiteX21" fmla="*/ 53067 w 244198"/>
                <a:gd name="connsiteY21" fmla="*/ 225111 h 243496"/>
                <a:gd name="connsiteX22" fmla="*/ 75553 w 244198"/>
                <a:gd name="connsiteY22" fmla="*/ 202690 h 243496"/>
                <a:gd name="connsiteX23" fmla="*/ 98489 w 244198"/>
                <a:gd name="connsiteY23" fmla="*/ 212107 h 243496"/>
                <a:gd name="connsiteX24" fmla="*/ 98489 w 244198"/>
                <a:gd name="connsiteY24" fmla="*/ 243497 h 243496"/>
                <a:gd name="connsiteX25" fmla="*/ 146609 w 244198"/>
                <a:gd name="connsiteY25" fmla="*/ 243497 h 243496"/>
                <a:gd name="connsiteX26" fmla="*/ 146609 w 244198"/>
                <a:gd name="connsiteY26" fmla="*/ 212107 h 243496"/>
                <a:gd name="connsiteX27" fmla="*/ 169545 w 244198"/>
                <a:gd name="connsiteY27" fmla="*/ 202690 h 243496"/>
                <a:gd name="connsiteX28" fmla="*/ 191581 w 244198"/>
                <a:gd name="connsiteY28" fmla="*/ 224663 h 243496"/>
                <a:gd name="connsiteX29" fmla="*/ 225760 w 244198"/>
                <a:gd name="connsiteY29" fmla="*/ 190582 h 243496"/>
                <a:gd name="connsiteX30" fmla="*/ 203274 w 244198"/>
                <a:gd name="connsiteY30" fmla="*/ 168161 h 243496"/>
                <a:gd name="connsiteX31" fmla="*/ 212718 w 244198"/>
                <a:gd name="connsiteY31" fmla="*/ 145291 h 243496"/>
                <a:gd name="connsiteX32" fmla="*/ 244198 w 244198"/>
                <a:gd name="connsiteY32" fmla="*/ 145291 h 243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44198" h="243496">
                  <a:moveTo>
                    <a:pt x="244198" y="145291"/>
                  </a:moveTo>
                  <a:lnTo>
                    <a:pt x="244198" y="97309"/>
                  </a:lnTo>
                  <a:lnTo>
                    <a:pt x="212718" y="97309"/>
                  </a:lnTo>
                  <a:lnTo>
                    <a:pt x="203274" y="74439"/>
                  </a:lnTo>
                  <a:lnTo>
                    <a:pt x="225310" y="52466"/>
                  </a:lnTo>
                  <a:lnTo>
                    <a:pt x="191131" y="18386"/>
                  </a:lnTo>
                  <a:lnTo>
                    <a:pt x="168645" y="40807"/>
                  </a:lnTo>
                  <a:lnTo>
                    <a:pt x="145709" y="31390"/>
                  </a:lnTo>
                  <a:lnTo>
                    <a:pt x="145709" y="0"/>
                  </a:lnTo>
                  <a:lnTo>
                    <a:pt x="97589" y="0"/>
                  </a:lnTo>
                  <a:lnTo>
                    <a:pt x="97589" y="31390"/>
                  </a:lnTo>
                  <a:lnTo>
                    <a:pt x="74654" y="40807"/>
                  </a:lnTo>
                  <a:lnTo>
                    <a:pt x="52617" y="18834"/>
                  </a:lnTo>
                  <a:lnTo>
                    <a:pt x="18439" y="52915"/>
                  </a:lnTo>
                  <a:lnTo>
                    <a:pt x="40925" y="75336"/>
                  </a:lnTo>
                  <a:lnTo>
                    <a:pt x="31480" y="98206"/>
                  </a:lnTo>
                  <a:lnTo>
                    <a:pt x="0" y="98206"/>
                  </a:lnTo>
                  <a:lnTo>
                    <a:pt x="0" y="146188"/>
                  </a:lnTo>
                  <a:lnTo>
                    <a:pt x="31480" y="146188"/>
                  </a:lnTo>
                  <a:lnTo>
                    <a:pt x="40925" y="169058"/>
                  </a:lnTo>
                  <a:lnTo>
                    <a:pt x="18888" y="191030"/>
                  </a:lnTo>
                  <a:lnTo>
                    <a:pt x="53067" y="225111"/>
                  </a:lnTo>
                  <a:lnTo>
                    <a:pt x="75553" y="202690"/>
                  </a:lnTo>
                  <a:lnTo>
                    <a:pt x="98489" y="212107"/>
                  </a:lnTo>
                  <a:lnTo>
                    <a:pt x="98489" y="243497"/>
                  </a:lnTo>
                  <a:lnTo>
                    <a:pt x="146609" y="243497"/>
                  </a:lnTo>
                  <a:lnTo>
                    <a:pt x="146609" y="212107"/>
                  </a:lnTo>
                  <a:lnTo>
                    <a:pt x="169545" y="202690"/>
                  </a:lnTo>
                  <a:lnTo>
                    <a:pt x="191581" y="224663"/>
                  </a:lnTo>
                  <a:lnTo>
                    <a:pt x="225760" y="190582"/>
                  </a:lnTo>
                  <a:lnTo>
                    <a:pt x="203274" y="168161"/>
                  </a:lnTo>
                  <a:lnTo>
                    <a:pt x="212718" y="145291"/>
                  </a:lnTo>
                  <a:lnTo>
                    <a:pt x="244198" y="145291"/>
                  </a:lnTo>
                  <a:close/>
                </a:path>
              </a:pathLst>
            </a:custGeom>
            <a:noFill/>
            <a:ln w="19050" cap="flat">
              <a:solidFill>
                <a:schemeClr val="accent1">
                  <a:lumMod val="75000"/>
                </a:schemeClr>
              </a:solidFill>
              <a:prstDash val="solid"/>
              <a:miter/>
            </a:ln>
          </p:spPr>
          <p:txBody>
            <a:bodyPr rtlCol="0" anchor="ctr"/>
            <a:lstStyle/>
            <a:p>
              <a:pPr defTabSz="914335">
                <a:defRPr/>
              </a:pPr>
              <a:endParaRPr lang="en-US" sz="900">
                <a:solidFill>
                  <a:srgbClr val="000000"/>
                </a:solidFill>
                <a:latin typeface="IBM Plex Sans Light"/>
              </a:endParaRPr>
            </a:p>
          </p:txBody>
        </p:sp>
      </p:grpSp>
      <p:grpSp>
        <p:nvGrpSpPr>
          <p:cNvPr id="53" name="Group 52">
            <a:extLst>
              <a:ext uri="{FF2B5EF4-FFF2-40B4-BE49-F238E27FC236}">
                <a16:creationId xmlns:a16="http://schemas.microsoft.com/office/drawing/2014/main" id="{2DC0C598-0AAD-0C19-C64B-B5B4548226A4}"/>
              </a:ext>
            </a:extLst>
          </p:cNvPr>
          <p:cNvGrpSpPr>
            <a:grpSpLocks noChangeAspect="1"/>
          </p:cNvGrpSpPr>
          <p:nvPr/>
        </p:nvGrpSpPr>
        <p:grpSpPr>
          <a:xfrm>
            <a:off x="3357718" y="3941766"/>
            <a:ext cx="471535" cy="470175"/>
            <a:chOff x="7137670" y="1381026"/>
            <a:chExt cx="447726" cy="446434"/>
          </a:xfrm>
        </p:grpSpPr>
        <p:sp>
          <p:nvSpPr>
            <p:cNvPr id="47" name="Freeform 46">
              <a:extLst>
                <a:ext uri="{FF2B5EF4-FFF2-40B4-BE49-F238E27FC236}">
                  <a16:creationId xmlns:a16="http://schemas.microsoft.com/office/drawing/2014/main" id="{C487E836-6E32-187A-C4C1-DF52A2C81959}"/>
                </a:ext>
              </a:extLst>
            </p:cNvPr>
            <p:cNvSpPr/>
            <p:nvPr/>
          </p:nvSpPr>
          <p:spPr>
            <a:xfrm>
              <a:off x="7137670" y="1381026"/>
              <a:ext cx="447726" cy="446434"/>
            </a:xfrm>
            <a:custGeom>
              <a:avLst/>
              <a:gdLst>
                <a:gd name="connsiteX0" fmla="*/ 164150 w 447726"/>
                <a:gd name="connsiteY0" fmla="*/ 0 h 446434"/>
                <a:gd name="connsiteX1" fmla="*/ 0 w 447726"/>
                <a:gd name="connsiteY1" fmla="*/ 163677 h 446434"/>
                <a:gd name="connsiteX2" fmla="*/ 164150 w 447726"/>
                <a:gd name="connsiteY2" fmla="*/ 327353 h 446434"/>
                <a:gd name="connsiteX3" fmla="*/ 328301 w 447726"/>
                <a:gd name="connsiteY3" fmla="*/ 163677 h 446434"/>
                <a:gd name="connsiteX4" fmla="*/ 164150 w 447726"/>
                <a:gd name="connsiteY4" fmla="*/ 0 h 446434"/>
                <a:gd name="connsiteX5" fmla="*/ 280245 w 447726"/>
                <a:gd name="connsiteY5" fmla="*/ 279437 h 446434"/>
                <a:gd name="connsiteX6" fmla="*/ 447726 w 447726"/>
                <a:gd name="connsiteY6" fmla="*/ 446434 h 446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7726" h="446434">
                  <a:moveTo>
                    <a:pt x="164150" y="0"/>
                  </a:moveTo>
                  <a:cubicBezTo>
                    <a:pt x="73273" y="0"/>
                    <a:pt x="0" y="73536"/>
                    <a:pt x="0" y="163677"/>
                  </a:cubicBezTo>
                  <a:cubicBezTo>
                    <a:pt x="0" y="253818"/>
                    <a:pt x="73749" y="327353"/>
                    <a:pt x="164150" y="327353"/>
                  </a:cubicBezTo>
                  <a:cubicBezTo>
                    <a:pt x="254552" y="327353"/>
                    <a:pt x="328301" y="253818"/>
                    <a:pt x="328301" y="163677"/>
                  </a:cubicBezTo>
                  <a:cubicBezTo>
                    <a:pt x="328301" y="73536"/>
                    <a:pt x="255028" y="0"/>
                    <a:pt x="164150" y="0"/>
                  </a:cubicBezTo>
                  <a:close/>
                  <a:moveTo>
                    <a:pt x="280245" y="279437"/>
                  </a:moveTo>
                  <a:lnTo>
                    <a:pt x="447726" y="446434"/>
                  </a:lnTo>
                </a:path>
              </a:pathLst>
            </a:custGeom>
            <a:noFill/>
            <a:ln w="19050" cap="flat">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prstDash val="solid"/>
              <a:miter/>
            </a:ln>
          </p:spPr>
          <p:txBody>
            <a:bodyPr rtlCol="0" anchor="ctr"/>
            <a:lstStyle/>
            <a:p>
              <a:pPr defTabSz="914335">
                <a:defRPr/>
              </a:pPr>
              <a:endParaRPr lang="en-US" sz="900">
                <a:solidFill>
                  <a:srgbClr val="000000"/>
                </a:solidFill>
                <a:latin typeface="IBM Plex Sans Light"/>
              </a:endParaRPr>
            </a:p>
          </p:txBody>
        </p:sp>
        <p:sp>
          <p:nvSpPr>
            <p:cNvPr id="48" name="Freeform 47">
              <a:extLst>
                <a:ext uri="{FF2B5EF4-FFF2-40B4-BE49-F238E27FC236}">
                  <a16:creationId xmlns:a16="http://schemas.microsoft.com/office/drawing/2014/main" id="{1A8D8C9D-F0F8-D202-C820-78DCBFA5A262}"/>
                </a:ext>
              </a:extLst>
            </p:cNvPr>
            <p:cNvSpPr/>
            <p:nvPr/>
          </p:nvSpPr>
          <p:spPr>
            <a:xfrm>
              <a:off x="7210943" y="1453613"/>
              <a:ext cx="179851" cy="179332"/>
            </a:xfrm>
            <a:custGeom>
              <a:avLst/>
              <a:gdLst>
                <a:gd name="connsiteX0" fmla="*/ 127514 w 179851"/>
                <a:gd name="connsiteY0" fmla="*/ 89666 h 179332"/>
                <a:gd name="connsiteX1" fmla="*/ 90402 w 179851"/>
                <a:gd name="connsiteY1" fmla="*/ 126672 h 179332"/>
                <a:gd name="connsiteX2" fmla="*/ 53289 w 179851"/>
                <a:gd name="connsiteY2" fmla="*/ 89666 h 179332"/>
                <a:gd name="connsiteX3" fmla="*/ 90402 w 179851"/>
                <a:gd name="connsiteY3" fmla="*/ 52661 h 179332"/>
                <a:gd name="connsiteX4" fmla="*/ 127514 w 179851"/>
                <a:gd name="connsiteY4" fmla="*/ 89666 h 179332"/>
                <a:gd name="connsiteX5" fmla="*/ 179852 w 179851"/>
                <a:gd name="connsiteY5" fmla="*/ 107220 h 179332"/>
                <a:gd name="connsiteX6" fmla="*/ 179852 w 179851"/>
                <a:gd name="connsiteY6" fmla="*/ 72113 h 179332"/>
                <a:gd name="connsiteX7" fmla="*/ 156538 w 179851"/>
                <a:gd name="connsiteY7" fmla="*/ 72113 h 179332"/>
                <a:gd name="connsiteX8" fmla="*/ 149401 w 179851"/>
                <a:gd name="connsiteY8" fmla="*/ 55508 h 179332"/>
                <a:gd name="connsiteX9" fmla="*/ 165578 w 179851"/>
                <a:gd name="connsiteY9" fmla="*/ 39377 h 179332"/>
                <a:gd name="connsiteX10" fmla="*/ 140360 w 179851"/>
                <a:gd name="connsiteY10" fmla="*/ 14233 h 179332"/>
                <a:gd name="connsiteX11" fmla="*/ 124183 w 179851"/>
                <a:gd name="connsiteY11" fmla="*/ 30363 h 179332"/>
                <a:gd name="connsiteX12" fmla="*/ 107530 w 179851"/>
                <a:gd name="connsiteY12" fmla="*/ 23247 h 179332"/>
                <a:gd name="connsiteX13" fmla="*/ 107530 w 179851"/>
                <a:gd name="connsiteY13" fmla="*/ 0 h 179332"/>
                <a:gd name="connsiteX14" fmla="*/ 72321 w 179851"/>
                <a:gd name="connsiteY14" fmla="*/ 0 h 179332"/>
                <a:gd name="connsiteX15" fmla="*/ 72321 w 179851"/>
                <a:gd name="connsiteY15" fmla="*/ 23247 h 179332"/>
                <a:gd name="connsiteX16" fmla="*/ 55668 w 179851"/>
                <a:gd name="connsiteY16" fmla="*/ 30363 h 179332"/>
                <a:gd name="connsiteX17" fmla="*/ 39491 w 179851"/>
                <a:gd name="connsiteY17" fmla="*/ 14233 h 179332"/>
                <a:gd name="connsiteX18" fmla="*/ 14274 w 179851"/>
                <a:gd name="connsiteY18" fmla="*/ 39377 h 179332"/>
                <a:gd name="connsiteX19" fmla="*/ 30451 w 179851"/>
                <a:gd name="connsiteY19" fmla="*/ 55508 h 179332"/>
                <a:gd name="connsiteX20" fmla="*/ 23314 w 179851"/>
                <a:gd name="connsiteY20" fmla="*/ 72113 h 179332"/>
                <a:gd name="connsiteX21" fmla="*/ 0 w 179851"/>
                <a:gd name="connsiteY21" fmla="*/ 72113 h 179332"/>
                <a:gd name="connsiteX22" fmla="*/ 0 w 179851"/>
                <a:gd name="connsiteY22" fmla="*/ 107220 h 179332"/>
                <a:gd name="connsiteX23" fmla="*/ 23314 w 179851"/>
                <a:gd name="connsiteY23" fmla="*/ 107220 h 179332"/>
                <a:gd name="connsiteX24" fmla="*/ 30451 w 179851"/>
                <a:gd name="connsiteY24" fmla="*/ 123825 h 179332"/>
                <a:gd name="connsiteX25" fmla="*/ 14274 w 179851"/>
                <a:gd name="connsiteY25" fmla="*/ 139955 h 179332"/>
                <a:gd name="connsiteX26" fmla="*/ 39491 w 179851"/>
                <a:gd name="connsiteY26" fmla="*/ 165100 h 179332"/>
                <a:gd name="connsiteX27" fmla="*/ 55668 w 179851"/>
                <a:gd name="connsiteY27" fmla="*/ 148970 h 179332"/>
                <a:gd name="connsiteX28" fmla="*/ 72321 w 179851"/>
                <a:gd name="connsiteY28" fmla="*/ 156086 h 179332"/>
                <a:gd name="connsiteX29" fmla="*/ 72321 w 179851"/>
                <a:gd name="connsiteY29" fmla="*/ 179333 h 179332"/>
                <a:gd name="connsiteX30" fmla="*/ 107530 w 179851"/>
                <a:gd name="connsiteY30" fmla="*/ 179333 h 179332"/>
                <a:gd name="connsiteX31" fmla="*/ 107530 w 179851"/>
                <a:gd name="connsiteY31" fmla="*/ 156086 h 179332"/>
                <a:gd name="connsiteX32" fmla="*/ 124183 w 179851"/>
                <a:gd name="connsiteY32" fmla="*/ 148970 h 179332"/>
                <a:gd name="connsiteX33" fmla="*/ 140360 w 179851"/>
                <a:gd name="connsiteY33" fmla="*/ 165100 h 179332"/>
                <a:gd name="connsiteX34" fmla="*/ 165578 w 179851"/>
                <a:gd name="connsiteY34" fmla="*/ 139955 h 179332"/>
                <a:gd name="connsiteX35" fmla="*/ 149401 w 179851"/>
                <a:gd name="connsiteY35" fmla="*/ 123825 h 179332"/>
                <a:gd name="connsiteX36" fmla="*/ 156538 w 179851"/>
                <a:gd name="connsiteY36" fmla="*/ 107220 h 179332"/>
                <a:gd name="connsiteX37" fmla="*/ 179852 w 179851"/>
                <a:gd name="connsiteY37" fmla="*/ 107220 h 17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79851" h="179332">
                  <a:moveTo>
                    <a:pt x="127514" y="89666"/>
                  </a:moveTo>
                  <a:cubicBezTo>
                    <a:pt x="127514" y="110067"/>
                    <a:pt x="110861" y="126672"/>
                    <a:pt x="90402" y="126672"/>
                  </a:cubicBezTo>
                  <a:cubicBezTo>
                    <a:pt x="69942" y="126672"/>
                    <a:pt x="53289" y="110067"/>
                    <a:pt x="53289" y="89666"/>
                  </a:cubicBezTo>
                  <a:cubicBezTo>
                    <a:pt x="53289" y="69266"/>
                    <a:pt x="69942" y="52661"/>
                    <a:pt x="90402" y="52661"/>
                  </a:cubicBezTo>
                  <a:cubicBezTo>
                    <a:pt x="110861" y="52661"/>
                    <a:pt x="127514" y="69266"/>
                    <a:pt x="127514" y="89666"/>
                  </a:cubicBezTo>
                  <a:close/>
                  <a:moveTo>
                    <a:pt x="179852" y="107220"/>
                  </a:moveTo>
                  <a:lnTo>
                    <a:pt x="179852" y="72113"/>
                  </a:lnTo>
                  <a:lnTo>
                    <a:pt x="156538" y="72113"/>
                  </a:lnTo>
                  <a:lnTo>
                    <a:pt x="149401" y="55508"/>
                  </a:lnTo>
                  <a:lnTo>
                    <a:pt x="165578" y="39377"/>
                  </a:lnTo>
                  <a:lnTo>
                    <a:pt x="140360" y="14233"/>
                  </a:lnTo>
                  <a:lnTo>
                    <a:pt x="124183" y="30363"/>
                  </a:lnTo>
                  <a:lnTo>
                    <a:pt x="107530" y="23247"/>
                  </a:lnTo>
                  <a:lnTo>
                    <a:pt x="107530" y="0"/>
                  </a:lnTo>
                  <a:lnTo>
                    <a:pt x="72321" y="0"/>
                  </a:lnTo>
                  <a:lnTo>
                    <a:pt x="72321" y="23247"/>
                  </a:lnTo>
                  <a:lnTo>
                    <a:pt x="55668" y="30363"/>
                  </a:lnTo>
                  <a:lnTo>
                    <a:pt x="39491" y="14233"/>
                  </a:lnTo>
                  <a:lnTo>
                    <a:pt x="14274" y="39377"/>
                  </a:lnTo>
                  <a:lnTo>
                    <a:pt x="30451" y="55508"/>
                  </a:lnTo>
                  <a:lnTo>
                    <a:pt x="23314" y="72113"/>
                  </a:lnTo>
                  <a:lnTo>
                    <a:pt x="0" y="72113"/>
                  </a:lnTo>
                  <a:lnTo>
                    <a:pt x="0" y="107220"/>
                  </a:lnTo>
                  <a:lnTo>
                    <a:pt x="23314" y="107220"/>
                  </a:lnTo>
                  <a:lnTo>
                    <a:pt x="30451" y="123825"/>
                  </a:lnTo>
                  <a:lnTo>
                    <a:pt x="14274" y="139955"/>
                  </a:lnTo>
                  <a:lnTo>
                    <a:pt x="39491" y="165100"/>
                  </a:lnTo>
                  <a:lnTo>
                    <a:pt x="55668" y="148970"/>
                  </a:lnTo>
                  <a:lnTo>
                    <a:pt x="72321" y="156086"/>
                  </a:lnTo>
                  <a:lnTo>
                    <a:pt x="72321" y="179333"/>
                  </a:lnTo>
                  <a:lnTo>
                    <a:pt x="107530" y="179333"/>
                  </a:lnTo>
                  <a:lnTo>
                    <a:pt x="107530" y="156086"/>
                  </a:lnTo>
                  <a:lnTo>
                    <a:pt x="124183" y="148970"/>
                  </a:lnTo>
                  <a:lnTo>
                    <a:pt x="140360" y="165100"/>
                  </a:lnTo>
                  <a:lnTo>
                    <a:pt x="165578" y="139955"/>
                  </a:lnTo>
                  <a:lnTo>
                    <a:pt x="149401" y="123825"/>
                  </a:lnTo>
                  <a:lnTo>
                    <a:pt x="156538" y="107220"/>
                  </a:lnTo>
                  <a:lnTo>
                    <a:pt x="179852" y="107220"/>
                  </a:lnTo>
                  <a:close/>
                </a:path>
              </a:pathLst>
            </a:custGeom>
            <a:noFill/>
            <a:ln w="19050" cap="flat">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prstDash val="solid"/>
              <a:miter/>
            </a:ln>
          </p:spPr>
          <p:txBody>
            <a:bodyPr rtlCol="0" anchor="ctr"/>
            <a:lstStyle/>
            <a:p>
              <a:pPr defTabSz="914335">
                <a:defRPr/>
              </a:pPr>
              <a:endParaRPr lang="en-US" sz="900">
                <a:solidFill>
                  <a:srgbClr val="000000"/>
                </a:solidFill>
                <a:latin typeface="IBM Plex Sans Light"/>
              </a:endParaRPr>
            </a:p>
          </p:txBody>
        </p:sp>
      </p:grpSp>
      <p:sp>
        <p:nvSpPr>
          <p:cNvPr id="1027" name="Text Placeholder 3">
            <a:extLst>
              <a:ext uri="{FF2B5EF4-FFF2-40B4-BE49-F238E27FC236}">
                <a16:creationId xmlns:a16="http://schemas.microsoft.com/office/drawing/2014/main" id="{287B9DBC-6756-CF6B-EE03-062FADBFDC99}"/>
              </a:ext>
            </a:extLst>
          </p:cNvPr>
          <p:cNvSpPr txBox="1">
            <a:spLocks/>
          </p:cNvSpPr>
          <p:nvPr/>
        </p:nvSpPr>
        <p:spPr>
          <a:xfrm>
            <a:off x="4559621" y="926902"/>
            <a:ext cx="2213737" cy="637104"/>
          </a:xfrm>
          <a:prstGeom prst="rect">
            <a:avLst/>
          </a:prstGeom>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defTabSz="1218727">
              <a:defRPr/>
            </a:pPr>
            <a:r>
              <a:rPr lang="en-US" sz="1200" kern="0">
                <a:solidFill>
                  <a:srgbClr val="000000"/>
                </a:solidFill>
                <a:latin typeface="IBM Plex Sans Medm" panose="020B0503050203000203" pitchFamily="34" charset="0"/>
              </a:rPr>
              <a:t>Manage</a:t>
            </a:r>
            <a:endParaRPr lang="en-US" sz="1400" kern="0">
              <a:solidFill>
                <a:srgbClr val="000000"/>
              </a:solidFill>
              <a:latin typeface="IBM Plex Sans Medm" panose="020B0503050203000203" pitchFamily="34" charset="0"/>
            </a:endParaRPr>
          </a:p>
          <a:p>
            <a:pPr defTabSz="1218727">
              <a:defRPr/>
            </a:pPr>
            <a:r>
              <a:rPr lang="en-US" sz="1000" kern="0">
                <a:solidFill>
                  <a:srgbClr val="000000"/>
                </a:solidFill>
                <a:latin typeface="IBM Plex Sans" panose="020B0503050203000203" pitchFamily="34" charset="0"/>
              </a:rPr>
              <a:t>Intelligent Asset Management</a:t>
            </a:r>
          </a:p>
        </p:txBody>
      </p:sp>
      <p:sp>
        <p:nvSpPr>
          <p:cNvPr id="1028" name="Text Placeholder 3">
            <a:extLst>
              <a:ext uri="{FF2B5EF4-FFF2-40B4-BE49-F238E27FC236}">
                <a16:creationId xmlns:a16="http://schemas.microsoft.com/office/drawing/2014/main" id="{3B8D6B23-AAF9-4D9B-9915-96C13A4EE5AC}"/>
              </a:ext>
            </a:extLst>
          </p:cNvPr>
          <p:cNvSpPr txBox="1">
            <a:spLocks/>
          </p:cNvSpPr>
          <p:nvPr/>
        </p:nvSpPr>
        <p:spPr>
          <a:xfrm>
            <a:off x="4465509" y="3730129"/>
            <a:ext cx="2213737" cy="637104"/>
          </a:xfrm>
          <a:prstGeom prst="rect">
            <a:avLst/>
          </a:prstGeom>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defTabSz="1218727">
              <a:defRPr/>
            </a:pPr>
            <a:r>
              <a:rPr lang="en-US" sz="1000" kern="0">
                <a:solidFill>
                  <a:srgbClr val="000000"/>
                </a:solidFill>
                <a:latin typeface="IBM Plex Sans Light"/>
              </a:rPr>
              <a:t>Manage </a:t>
            </a:r>
          </a:p>
          <a:p>
            <a:pPr defTabSz="1218727">
              <a:defRPr/>
            </a:pPr>
            <a:r>
              <a:rPr lang="en-US" sz="1100" kern="0">
                <a:solidFill>
                  <a:srgbClr val="000000"/>
                </a:solidFill>
                <a:latin typeface="IBM Plex Sans Medm" panose="020B0503050203000203" pitchFamily="34" charset="0"/>
              </a:rPr>
              <a:t>Reliability Strategies</a:t>
            </a:r>
          </a:p>
          <a:p>
            <a:pPr defTabSz="1218727">
              <a:defRPr/>
            </a:pPr>
            <a:endParaRPr lang="en-US" sz="1000" kern="0">
              <a:solidFill>
                <a:srgbClr val="000000"/>
              </a:solidFill>
              <a:latin typeface="IBM Plex Sans Light"/>
            </a:endParaRPr>
          </a:p>
        </p:txBody>
      </p:sp>
      <p:sp>
        <p:nvSpPr>
          <p:cNvPr id="1029" name="Text Placeholder 3">
            <a:extLst>
              <a:ext uri="{FF2B5EF4-FFF2-40B4-BE49-F238E27FC236}">
                <a16:creationId xmlns:a16="http://schemas.microsoft.com/office/drawing/2014/main" id="{1380B940-D689-3003-D00D-55F8FD840D96}"/>
              </a:ext>
            </a:extLst>
          </p:cNvPr>
          <p:cNvSpPr txBox="1">
            <a:spLocks/>
          </p:cNvSpPr>
          <p:nvPr/>
        </p:nvSpPr>
        <p:spPr>
          <a:xfrm>
            <a:off x="5476094" y="2469364"/>
            <a:ext cx="2213737" cy="637104"/>
          </a:xfrm>
          <a:prstGeom prst="rect">
            <a:avLst/>
          </a:prstGeom>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defTabSz="1218727">
              <a:defRPr/>
            </a:pPr>
            <a:r>
              <a:rPr lang="en-US" sz="1200" kern="0">
                <a:solidFill>
                  <a:srgbClr val="000000"/>
                </a:solidFill>
                <a:latin typeface="IBM Plex Sans Medm" panose="020B0503050203000203" pitchFamily="34" charset="0"/>
              </a:rPr>
              <a:t>Health</a:t>
            </a:r>
            <a:endParaRPr lang="en-US" sz="1400" kern="0">
              <a:solidFill>
                <a:srgbClr val="000000"/>
              </a:solidFill>
              <a:latin typeface="IBM Plex Sans Medm" panose="020B0503050203000203" pitchFamily="34" charset="0"/>
            </a:endParaRPr>
          </a:p>
          <a:p>
            <a:pPr defTabSz="1218727">
              <a:defRPr/>
            </a:pPr>
            <a:r>
              <a:rPr lang="en-US" sz="1000" kern="0">
                <a:solidFill>
                  <a:srgbClr val="000000"/>
                </a:solidFill>
                <a:latin typeface="IBM Plex Sans" panose="020B0503050203000203" pitchFamily="34" charset="0"/>
              </a:rPr>
              <a:t>360 View of Assets</a:t>
            </a:r>
          </a:p>
          <a:p>
            <a:pPr defTabSz="1218727">
              <a:defRPr/>
            </a:pPr>
            <a:endParaRPr lang="en-US" sz="1000" kern="0">
              <a:solidFill>
                <a:srgbClr val="000000"/>
              </a:solidFill>
              <a:latin typeface="IBM Plex Sans" panose="020B0503050203000203" pitchFamily="34" charset="0"/>
            </a:endParaRPr>
          </a:p>
        </p:txBody>
      </p:sp>
      <p:sp>
        <p:nvSpPr>
          <p:cNvPr id="1030" name="Text Placeholder 3">
            <a:extLst>
              <a:ext uri="{FF2B5EF4-FFF2-40B4-BE49-F238E27FC236}">
                <a16:creationId xmlns:a16="http://schemas.microsoft.com/office/drawing/2014/main" id="{E09EACB5-B483-A1B5-9AF5-B032786C8E81}"/>
              </a:ext>
            </a:extLst>
          </p:cNvPr>
          <p:cNvSpPr txBox="1">
            <a:spLocks/>
          </p:cNvSpPr>
          <p:nvPr/>
        </p:nvSpPr>
        <p:spPr>
          <a:xfrm>
            <a:off x="7870702" y="2389306"/>
            <a:ext cx="2213737" cy="637104"/>
          </a:xfrm>
          <a:prstGeom prst="rect">
            <a:avLst/>
          </a:prstGeom>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defTabSz="1218727">
              <a:defRPr/>
            </a:pPr>
            <a:r>
              <a:rPr lang="en-US" sz="1200" kern="0">
                <a:solidFill>
                  <a:srgbClr val="000000"/>
                </a:solidFill>
                <a:latin typeface="IBM Plex Sans Medm" panose="020B0503050203000203" pitchFamily="34" charset="0"/>
              </a:rPr>
              <a:t>Predict</a:t>
            </a:r>
            <a:endParaRPr lang="en-US" sz="1400" kern="0">
              <a:solidFill>
                <a:srgbClr val="000000"/>
              </a:solidFill>
              <a:latin typeface="IBM Plex Sans Medm" panose="020B0503050203000203" pitchFamily="34" charset="0"/>
            </a:endParaRPr>
          </a:p>
          <a:p>
            <a:pPr defTabSz="1218727">
              <a:defRPr/>
            </a:pPr>
            <a:r>
              <a:rPr lang="en-US" sz="1000" kern="0">
                <a:solidFill>
                  <a:srgbClr val="000000"/>
                </a:solidFill>
                <a:latin typeface="IBM Plex Sans" panose="020B0503050203000203" pitchFamily="34" charset="0"/>
              </a:rPr>
              <a:t>Predictive Failures</a:t>
            </a:r>
          </a:p>
        </p:txBody>
      </p:sp>
      <p:sp>
        <p:nvSpPr>
          <p:cNvPr id="1031" name="Text Placeholder 3">
            <a:extLst>
              <a:ext uri="{FF2B5EF4-FFF2-40B4-BE49-F238E27FC236}">
                <a16:creationId xmlns:a16="http://schemas.microsoft.com/office/drawing/2014/main" id="{73D798E6-2C14-4AE7-434A-3836A0BC5DA8}"/>
              </a:ext>
            </a:extLst>
          </p:cNvPr>
          <p:cNvSpPr txBox="1">
            <a:spLocks/>
          </p:cNvSpPr>
          <p:nvPr/>
        </p:nvSpPr>
        <p:spPr>
          <a:xfrm>
            <a:off x="10025528" y="2389306"/>
            <a:ext cx="2213737" cy="637104"/>
          </a:xfrm>
          <a:prstGeom prst="rect">
            <a:avLst/>
          </a:prstGeom>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defTabSz="1218727">
              <a:defRPr/>
            </a:pPr>
            <a:r>
              <a:rPr lang="en-US" sz="1200" kern="0">
                <a:solidFill>
                  <a:srgbClr val="000000"/>
                </a:solidFill>
                <a:latin typeface="IBM Plex Sans Medm" panose="020B0503050203000203" pitchFamily="34" charset="0"/>
              </a:rPr>
              <a:t>Visual Inspection</a:t>
            </a:r>
          </a:p>
          <a:p>
            <a:pPr defTabSz="1218727">
              <a:defRPr/>
            </a:pPr>
            <a:r>
              <a:rPr lang="en-US" sz="1000" kern="0">
                <a:solidFill>
                  <a:srgbClr val="000000"/>
                </a:solidFill>
                <a:latin typeface="IBM Plex Sans" panose="020B0503050203000203" pitchFamily="34" charset="0"/>
              </a:rPr>
              <a:t>AI-Powered Insights</a:t>
            </a:r>
          </a:p>
        </p:txBody>
      </p:sp>
      <p:cxnSp>
        <p:nvCxnSpPr>
          <p:cNvPr id="13" name="Straight Connector 12">
            <a:extLst>
              <a:ext uri="{FF2B5EF4-FFF2-40B4-BE49-F238E27FC236}">
                <a16:creationId xmlns:a16="http://schemas.microsoft.com/office/drawing/2014/main" id="{5B28F55A-0614-71DA-47A9-832F732AC599}"/>
              </a:ext>
            </a:extLst>
          </p:cNvPr>
          <p:cNvCxnSpPr>
            <a:cxnSpLocks/>
          </p:cNvCxnSpPr>
          <p:nvPr/>
        </p:nvCxnSpPr>
        <p:spPr bwMode="auto">
          <a:xfrm>
            <a:off x="3334036" y="5823391"/>
            <a:ext cx="8237186" cy="0"/>
          </a:xfrm>
          <a:prstGeom prst="line">
            <a:avLst/>
          </a:prstGeom>
          <a:ln w="19050">
            <a:solidFill>
              <a:schemeClr val="tx2"/>
            </a:solidFill>
            <a:headEnd type="oval" w="med" len="med"/>
            <a:tailEnd type="oval" w="med" len="med"/>
          </a:ln>
          <a:effectLst/>
        </p:spPr>
        <p:style>
          <a:lnRef idx="1">
            <a:schemeClr val="dk1"/>
          </a:lnRef>
          <a:fillRef idx="0">
            <a:schemeClr val="dk1"/>
          </a:fillRef>
          <a:effectRef idx="0">
            <a:schemeClr val="dk1"/>
          </a:effectRef>
          <a:fontRef idx="minor">
            <a:schemeClr val="tx1"/>
          </a:fontRef>
        </p:style>
      </p:cxnSp>
      <p:pic>
        <p:nvPicPr>
          <p:cNvPr id="15" name="Picture 14">
            <a:extLst>
              <a:ext uri="{FF2B5EF4-FFF2-40B4-BE49-F238E27FC236}">
                <a16:creationId xmlns:a16="http://schemas.microsoft.com/office/drawing/2014/main" id="{2543DFAA-2133-511B-8DBD-F0968A46A903}"/>
              </a:ext>
            </a:extLst>
          </p:cNvPr>
          <p:cNvPicPr>
            <a:picLocks noChangeAspect="1"/>
          </p:cNvPicPr>
          <p:nvPr/>
        </p:nvPicPr>
        <p:blipFill rotWithShape="1">
          <a:blip r:embed="rId5"/>
          <a:srcRect l="-5833" r="-5833"/>
          <a:stretch/>
        </p:blipFill>
        <p:spPr>
          <a:xfrm>
            <a:off x="7221327" y="5688245"/>
            <a:ext cx="778456" cy="237205"/>
          </a:xfrm>
          <a:prstGeom prst="rect">
            <a:avLst/>
          </a:prstGeom>
          <a:solidFill>
            <a:schemeClr val="bg1"/>
          </a:solidFill>
        </p:spPr>
      </p:pic>
      <p:grpSp>
        <p:nvGrpSpPr>
          <p:cNvPr id="1024" name="Group 1023">
            <a:extLst>
              <a:ext uri="{FF2B5EF4-FFF2-40B4-BE49-F238E27FC236}">
                <a16:creationId xmlns:a16="http://schemas.microsoft.com/office/drawing/2014/main" id="{22527056-77CB-A04E-FBA1-D5EBDF052089}"/>
              </a:ext>
            </a:extLst>
          </p:cNvPr>
          <p:cNvGrpSpPr/>
          <p:nvPr/>
        </p:nvGrpSpPr>
        <p:grpSpPr>
          <a:xfrm>
            <a:off x="2879176" y="6053992"/>
            <a:ext cx="9276007" cy="581951"/>
            <a:chOff x="6450866" y="10724115"/>
            <a:chExt cx="17815551" cy="1117700"/>
          </a:xfrm>
        </p:grpSpPr>
        <p:sp>
          <p:nvSpPr>
            <p:cNvPr id="4" name="Text Placeholder 2">
              <a:extLst>
                <a:ext uri="{FF2B5EF4-FFF2-40B4-BE49-F238E27FC236}">
                  <a16:creationId xmlns:a16="http://schemas.microsoft.com/office/drawing/2014/main" id="{0355BD30-957E-AD56-02C7-C0470648A8E7}"/>
                </a:ext>
              </a:extLst>
            </p:cNvPr>
            <p:cNvSpPr txBox="1">
              <a:spLocks/>
            </p:cNvSpPr>
            <p:nvPr/>
          </p:nvSpPr>
          <p:spPr>
            <a:xfrm>
              <a:off x="6450866" y="10724115"/>
              <a:ext cx="2147983" cy="488178"/>
            </a:xfrm>
            <a:prstGeom prst="rect">
              <a:avLst/>
            </a:prstGeom>
          </p:spPr>
          <p:txBody>
            <a:bodyPr vert="horz" lIns="0" tIns="0" rIns="0" bIns="0" rtlCol="0">
              <a:noAutofit/>
            </a:bodyPr>
            <a:lstStyle>
              <a:lvl1pPr marL="0" indent="0" algn="l" rtl="0" eaLnBrk="1" fontAlgn="base" hangingPunct="1">
                <a:lnSpc>
                  <a:spcPct val="100000"/>
                </a:lnSpc>
                <a:spcBef>
                  <a:spcPts val="1100"/>
                </a:spcBef>
                <a:spcAft>
                  <a:spcPct val="0"/>
                </a:spcAft>
                <a:buClr>
                  <a:srgbClr val="6D6E70"/>
                </a:buClr>
                <a:buSzPct val="90000"/>
                <a:buFont typeface="Wingdings" pitchFamily="2" charset="2"/>
                <a:buNone/>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1pPr>
              <a:lvl2pPr marL="171452" indent="-173736" algn="l" rtl="0" eaLnBrk="1" fontAlgn="base" hangingPunct="1">
                <a:lnSpc>
                  <a:spcPct val="100000"/>
                </a:lnSpc>
                <a:spcBef>
                  <a:spcPts val="1100"/>
                </a:spcBef>
                <a:spcAft>
                  <a:spcPct val="0"/>
                </a:spcAft>
                <a:buClr>
                  <a:schemeClr val="bg1"/>
                </a:buClr>
                <a:buSzPct val="100000"/>
                <a:buFont typeface="IBM Plex Sans" charset="-120"/>
                <a:buChar char="–"/>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2pPr>
              <a:lvl3pPr marL="342905" indent="-173736" algn="l" rtl="0" eaLnBrk="1" fontAlgn="base" hangingPunct="1">
                <a:lnSpc>
                  <a:spcPct val="100000"/>
                </a:lnSpc>
                <a:spcBef>
                  <a:spcPts val="1100"/>
                </a:spcBef>
                <a:spcAft>
                  <a:spcPct val="0"/>
                </a:spcAft>
                <a:buClr>
                  <a:schemeClr val="bg1"/>
                </a:buClr>
                <a:buSzPct val="100000"/>
                <a:buFont typeface="IBM Plex Sans" panose="020B0604020202020204" pitchFamily="34" charset="0"/>
                <a:buChar char="•"/>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3pPr>
              <a:lvl4pPr marL="628658" indent="-173736" algn="l" rtl="0" eaLnBrk="1" fontAlgn="base" hangingPunct="1">
                <a:lnSpc>
                  <a:spcPct val="100000"/>
                </a:lnSpc>
                <a:spcBef>
                  <a:spcPts val="1100"/>
                </a:spcBef>
                <a:spcAft>
                  <a:spcPct val="0"/>
                </a:spcAft>
                <a:buClr>
                  <a:schemeClr val="bg1"/>
                </a:buClr>
                <a:buSzPct val="100000"/>
                <a:buFont typeface="IBM Plex Sans" charset="-120"/>
                <a:buChar char="–"/>
                <a:tabLst/>
                <a:defRPr sz="1400" baseline="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4pPr>
              <a:lvl5pPr marL="803285" indent="-173736" algn="l" rtl="0" eaLnBrk="1" fontAlgn="base" hangingPunct="1">
                <a:lnSpc>
                  <a:spcPct val="100000"/>
                </a:lnSpc>
                <a:spcBef>
                  <a:spcPts val="1100"/>
                </a:spcBef>
                <a:spcAft>
                  <a:spcPct val="0"/>
                </a:spcAft>
                <a:buClr>
                  <a:schemeClr val="bg1"/>
                </a:buClr>
                <a:buFont typeface="IBM Plex Sans" charset="-120"/>
                <a:buChar char="»"/>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5pPr>
              <a:lvl6pPr marL="1583721" indent="-129670" algn="l" rtl="0" eaLnBrk="1" fontAlgn="base" hangingPunct="1">
                <a:spcBef>
                  <a:spcPct val="20000"/>
                </a:spcBef>
                <a:spcAft>
                  <a:spcPct val="0"/>
                </a:spcAft>
                <a:buClr>
                  <a:schemeClr val="bg1"/>
                </a:buClr>
                <a:buChar char="»"/>
                <a:defRPr sz="1269">
                  <a:solidFill>
                    <a:schemeClr val="bg1"/>
                  </a:solidFill>
                  <a:latin typeface="IBM Plex Sans" charset="0"/>
                </a:defRPr>
              </a:lvl6pPr>
              <a:lvl7pPr marL="1946291" indent="-129670" algn="l" rtl="0" eaLnBrk="1" fontAlgn="base" hangingPunct="1">
                <a:spcBef>
                  <a:spcPct val="20000"/>
                </a:spcBef>
                <a:spcAft>
                  <a:spcPct val="0"/>
                </a:spcAft>
                <a:buClr>
                  <a:schemeClr val="bg1"/>
                </a:buClr>
                <a:buChar char="»"/>
                <a:defRPr sz="1269">
                  <a:solidFill>
                    <a:schemeClr val="bg1"/>
                  </a:solidFill>
                  <a:latin typeface="IBM Plex Sans" charset="0"/>
                </a:defRPr>
              </a:lvl7pPr>
              <a:lvl8pPr marL="2308860" indent="-129670" algn="l" rtl="0" eaLnBrk="1" fontAlgn="base" hangingPunct="1">
                <a:spcBef>
                  <a:spcPct val="20000"/>
                </a:spcBef>
                <a:spcAft>
                  <a:spcPct val="0"/>
                </a:spcAft>
                <a:buClr>
                  <a:schemeClr val="bg1"/>
                </a:buClr>
                <a:buChar char="»"/>
                <a:defRPr sz="1269">
                  <a:solidFill>
                    <a:schemeClr val="bg1"/>
                  </a:solidFill>
                  <a:latin typeface="IBM Plex Sans" charset="0"/>
                </a:defRPr>
              </a:lvl8pPr>
              <a:lvl9pPr marL="2671430" indent="-129670" algn="l" rtl="0" eaLnBrk="1" fontAlgn="base" hangingPunct="1">
                <a:spcBef>
                  <a:spcPct val="20000"/>
                </a:spcBef>
                <a:spcAft>
                  <a:spcPct val="0"/>
                </a:spcAft>
                <a:buClr>
                  <a:schemeClr val="bg1"/>
                </a:buClr>
                <a:buChar char="»"/>
                <a:defRPr sz="1269">
                  <a:solidFill>
                    <a:schemeClr val="bg1"/>
                  </a:solidFill>
                  <a:latin typeface="IBM Plex Sans" charset="0"/>
                </a:defRPr>
              </a:lvl9pPr>
            </a:lstStyle>
            <a:p>
              <a:pPr marL="0" lvl="1" indent="0" algn="ctr" defTabSz="1624870">
                <a:spcBef>
                  <a:spcPts val="1956"/>
                </a:spcBef>
                <a:buClr>
                  <a:srgbClr val="FFFFFF"/>
                </a:buClr>
                <a:buNone/>
                <a:defRPr/>
              </a:pPr>
              <a:r>
                <a:rPr lang="en-US" sz="1000" kern="0">
                  <a:solidFill>
                    <a:srgbClr val="000000"/>
                  </a:solidFill>
                </a:rPr>
                <a:t>IBM Cloud</a:t>
              </a:r>
            </a:p>
          </p:txBody>
        </p:sp>
        <p:sp>
          <p:nvSpPr>
            <p:cNvPr id="5" name="Text Placeholder 2">
              <a:extLst>
                <a:ext uri="{FF2B5EF4-FFF2-40B4-BE49-F238E27FC236}">
                  <a16:creationId xmlns:a16="http://schemas.microsoft.com/office/drawing/2014/main" id="{FA8C94E1-E7E6-AB69-B7F4-02DF3BCB46BB}"/>
                </a:ext>
              </a:extLst>
            </p:cNvPr>
            <p:cNvSpPr txBox="1">
              <a:spLocks/>
            </p:cNvSpPr>
            <p:nvPr/>
          </p:nvSpPr>
          <p:spPr>
            <a:xfrm>
              <a:off x="8803036" y="10724115"/>
              <a:ext cx="2147983" cy="488178"/>
            </a:xfrm>
            <a:prstGeom prst="rect">
              <a:avLst/>
            </a:prstGeom>
          </p:spPr>
          <p:txBody>
            <a:bodyPr vert="horz" lIns="0" tIns="0" rIns="0" bIns="0" rtlCol="0">
              <a:noAutofit/>
            </a:bodyPr>
            <a:lstStyle>
              <a:lvl1pPr marL="0" indent="0" algn="l" rtl="0" eaLnBrk="1" fontAlgn="base" hangingPunct="1">
                <a:lnSpc>
                  <a:spcPct val="100000"/>
                </a:lnSpc>
                <a:spcBef>
                  <a:spcPts val="1100"/>
                </a:spcBef>
                <a:spcAft>
                  <a:spcPct val="0"/>
                </a:spcAft>
                <a:buClr>
                  <a:srgbClr val="6D6E70"/>
                </a:buClr>
                <a:buSzPct val="90000"/>
                <a:buFont typeface="Wingdings" pitchFamily="2" charset="2"/>
                <a:buNone/>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1pPr>
              <a:lvl2pPr marL="171452" indent="-173736" algn="l" rtl="0" eaLnBrk="1" fontAlgn="base" hangingPunct="1">
                <a:lnSpc>
                  <a:spcPct val="100000"/>
                </a:lnSpc>
                <a:spcBef>
                  <a:spcPts val="1100"/>
                </a:spcBef>
                <a:spcAft>
                  <a:spcPct val="0"/>
                </a:spcAft>
                <a:buClr>
                  <a:schemeClr val="bg1"/>
                </a:buClr>
                <a:buSzPct val="100000"/>
                <a:buFont typeface="IBM Plex Sans" charset="-120"/>
                <a:buChar char="–"/>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2pPr>
              <a:lvl3pPr marL="342905" indent="-173736" algn="l" rtl="0" eaLnBrk="1" fontAlgn="base" hangingPunct="1">
                <a:lnSpc>
                  <a:spcPct val="100000"/>
                </a:lnSpc>
                <a:spcBef>
                  <a:spcPts val="1100"/>
                </a:spcBef>
                <a:spcAft>
                  <a:spcPct val="0"/>
                </a:spcAft>
                <a:buClr>
                  <a:schemeClr val="bg1"/>
                </a:buClr>
                <a:buSzPct val="100000"/>
                <a:buFont typeface="IBM Plex Sans" panose="020B0604020202020204" pitchFamily="34" charset="0"/>
                <a:buChar char="•"/>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3pPr>
              <a:lvl4pPr marL="628658" indent="-173736" algn="l" rtl="0" eaLnBrk="1" fontAlgn="base" hangingPunct="1">
                <a:lnSpc>
                  <a:spcPct val="100000"/>
                </a:lnSpc>
                <a:spcBef>
                  <a:spcPts val="1100"/>
                </a:spcBef>
                <a:spcAft>
                  <a:spcPct val="0"/>
                </a:spcAft>
                <a:buClr>
                  <a:schemeClr val="bg1"/>
                </a:buClr>
                <a:buSzPct val="100000"/>
                <a:buFont typeface="IBM Plex Sans" charset="-120"/>
                <a:buChar char="–"/>
                <a:tabLst/>
                <a:defRPr sz="1400" baseline="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4pPr>
              <a:lvl5pPr marL="803285" indent="-173736" algn="l" rtl="0" eaLnBrk="1" fontAlgn="base" hangingPunct="1">
                <a:lnSpc>
                  <a:spcPct val="100000"/>
                </a:lnSpc>
                <a:spcBef>
                  <a:spcPts val="1100"/>
                </a:spcBef>
                <a:spcAft>
                  <a:spcPct val="0"/>
                </a:spcAft>
                <a:buClr>
                  <a:schemeClr val="bg1"/>
                </a:buClr>
                <a:buFont typeface="IBM Plex Sans" charset="-120"/>
                <a:buChar char="»"/>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5pPr>
              <a:lvl6pPr marL="1583721" indent="-129670" algn="l" rtl="0" eaLnBrk="1" fontAlgn="base" hangingPunct="1">
                <a:spcBef>
                  <a:spcPct val="20000"/>
                </a:spcBef>
                <a:spcAft>
                  <a:spcPct val="0"/>
                </a:spcAft>
                <a:buClr>
                  <a:schemeClr val="bg1"/>
                </a:buClr>
                <a:buChar char="»"/>
                <a:defRPr sz="1269">
                  <a:solidFill>
                    <a:schemeClr val="bg1"/>
                  </a:solidFill>
                  <a:latin typeface="IBM Plex Sans" charset="0"/>
                </a:defRPr>
              </a:lvl6pPr>
              <a:lvl7pPr marL="1946291" indent="-129670" algn="l" rtl="0" eaLnBrk="1" fontAlgn="base" hangingPunct="1">
                <a:spcBef>
                  <a:spcPct val="20000"/>
                </a:spcBef>
                <a:spcAft>
                  <a:spcPct val="0"/>
                </a:spcAft>
                <a:buClr>
                  <a:schemeClr val="bg1"/>
                </a:buClr>
                <a:buChar char="»"/>
                <a:defRPr sz="1269">
                  <a:solidFill>
                    <a:schemeClr val="bg1"/>
                  </a:solidFill>
                  <a:latin typeface="IBM Plex Sans" charset="0"/>
                </a:defRPr>
              </a:lvl7pPr>
              <a:lvl8pPr marL="2308860" indent="-129670" algn="l" rtl="0" eaLnBrk="1" fontAlgn="base" hangingPunct="1">
                <a:spcBef>
                  <a:spcPct val="20000"/>
                </a:spcBef>
                <a:spcAft>
                  <a:spcPct val="0"/>
                </a:spcAft>
                <a:buClr>
                  <a:schemeClr val="bg1"/>
                </a:buClr>
                <a:buChar char="»"/>
                <a:defRPr sz="1269">
                  <a:solidFill>
                    <a:schemeClr val="bg1"/>
                  </a:solidFill>
                  <a:latin typeface="IBM Plex Sans" charset="0"/>
                </a:defRPr>
              </a:lvl8pPr>
              <a:lvl9pPr marL="2671430" indent="-129670" algn="l" rtl="0" eaLnBrk="1" fontAlgn="base" hangingPunct="1">
                <a:spcBef>
                  <a:spcPct val="20000"/>
                </a:spcBef>
                <a:spcAft>
                  <a:spcPct val="0"/>
                </a:spcAft>
                <a:buClr>
                  <a:schemeClr val="bg1"/>
                </a:buClr>
                <a:buChar char="»"/>
                <a:defRPr sz="1269">
                  <a:solidFill>
                    <a:schemeClr val="bg1"/>
                  </a:solidFill>
                  <a:latin typeface="IBM Plex Sans" charset="0"/>
                </a:defRPr>
              </a:lvl9pPr>
            </a:lstStyle>
            <a:p>
              <a:pPr marL="0" lvl="1" indent="0" algn="ctr" defTabSz="1624870">
                <a:spcBef>
                  <a:spcPts val="1956"/>
                </a:spcBef>
                <a:buClr>
                  <a:srgbClr val="FFFFFF"/>
                </a:buClr>
                <a:buNone/>
                <a:defRPr/>
              </a:pPr>
              <a:r>
                <a:rPr lang="en-US" sz="1000" kern="0">
                  <a:solidFill>
                    <a:srgbClr val="000000"/>
                  </a:solidFill>
                </a:rPr>
                <a:t>AWS</a:t>
              </a:r>
            </a:p>
          </p:txBody>
        </p:sp>
        <p:sp>
          <p:nvSpPr>
            <p:cNvPr id="6" name="Text Placeholder 2">
              <a:extLst>
                <a:ext uri="{FF2B5EF4-FFF2-40B4-BE49-F238E27FC236}">
                  <a16:creationId xmlns:a16="http://schemas.microsoft.com/office/drawing/2014/main" id="{9861828B-7739-98EE-AAEC-DF9E793F245C}"/>
                </a:ext>
              </a:extLst>
            </p:cNvPr>
            <p:cNvSpPr txBox="1">
              <a:spLocks/>
            </p:cNvSpPr>
            <p:nvPr/>
          </p:nvSpPr>
          <p:spPr>
            <a:xfrm>
              <a:off x="11200868" y="10724115"/>
              <a:ext cx="2147983" cy="488178"/>
            </a:xfrm>
            <a:prstGeom prst="rect">
              <a:avLst/>
            </a:prstGeom>
          </p:spPr>
          <p:txBody>
            <a:bodyPr vert="horz" lIns="0" tIns="0" rIns="0" bIns="0" rtlCol="0">
              <a:noAutofit/>
            </a:bodyPr>
            <a:lstStyle>
              <a:lvl1pPr marL="0" indent="0" algn="l" rtl="0" eaLnBrk="1" fontAlgn="base" hangingPunct="1">
                <a:lnSpc>
                  <a:spcPct val="100000"/>
                </a:lnSpc>
                <a:spcBef>
                  <a:spcPts val="1100"/>
                </a:spcBef>
                <a:spcAft>
                  <a:spcPct val="0"/>
                </a:spcAft>
                <a:buClr>
                  <a:srgbClr val="6D6E70"/>
                </a:buClr>
                <a:buSzPct val="90000"/>
                <a:buFont typeface="Wingdings" pitchFamily="2" charset="2"/>
                <a:buNone/>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1pPr>
              <a:lvl2pPr marL="171452" indent="-173736" algn="l" rtl="0" eaLnBrk="1" fontAlgn="base" hangingPunct="1">
                <a:lnSpc>
                  <a:spcPct val="100000"/>
                </a:lnSpc>
                <a:spcBef>
                  <a:spcPts val="1100"/>
                </a:spcBef>
                <a:spcAft>
                  <a:spcPct val="0"/>
                </a:spcAft>
                <a:buClr>
                  <a:schemeClr val="bg1"/>
                </a:buClr>
                <a:buSzPct val="100000"/>
                <a:buFont typeface="IBM Plex Sans" charset="-120"/>
                <a:buChar char="–"/>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2pPr>
              <a:lvl3pPr marL="342905" indent="-173736" algn="l" rtl="0" eaLnBrk="1" fontAlgn="base" hangingPunct="1">
                <a:lnSpc>
                  <a:spcPct val="100000"/>
                </a:lnSpc>
                <a:spcBef>
                  <a:spcPts val="1100"/>
                </a:spcBef>
                <a:spcAft>
                  <a:spcPct val="0"/>
                </a:spcAft>
                <a:buClr>
                  <a:schemeClr val="bg1"/>
                </a:buClr>
                <a:buSzPct val="100000"/>
                <a:buFont typeface="IBM Plex Sans" panose="020B0604020202020204" pitchFamily="34" charset="0"/>
                <a:buChar char="•"/>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3pPr>
              <a:lvl4pPr marL="628658" indent="-173736" algn="l" rtl="0" eaLnBrk="1" fontAlgn="base" hangingPunct="1">
                <a:lnSpc>
                  <a:spcPct val="100000"/>
                </a:lnSpc>
                <a:spcBef>
                  <a:spcPts val="1100"/>
                </a:spcBef>
                <a:spcAft>
                  <a:spcPct val="0"/>
                </a:spcAft>
                <a:buClr>
                  <a:schemeClr val="bg1"/>
                </a:buClr>
                <a:buSzPct val="100000"/>
                <a:buFont typeface="IBM Plex Sans" charset="-120"/>
                <a:buChar char="–"/>
                <a:tabLst/>
                <a:defRPr sz="1400" baseline="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4pPr>
              <a:lvl5pPr marL="803285" indent="-173736" algn="l" rtl="0" eaLnBrk="1" fontAlgn="base" hangingPunct="1">
                <a:lnSpc>
                  <a:spcPct val="100000"/>
                </a:lnSpc>
                <a:spcBef>
                  <a:spcPts val="1100"/>
                </a:spcBef>
                <a:spcAft>
                  <a:spcPct val="0"/>
                </a:spcAft>
                <a:buClr>
                  <a:schemeClr val="bg1"/>
                </a:buClr>
                <a:buFont typeface="IBM Plex Sans" charset="-120"/>
                <a:buChar char="»"/>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5pPr>
              <a:lvl6pPr marL="1583721" indent="-129670" algn="l" rtl="0" eaLnBrk="1" fontAlgn="base" hangingPunct="1">
                <a:spcBef>
                  <a:spcPct val="20000"/>
                </a:spcBef>
                <a:spcAft>
                  <a:spcPct val="0"/>
                </a:spcAft>
                <a:buClr>
                  <a:schemeClr val="bg1"/>
                </a:buClr>
                <a:buChar char="»"/>
                <a:defRPr sz="1269">
                  <a:solidFill>
                    <a:schemeClr val="bg1"/>
                  </a:solidFill>
                  <a:latin typeface="IBM Plex Sans" charset="0"/>
                </a:defRPr>
              </a:lvl6pPr>
              <a:lvl7pPr marL="1946291" indent="-129670" algn="l" rtl="0" eaLnBrk="1" fontAlgn="base" hangingPunct="1">
                <a:spcBef>
                  <a:spcPct val="20000"/>
                </a:spcBef>
                <a:spcAft>
                  <a:spcPct val="0"/>
                </a:spcAft>
                <a:buClr>
                  <a:schemeClr val="bg1"/>
                </a:buClr>
                <a:buChar char="»"/>
                <a:defRPr sz="1269">
                  <a:solidFill>
                    <a:schemeClr val="bg1"/>
                  </a:solidFill>
                  <a:latin typeface="IBM Plex Sans" charset="0"/>
                </a:defRPr>
              </a:lvl7pPr>
              <a:lvl8pPr marL="2308860" indent="-129670" algn="l" rtl="0" eaLnBrk="1" fontAlgn="base" hangingPunct="1">
                <a:spcBef>
                  <a:spcPct val="20000"/>
                </a:spcBef>
                <a:spcAft>
                  <a:spcPct val="0"/>
                </a:spcAft>
                <a:buClr>
                  <a:schemeClr val="bg1"/>
                </a:buClr>
                <a:buChar char="»"/>
                <a:defRPr sz="1269">
                  <a:solidFill>
                    <a:schemeClr val="bg1"/>
                  </a:solidFill>
                  <a:latin typeface="IBM Plex Sans" charset="0"/>
                </a:defRPr>
              </a:lvl8pPr>
              <a:lvl9pPr marL="2671430" indent="-129670" algn="l" rtl="0" eaLnBrk="1" fontAlgn="base" hangingPunct="1">
                <a:spcBef>
                  <a:spcPct val="20000"/>
                </a:spcBef>
                <a:spcAft>
                  <a:spcPct val="0"/>
                </a:spcAft>
                <a:buClr>
                  <a:schemeClr val="bg1"/>
                </a:buClr>
                <a:buChar char="»"/>
                <a:defRPr sz="1269">
                  <a:solidFill>
                    <a:schemeClr val="bg1"/>
                  </a:solidFill>
                  <a:latin typeface="IBM Plex Sans" charset="0"/>
                </a:defRPr>
              </a:lvl9pPr>
            </a:lstStyle>
            <a:p>
              <a:pPr marL="0" lvl="1" indent="0" algn="ctr" defTabSz="1624870">
                <a:spcBef>
                  <a:spcPts val="1956"/>
                </a:spcBef>
                <a:buClr>
                  <a:srgbClr val="FFFFFF"/>
                </a:buClr>
                <a:buNone/>
                <a:defRPr/>
              </a:pPr>
              <a:r>
                <a:rPr lang="en-US" sz="1000" kern="0">
                  <a:solidFill>
                    <a:srgbClr val="000000"/>
                  </a:solidFill>
                </a:rPr>
                <a:t>Azure</a:t>
              </a:r>
            </a:p>
          </p:txBody>
        </p:sp>
        <p:sp>
          <p:nvSpPr>
            <p:cNvPr id="7" name="Text Placeholder 2">
              <a:extLst>
                <a:ext uri="{FF2B5EF4-FFF2-40B4-BE49-F238E27FC236}">
                  <a16:creationId xmlns:a16="http://schemas.microsoft.com/office/drawing/2014/main" id="{F5AC3239-E7BA-71CD-FC59-9D0A9F20E686}"/>
                </a:ext>
              </a:extLst>
            </p:cNvPr>
            <p:cNvSpPr txBox="1">
              <a:spLocks/>
            </p:cNvSpPr>
            <p:nvPr/>
          </p:nvSpPr>
          <p:spPr>
            <a:xfrm>
              <a:off x="13851729" y="10724115"/>
              <a:ext cx="2147983" cy="488178"/>
            </a:xfrm>
            <a:prstGeom prst="rect">
              <a:avLst/>
            </a:prstGeom>
          </p:spPr>
          <p:txBody>
            <a:bodyPr vert="horz" lIns="0" tIns="0" rIns="0" bIns="0" rtlCol="0">
              <a:noAutofit/>
            </a:bodyPr>
            <a:lstStyle>
              <a:lvl1pPr marL="0" indent="0" algn="l" rtl="0" eaLnBrk="1" fontAlgn="base" hangingPunct="1">
                <a:lnSpc>
                  <a:spcPct val="100000"/>
                </a:lnSpc>
                <a:spcBef>
                  <a:spcPts val="1100"/>
                </a:spcBef>
                <a:spcAft>
                  <a:spcPct val="0"/>
                </a:spcAft>
                <a:buClr>
                  <a:srgbClr val="6D6E70"/>
                </a:buClr>
                <a:buSzPct val="90000"/>
                <a:buFont typeface="Wingdings" pitchFamily="2" charset="2"/>
                <a:buNone/>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1pPr>
              <a:lvl2pPr marL="171452" indent="-173736" algn="l" rtl="0" eaLnBrk="1" fontAlgn="base" hangingPunct="1">
                <a:lnSpc>
                  <a:spcPct val="100000"/>
                </a:lnSpc>
                <a:spcBef>
                  <a:spcPts val="1100"/>
                </a:spcBef>
                <a:spcAft>
                  <a:spcPct val="0"/>
                </a:spcAft>
                <a:buClr>
                  <a:schemeClr val="bg1"/>
                </a:buClr>
                <a:buSzPct val="100000"/>
                <a:buFont typeface="IBM Plex Sans" charset="-120"/>
                <a:buChar char="–"/>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2pPr>
              <a:lvl3pPr marL="342905" indent="-173736" algn="l" rtl="0" eaLnBrk="1" fontAlgn="base" hangingPunct="1">
                <a:lnSpc>
                  <a:spcPct val="100000"/>
                </a:lnSpc>
                <a:spcBef>
                  <a:spcPts val="1100"/>
                </a:spcBef>
                <a:spcAft>
                  <a:spcPct val="0"/>
                </a:spcAft>
                <a:buClr>
                  <a:schemeClr val="bg1"/>
                </a:buClr>
                <a:buSzPct val="100000"/>
                <a:buFont typeface="IBM Plex Sans" panose="020B0604020202020204" pitchFamily="34" charset="0"/>
                <a:buChar char="•"/>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3pPr>
              <a:lvl4pPr marL="628658" indent="-173736" algn="l" rtl="0" eaLnBrk="1" fontAlgn="base" hangingPunct="1">
                <a:lnSpc>
                  <a:spcPct val="100000"/>
                </a:lnSpc>
                <a:spcBef>
                  <a:spcPts val="1100"/>
                </a:spcBef>
                <a:spcAft>
                  <a:spcPct val="0"/>
                </a:spcAft>
                <a:buClr>
                  <a:schemeClr val="bg1"/>
                </a:buClr>
                <a:buSzPct val="100000"/>
                <a:buFont typeface="IBM Plex Sans" charset="-120"/>
                <a:buChar char="–"/>
                <a:tabLst/>
                <a:defRPr sz="1400" baseline="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4pPr>
              <a:lvl5pPr marL="803285" indent="-173736" algn="l" rtl="0" eaLnBrk="1" fontAlgn="base" hangingPunct="1">
                <a:lnSpc>
                  <a:spcPct val="100000"/>
                </a:lnSpc>
                <a:spcBef>
                  <a:spcPts val="1100"/>
                </a:spcBef>
                <a:spcAft>
                  <a:spcPct val="0"/>
                </a:spcAft>
                <a:buClr>
                  <a:schemeClr val="bg1"/>
                </a:buClr>
                <a:buFont typeface="IBM Plex Sans" charset="-120"/>
                <a:buChar char="»"/>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5pPr>
              <a:lvl6pPr marL="1583721" indent="-129670" algn="l" rtl="0" eaLnBrk="1" fontAlgn="base" hangingPunct="1">
                <a:spcBef>
                  <a:spcPct val="20000"/>
                </a:spcBef>
                <a:spcAft>
                  <a:spcPct val="0"/>
                </a:spcAft>
                <a:buClr>
                  <a:schemeClr val="bg1"/>
                </a:buClr>
                <a:buChar char="»"/>
                <a:defRPr sz="1269">
                  <a:solidFill>
                    <a:schemeClr val="bg1"/>
                  </a:solidFill>
                  <a:latin typeface="IBM Plex Sans" charset="0"/>
                </a:defRPr>
              </a:lvl6pPr>
              <a:lvl7pPr marL="1946291" indent="-129670" algn="l" rtl="0" eaLnBrk="1" fontAlgn="base" hangingPunct="1">
                <a:spcBef>
                  <a:spcPct val="20000"/>
                </a:spcBef>
                <a:spcAft>
                  <a:spcPct val="0"/>
                </a:spcAft>
                <a:buClr>
                  <a:schemeClr val="bg1"/>
                </a:buClr>
                <a:buChar char="»"/>
                <a:defRPr sz="1269">
                  <a:solidFill>
                    <a:schemeClr val="bg1"/>
                  </a:solidFill>
                  <a:latin typeface="IBM Plex Sans" charset="0"/>
                </a:defRPr>
              </a:lvl7pPr>
              <a:lvl8pPr marL="2308860" indent="-129670" algn="l" rtl="0" eaLnBrk="1" fontAlgn="base" hangingPunct="1">
                <a:spcBef>
                  <a:spcPct val="20000"/>
                </a:spcBef>
                <a:spcAft>
                  <a:spcPct val="0"/>
                </a:spcAft>
                <a:buClr>
                  <a:schemeClr val="bg1"/>
                </a:buClr>
                <a:buChar char="»"/>
                <a:defRPr sz="1269">
                  <a:solidFill>
                    <a:schemeClr val="bg1"/>
                  </a:solidFill>
                  <a:latin typeface="IBM Plex Sans" charset="0"/>
                </a:defRPr>
              </a:lvl8pPr>
              <a:lvl9pPr marL="2671430" indent="-129670" algn="l" rtl="0" eaLnBrk="1" fontAlgn="base" hangingPunct="1">
                <a:spcBef>
                  <a:spcPct val="20000"/>
                </a:spcBef>
                <a:spcAft>
                  <a:spcPct val="0"/>
                </a:spcAft>
                <a:buClr>
                  <a:schemeClr val="bg1"/>
                </a:buClr>
                <a:buChar char="»"/>
                <a:defRPr sz="1269">
                  <a:solidFill>
                    <a:schemeClr val="bg1"/>
                  </a:solidFill>
                  <a:latin typeface="IBM Plex Sans" charset="0"/>
                </a:defRPr>
              </a:lvl9pPr>
            </a:lstStyle>
            <a:p>
              <a:pPr marL="0" lvl="1" indent="0" algn="ctr" defTabSz="1624870">
                <a:spcBef>
                  <a:spcPts val="1956"/>
                </a:spcBef>
                <a:buClr>
                  <a:srgbClr val="FFFFFF"/>
                </a:buClr>
                <a:buNone/>
                <a:defRPr/>
              </a:pPr>
              <a:r>
                <a:rPr lang="en-US" sz="1000" kern="0">
                  <a:solidFill>
                    <a:srgbClr val="000000"/>
                  </a:solidFill>
                </a:rPr>
                <a:t>Google Cloud</a:t>
              </a:r>
            </a:p>
          </p:txBody>
        </p:sp>
        <p:sp>
          <p:nvSpPr>
            <p:cNvPr id="9" name="Text Placeholder 2">
              <a:extLst>
                <a:ext uri="{FF2B5EF4-FFF2-40B4-BE49-F238E27FC236}">
                  <a16:creationId xmlns:a16="http://schemas.microsoft.com/office/drawing/2014/main" id="{2B4C9EC5-BBB1-7F34-8E96-ED8FC420D9BD}"/>
                </a:ext>
              </a:extLst>
            </p:cNvPr>
            <p:cNvSpPr txBox="1">
              <a:spLocks/>
            </p:cNvSpPr>
            <p:nvPr/>
          </p:nvSpPr>
          <p:spPr>
            <a:xfrm>
              <a:off x="19251833" y="10724115"/>
              <a:ext cx="2147983" cy="488178"/>
            </a:xfrm>
            <a:prstGeom prst="rect">
              <a:avLst/>
            </a:prstGeom>
          </p:spPr>
          <p:txBody>
            <a:bodyPr vert="horz" lIns="0" tIns="0" rIns="0" bIns="0" rtlCol="0">
              <a:noAutofit/>
            </a:bodyPr>
            <a:lstStyle>
              <a:lvl1pPr marL="0" indent="0" algn="l" rtl="0" eaLnBrk="1" fontAlgn="base" hangingPunct="1">
                <a:lnSpc>
                  <a:spcPct val="100000"/>
                </a:lnSpc>
                <a:spcBef>
                  <a:spcPts val="1100"/>
                </a:spcBef>
                <a:spcAft>
                  <a:spcPct val="0"/>
                </a:spcAft>
                <a:buClr>
                  <a:srgbClr val="6D6E70"/>
                </a:buClr>
                <a:buSzPct val="90000"/>
                <a:buFont typeface="Wingdings" pitchFamily="2" charset="2"/>
                <a:buNone/>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1pPr>
              <a:lvl2pPr marL="171452" indent="-173736" algn="l" rtl="0" eaLnBrk="1" fontAlgn="base" hangingPunct="1">
                <a:lnSpc>
                  <a:spcPct val="100000"/>
                </a:lnSpc>
                <a:spcBef>
                  <a:spcPts val="1100"/>
                </a:spcBef>
                <a:spcAft>
                  <a:spcPct val="0"/>
                </a:spcAft>
                <a:buClr>
                  <a:schemeClr val="bg1"/>
                </a:buClr>
                <a:buSzPct val="100000"/>
                <a:buFont typeface="IBM Plex Sans" charset="-120"/>
                <a:buChar char="–"/>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2pPr>
              <a:lvl3pPr marL="342905" indent="-173736" algn="l" rtl="0" eaLnBrk="1" fontAlgn="base" hangingPunct="1">
                <a:lnSpc>
                  <a:spcPct val="100000"/>
                </a:lnSpc>
                <a:spcBef>
                  <a:spcPts val="1100"/>
                </a:spcBef>
                <a:spcAft>
                  <a:spcPct val="0"/>
                </a:spcAft>
                <a:buClr>
                  <a:schemeClr val="bg1"/>
                </a:buClr>
                <a:buSzPct val="100000"/>
                <a:buFont typeface="IBM Plex Sans" panose="020B0604020202020204" pitchFamily="34" charset="0"/>
                <a:buChar char="•"/>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3pPr>
              <a:lvl4pPr marL="628658" indent="-173736" algn="l" rtl="0" eaLnBrk="1" fontAlgn="base" hangingPunct="1">
                <a:lnSpc>
                  <a:spcPct val="100000"/>
                </a:lnSpc>
                <a:spcBef>
                  <a:spcPts val="1100"/>
                </a:spcBef>
                <a:spcAft>
                  <a:spcPct val="0"/>
                </a:spcAft>
                <a:buClr>
                  <a:schemeClr val="bg1"/>
                </a:buClr>
                <a:buSzPct val="100000"/>
                <a:buFont typeface="IBM Plex Sans" charset="-120"/>
                <a:buChar char="–"/>
                <a:tabLst/>
                <a:defRPr sz="1400" baseline="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4pPr>
              <a:lvl5pPr marL="803285" indent="-173736" algn="l" rtl="0" eaLnBrk="1" fontAlgn="base" hangingPunct="1">
                <a:lnSpc>
                  <a:spcPct val="100000"/>
                </a:lnSpc>
                <a:spcBef>
                  <a:spcPts val="1100"/>
                </a:spcBef>
                <a:spcAft>
                  <a:spcPct val="0"/>
                </a:spcAft>
                <a:buClr>
                  <a:schemeClr val="bg1"/>
                </a:buClr>
                <a:buFont typeface="IBM Plex Sans" charset="-120"/>
                <a:buChar char="»"/>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5pPr>
              <a:lvl6pPr marL="1583721" indent="-129670" algn="l" rtl="0" eaLnBrk="1" fontAlgn="base" hangingPunct="1">
                <a:spcBef>
                  <a:spcPct val="20000"/>
                </a:spcBef>
                <a:spcAft>
                  <a:spcPct val="0"/>
                </a:spcAft>
                <a:buClr>
                  <a:schemeClr val="bg1"/>
                </a:buClr>
                <a:buChar char="»"/>
                <a:defRPr sz="1269">
                  <a:solidFill>
                    <a:schemeClr val="bg1"/>
                  </a:solidFill>
                  <a:latin typeface="IBM Plex Sans" charset="0"/>
                </a:defRPr>
              </a:lvl6pPr>
              <a:lvl7pPr marL="1946291" indent="-129670" algn="l" rtl="0" eaLnBrk="1" fontAlgn="base" hangingPunct="1">
                <a:spcBef>
                  <a:spcPct val="20000"/>
                </a:spcBef>
                <a:spcAft>
                  <a:spcPct val="0"/>
                </a:spcAft>
                <a:buClr>
                  <a:schemeClr val="bg1"/>
                </a:buClr>
                <a:buChar char="»"/>
                <a:defRPr sz="1269">
                  <a:solidFill>
                    <a:schemeClr val="bg1"/>
                  </a:solidFill>
                  <a:latin typeface="IBM Plex Sans" charset="0"/>
                </a:defRPr>
              </a:lvl7pPr>
              <a:lvl8pPr marL="2308860" indent="-129670" algn="l" rtl="0" eaLnBrk="1" fontAlgn="base" hangingPunct="1">
                <a:spcBef>
                  <a:spcPct val="20000"/>
                </a:spcBef>
                <a:spcAft>
                  <a:spcPct val="0"/>
                </a:spcAft>
                <a:buClr>
                  <a:schemeClr val="bg1"/>
                </a:buClr>
                <a:buChar char="»"/>
                <a:defRPr sz="1269">
                  <a:solidFill>
                    <a:schemeClr val="bg1"/>
                  </a:solidFill>
                  <a:latin typeface="IBM Plex Sans" charset="0"/>
                </a:defRPr>
              </a:lvl8pPr>
              <a:lvl9pPr marL="2671430" indent="-129670" algn="l" rtl="0" eaLnBrk="1" fontAlgn="base" hangingPunct="1">
                <a:spcBef>
                  <a:spcPct val="20000"/>
                </a:spcBef>
                <a:spcAft>
                  <a:spcPct val="0"/>
                </a:spcAft>
                <a:buClr>
                  <a:schemeClr val="bg1"/>
                </a:buClr>
                <a:buChar char="»"/>
                <a:defRPr sz="1269">
                  <a:solidFill>
                    <a:schemeClr val="bg1"/>
                  </a:solidFill>
                  <a:latin typeface="IBM Plex Sans" charset="0"/>
                </a:defRPr>
              </a:lvl9pPr>
            </a:lstStyle>
            <a:p>
              <a:pPr marL="0" lvl="1" indent="0" algn="ctr" defTabSz="1624870">
                <a:spcBef>
                  <a:spcPts val="1956"/>
                </a:spcBef>
                <a:buClr>
                  <a:srgbClr val="FFFFFF"/>
                </a:buClr>
                <a:buNone/>
                <a:defRPr/>
              </a:pPr>
              <a:r>
                <a:rPr lang="en-US" sz="1000" kern="0">
                  <a:solidFill>
                    <a:srgbClr val="000000"/>
                  </a:solidFill>
                </a:rPr>
                <a:t>Edge</a:t>
              </a:r>
            </a:p>
          </p:txBody>
        </p:sp>
        <p:sp>
          <p:nvSpPr>
            <p:cNvPr id="10" name="Text Placeholder 2">
              <a:extLst>
                <a:ext uri="{FF2B5EF4-FFF2-40B4-BE49-F238E27FC236}">
                  <a16:creationId xmlns:a16="http://schemas.microsoft.com/office/drawing/2014/main" id="{A851AC50-D288-FF1C-585D-52C93520735C}"/>
                </a:ext>
              </a:extLst>
            </p:cNvPr>
            <p:cNvSpPr txBox="1">
              <a:spLocks/>
            </p:cNvSpPr>
            <p:nvPr/>
          </p:nvSpPr>
          <p:spPr>
            <a:xfrm>
              <a:off x="16439146" y="10724115"/>
              <a:ext cx="2147983" cy="488178"/>
            </a:xfrm>
            <a:prstGeom prst="rect">
              <a:avLst/>
            </a:prstGeom>
          </p:spPr>
          <p:txBody>
            <a:bodyPr vert="horz" lIns="0" tIns="0" rIns="0" bIns="0" rtlCol="0">
              <a:noAutofit/>
            </a:bodyPr>
            <a:lstStyle>
              <a:lvl1pPr marL="0" indent="0" algn="l" rtl="0" eaLnBrk="1" fontAlgn="base" hangingPunct="1">
                <a:lnSpc>
                  <a:spcPct val="100000"/>
                </a:lnSpc>
                <a:spcBef>
                  <a:spcPts val="1100"/>
                </a:spcBef>
                <a:spcAft>
                  <a:spcPct val="0"/>
                </a:spcAft>
                <a:buClr>
                  <a:srgbClr val="6D6E70"/>
                </a:buClr>
                <a:buSzPct val="90000"/>
                <a:buFont typeface="Wingdings" pitchFamily="2" charset="2"/>
                <a:buNone/>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1pPr>
              <a:lvl2pPr marL="171452" indent="-173736" algn="l" rtl="0" eaLnBrk="1" fontAlgn="base" hangingPunct="1">
                <a:lnSpc>
                  <a:spcPct val="100000"/>
                </a:lnSpc>
                <a:spcBef>
                  <a:spcPts val="1100"/>
                </a:spcBef>
                <a:spcAft>
                  <a:spcPct val="0"/>
                </a:spcAft>
                <a:buClr>
                  <a:schemeClr val="bg1"/>
                </a:buClr>
                <a:buSzPct val="100000"/>
                <a:buFont typeface="IBM Plex Sans" charset="-120"/>
                <a:buChar char="–"/>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2pPr>
              <a:lvl3pPr marL="342905" indent="-173736" algn="l" rtl="0" eaLnBrk="1" fontAlgn="base" hangingPunct="1">
                <a:lnSpc>
                  <a:spcPct val="100000"/>
                </a:lnSpc>
                <a:spcBef>
                  <a:spcPts val="1100"/>
                </a:spcBef>
                <a:spcAft>
                  <a:spcPct val="0"/>
                </a:spcAft>
                <a:buClr>
                  <a:schemeClr val="bg1"/>
                </a:buClr>
                <a:buSzPct val="100000"/>
                <a:buFont typeface="IBM Plex Sans" panose="020B0604020202020204" pitchFamily="34" charset="0"/>
                <a:buChar char="•"/>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3pPr>
              <a:lvl4pPr marL="628658" indent="-173736" algn="l" rtl="0" eaLnBrk="1" fontAlgn="base" hangingPunct="1">
                <a:lnSpc>
                  <a:spcPct val="100000"/>
                </a:lnSpc>
                <a:spcBef>
                  <a:spcPts val="1100"/>
                </a:spcBef>
                <a:spcAft>
                  <a:spcPct val="0"/>
                </a:spcAft>
                <a:buClr>
                  <a:schemeClr val="bg1"/>
                </a:buClr>
                <a:buSzPct val="100000"/>
                <a:buFont typeface="IBM Plex Sans" charset="-120"/>
                <a:buChar char="–"/>
                <a:tabLst/>
                <a:defRPr sz="1400" baseline="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4pPr>
              <a:lvl5pPr marL="803285" indent="-173736" algn="l" rtl="0" eaLnBrk="1" fontAlgn="base" hangingPunct="1">
                <a:lnSpc>
                  <a:spcPct val="100000"/>
                </a:lnSpc>
                <a:spcBef>
                  <a:spcPts val="1100"/>
                </a:spcBef>
                <a:spcAft>
                  <a:spcPct val="0"/>
                </a:spcAft>
                <a:buClr>
                  <a:schemeClr val="bg1"/>
                </a:buClr>
                <a:buFont typeface="IBM Plex Sans" charset="-120"/>
                <a:buChar char="»"/>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5pPr>
              <a:lvl6pPr marL="1583721" indent="-129670" algn="l" rtl="0" eaLnBrk="1" fontAlgn="base" hangingPunct="1">
                <a:spcBef>
                  <a:spcPct val="20000"/>
                </a:spcBef>
                <a:spcAft>
                  <a:spcPct val="0"/>
                </a:spcAft>
                <a:buClr>
                  <a:schemeClr val="bg1"/>
                </a:buClr>
                <a:buChar char="»"/>
                <a:defRPr sz="1269">
                  <a:solidFill>
                    <a:schemeClr val="bg1"/>
                  </a:solidFill>
                  <a:latin typeface="IBM Plex Sans" charset="0"/>
                </a:defRPr>
              </a:lvl6pPr>
              <a:lvl7pPr marL="1946291" indent="-129670" algn="l" rtl="0" eaLnBrk="1" fontAlgn="base" hangingPunct="1">
                <a:spcBef>
                  <a:spcPct val="20000"/>
                </a:spcBef>
                <a:spcAft>
                  <a:spcPct val="0"/>
                </a:spcAft>
                <a:buClr>
                  <a:schemeClr val="bg1"/>
                </a:buClr>
                <a:buChar char="»"/>
                <a:defRPr sz="1269">
                  <a:solidFill>
                    <a:schemeClr val="bg1"/>
                  </a:solidFill>
                  <a:latin typeface="IBM Plex Sans" charset="0"/>
                </a:defRPr>
              </a:lvl7pPr>
              <a:lvl8pPr marL="2308860" indent="-129670" algn="l" rtl="0" eaLnBrk="1" fontAlgn="base" hangingPunct="1">
                <a:spcBef>
                  <a:spcPct val="20000"/>
                </a:spcBef>
                <a:spcAft>
                  <a:spcPct val="0"/>
                </a:spcAft>
                <a:buClr>
                  <a:schemeClr val="bg1"/>
                </a:buClr>
                <a:buChar char="»"/>
                <a:defRPr sz="1269">
                  <a:solidFill>
                    <a:schemeClr val="bg1"/>
                  </a:solidFill>
                  <a:latin typeface="IBM Plex Sans" charset="0"/>
                </a:defRPr>
              </a:lvl8pPr>
              <a:lvl9pPr marL="2671430" indent="-129670" algn="l" rtl="0" eaLnBrk="1" fontAlgn="base" hangingPunct="1">
                <a:spcBef>
                  <a:spcPct val="20000"/>
                </a:spcBef>
                <a:spcAft>
                  <a:spcPct val="0"/>
                </a:spcAft>
                <a:buClr>
                  <a:schemeClr val="bg1"/>
                </a:buClr>
                <a:buChar char="»"/>
                <a:defRPr sz="1269">
                  <a:solidFill>
                    <a:schemeClr val="bg1"/>
                  </a:solidFill>
                  <a:latin typeface="IBM Plex Sans" charset="0"/>
                </a:defRPr>
              </a:lvl9pPr>
            </a:lstStyle>
            <a:p>
              <a:pPr marL="0" lvl="1" indent="0" algn="ctr" defTabSz="1624870">
                <a:spcBef>
                  <a:spcPts val="1956"/>
                </a:spcBef>
                <a:buClr>
                  <a:srgbClr val="FFFFFF"/>
                </a:buClr>
                <a:buNone/>
                <a:defRPr/>
              </a:pPr>
              <a:r>
                <a:rPr lang="en-US" sz="1000" kern="0">
                  <a:solidFill>
                    <a:srgbClr val="000000"/>
                  </a:solidFill>
                </a:rPr>
                <a:t>Private</a:t>
              </a:r>
            </a:p>
          </p:txBody>
        </p:sp>
        <p:sp>
          <p:nvSpPr>
            <p:cNvPr id="11" name="Text Placeholder 2">
              <a:extLst>
                <a:ext uri="{FF2B5EF4-FFF2-40B4-BE49-F238E27FC236}">
                  <a16:creationId xmlns:a16="http://schemas.microsoft.com/office/drawing/2014/main" id="{B10B410D-7020-40B4-EA36-F97832D37363}"/>
                </a:ext>
              </a:extLst>
            </p:cNvPr>
            <p:cNvSpPr txBox="1">
              <a:spLocks/>
            </p:cNvSpPr>
            <p:nvPr/>
          </p:nvSpPr>
          <p:spPr>
            <a:xfrm>
              <a:off x="22593586" y="10739150"/>
              <a:ext cx="1672831" cy="426532"/>
            </a:xfrm>
            <a:prstGeom prst="rect">
              <a:avLst/>
            </a:prstGeom>
          </p:spPr>
          <p:txBody>
            <a:bodyPr vert="horz" lIns="0" tIns="0" rIns="0" bIns="0" rtlCol="0">
              <a:noAutofit/>
            </a:bodyPr>
            <a:lstStyle>
              <a:lvl1pPr marL="0" indent="0" algn="l" rtl="0" eaLnBrk="1" fontAlgn="base" hangingPunct="1">
                <a:lnSpc>
                  <a:spcPct val="100000"/>
                </a:lnSpc>
                <a:spcBef>
                  <a:spcPts val="1100"/>
                </a:spcBef>
                <a:spcAft>
                  <a:spcPct val="0"/>
                </a:spcAft>
                <a:buClr>
                  <a:srgbClr val="6D6E70"/>
                </a:buClr>
                <a:buSzPct val="90000"/>
                <a:buFont typeface="Wingdings" pitchFamily="2" charset="2"/>
                <a:buNone/>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1pPr>
              <a:lvl2pPr marL="171452" indent="-173736" algn="l" rtl="0" eaLnBrk="1" fontAlgn="base" hangingPunct="1">
                <a:lnSpc>
                  <a:spcPct val="100000"/>
                </a:lnSpc>
                <a:spcBef>
                  <a:spcPts val="1100"/>
                </a:spcBef>
                <a:spcAft>
                  <a:spcPct val="0"/>
                </a:spcAft>
                <a:buClr>
                  <a:schemeClr val="bg1"/>
                </a:buClr>
                <a:buSzPct val="100000"/>
                <a:buFont typeface="IBM Plex Sans" charset="-120"/>
                <a:buChar char="–"/>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2pPr>
              <a:lvl3pPr marL="342905" indent="-173736" algn="l" rtl="0" eaLnBrk="1" fontAlgn="base" hangingPunct="1">
                <a:lnSpc>
                  <a:spcPct val="100000"/>
                </a:lnSpc>
                <a:spcBef>
                  <a:spcPts val="1100"/>
                </a:spcBef>
                <a:spcAft>
                  <a:spcPct val="0"/>
                </a:spcAft>
                <a:buClr>
                  <a:schemeClr val="bg1"/>
                </a:buClr>
                <a:buSzPct val="100000"/>
                <a:buFont typeface="IBM Plex Sans" panose="020B0604020202020204" pitchFamily="34" charset="0"/>
                <a:buChar char="•"/>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3pPr>
              <a:lvl4pPr marL="628658" indent="-173736" algn="l" rtl="0" eaLnBrk="1" fontAlgn="base" hangingPunct="1">
                <a:lnSpc>
                  <a:spcPct val="100000"/>
                </a:lnSpc>
                <a:spcBef>
                  <a:spcPts val="1100"/>
                </a:spcBef>
                <a:spcAft>
                  <a:spcPct val="0"/>
                </a:spcAft>
                <a:buClr>
                  <a:schemeClr val="bg1"/>
                </a:buClr>
                <a:buSzPct val="100000"/>
                <a:buFont typeface="IBM Plex Sans" charset="-120"/>
                <a:buChar char="–"/>
                <a:tabLst/>
                <a:defRPr sz="1400" baseline="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4pPr>
              <a:lvl5pPr marL="803285" indent="-173736" algn="l" rtl="0" eaLnBrk="1" fontAlgn="base" hangingPunct="1">
                <a:lnSpc>
                  <a:spcPct val="100000"/>
                </a:lnSpc>
                <a:spcBef>
                  <a:spcPts val="1100"/>
                </a:spcBef>
                <a:spcAft>
                  <a:spcPct val="0"/>
                </a:spcAft>
                <a:buClr>
                  <a:schemeClr val="bg1"/>
                </a:buClr>
                <a:buFont typeface="IBM Plex Sans" charset="-120"/>
                <a:buChar char="»"/>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5pPr>
              <a:lvl6pPr marL="1583721" indent="-129670" algn="l" rtl="0" eaLnBrk="1" fontAlgn="base" hangingPunct="1">
                <a:spcBef>
                  <a:spcPct val="20000"/>
                </a:spcBef>
                <a:spcAft>
                  <a:spcPct val="0"/>
                </a:spcAft>
                <a:buClr>
                  <a:schemeClr val="bg1"/>
                </a:buClr>
                <a:buChar char="»"/>
                <a:defRPr sz="1269">
                  <a:solidFill>
                    <a:schemeClr val="bg1"/>
                  </a:solidFill>
                  <a:latin typeface="IBM Plex Sans" charset="0"/>
                </a:defRPr>
              </a:lvl6pPr>
              <a:lvl7pPr marL="1946291" indent="-129670" algn="l" rtl="0" eaLnBrk="1" fontAlgn="base" hangingPunct="1">
                <a:spcBef>
                  <a:spcPct val="20000"/>
                </a:spcBef>
                <a:spcAft>
                  <a:spcPct val="0"/>
                </a:spcAft>
                <a:buClr>
                  <a:schemeClr val="bg1"/>
                </a:buClr>
                <a:buChar char="»"/>
                <a:defRPr sz="1269">
                  <a:solidFill>
                    <a:schemeClr val="bg1"/>
                  </a:solidFill>
                  <a:latin typeface="IBM Plex Sans" charset="0"/>
                </a:defRPr>
              </a:lvl7pPr>
              <a:lvl8pPr marL="2308860" indent="-129670" algn="l" rtl="0" eaLnBrk="1" fontAlgn="base" hangingPunct="1">
                <a:spcBef>
                  <a:spcPct val="20000"/>
                </a:spcBef>
                <a:spcAft>
                  <a:spcPct val="0"/>
                </a:spcAft>
                <a:buClr>
                  <a:schemeClr val="bg1"/>
                </a:buClr>
                <a:buChar char="»"/>
                <a:defRPr sz="1269">
                  <a:solidFill>
                    <a:schemeClr val="bg1"/>
                  </a:solidFill>
                  <a:latin typeface="IBM Plex Sans" charset="0"/>
                </a:defRPr>
              </a:lvl8pPr>
              <a:lvl9pPr marL="2671430" indent="-129670" algn="l" rtl="0" eaLnBrk="1" fontAlgn="base" hangingPunct="1">
                <a:spcBef>
                  <a:spcPct val="20000"/>
                </a:spcBef>
                <a:spcAft>
                  <a:spcPct val="0"/>
                </a:spcAft>
                <a:buClr>
                  <a:schemeClr val="bg1"/>
                </a:buClr>
                <a:buChar char="»"/>
                <a:defRPr sz="1269">
                  <a:solidFill>
                    <a:schemeClr val="bg1"/>
                  </a:solidFill>
                  <a:latin typeface="IBM Plex Sans" charset="0"/>
                </a:defRPr>
              </a:lvl9pPr>
            </a:lstStyle>
            <a:p>
              <a:pPr marL="0" lvl="1" indent="0" defTabSz="1624870">
                <a:spcBef>
                  <a:spcPts val="1956"/>
                </a:spcBef>
                <a:buClr>
                  <a:srgbClr val="FFFFFF"/>
                </a:buClr>
                <a:buNone/>
                <a:defRPr/>
              </a:pPr>
              <a:r>
                <a:rPr lang="en-US" sz="1000" kern="0">
                  <a:solidFill>
                    <a:srgbClr val="000000"/>
                  </a:solidFill>
                </a:rPr>
                <a:t>Systems </a:t>
              </a:r>
            </a:p>
          </p:txBody>
        </p:sp>
        <p:sp>
          <p:nvSpPr>
            <p:cNvPr id="14" name="Freeform 13">
              <a:extLst>
                <a:ext uri="{FF2B5EF4-FFF2-40B4-BE49-F238E27FC236}">
                  <a16:creationId xmlns:a16="http://schemas.microsoft.com/office/drawing/2014/main" id="{4C5416AF-7214-E89A-AF15-690A89F74BF7}"/>
                </a:ext>
              </a:extLst>
            </p:cNvPr>
            <p:cNvSpPr>
              <a:spLocks noChangeAspect="1"/>
            </p:cNvSpPr>
            <p:nvPr/>
          </p:nvSpPr>
          <p:spPr>
            <a:xfrm>
              <a:off x="19864700" y="11057430"/>
              <a:ext cx="656347" cy="656320"/>
            </a:xfrm>
            <a:custGeom>
              <a:avLst/>
              <a:gdLst>
                <a:gd name="connsiteX0" fmla="*/ 205452 w 1177517"/>
                <a:gd name="connsiteY0" fmla="*/ 933690 h 1177470"/>
                <a:gd name="connsiteX1" fmla="*/ 167122 w 1177517"/>
                <a:gd name="connsiteY1" fmla="*/ 972020 h 1177470"/>
                <a:gd name="connsiteX2" fmla="*/ 128791 w 1177517"/>
                <a:gd name="connsiteY2" fmla="*/ 933690 h 1177470"/>
                <a:gd name="connsiteX3" fmla="*/ 167122 w 1177517"/>
                <a:gd name="connsiteY3" fmla="*/ 895359 h 1177470"/>
                <a:gd name="connsiteX4" fmla="*/ 205452 w 1177517"/>
                <a:gd name="connsiteY4" fmla="*/ 933690 h 1177470"/>
                <a:gd name="connsiteX5" fmla="*/ 320444 w 1177517"/>
                <a:gd name="connsiteY5" fmla="*/ 895359 h 1177470"/>
                <a:gd name="connsiteX6" fmla="*/ 282114 w 1177517"/>
                <a:gd name="connsiteY6" fmla="*/ 933690 h 1177470"/>
                <a:gd name="connsiteX7" fmla="*/ 320444 w 1177517"/>
                <a:gd name="connsiteY7" fmla="*/ 972020 h 1177470"/>
                <a:gd name="connsiteX8" fmla="*/ 358775 w 1177517"/>
                <a:gd name="connsiteY8" fmla="*/ 933690 h 1177470"/>
                <a:gd name="connsiteX9" fmla="*/ 320444 w 1177517"/>
                <a:gd name="connsiteY9" fmla="*/ 895359 h 1177470"/>
                <a:gd name="connsiteX10" fmla="*/ 473767 w 1177517"/>
                <a:gd name="connsiteY10" fmla="*/ 895359 h 1177470"/>
                <a:gd name="connsiteX11" fmla="*/ 435436 w 1177517"/>
                <a:gd name="connsiteY11" fmla="*/ 933690 h 1177470"/>
                <a:gd name="connsiteX12" fmla="*/ 473767 w 1177517"/>
                <a:gd name="connsiteY12" fmla="*/ 972020 h 1177470"/>
                <a:gd name="connsiteX13" fmla="*/ 512098 w 1177517"/>
                <a:gd name="connsiteY13" fmla="*/ 933690 h 1177470"/>
                <a:gd name="connsiteX14" fmla="*/ 473767 w 1177517"/>
                <a:gd name="connsiteY14" fmla="*/ 895359 h 1177470"/>
                <a:gd name="connsiteX15" fmla="*/ 1163719 w 1177517"/>
                <a:gd name="connsiteY15" fmla="*/ 1177471 h 1177470"/>
                <a:gd name="connsiteX16" fmla="*/ 13799 w 1177517"/>
                <a:gd name="connsiteY16" fmla="*/ 1177471 h 1177470"/>
                <a:gd name="connsiteX17" fmla="*/ 0 w 1177517"/>
                <a:gd name="connsiteY17" fmla="*/ 1163672 h 1177470"/>
                <a:gd name="connsiteX18" fmla="*/ 0 w 1177517"/>
                <a:gd name="connsiteY18" fmla="*/ 703707 h 1177470"/>
                <a:gd name="connsiteX19" fmla="*/ 13799 w 1177517"/>
                <a:gd name="connsiteY19" fmla="*/ 689909 h 1177470"/>
                <a:gd name="connsiteX20" fmla="*/ 843274 w 1177517"/>
                <a:gd name="connsiteY20" fmla="*/ 689909 h 1177470"/>
                <a:gd name="connsiteX21" fmla="*/ 843274 w 1177517"/>
                <a:gd name="connsiteY21" fmla="*/ 358734 h 1177470"/>
                <a:gd name="connsiteX22" fmla="*/ 870911 w 1177517"/>
                <a:gd name="connsiteY22" fmla="*/ 358734 h 1177470"/>
                <a:gd name="connsiteX23" fmla="*/ 870911 w 1177517"/>
                <a:gd name="connsiteY23" fmla="*/ 689909 h 1177470"/>
                <a:gd name="connsiteX24" fmla="*/ 1163719 w 1177517"/>
                <a:gd name="connsiteY24" fmla="*/ 689909 h 1177470"/>
                <a:gd name="connsiteX25" fmla="*/ 1177518 w 1177517"/>
                <a:gd name="connsiteY25" fmla="*/ 703707 h 1177470"/>
                <a:gd name="connsiteX26" fmla="*/ 1177518 w 1177517"/>
                <a:gd name="connsiteY26" fmla="*/ 1163672 h 1177470"/>
                <a:gd name="connsiteX27" fmla="*/ 1163719 w 1177517"/>
                <a:gd name="connsiteY27" fmla="*/ 1177471 h 1177470"/>
                <a:gd name="connsiteX28" fmla="*/ 27598 w 1177517"/>
                <a:gd name="connsiteY28" fmla="*/ 1149873 h 1177470"/>
                <a:gd name="connsiteX29" fmla="*/ 1149920 w 1177517"/>
                <a:gd name="connsiteY29" fmla="*/ 1149873 h 1177470"/>
                <a:gd name="connsiteX30" fmla="*/ 1149920 w 1177517"/>
                <a:gd name="connsiteY30" fmla="*/ 717506 h 1177470"/>
                <a:gd name="connsiteX31" fmla="*/ 27598 w 1177517"/>
                <a:gd name="connsiteY31" fmla="*/ 717506 h 1177470"/>
                <a:gd name="connsiteX32" fmla="*/ 27598 w 1177517"/>
                <a:gd name="connsiteY32" fmla="*/ 1149873 h 1177470"/>
                <a:gd name="connsiteX33" fmla="*/ 989046 w 1177517"/>
                <a:gd name="connsiteY33" fmla="*/ 305493 h 1177470"/>
                <a:gd name="connsiteX34" fmla="*/ 725063 w 1177517"/>
                <a:gd name="connsiteY34" fmla="*/ 305417 h 1177470"/>
                <a:gd name="connsiteX35" fmla="*/ 707316 w 1177517"/>
                <a:gd name="connsiteY35" fmla="*/ 284220 h 1177470"/>
                <a:gd name="connsiteX36" fmla="*/ 856997 w 1177517"/>
                <a:gd name="connsiteY36" fmla="*/ 229944 h 1177470"/>
                <a:gd name="connsiteX37" fmla="*/ 1006755 w 1177517"/>
                <a:gd name="connsiteY37" fmla="*/ 284335 h 1177470"/>
                <a:gd name="connsiteX38" fmla="*/ 989046 w 1177517"/>
                <a:gd name="connsiteY38" fmla="*/ 305493 h 1177470"/>
                <a:gd name="connsiteX39" fmla="*/ 1070230 w 1177517"/>
                <a:gd name="connsiteY39" fmla="*/ 223581 h 1177470"/>
                <a:gd name="connsiteX40" fmla="*/ 857035 w 1177517"/>
                <a:gd name="connsiteY40" fmla="*/ 142551 h 1177470"/>
                <a:gd name="connsiteX41" fmla="*/ 643955 w 1177517"/>
                <a:gd name="connsiteY41" fmla="*/ 223466 h 1177470"/>
                <a:gd name="connsiteX42" fmla="*/ 625595 w 1177517"/>
                <a:gd name="connsiteY42" fmla="*/ 202844 h 1177470"/>
                <a:gd name="connsiteX43" fmla="*/ 856997 w 1177517"/>
                <a:gd name="connsiteY43" fmla="*/ 114953 h 1177470"/>
                <a:gd name="connsiteX44" fmla="*/ 1088552 w 1177517"/>
                <a:gd name="connsiteY44" fmla="*/ 202921 h 1177470"/>
                <a:gd name="connsiteX45" fmla="*/ 1070230 w 1177517"/>
                <a:gd name="connsiteY45" fmla="*/ 223581 h 1177470"/>
                <a:gd name="connsiteX46" fmla="*/ 1151530 w 1177517"/>
                <a:gd name="connsiteY46" fmla="*/ 141822 h 1177470"/>
                <a:gd name="connsiteX47" fmla="*/ 857035 w 1177517"/>
                <a:gd name="connsiteY47" fmla="*/ 27560 h 1177470"/>
                <a:gd name="connsiteX48" fmla="*/ 562617 w 1177517"/>
                <a:gd name="connsiteY48" fmla="*/ 141746 h 1177470"/>
                <a:gd name="connsiteX49" fmla="*/ 544027 w 1177517"/>
                <a:gd name="connsiteY49" fmla="*/ 121392 h 1177470"/>
                <a:gd name="connsiteX50" fmla="*/ 857074 w 1177517"/>
                <a:gd name="connsiteY50" fmla="*/ 0 h 1177470"/>
                <a:gd name="connsiteX51" fmla="*/ 1170197 w 1177517"/>
                <a:gd name="connsiteY51" fmla="*/ 121507 h 1177470"/>
                <a:gd name="connsiteX52" fmla="*/ 1151530 w 1177517"/>
                <a:gd name="connsiteY52" fmla="*/ 141822 h 1177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177517" h="1177470">
                  <a:moveTo>
                    <a:pt x="205452" y="933690"/>
                  </a:moveTo>
                  <a:cubicBezTo>
                    <a:pt x="205452" y="954848"/>
                    <a:pt x="188280" y="972020"/>
                    <a:pt x="167122" y="972020"/>
                  </a:cubicBezTo>
                  <a:cubicBezTo>
                    <a:pt x="145963" y="972020"/>
                    <a:pt x="128791" y="954848"/>
                    <a:pt x="128791" y="933690"/>
                  </a:cubicBezTo>
                  <a:cubicBezTo>
                    <a:pt x="128791" y="912531"/>
                    <a:pt x="145963" y="895359"/>
                    <a:pt x="167122" y="895359"/>
                  </a:cubicBezTo>
                  <a:cubicBezTo>
                    <a:pt x="188280" y="895359"/>
                    <a:pt x="205452" y="912531"/>
                    <a:pt x="205452" y="933690"/>
                  </a:cubicBezTo>
                  <a:close/>
                  <a:moveTo>
                    <a:pt x="320444" y="895359"/>
                  </a:moveTo>
                  <a:cubicBezTo>
                    <a:pt x="299286" y="895359"/>
                    <a:pt x="282114" y="912531"/>
                    <a:pt x="282114" y="933690"/>
                  </a:cubicBezTo>
                  <a:cubicBezTo>
                    <a:pt x="282114" y="954848"/>
                    <a:pt x="299286" y="972020"/>
                    <a:pt x="320444" y="972020"/>
                  </a:cubicBezTo>
                  <a:cubicBezTo>
                    <a:pt x="341603" y="972020"/>
                    <a:pt x="358775" y="954848"/>
                    <a:pt x="358775" y="933690"/>
                  </a:cubicBezTo>
                  <a:cubicBezTo>
                    <a:pt x="358775" y="912531"/>
                    <a:pt x="341603" y="895359"/>
                    <a:pt x="320444" y="895359"/>
                  </a:cubicBezTo>
                  <a:close/>
                  <a:moveTo>
                    <a:pt x="473767" y="895359"/>
                  </a:moveTo>
                  <a:cubicBezTo>
                    <a:pt x="452608" y="895359"/>
                    <a:pt x="435436" y="912531"/>
                    <a:pt x="435436" y="933690"/>
                  </a:cubicBezTo>
                  <a:cubicBezTo>
                    <a:pt x="435436" y="954848"/>
                    <a:pt x="452608" y="972020"/>
                    <a:pt x="473767" y="972020"/>
                  </a:cubicBezTo>
                  <a:cubicBezTo>
                    <a:pt x="494925" y="972020"/>
                    <a:pt x="512098" y="954848"/>
                    <a:pt x="512098" y="933690"/>
                  </a:cubicBezTo>
                  <a:cubicBezTo>
                    <a:pt x="512098" y="912531"/>
                    <a:pt x="494925" y="895359"/>
                    <a:pt x="473767" y="895359"/>
                  </a:cubicBezTo>
                  <a:close/>
                  <a:moveTo>
                    <a:pt x="1163719" y="1177471"/>
                  </a:moveTo>
                  <a:lnTo>
                    <a:pt x="13799" y="1177471"/>
                  </a:lnTo>
                  <a:cubicBezTo>
                    <a:pt x="6171" y="1177471"/>
                    <a:pt x="0" y="1171300"/>
                    <a:pt x="0" y="1163672"/>
                  </a:cubicBezTo>
                  <a:lnTo>
                    <a:pt x="0" y="703707"/>
                  </a:lnTo>
                  <a:cubicBezTo>
                    <a:pt x="0" y="696080"/>
                    <a:pt x="6171" y="689909"/>
                    <a:pt x="13799" y="689909"/>
                  </a:cubicBezTo>
                  <a:lnTo>
                    <a:pt x="843274" y="689909"/>
                  </a:lnTo>
                  <a:lnTo>
                    <a:pt x="843274" y="358734"/>
                  </a:lnTo>
                  <a:lnTo>
                    <a:pt x="870911" y="358734"/>
                  </a:lnTo>
                  <a:lnTo>
                    <a:pt x="870911" y="689909"/>
                  </a:lnTo>
                  <a:lnTo>
                    <a:pt x="1163719" y="689909"/>
                  </a:lnTo>
                  <a:cubicBezTo>
                    <a:pt x="1171347" y="689909"/>
                    <a:pt x="1177518" y="696080"/>
                    <a:pt x="1177518" y="703707"/>
                  </a:cubicBezTo>
                  <a:lnTo>
                    <a:pt x="1177518" y="1163672"/>
                  </a:lnTo>
                  <a:cubicBezTo>
                    <a:pt x="1177518" y="1171300"/>
                    <a:pt x="1171347" y="1177471"/>
                    <a:pt x="1163719" y="1177471"/>
                  </a:cubicBezTo>
                  <a:close/>
                  <a:moveTo>
                    <a:pt x="27598" y="1149873"/>
                  </a:moveTo>
                  <a:lnTo>
                    <a:pt x="1149920" y="1149873"/>
                  </a:lnTo>
                  <a:lnTo>
                    <a:pt x="1149920" y="717506"/>
                  </a:lnTo>
                  <a:lnTo>
                    <a:pt x="27598" y="717506"/>
                  </a:lnTo>
                  <a:lnTo>
                    <a:pt x="27598" y="1149873"/>
                  </a:lnTo>
                  <a:close/>
                  <a:moveTo>
                    <a:pt x="989046" y="305493"/>
                  </a:moveTo>
                  <a:cubicBezTo>
                    <a:pt x="915221" y="243666"/>
                    <a:pt x="798811" y="243666"/>
                    <a:pt x="725063" y="305417"/>
                  </a:cubicBezTo>
                  <a:lnTo>
                    <a:pt x="707316" y="284220"/>
                  </a:lnTo>
                  <a:cubicBezTo>
                    <a:pt x="749211" y="249224"/>
                    <a:pt x="802337" y="229944"/>
                    <a:pt x="856997" y="229944"/>
                  </a:cubicBezTo>
                  <a:cubicBezTo>
                    <a:pt x="911695" y="229944"/>
                    <a:pt x="964859" y="249262"/>
                    <a:pt x="1006755" y="284335"/>
                  </a:cubicBezTo>
                  <a:lnTo>
                    <a:pt x="989046" y="305493"/>
                  </a:lnTo>
                  <a:close/>
                  <a:moveTo>
                    <a:pt x="1070230" y="223581"/>
                  </a:moveTo>
                  <a:cubicBezTo>
                    <a:pt x="1011469" y="171337"/>
                    <a:pt x="935728" y="142551"/>
                    <a:pt x="857035" y="142551"/>
                  </a:cubicBezTo>
                  <a:cubicBezTo>
                    <a:pt x="778342" y="142551"/>
                    <a:pt x="702716" y="171298"/>
                    <a:pt x="643955" y="223466"/>
                  </a:cubicBezTo>
                  <a:lnTo>
                    <a:pt x="625595" y="202844"/>
                  </a:lnTo>
                  <a:cubicBezTo>
                    <a:pt x="689377" y="146154"/>
                    <a:pt x="771596" y="114953"/>
                    <a:pt x="856997" y="114953"/>
                  </a:cubicBezTo>
                  <a:cubicBezTo>
                    <a:pt x="942474" y="114953"/>
                    <a:pt x="1024732" y="146192"/>
                    <a:pt x="1088552" y="202921"/>
                  </a:cubicBezTo>
                  <a:lnTo>
                    <a:pt x="1070230" y="223581"/>
                  </a:lnTo>
                  <a:close/>
                  <a:moveTo>
                    <a:pt x="1151530" y="141822"/>
                  </a:moveTo>
                  <a:cubicBezTo>
                    <a:pt x="1070920" y="68151"/>
                    <a:pt x="966354" y="27560"/>
                    <a:pt x="857035" y="27560"/>
                  </a:cubicBezTo>
                  <a:cubicBezTo>
                    <a:pt x="747716" y="27560"/>
                    <a:pt x="643188" y="68113"/>
                    <a:pt x="562617" y="141746"/>
                  </a:cubicBezTo>
                  <a:lnTo>
                    <a:pt x="544027" y="121392"/>
                  </a:lnTo>
                  <a:cubicBezTo>
                    <a:pt x="629658" y="43122"/>
                    <a:pt x="740817" y="0"/>
                    <a:pt x="857074" y="0"/>
                  </a:cubicBezTo>
                  <a:cubicBezTo>
                    <a:pt x="973330" y="0"/>
                    <a:pt x="1084528" y="43122"/>
                    <a:pt x="1170197" y="121507"/>
                  </a:cubicBezTo>
                  <a:lnTo>
                    <a:pt x="1151530" y="141822"/>
                  </a:lnTo>
                  <a:close/>
                </a:path>
              </a:pathLst>
            </a:custGeom>
            <a:solidFill>
              <a:schemeClr val="tx1"/>
            </a:solidFill>
            <a:ln w="38100" cap="flat">
              <a:noFill/>
              <a:prstDash val="solid"/>
              <a:miter/>
            </a:ln>
          </p:spPr>
          <p:txBody>
            <a:bodyPr rtlCol="0" anchor="ctr"/>
            <a:lstStyle/>
            <a:p>
              <a:pPr defTabSz="914335">
                <a:defRPr/>
              </a:pPr>
              <a:endParaRPr lang="en-US" sz="900">
                <a:solidFill>
                  <a:srgbClr val="000000"/>
                </a:solidFill>
                <a:latin typeface="IBM Plex Sans Light"/>
              </a:endParaRPr>
            </a:p>
          </p:txBody>
        </p:sp>
        <p:pic>
          <p:nvPicPr>
            <p:cNvPr id="16" name="Picture 15">
              <a:extLst>
                <a:ext uri="{FF2B5EF4-FFF2-40B4-BE49-F238E27FC236}">
                  <a16:creationId xmlns:a16="http://schemas.microsoft.com/office/drawing/2014/main" id="{1E655092-735F-7B09-56F2-7DAA9681B2E5}"/>
                </a:ext>
              </a:extLst>
            </p:cNvPr>
            <p:cNvPicPr>
              <a:picLocks noChangeAspect="1"/>
            </p:cNvPicPr>
            <p:nvPr/>
          </p:nvPicPr>
          <p:blipFill rotWithShape="1">
            <a:blip r:embed="rId6">
              <a:extLst>
                <a:ext uri="{BEBA8EAE-BF5A-486C-A8C5-ECC9F3942E4B}">
                  <a14:imgProps xmlns:a14="http://schemas.microsoft.com/office/drawing/2010/main">
                    <a14:imgLayer r:embed="rId7">
                      <a14:imgEffect>
                        <a14:brightnessContrast bright="-100000"/>
                      </a14:imgEffect>
                    </a14:imgLayer>
                  </a14:imgProps>
                </a:ext>
              </a:extLst>
            </a:blip>
            <a:srcRect l="13216" t="15099" r="12957" b="16666"/>
            <a:stretch/>
          </p:blipFill>
          <p:spPr>
            <a:xfrm>
              <a:off x="7033278" y="11063528"/>
              <a:ext cx="935493" cy="778287"/>
            </a:xfrm>
            <a:prstGeom prst="rect">
              <a:avLst/>
            </a:prstGeom>
          </p:spPr>
        </p:pic>
        <p:pic>
          <p:nvPicPr>
            <p:cNvPr id="17" name="Picture 16">
              <a:extLst>
                <a:ext uri="{FF2B5EF4-FFF2-40B4-BE49-F238E27FC236}">
                  <a16:creationId xmlns:a16="http://schemas.microsoft.com/office/drawing/2014/main" id="{5F29FEB9-21D0-9C59-A95D-9E40B2121684}"/>
                </a:ext>
              </a:extLst>
            </p:cNvPr>
            <p:cNvPicPr>
              <a:picLocks noChangeAspect="1"/>
            </p:cNvPicPr>
            <p:nvPr/>
          </p:nvPicPr>
          <p:blipFill>
            <a:blip r:embed="rId8">
              <a:lum bright="-100000"/>
            </a:blip>
            <a:stretch>
              <a:fillRect/>
            </a:stretch>
          </p:blipFill>
          <p:spPr>
            <a:xfrm>
              <a:off x="9586451" y="11165681"/>
              <a:ext cx="655056" cy="546414"/>
            </a:xfrm>
            <a:prstGeom prst="rect">
              <a:avLst/>
            </a:prstGeom>
          </p:spPr>
        </p:pic>
        <p:pic>
          <p:nvPicPr>
            <p:cNvPr id="18" name="Picture 17">
              <a:extLst>
                <a:ext uri="{FF2B5EF4-FFF2-40B4-BE49-F238E27FC236}">
                  <a16:creationId xmlns:a16="http://schemas.microsoft.com/office/drawing/2014/main" id="{BD42F5E6-8DEF-78C8-25CD-7C74935F5B23}"/>
                </a:ext>
              </a:extLst>
            </p:cNvPr>
            <p:cNvPicPr>
              <a:picLocks noChangeAspect="1"/>
            </p:cNvPicPr>
            <p:nvPr/>
          </p:nvPicPr>
          <p:blipFill rotWithShape="1">
            <a:blip r:embed="rId6">
              <a:extLst>
                <a:ext uri="{BEBA8EAE-BF5A-486C-A8C5-ECC9F3942E4B}">
                  <a14:imgProps xmlns:a14="http://schemas.microsoft.com/office/drawing/2010/main">
                    <a14:imgLayer r:embed="rId9">
                      <a14:imgEffect>
                        <a14:brightnessContrast bright="-100000"/>
                      </a14:imgEffect>
                    </a14:imgLayer>
                  </a14:imgProps>
                </a:ext>
              </a:extLst>
            </a:blip>
            <a:srcRect l="13216" t="15099" r="12957" b="16666"/>
            <a:stretch/>
          </p:blipFill>
          <p:spPr>
            <a:xfrm>
              <a:off x="17024809" y="11063528"/>
              <a:ext cx="935493" cy="778287"/>
            </a:xfrm>
            <a:prstGeom prst="rect">
              <a:avLst/>
            </a:prstGeom>
          </p:spPr>
        </p:pic>
        <p:pic>
          <p:nvPicPr>
            <p:cNvPr id="19" name="Picture 18">
              <a:extLst>
                <a:ext uri="{FF2B5EF4-FFF2-40B4-BE49-F238E27FC236}">
                  <a16:creationId xmlns:a16="http://schemas.microsoft.com/office/drawing/2014/main" id="{819E8DA0-62F7-4D32-B62D-DEFEDDE978C5}"/>
                </a:ext>
              </a:extLst>
            </p:cNvPr>
            <p:cNvPicPr>
              <a:picLocks noChangeAspect="1"/>
            </p:cNvPicPr>
            <p:nvPr/>
          </p:nvPicPr>
          <p:blipFill>
            <a:blip r:embed="rId8">
              <a:lum bright="-100000"/>
            </a:blip>
            <a:stretch>
              <a:fillRect/>
            </a:stretch>
          </p:blipFill>
          <p:spPr>
            <a:xfrm>
              <a:off x="14598193" y="11165681"/>
              <a:ext cx="655056" cy="546414"/>
            </a:xfrm>
            <a:prstGeom prst="rect">
              <a:avLst/>
            </a:prstGeom>
          </p:spPr>
        </p:pic>
        <p:pic>
          <p:nvPicPr>
            <p:cNvPr id="21" name="Picture 20">
              <a:extLst>
                <a:ext uri="{FF2B5EF4-FFF2-40B4-BE49-F238E27FC236}">
                  <a16:creationId xmlns:a16="http://schemas.microsoft.com/office/drawing/2014/main" id="{86B4D5C8-7B4F-48A6-E53C-E891F1DA71F2}"/>
                </a:ext>
              </a:extLst>
            </p:cNvPr>
            <p:cNvPicPr>
              <a:picLocks noChangeAspect="1"/>
            </p:cNvPicPr>
            <p:nvPr/>
          </p:nvPicPr>
          <p:blipFill>
            <a:blip r:embed="rId8">
              <a:lum bright="-100000"/>
            </a:blip>
            <a:stretch>
              <a:fillRect/>
            </a:stretch>
          </p:blipFill>
          <p:spPr>
            <a:xfrm>
              <a:off x="12047686" y="11165681"/>
              <a:ext cx="655056" cy="546414"/>
            </a:xfrm>
            <a:prstGeom prst="rect">
              <a:avLst/>
            </a:prstGeom>
          </p:spPr>
        </p:pic>
        <p:pic>
          <p:nvPicPr>
            <p:cNvPr id="39" name="Graphic 38">
              <a:extLst>
                <a:ext uri="{FF2B5EF4-FFF2-40B4-BE49-F238E27FC236}">
                  <a16:creationId xmlns:a16="http://schemas.microsoft.com/office/drawing/2014/main" id="{8BCA4428-3576-416E-319A-46EADDBF5B2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2669522" y="11022383"/>
              <a:ext cx="819432" cy="819432"/>
            </a:xfrm>
            <a:prstGeom prst="rect">
              <a:avLst/>
            </a:prstGeom>
          </p:spPr>
        </p:pic>
      </p:grpSp>
      <p:sp>
        <p:nvSpPr>
          <p:cNvPr id="12" name="Rectangle 11">
            <a:extLst>
              <a:ext uri="{FF2B5EF4-FFF2-40B4-BE49-F238E27FC236}">
                <a16:creationId xmlns:a16="http://schemas.microsoft.com/office/drawing/2014/main" id="{DCFE52CE-91A5-1FCB-6FA8-5F40638D0DDC}"/>
              </a:ext>
            </a:extLst>
          </p:cNvPr>
          <p:cNvSpPr/>
          <p:nvPr/>
        </p:nvSpPr>
        <p:spPr>
          <a:xfrm>
            <a:off x="3048397" y="4936319"/>
            <a:ext cx="8854791" cy="270343"/>
          </a:xfrm>
          <a:prstGeom prst="rect">
            <a:avLst/>
          </a:prstGeom>
          <a:solidFill>
            <a:schemeClr val="accent1">
              <a:lumMod val="20000"/>
              <a:lumOff val="80000"/>
            </a:schemeClr>
          </a:solidFill>
          <a:ln>
            <a:solidFill>
              <a:schemeClr val="accent1"/>
            </a:solidFill>
          </a:ln>
        </p:spPr>
        <p:txBody>
          <a:bodyPr wrap="square" lIns="91416" tIns="45709" rIns="91416" bIns="45709" anchor="ctr">
            <a:noAutofit/>
          </a:bodyPr>
          <a:lstStyle/>
          <a:p>
            <a:pPr algn="ctr" defTabSz="342858">
              <a:spcBef>
                <a:spcPts val="1500"/>
              </a:spcBef>
              <a:spcAft>
                <a:spcPts val="1500"/>
              </a:spcAft>
              <a:defRPr/>
            </a:pPr>
            <a:r>
              <a:rPr lang="en-US" sz="1200" b="1">
                <a:solidFill>
                  <a:srgbClr val="000000"/>
                </a:solidFill>
                <a:latin typeface="IBM Plex Sans Light"/>
              </a:rPr>
              <a:t>Agents and Alerts </a:t>
            </a:r>
            <a:r>
              <a:rPr lang="en-US" sz="1200">
                <a:solidFill>
                  <a:srgbClr val="000000"/>
                </a:solidFill>
                <a:latin typeface="IBM Plex Sans Light"/>
              </a:rPr>
              <a:t>|   AI and Analytical Insights</a:t>
            </a:r>
          </a:p>
        </p:txBody>
      </p:sp>
      <p:sp>
        <p:nvSpPr>
          <p:cNvPr id="22" name="Rectangle 21">
            <a:extLst>
              <a:ext uri="{FF2B5EF4-FFF2-40B4-BE49-F238E27FC236}">
                <a16:creationId xmlns:a16="http://schemas.microsoft.com/office/drawing/2014/main" id="{84CFF02C-1AE5-B488-2F2B-9ED9D9905C81}"/>
              </a:ext>
            </a:extLst>
          </p:cNvPr>
          <p:cNvSpPr/>
          <p:nvPr/>
        </p:nvSpPr>
        <p:spPr>
          <a:xfrm>
            <a:off x="3054655" y="2910343"/>
            <a:ext cx="8854791" cy="270343"/>
          </a:xfrm>
          <a:prstGeom prst="rect">
            <a:avLst/>
          </a:prstGeom>
          <a:solidFill>
            <a:schemeClr val="accent1">
              <a:lumMod val="20000"/>
              <a:lumOff val="80000"/>
            </a:schemeClr>
          </a:solidFill>
          <a:ln>
            <a:solidFill>
              <a:schemeClr val="accent1"/>
            </a:solidFill>
          </a:ln>
        </p:spPr>
        <p:txBody>
          <a:bodyPr wrap="square" anchor="ctr">
            <a:noAutofit/>
          </a:bodyPr>
          <a:lstStyle/>
          <a:p>
            <a:pPr algn="ctr" defTabSz="342858">
              <a:spcBef>
                <a:spcPts val="1500"/>
              </a:spcBef>
              <a:spcAft>
                <a:spcPts val="1500"/>
              </a:spcAft>
              <a:defRPr/>
            </a:pPr>
            <a:r>
              <a:rPr lang="en-US" sz="1200" b="1">
                <a:solidFill>
                  <a:srgbClr val="000000"/>
                </a:solidFill>
                <a:latin typeface="IBM Plex Sans Light"/>
              </a:rPr>
              <a:t>Mobility and Dashboards  </a:t>
            </a:r>
            <a:r>
              <a:rPr lang="en-US" sz="1200">
                <a:solidFill>
                  <a:srgbClr val="000000"/>
                </a:solidFill>
                <a:latin typeface="IBM Plex Sans Light"/>
              </a:rPr>
              <a:t>|   Intuitive and Modernized</a:t>
            </a:r>
          </a:p>
        </p:txBody>
      </p:sp>
      <p:sp>
        <p:nvSpPr>
          <p:cNvPr id="27" name="Text Placeholder 2">
            <a:extLst>
              <a:ext uri="{FF2B5EF4-FFF2-40B4-BE49-F238E27FC236}">
                <a16:creationId xmlns:a16="http://schemas.microsoft.com/office/drawing/2014/main" id="{49C50F45-6C11-E3F8-4C6E-393D6DB70DE4}"/>
              </a:ext>
            </a:extLst>
          </p:cNvPr>
          <p:cNvSpPr txBox="1">
            <a:spLocks/>
          </p:cNvSpPr>
          <p:nvPr/>
        </p:nvSpPr>
        <p:spPr>
          <a:xfrm>
            <a:off x="210318" y="3001615"/>
            <a:ext cx="2599036" cy="3508604"/>
          </a:xfrm>
          <a:prstGeom prst="rect">
            <a:avLst/>
          </a:prstGeom>
          <a:solidFill>
            <a:schemeClr val="accent1">
              <a:lumMod val="20000"/>
              <a:lumOff val="80000"/>
            </a:schemeClr>
          </a:solidFill>
          <a:ln w="12700">
            <a:solidFill>
              <a:schemeClr val="accent1"/>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16" tIns="91416" rIns="0" bIns="91416" anchor="t">
            <a:spAutoFit/>
          </a:bodyPr>
          <a:lstStyle>
            <a:lvl1pPr marL="0" marR="0" indent="0" algn="l" defTabSz="2438400" rtl="0" eaLnBrk="1" latinLnBrk="0" hangingPunct="1">
              <a:lnSpc>
                <a:spcPct val="10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228512" indent="-228512" defTabSz="1218727">
              <a:buFont typeface="System Font Regular"/>
              <a:buChar char="-"/>
              <a:defRPr/>
            </a:pPr>
            <a:r>
              <a:rPr lang="en-US" sz="1200" i="1">
                <a:solidFill>
                  <a:srgbClr val="000000"/>
                </a:solidFill>
                <a:latin typeface="Arial" panose="020B0604020202020204" pitchFamily="34" charset="0"/>
              </a:rPr>
              <a:t>Technicians</a:t>
            </a:r>
          </a:p>
          <a:p>
            <a:pPr marL="228512" indent="-228512" defTabSz="1218727">
              <a:buFont typeface="System Font Regular"/>
              <a:buChar char="-"/>
              <a:defRPr/>
            </a:pPr>
            <a:r>
              <a:rPr lang="en-US" sz="1200" i="1">
                <a:solidFill>
                  <a:srgbClr val="000000"/>
                </a:solidFill>
                <a:latin typeface="Arial" panose="020B0604020202020204" pitchFamily="34" charset="0"/>
              </a:rPr>
              <a:t>Technician Supervisor</a:t>
            </a:r>
          </a:p>
          <a:p>
            <a:pPr marL="228512" indent="-228512" defTabSz="1218727">
              <a:buFont typeface="System Font Regular"/>
              <a:buChar char="-"/>
              <a:defRPr/>
            </a:pPr>
            <a:r>
              <a:rPr lang="en-US" sz="1200" i="1">
                <a:solidFill>
                  <a:srgbClr val="000000"/>
                </a:solidFill>
                <a:latin typeface="Arial" panose="020B0604020202020204" pitchFamily="34" charset="0"/>
              </a:rPr>
              <a:t>Asset Maintenance Manager</a:t>
            </a:r>
          </a:p>
          <a:p>
            <a:pPr marL="228512" indent="-228512" defTabSz="1218727">
              <a:buFont typeface="System Font Regular"/>
              <a:buChar char="-"/>
              <a:defRPr/>
            </a:pPr>
            <a:r>
              <a:rPr lang="en-US" sz="1200" i="1">
                <a:solidFill>
                  <a:srgbClr val="000000"/>
                </a:solidFill>
                <a:latin typeface="Arial" panose="020B0604020202020204" pitchFamily="34" charset="0"/>
              </a:rPr>
              <a:t>Plant Manager</a:t>
            </a:r>
          </a:p>
          <a:p>
            <a:pPr marL="228512" indent="-228512" defTabSz="1218727">
              <a:buFont typeface="System Font Regular"/>
              <a:buChar char="-"/>
              <a:defRPr/>
            </a:pPr>
            <a:r>
              <a:rPr lang="en-US" sz="1200" i="1">
                <a:solidFill>
                  <a:srgbClr val="000000"/>
                </a:solidFill>
                <a:latin typeface="Arial" panose="020B0604020202020204" pitchFamily="34" charset="0"/>
              </a:rPr>
              <a:t>Fleet Manager</a:t>
            </a:r>
          </a:p>
          <a:p>
            <a:pPr marL="228512" indent="-228512" defTabSz="1218727">
              <a:buFont typeface="System Font Regular"/>
              <a:buChar char="-"/>
              <a:defRPr/>
            </a:pPr>
            <a:r>
              <a:rPr lang="en-US" sz="1200" i="1">
                <a:solidFill>
                  <a:srgbClr val="000000"/>
                </a:solidFill>
                <a:latin typeface="Arial" panose="020B0604020202020204" pitchFamily="34" charset="0"/>
              </a:rPr>
              <a:t>Operations Manager</a:t>
            </a:r>
          </a:p>
          <a:p>
            <a:pPr marL="231731" indent="-231731" defTabSz="1218727">
              <a:buFontTx/>
              <a:buChar char="-"/>
              <a:defRPr/>
            </a:pPr>
            <a:r>
              <a:rPr lang="en-US" sz="1200" i="1">
                <a:solidFill>
                  <a:srgbClr val="000000"/>
                </a:solidFill>
                <a:latin typeface="Arial" panose="020B0604020202020204" pitchFamily="34" charset="0"/>
              </a:rPr>
              <a:t>Reliability Engineer</a:t>
            </a:r>
          </a:p>
          <a:p>
            <a:pPr marL="231731" indent="-231731" defTabSz="1218727">
              <a:buFontTx/>
              <a:buChar char="-"/>
              <a:defRPr/>
            </a:pPr>
            <a:r>
              <a:rPr lang="en-US" sz="1200" i="1">
                <a:solidFill>
                  <a:srgbClr val="000000"/>
                </a:solidFill>
                <a:latin typeface="Arial" panose="020B0604020202020204" pitchFamily="34" charset="0"/>
              </a:rPr>
              <a:t>Quality Manager</a:t>
            </a:r>
          </a:p>
          <a:p>
            <a:pPr marL="231731" indent="-231731" defTabSz="1218727">
              <a:buFontTx/>
              <a:buChar char="-"/>
              <a:defRPr/>
            </a:pPr>
            <a:r>
              <a:rPr lang="en-US" sz="1200" i="1">
                <a:solidFill>
                  <a:srgbClr val="000000"/>
                </a:solidFill>
                <a:latin typeface="Arial" panose="020B0604020202020204" pitchFamily="34" charset="0"/>
              </a:rPr>
              <a:t>Planners / Schedulers</a:t>
            </a:r>
          </a:p>
          <a:p>
            <a:pPr marL="231731" indent="-231731" defTabSz="1218727">
              <a:buFontTx/>
              <a:buChar char="-"/>
              <a:defRPr/>
            </a:pPr>
            <a:r>
              <a:rPr lang="en-US" sz="1200" i="1">
                <a:solidFill>
                  <a:srgbClr val="000000"/>
                </a:solidFill>
                <a:latin typeface="Arial" panose="020B0604020202020204" pitchFamily="34" charset="0"/>
              </a:rPr>
              <a:t>Dispatchers</a:t>
            </a:r>
          </a:p>
          <a:p>
            <a:pPr marL="231731" indent="-231731" defTabSz="1218727">
              <a:buFontTx/>
              <a:buChar char="-"/>
              <a:defRPr/>
            </a:pPr>
            <a:r>
              <a:rPr lang="en-US" sz="1200" i="1">
                <a:solidFill>
                  <a:srgbClr val="000000"/>
                </a:solidFill>
                <a:latin typeface="Arial" panose="020B0604020202020204" pitchFamily="34" charset="0"/>
              </a:rPr>
              <a:t>Storeroom Managers</a:t>
            </a:r>
          </a:p>
          <a:p>
            <a:pPr marL="231731" indent="-231731" defTabSz="1218727">
              <a:buFontTx/>
              <a:buChar char="-"/>
              <a:defRPr/>
            </a:pPr>
            <a:r>
              <a:rPr lang="en-US" sz="1200" i="1">
                <a:solidFill>
                  <a:srgbClr val="000000"/>
                </a:solidFill>
                <a:latin typeface="Arial" panose="020B0604020202020204" pitchFamily="34" charset="0"/>
              </a:rPr>
              <a:t>Purchasing Managers</a:t>
            </a:r>
          </a:p>
          <a:p>
            <a:pPr marL="231731" indent="-231731" defTabSz="1218727">
              <a:buFontTx/>
              <a:buChar char="-"/>
              <a:defRPr/>
            </a:pPr>
            <a:r>
              <a:rPr lang="en-US" sz="1200" i="1">
                <a:solidFill>
                  <a:srgbClr val="000000"/>
                </a:solidFill>
                <a:latin typeface="Arial" panose="020B0604020202020204" pitchFamily="34" charset="0"/>
              </a:rPr>
              <a:t>Facility Managers</a:t>
            </a:r>
          </a:p>
          <a:p>
            <a:pPr marL="231731" indent="-231731" defTabSz="1218727">
              <a:buFontTx/>
              <a:buChar char="-"/>
              <a:defRPr/>
            </a:pPr>
            <a:r>
              <a:rPr lang="en-US" sz="1200" i="1">
                <a:solidFill>
                  <a:srgbClr val="000000"/>
                </a:solidFill>
                <a:latin typeface="Arial" panose="020B0604020202020204" pitchFamily="34" charset="0"/>
              </a:rPr>
              <a:t>Space Planner</a:t>
            </a:r>
          </a:p>
          <a:p>
            <a:pPr marL="231731" indent="-231731" defTabSz="1218727">
              <a:buFontTx/>
              <a:buChar char="-"/>
              <a:defRPr/>
            </a:pPr>
            <a:r>
              <a:rPr lang="en-US" sz="1200" i="1" kern="0">
                <a:solidFill>
                  <a:srgbClr val="000000"/>
                </a:solidFill>
                <a:latin typeface="Arial" panose="020B0604020202020204" pitchFamily="34" charset="0"/>
              </a:rPr>
              <a:t>Reservation Coordinator</a:t>
            </a:r>
          </a:p>
          <a:p>
            <a:pPr marL="231731" indent="-231731" defTabSz="1218727">
              <a:buFontTx/>
              <a:buChar char="-"/>
              <a:defRPr/>
            </a:pPr>
            <a:r>
              <a:rPr lang="en-US" sz="1200" i="1">
                <a:solidFill>
                  <a:srgbClr val="000000"/>
                </a:solidFill>
                <a:latin typeface="Arial" panose="020B0604020202020204" pitchFamily="34" charset="0"/>
              </a:rPr>
              <a:t>Real Estate Strategist</a:t>
            </a:r>
          </a:p>
          <a:p>
            <a:pPr marL="231731" indent="-231731" defTabSz="1218727">
              <a:buFontTx/>
              <a:buChar char="-"/>
              <a:defRPr/>
            </a:pPr>
            <a:r>
              <a:rPr lang="en-US" sz="1200" i="1" kern="0">
                <a:solidFill>
                  <a:srgbClr val="000000"/>
                </a:solidFill>
                <a:latin typeface="Arial" panose="020B0604020202020204" pitchFamily="34" charset="0"/>
              </a:rPr>
              <a:t>Lease Administrator</a:t>
            </a:r>
          </a:p>
          <a:p>
            <a:pPr marL="231731" indent="-231731" defTabSz="1218727">
              <a:buFontTx/>
              <a:buChar char="-"/>
              <a:defRPr/>
            </a:pPr>
            <a:r>
              <a:rPr lang="en-US" sz="1200" i="1" kern="0">
                <a:solidFill>
                  <a:srgbClr val="000000"/>
                </a:solidFill>
                <a:latin typeface="Arial" panose="020B0604020202020204" pitchFamily="34" charset="0"/>
              </a:rPr>
              <a:t>Lease Accountant</a:t>
            </a:r>
          </a:p>
        </p:txBody>
      </p:sp>
      <p:sp>
        <p:nvSpPr>
          <p:cNvPr id="23" name="Text Placeholder 3">
            <a:extLst>
              <a:ext uri="{FF2B5EF4-FFF2-40B4-BE49-F238E27FC236}">
                <a16:creationId xmlns:a16="http://schemas.microsoft.com/office/drawing/2014/main" id="{985C5EA4-90E2-FFA3-FF80-905C011E3E8F}"/>
              </a:ext>
            </a:extLst>
          </p:cNvPr>
          <p:cNvSpPr txBox="1">
            <a:spLocks/>
          </p:cNvSpPr>
          <p:nvPr/>
        </p:nvSpPr>
        <p:spPr>
          <a:xfrm>
            <a:off x="8964579" y="950236"/>
            <a:ext cx="2213737" cy="637104"/>
          </a:xfrm>
          <a:prstGeom prst="rect">
            <a:avLst/>
          </a:prstGeom>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defTabSz="1218727">
              <a:defRPr/>
            </a:pPr>
            <a:r>
              <a:rPr lang="en-US" sz="1200" kern="0">
                <a:solidFill>
                  <a:srgbClr val="000000"/>
                </a:solidFill>
                <a:latin typeface="IBM Plex Sans Medm" panose="020B0503050203000203" pitchFamily="34" charset="0"/>
              </a:rPr>
              <a:t>Real Estate &amp; Facilities</a:t>
            </a:r>
            <a:endParaRPr lang="en-US" sz="1400" kern="0">
              <a:solidFill>
                <a:srgbClr val="000000"/>
              </a:solidFill>
              <a:latin typeface="IBM Plex Sans Medm" panose="020B0503050203000203" pitchFamily="34" charset="0"/>
            </a:endParaRPr>
          </a:p>
          <a:p>
            <a:pPr defTabSz="1218727">
              <a:defRPr/>
            </a:pPr>
            <a:r>
              <a:rPr lang="en-US" sz="1000" kern="0">
                <a:solidFill>
                  <a:srgbClr val="000000"/>
                </a:solidFill>
                <a:latin typeface="IBM Plex Sans" panose="020B0503050203000203" pitchFamily="34" charset="0"/>
              </a:rPr>
              <a:t>Intelligent Asset Management</a:t>
            </a:r>
          </a:p>
        </p:txBody>
      </p:sp>
      <p:cxnSp>
        <p:nvCxnSpPr>
          <p:cNvPr id="32" name="Straight Connector 31">
            <a:extLst>
              <a:ext uri="{FF2B5EF4-FFF2-40B4-BE49-F238E27FC236}">
                <a16:creationId xmlns:a16="http://schemas.microsoft.com/office/drawing/2014/main" id="{C20CCDA5-202D-6BAE-24EF-C69325BCE4EE}"/>
              </a:ext>
            </a:extLst>
          </p:cNvPr>
          <p:cNvCxnSpPr>
            <a:cxnSpLocks/>
          </p:cNvCxnSpPr>
          <p:nvPr/>
        </p:nvCxnSpPr>
        <p:spPr bwMode="auto">
          <a:xfrm>
            <a:off x="7494490" y="264078"/>
            <a:ext cx="0" cy="133694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3" name="Rectangle 42">
            <a:extLst>
              <a:ext uri="{FF2B5EF4-FFF2-40B4-BE49-F238E27FC236}">
                <a16:creationId xmlns:a16="http://schemas.microsoft.com/office/drawing/2014/main" id="{B8F2921B-218B-132A-F9BB-5CA5F5307F8F}"/>
              </a:ext>
            </a:extLst>
          </p:cNvPr>
          <p:cNvSpPr/>
          <p:nvPr/>
        </p:nvSpPr>
        <p:spPr>
          <a:xfrm>
            <a:off x="3048397" y="3171759"/>
            <a:ext cx="8854791" cy="270343"/>
          </a:xfrm>
          <a:prstGeom prst="rect">
            <a:avLst/>
          </a:prstGeom>
          <a:solidFill>
            <a:schemeClr val="accent1">
              <a:lumMod val="20000"/>
              <a:lumOff val="80000"/>
            </a:schemeClr>
          </a:solidFill>
          <a:ln>
            <a:solidFill>
              <a:schemeClr val="accent1"/>
            </a:solidFill>
          </a:ln>
        </p:spPr>
        <p:txBody>
          <a:bodyPr wrap="square" anchor="ctr">
            <a:noAutofit/>
          </a:bodyPr>
          <a:lstStyle/>
          <a:p>
            <a:pPr algn="ctr" defTabSz="342858">
              <a:spcBef>
                <a:spcPts val="1500"/>
              </a:spcBef>
              <a:spcAft>
                <a:spcPts val="1500"/>
              </a:spcAft>
              <a:defRPr/>
            </a:pPr>
            <a:r>
              <a:rPr lang="en-US" sz="1200" b="1">
                <a:solidFill>
                  <a:srgbClr val="000000"/>
                </a:solidFill>
                <a:latin typeface="IBM Plex Sans Light"/>
              </a:rPr>
              <a:t>Industry Solutions &amp; Add-on’s  </a:t>
            </a:r>
            <a:r>
              <a:rPr lang="en-US" sz="1200">
                <a:solidFill>
                  <a:srgbClr val="000000"/>
                </a:solidFill>
                <a:latin typeface="IBM Plex Sans Light"/>
              </a:rPr>
              <a:t>|   Accelerate time to value</a:t>
            </a:r>
          </a:p>
        </p:txBody>
      </p:sp>
      <p:cxnSp>
        <p:nvCxnSpPr>
          <p:cNvPr id="46" name="Straight Connector 45">
            <a:extLst>
              <a:ext uri="{FF2B5EF4-FFF2-40B4-BE49-F238E27FC236}">
                <a16:creationId xmlns:a16="http://schemas.microsoft.com/office/drawing/2014/main" id="{1B6A6691-A222-25E8-BB0F-46AA4EA8C184}"/>
              </a:ext>
            </a:extLst>
          </p:cNvPr>
          <p:cNvCxnSpPr>
            <a:cxnSpLocks/>
          </p:cNvCxnSpPr>
          <p:nvPr/>
        </p:nvCxnSpPr>
        <p:spPr bwMode="auto">
          <a:xfrm>
            <a:off x="7498221" y="1801964"/>
            <a:ext cx="0" cy="1099971"/>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0" name="Text Placeholder 3">
            <a:extLst>
              <a:ext uri="{FF2B5EF4-FFF2-40B4-BE49-F238E27FC236}">
                <a16:creationId xmlns:a16="http://schemas.microsoft.com/office/drawing/2014/main" id="{F58AAB72-7092-3406-1CC6-2283B98E2EA4}"/>
              </a:ext>
            </a:extLst>
          </p:cNvPr>
          <p:cNvSpPr txBox="1">
            <a:spLocks/>
          </p:cNvSpPr>
          <p:nvPr/>
        </p:nvSpPr>
        <p:spPr>
          <a:xfrm>
            <a:off x="3363752" y="2484590"/>
            <a:ext cx="2213737" cy="637104"/>
          </a:xfrm>
          <a:prstGeom prst="rect">
            <a:avLst/>
          </a:prstGeom>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defTabSz="1218727">
              <a:defRPr/>
            </a:pPr>
            <a:r>
              <a:rPr lang="en-US" sz="1200" kern="0">
                <a:solidFill>
                  <a:srgbClr val="000000"/>
                </a:solidFill>
                <a:latin typeface="IBM Plex Sans Medm" panose="020B0503050203000203" pitchFamily="34" charset="0"/>
              </a:rPr>
              <a:t>Monitor</a:t>
            </a:r>
            <a:endParaRPr lang="en-US" sz="1400" kern="0">
              <a:solidFill>
                <a:srgbClr val="000000"/>
              </a:solidFill>
              <a:latin typeface="IBM Plex Sans Medm" panose="020B0503050203000203" pitchFamily="34" charset="0"/>
            </a:endParaRPr>
          </a:p>
          <a:p>
            <a:pPr defTabSz="1218727">
              <a:defRPr/>
            </a:pPr>
            <a:r>
              <a:rPr lang="en-US" sz="1000" kern="0">
                <a:solidFill>
                  <a:srgbClr val="000000"/>
                </a:solidFill>
                <a:latin typeface="IBM Plex Sans" panose="020B0503050203000203" pitchFamily="34" charset="0"/>
              </a:rPr>
              <a:t>Monitor and Detect Anomalies</a:t>
            </a:r>
          </a:p>
          <a:p>
            <a:pPr defTabSz="1218727">
              <a:defRPr/>
            </a:pPr>
            <a:endParaRPr lang="en-US" sz="1000" kern="0">
              <a:solidFill>
                <a:srgbClr val="000000"/>
              </a:solidFill>
              <a:latin typeface="IBM Plex Sans" panose="020B0503050203000203" pitchFamily="34" charset="0"/>
            </a:endParaRPr>
          </a:p>
        </p:txBody>
      </p:sp>
      <p:sp>
        <p:nvSpPr>
          <p:cNvPr id="24" name="Text Placeholder 3">
            <a:extLst>
              <a:ext uri="{FF2B5EF4-FFF2-40B4-BE49-F238E27FC236}">
                <a16:creationId xmlns:a16="http://schemas.microsoft.com/office/drawing/2014/main" id="{14742FBD-23BA-86A7-CA05-5042B7AD27F3}"/>
              </a:ext>
            </a:extLst>
          </p:cNvPr>
          <p:cNvSpPr txBox="1">
            <a:spLocks/>
          </p:cNvSpPr>
          <p:nvPr/>
        </p:nvSpPr>
        <p:spPr>
          <a:xfrm>
            <a:off x="4465509" y="4241021"/>
            <a:ext cx="2213737" cy="637104"/>
          </a:xfrm>
          <a:prstGeom prst="rect">
            <a:avLst/>
          </a:prstGeom>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defTabSz="1218727">
              <a:defRPr/>
            </a:pPr>
            <a:r>
              <a:rPr lang="en-US" sz="1000" kern="0">
                <a:solidFill>
                  <a:srgbClr val="000000"/>
                </a:solidFill>
                <a:latin typeface="IBM Plex Sans Light"/>
              </a:rPr>
              <a:t>Manage </a:t>
            </a:r>
          </a:p>
          <a:p>
            <a:pPr defTabSz="1218727">
              <a:defRPr/>
            </a:pPr>
            <a:r>
              <a:rPr lang="en-US" sz="1100" kern="0">
                <a:solidFill>
                  <a:srgbClr val="000000"/>
                </a:solidFill>
                <a:latin typeface="IBM Plex Sans Medm" panose="020B0503050203000203" pitchFamily="34" charset="0"/>
              </a:rPr>
              <a:t>Health Safety and Environment</a:t>
            </a:r>
          </a:p>
          <a:p>
            <a:pPr defTabSz="1218727">
              <a:defRPr/>
            </a:pPr>
            <a:endParaRPr lang="en-US" sz="1000" kern="0">
              <a:solidFill>
                <a:srgbClr val="000000"/>
              </a:solidFill>
              <a:latin typeface="IBM Plex Sans Light"/>
            </a:endParaRPr>
          </a:p>
        </p:txBody>
      </p:sp>
      <p:sp>
        <p:nvSpPr>
          <p:cNvPr id="28" name="Text Placeholder 3">
            <a:extLst>
              <a:ext uri="{FF2B5EF4-FFF2-40B4-BE49-F238E27FC236}">
                <a16:creationId xmlns:a16="http://schemas.microsoft.com/office/drawing/2014/main" id="{DA8DC505-ABF6-C38D-6E35-3D89AB5155ED}"/>
              </a:ext>
            </a:extLst>
          </p:cNvPr>
          <p:cNvSpPr txBox="1">
            <a:spLocks/>
          </p:cNvSpPr>
          <p:nvPr/>
        </p:nvSpPr>
        <p:spPr>
          <a:xfrm>
            <a:off x="7173926" y="3730129"/>
            <a:ext cx="2213737" cy="637104"/>
          </a:xfrm>
          <a:prstGeom prst="rect">
            <a:avLst/>
          </a:prstGeom>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defTabSz="1218727">
              <a:defRPr/>
            </a:pPr>
            <a:r>
              <a:rPr lang="en-US" sz="1000" kern="0">
                <a:solidFill>
                  <a:srgbClr val="000000"/>
                </a:solidFill>
                <a:latin typeface="IBM Plex Sans Light"/>
              </a:rPr>
              <a:t>RE&amp;F </a:t>
            </a:r>
          </a:p>
          <a:p>
            <a:pPr defTabSz="1218727">
              <a:defRPr/>
            </a:pPr>
            <a:r>
              <a:rPr lang="en-US" sz="1100" kern="0">
                <a:solidFill>
                  <a:srgbClr val="000000"/>
                </a:solidFill>
                <a:latin typeface="IBM Plex Sans Medm" panose="020B0503050203000203" pitchFamily="34" charset="0"/>
              </a:rPr>
              <a:t>Lease Accounting</a:t>
            </a:r>
          </a:p>
          <a:p>
            <a:pPr defTabSz="1218727">
              <a:defRPr/>
            </a:pPr>
            <a:endParaRPr lang="en-US" sz="1000" kern="0">
              <a:solidFill>
                <a:srgbClr val="000000"/>
              </a:solidFill>
              <a:latin typeface="IBM Plex Sans Light"/>
            </a:endParaRPr>
          </a:p>
        </p:txBody>
      </p:sp>
      <p:sp>
        <p:nvSpPr>
          <p:cNvPr id="29" name="Text Placeholder 3">
            <a:extLst>
              <a:ext uri="{FF2B5EF4-FFF2-40B4-BE49-F238E27FC236}">
                <a16:creationId xmlns:a16="http://schemas.microsoft.com/office/drawing/2014/main" id="{BB461F9C-4471-DF8A-38B8-37A3342B1519}"/>
              </a:ext>
            </a:extLst>
          </p:cNvPr>
          <p:cNvSpPr txBox="1">
            <a:spLocks/>
          </p:cNvSpPr>
          <p:nvPr/>
        </p:nvSpPr>
        <p:spPr>
          <a:xfrm>
            <a:off x="7173926" y="4232495"/>
            <a:ext cx="2213737" cy="637104"/>
          </a:xfrm>
          <a:prstGeom prst="rect">
            <a:avLst/>
          </a:prstGeom>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defTabSz="1218727">
              <a:defRPr/>
            </a:pPr>
            <a:r>
              <a:rPr lang="en-US" sz="1000" kern="0">
                <a:solidFill>
                  <a:srgbClr val="000000"/>
                </a:solidFill>
                <a:latin typeface="IBM Plex Sans Light"/>
              </a:rPr>
              <a:t>Manage </a:t>
            </a:r>
          </a:p>
          <a:p>
            <a:pPr defTabSz="1218727">
              <a:defRPr/>
            </a:pPr>
            <a:r>
              <a:rPr lang="en-US" sz="1100" kern="0">
                <a:solidFill>
                  <a:srgbClr val="000000"/>
                </a:solidFill>
                <a:latin typeface="IBM Plex Sans Medm" panose="020B0503050203000203" pitchFamily="34" charset="0"/>
              </a:rPr>
              <a:t>Scheduler Optimization</a:t>
            </a:r>
          </a:p>
          <a:p>
            <a:pPr defTabSz="1218727">
              <a:defRPr/>
            </a:pPr>
            <a:endParaRPr lang="en-US" sz="1000" kern="0">
              <a:solidFill>
                <a:srgbClr val="000000"/>
              </a:solidFill>
              <a:latin typeface="IBM Plex Sans Light"/>
            </a:endParaRPr>
          </a:p>
        </p:txBody>
      </p:sp>
      <p:sp>
        <p:nvSpPr>
          <p:cNvPr id="35" name="Text Placeholder 3">
            <a:extLst>
              <a:ext uri="{FF2B5EF4-FFF2-40B4-BE49-F238E27FC236}">
                <a16:creationId xmlns:a16="http://schemas.microsoft.com/office/drawing/2014/main" id="{5366662D-CF46-E442-31E9-7CF43FF1753E}"/>
              </a:ext>
            </a:extLst>
          </p:cNvPr>
          <p:cNvSpPr txBox="1">
            <a:spLocks/>
          </p:cNvSpPr>
          <p:nvPr/>
        </p:nvSpPr>
        <p:spPr>
          <a:xfrm>
            <a:off x="9659825" y="3730129"/>
            <a:ext cx="2213737" cy="637104"/>
          </a:xfrm>
          <a:prstGeom prst="rect">
            <a:avLst/>
          </a:prstGeom>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defTabSz="1218727">
              <a:defRPr/>
            </a:pPr>
            <a:r>
              <a:rPr lang="en-US" sz="1000" kern="0">
                <a:solidFill>
                  <a:srgbClr val="000000"/>
                </a:solidFill>
                <a:latin typeface="IBM Plex Sans Light"/>
              </a:rPr>
              <a:t>Manage </a:t>
            </a:r>
          </a:p>
          <a:p>
            <a:pPr defTabSz="1218727">
              <a:defRPr/>
            </a:pPr>
            <a:r>
              <a:rPr lang="en-US" sz="1100" kern="0">
                <a:solidFill>
                  <a:srgbClr val="000000"/>
                </a:solidFill>
                <a:latin typeface="IBM Plex Sans Medm" panose="020B0503050203000203" pitchFamily="34" charset="0"/>
              </a:rPr>
              <a:t>Maximo IT</a:t>
            </a:r>
          </a:p>
          <a:p>
            <a:pPr defTabSz="1218727">
              <a:defRPr/>
            </a:pPr>
            <a:endParaRPr lang="en-US" sz="1000" kern="0">
              <a:solidFill>
                <a:srgbClr val="000000"/>
              </a:solidFill>
              <a:latin typeface="IBM Plex Sans Light"/>
            </a:endParaRPr>
          </a:p>
        </p:txBody>
      </p:sp>
      <p:sp>
        <p:nvSpPr>
          <p:cNvPr id="50" name="Text Placeholder 3">
            <a:extLst>
              <a:ext uri="{FF2B5EF4-FFF2-40B4-BE49-F238E27FC236}">
                <a16:creationId xmlns:a16="http://schemas.microsoft.com/office/drawing/2014/main" id="{7897F253-5AC6-CCE4-6CE3-C7E2C2E73B56}"/>
              </a:ext>
            </a:extLst>
          </p:cNvPr>
          <p:cNvSpPr txBox="1">
            <a:spLocks/>
          </p:cNvSpPr>
          <p:nvPr/>
        </p:nvSpPr>
        <p:spPr>
          <a:xfrm>
            <a:off x="9659825" y="4213641"/>
            <a:ext cx="2213737" cy="637104"/>
          </a:xfrm>
          <a:prstGeom prst="rect">
            <a:avLst/>
          </a:prstGeom>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defTabSz="1218727">
              <a:defRPr/>
            </a:pPr>
            <a:r>
              <a:rPr lang="en-US" sz="1000" kern="0">
                <a:solidFill>
                  <a:srgbClr val="000000"/>
                </a:solidFill>
                <a:latin typeface="IBM Plex Sans Light"/>
              </a:rPr>
              <a:t>RE&amp;F </a:t>
            </a:r>
          </a:p>
          <a:p>
            <a:pPr defTabSz="1218727">
              <a:defRPr/>
            </a:pPr>
            <a:r>
              <a:rPr lang="en-US" sz="1100" kern="0">
                <a:solidFill>
                  <a:srgbClr val="000000"/>
                </a:solidFill>
                <a:latin typeface="IBM Plex Sans Medm" panose="020B0503050203000203" pitchFamily="34" charset="0"/>
              </a:rPr>
              <a:t>Space Planning</a:t>
            </a:r>
          </a:p>
        </p:txBody>
      </p:sp>
      <p:pic>
        <p:nvPicPr>
          <p:cNvPr id="40" name="Picture 39">
            <a:extLst>
              <a:ext uri="{FF2B5EF4-FFF2-40B4-BE49-F238E27FC236}">
                <a16:creationId xmlns:a16="http://schemas.microsoft.com/office/drawing/2014/main" id="{F11DA8A5-9BB1-099E-0025-BD48A83B5F45}"/>
              </a:ext>
            </a:extLst>
          </p:cNvPr>
          <p:cNvPicPr>
            <a:picLocks noChangeAspect="1"/>
          </p:cNvPicPr>
          <p:nvPr/>
        </p:nvPicPr>
        <p:blipFill>
          <a:blip r:embed="rId12"/>
          <a:stretch>
            <a:fillRect/>
          </a:stretch>
        </p:blipFill>
        <p:spPr>
          <a:xfrm>
            <a:off x="8964578" y="188660"/>
            <a:ext cx="604363" cy="695018"/>
          </a:xfrm>
          <a:prstGeom prst="rect">
            <a:avLst/>
          </a:prstGeom>
        </p:spPr>
      </p:pic>
      <p:pic>
        <p:nvPicPr>
          <p:cNvPr id="41" name="Picture 40">
            <a:extLst>
              <a:ext uri="{FF2B5EF4-FFF2-40B4-BE49-F238E27FC236}">
                <a16:creationId xmlns:a16="http://schemas.microsoft.com/office/drawing/2014/main" id="{6ECE3F88-0511-0594-6733-26CEB1A9E9B2}"/>
              </a:ext>
            </a:extLst>
          </p:cNvPr>
          <p:cNvPicPr>
            <a:picLocks noChangeAspect="1"/>
          </p:cNvPicPr>
          <p:nvPr/>
        </p:nvPicPr>
        <p:blipFill>
          <a:blip r:embed="rId13"/>
          <a:stretch>
            <a:fillRect/>
          </a:stretch>
        </p:blipFill>
        <p:spPr>
          <a:xfrm>
            <a:off x="7694477" y="1621935"/>
            <a:ext cx="845507" cy="766592"/>
          </a:xfrm>
          <a:prstGeom prst="rect">
            <a:avLst/>
          </a:prstGeom>
        </p:spPr>
      </p:pic>
      <p:pic>
        <p:nvPicPr>
          <p:cNvPr id="51" name="Picture 50">
            <a:extLst>
              <a:ext uri="{FF2B5EF4-FFF2-40B4-BE49-F238E27FC236}">
                <a16:creationId xmlns:a16="http://schemas.microsoft.com/office/drawing/2014/main" id="{6FB357EE-AEEA-1C41-18CD-65BAF73C84C3}"/>
              </a:ext>
            </a:extLst>
          </p:cNvPr>
          <p:cNvPicPr>
            <a:picLocks noChangeAspect="1"/>
          </p:cNvPicPr>
          <p:nvPr/>
        </p:nvPicPr>
        <p:blipFill>
          <a:blip r:embed="rId14"/>
          <a:stretch>
            <a:fillRect/>
          </a:stretch>
        </p:blipFill>
        <p:spPr>
          <a:xfrm>
            <a:off x="3127119" y="1651338"/>
            <a:ext cx="868067" cy="707313"/>
          </a:xfrm>
          <a:prstGeom prst="rect">
            <a:avLst/>
          </a:prstGeom>
        </p:spPr>
      </p:pic>
      <p:pic>
        <p:nvPicPr>
          <p:cNvPr id="1039" name="Picture 1038">
            <a:extLst>
              <a:ext uri="{FF2B5EF4-FFF2-40B4-BE49-F238E27FC236}">
                <a16:creationId xmlns:a16="http://schemas.microsoft.com/office/drawing/2014/main" id="{ADF17794-6AA0-5EBE-747E-7CA898075E7D}"/>
              </a:ext>
            </a:extLst>
          </p:cNvPr>
          <p:cNvPicPr>
            <a:picLocks noChangeAspect="1"/>
          </p:cNvPicPr>
          <p:nvPr/>
        </p:nvPicPr>
        <p:blipFill>
          <a:blip r:embed="rId15">
            <a:alphaModFix amt="85000"/>
          </a:blip>
          <a:stretch>
            <a:fillRect/>
          </a:stretch>
        </p:blipFill>
        <p:spPr>
          <a:xfrm>
            <a:off x="10983090" y="3747737"/>
            <a:ext cx="681275" cy="709273"/>
          </a:xfrm>
          <a:prstGeom prst="rect">
            <a:avLst/>
          </a:prstGeom>
        </p:spPr>
      </p:pic>
      <p:sp>
        <p:nvSpPr>
          <p:cNvPr id="30" name="Slide Number Placeholder 6">
            <a:extLst>
              <a:ext uri="{FF2B5EF4-FFF2-40B4-BE49-F238E27FC236}">
                <a16:creationId xmlns:a16="http://schemas.microsoft.com/office/drawing/2014/main" id="{459F73D7-3730-221C-8161-A02F96AAB1FA}"/>
              </a:ext>
            </a:extLst>
          </p:cNvPr>
          <p:cNvSpPr txBox="1">
            <a:spLocks/>
          </p:cNvSpPr>
          <p:nvPr/>
        </p:nvSpPr>
        <p:spPr>
          <a:xfrm>
            <a:off x="9226712" y="6523165"/>
            <a:ext cx="2742843" cy="182010"/>
          </a:xfrm>
          <a:prstGeom prst="rect">
            <a:avLst/>
          </a:prstGeom>
        </p:spPr>
        <p:txBody>
          <a:bodyPr vert="horz" lIns="0" tIns="0" rIns="0" bIns="0" rtlCol="0" anchor="ctr"/>
          <a:lstStyle>
            <a:defPPr>
              <a:defRPr lang="en-US"/>
            </a:defPPr>
            <a:lvl1pPr marL="0" algn="r" defTabSz="685983" rtl="0" eaLnBrk="1" latinLnBrk="0" hangingPunct="1">
              <a:defRPr sz="600" kern="1200" baseline="0">
                <a:solidFill>
                  <a:schemeClr val="tx1"/>
                </a:solidFill>
                <a:latin typeface="+mn-lt"/>
                <a:ea typeface="Arial" charset="0"/>
                <a:cs typeface="Arial" charset="0"/>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a:lstStyle>
          <a:p>
            <a:pPr defTabSz="914473">
              <a:defRPr/>
            </a:pPr>
            <a:fld id="{3FD999D4-B456-9943-89B7-30D56181CE18}" type="slidenum">
              <a:rPr lang="en-US" sz="800">
                <a:solidFill>
                  <a:srgbClr val="000000"/>
                </a:solidFill>
                <a:latin typeface="IBM Plex Sans Light"/>
              </a:rPr>
              <a:pPr defTabSz="914473">
                <a:defRPr/>
              </a:pPr>
              <a:t>2</a:t>
            </a:fld>
            <a:endParaRPr lang="en-US" sz="800">
              <a:solidFill>
                <a:srgbClr val="000000"/>
              </a:solidFill>
              <a:latin typeface="IBM Plex Sans Light"/>
            </a:endParaRPr>
          </a:p>
        </p:txBody>
      </p:sp>
    </p:spTree>
    <p:extLst>
      <p:ext uri="{BB962C8B-B14F-4D97-AF65-F5344CB8AC3E}">
        <p14:creationId xmlns:p14="http://schemas.microsoft.com/office/powerpoint/2010/main" val="151782526"/>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0" name="Rectangle 149">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Title 1">
            <a:extLst>
              <a:ext uri="{FF2B5EF4-FFF2-40B4-BE49-F238E27FC236}">
                <a16:creationId xmlns:a16="http://schemas.microsoft.com/office/drawing/2014/main" id="{673D2170-F924-473E-9CE0-6B0B76095EBA}"/>
              </a:ext>
            </a:extLst>
          </p:cNvPr>
          <p:cNvSpPr>
            <a:spLocks noGrp="1"/>
          </p:cNvSpPr>
          <p:nvPr>
            <p:ph type="title"/>
          </p:nvPr>
        </p:nvSpPr>
        <p:spPr>
          <a:xfrm>
            <a:off x="640080" y="325369"/>
            <a:ext cx="4368602" cy="1956841"/>
          </a:xfrm>
        </p:spPr>
        <p:txBody>
          <a:bodyPr vert="horz" lIns="91440" tIns="45720" rIns="91440" bIns="45720" rtlCol="0" anchor="b">
            <a:normAutofit/>
          </a:bodyPr>
          <a:lstStyle/>
          <a:p>
            <a:r>
              <a:rPr lang="en-US" sz="3000"/>
              <a:t>TRIRIGA is the leading enterprise solution </a:t>
            </a:r>
            <a:br>
              <a:rPr lang="en-US" sz="3000"/>
            </a:br>
            <a:r>
              <a:rPr lang="en-US" sz="3000"/>
              <a:t>to manage real estate portfolios and operations </a:t>
            </a:r>
          </a:p>
        </p:txBody>
      </p:sp>
      <p:sp>
        <p:nvSpPr>
          <p:cNvPr id="15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Text Placeholder">
            <a:extLst>
              <a:ext uri="{FF2B5EF4-FFF2-40B4-BE49-F238E27FC236}">
                <a16:creationId xmlns:a16="http://schemas.microsoft.com/office/drawing/2014/main" id="{8A89D77A-9CF0-45CF-8AAC-E399AC3E4D7F}"/>
              </a:ext>
            </a:extLst>
          </p:cNvPr>
          <p:cNvSpPr txBox="1">
            <a:spLocks/>
          </p:cNvSpPr>
          <p:nvPr/>
        </p:nvSpPr>
        <p:spPr>
          <a:xfrm>
            <a:off x="640080" y="2872899"/>
            <a:ext cx="4243589" cy="3320668"/>
          </a:xfrm>
          <a:prstGeom prst="rect">
            <a:avLst/>
          </a:prstGeom>
        </p:spPr>
        <p:txBody>
          <a:bodyPr vert="horz" lIns="91440" tIns="45720" rIns="91440" bIns="45720" rtlCol="0">
            <a:normAutofit/>
          </a:bodyPr>
          <a:lstStyle>
            <a:lvl1pPr marL="0" indent="0" algn="l" rtl="0" eaLnBrk="1" fontAlgn="base" hangingPunct="1">
              <a:lnSpc>
                <a:spcPct val="100000"/>
              </a:lnSpc>
              <a:spcBef>
                <a:spcPts val="1100"/>
              </a:spcBef>
              <a:spcAft>
                <a:spcPct val="0"/>
              </a:spcAft>
              <a:buClr>
                <a:srgbClr val="001141"/>
              </a:buClr>
              <a:buSzPct val="90000"/>
              <a:buFont typeface="IBM Plex Sans Light" pitchFamily="2" charset="2"/>
              <a:buNone/>
              <a:defRPr sz="1400"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marL="171452" indent="-173736" algn="l" rtl="0" eaLnBrk="1" fontAlgn="base" hangingPunct="1">
              <a:lnSpc>
                <a:spcPct val="100000"/>
              </a:lnSpc>
              <a:spcBef>
                <a:spcPts val="1100"/>
              </a:spcBef>
              <a:spcAft>
                <a:spcPct val="0"/>
              </a:spcAft>
              <a:buClr>
                <a:srgbClr val="001141"/>
              </a:buClr>
              <a:buSzPct val="100000"/>
              <a:buFont typeface="IBM Plex Sans Light" charset="-120"/>
              <a:buChar char="–"/>
              <a:tabLst/>
              <a:defRPr sz="1400"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2pPr>
            <a:lvl3pPr marL="342905" indent="-173736" algn="l" rtl="0" eaLnBrk="1" fontAlgn="base" hangingPunct="1">
              <a:lnSpc>
                <a:spcPct val="100000"/>
              </a:lnSpc>
              <a:spcBef>
                <a:spcPts val="1100"/>
              </a:spcBef>
              <a:spcAft>
                <a:spcPct val="0"/>
              </a:spcAft>
              <a:buClr>
                <a:srgbClr val="001141"/>
              </a:buClr>
              <a:buSzPct val="100000"/>
              <a:buFont typeface="IBM Plex Sans Light" panose="020B0604020202020204" pitchFamily="34" charset="0"/>
              <a:buChar char="•"/>
              <a:tabLst/>
              <a:defRPr sz="1400"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3pPr>
            <a:lvl4pPr marL="628658" indent="-173736" algn="l" rtl="0" eaLnBrk="1" fontAlgn="base" hangingPunct="1">
              <a:lnSpc>
                <a:spcPct val="100000"/>
              </a:lnSpc>
              <a:spcBef>
                <a:spcPts val="1100"/>
              </a:spcBef>
              <a:spcAft>
                <a:spcPct val="0"/>
              </a:spcAft>
              <a:buClr>
                <a:srgbClr val="001141"/>
              </a:buClr>
              <a:buSzPct val="100000"/>
              <a:buFont typeface="IBM Plex Sans Light" charset="-120"/>
              <a:buChar char="–"/>
              <a:tabLst/>
              <a:defRPr sz="1400" b="0" i="0" baseline="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4pPr>
            <a:lvl5pPr marL="803285" indent="-173736" algn="l" rtl="0" eaLnBrk="1" fontAlgn="base" hangingPunct="1">
              <a:lnSpc>
                <a:spcPct val="100000"/>
              </a:lnSpc>
              <a:spcBef>
                <a:spcPts val="1100"/>
              </a:spcBef>
              <a:spcAft>
                <a:spcPct val="0"/>
              </a:spcAft>
              <a:buClr>
                <a:srgbClr val="001141"/>
              </a:buClr>
              <a:buFont typeface="IBM Plex Sans Light" charset="-120"/>
              <a:buChar char="»"/>
              <a:tabLst/>
              <a:defRPr sz="1400"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5pPr>
            <a:lvl6pPr marL="1583721" indent="-129670" algn="l" rtl="0" eaLnBrk="1" fontAlgn="base" hangingPunct="1">
              <a:spcBef>
                <a:spcPct val="20000"/>
              </a:spcBef>
              <a:spcAft>
                <a:spcPct val="0"/>
              </a:spcAft>
              <a:buClr>
                <a:schemeClr val="bg1"/>
              </a:buClr>
              <a:buChar char="»"/>
              <a:defRPr sz="1269">
                <a:solidFill>
                  <a:schemeClr val="bg1"/>
                </a:solidFill>
                <a:latin typeface="IBM Plex Sans Light" charset="0"/>
              </a:defRPr>
            </a:lvl6pPr>
            <a:lvl7pPr marL="1946291" indent="-129670" algn="l" rtl="0" eaLnBrk="1" fontAlgn="base" hangingPunct="1">
              <a:spcBef>
                <a:spcPct val="20000"/>
              </a:spcBef>
              <a:spcAft>
                <a:spcPct val="0"/>
              </a:spcAft>
              <a:buClr>
                <a:schemeClr val="bg1"/>
              </a:buClr>
              <a:buChar char="»"/>
              <a:defRPr sz="1269">
                <a:solidFill>
                  <a:schemeClr val="bg1"/>
                </a:solidFill>
                <a:latin typeface="IBM Plex Sans Light" charset="0"/>
              </a:defRPr>
            </a:lvl7pPr>
            <a:lvl8pPr marL="2308860" indent="-129670" algn="l" rtl="0" eaLnBrk="1" fontAlgn="base" hangingPunct="1">
              <a:spcBef>
                <a:spcPct val="20000"/>
              </a:spcBef>
              <a:spcAft>
                <a:spcPct val="0"/>
              </a:spcAft>
              <a:buClr>
                <a:schemeClr val="bg1"/>
              </a:buClr>
              <a:buChar char="»"/>
              <a:defRPr sz="1269">
                <a:solidFill>
                  <a:schemeClr val="bg1"/>
                </a:solidFill>
                <a:latin typeface="IBM Plex Sans Light" charset="0"/>
              </a:defRPr>
            </a:lvl8pPr>
            <a:lvl9pPr marL="2671430" indent="-129670" algn="l" rtl="0" eaLnBrk="1" fontAlgn="base" hangingPunct="1">
              <a:spcBef>
                <a:spcPct val="20000"/>
              </a:spcBef>
              <a:spcAft>
                <a:spcPct val="0"/>
              </a:spcAft>
              <a:buClr>
                <a:schemeClr val="bg1"/>
              </a:buClr>
              <a:buChar char="»"/>
              <a:defRPr sz="1269">
                <a:solidFill>
                  <a:schemeClr val="bg1"/>
                </a:solidFill>
                <a:latin typeface="IBM Plex Sans Light" charset="0"/>
              </a:defRPr>
            </a:lvl9pPr>
          </a:lstStyle>
          <a:p>
            <a:pPr indent="-228600">
              <a:lnSpc>
                <a:spcPct val="90000"/>
              </a:lnSpc>
              <a:buFont typeface="Arial" panose="020B0604020202020204" pitchFamily="34" charset="0"/>
              <a:buChar char="•"/>
              <a:defRPr/>
            </a:pPr>
            <a:r>
              <a:rPr lang="en-US" sz="1500">
                <a:latin typeface="+mn-lt"/>
                <a:ea typeface="+mn-ea"/>
                <a:cs typeface="+mn-cs"/>
              </a:rPr>
              <a:t>TRIRIGA helps enterprises meet their operational needs, optimize costs, sustainability and the workplace experience across real estate lifecycles.</a:t>
            </a:r>
          </a:p>
          <a:p>
            <a:pPr indent="-228600">
              <a:lnSpc>
                <a:spcPct val="90000"/>
              </a:lnSpc>
              <a:buFont typeface="Arial" panose="020B0604020202020204" pitchFamily="34" charset="0"/>
              <a:buChar char="•"/>
              <a:defRPr/>
            </a:pPr>
            <a:r>
              <a:rPr lang="en-US" sz="1500">
                <a:latin typeface="+mn-lt"/>
                <a:ea typeface="+mn-ea"/>
                <a:cs typeface="+mn-cs"/>
              </a:rPr>
              <a:t>TRIRIGA integrates data and automates processes through the complex lifecycle of how companies </a:t>
            </a:r>
          </a:p>
          <a:p>
            <a:pPr marL="228557" indent="-228600">
              <a:lnSpc>
                <a:spcPct val="90000"/>
              </a:lnSpc>
              <a:buFont typeface="Arial" panose="020B0604020202020204" pitchFamily="34" charset="0"/>
              <a:buChar char="•"/>
              <a:defRPr/>
            </a:pPr>
            <a:r>
              <a:rPr lang="en-US" sz="1500">
                <a:latin typeface="+mn-lt"/>
                <a:ea typeface="+mn-ea"/>
                <a:cs typeface="+mn-cs"/>
              </a:rPr>
              <a:t>on-board facilities and the space they need </a:t>
            </a:r>
          </a:p>
          <a:p>
            <a:pPr marL="228557" indent="-228600">
              <a:lnSpc>
                <a:spcPct val="90000"/>
              </a:lnSpc>
              <a:buFont typeface="Arial" panose="020B0604020202020204" pitchFamily="34" charset="0"/>
              <a:buChar char="•"/>
              <a:defRPr/>
            </a:pPr>
            <a:r>
              <a:rPr lang="en-US" sz="1500">
                <a:latin typeface="+mn-lt"/>
                <a:ea typeface="+mn-ea"/>
                <a:cs typeface="+mn-cs"/>
              </a:rPr>
              <a:t>utilize that space for their employees, partners or customers</a:t>
            </a:r>
          </a:p>
          <a:p>
            <a:pPr marL="228557" indent="-228600">
              <a:lnSpc>
                <a:spcPct val="90000"/>
              </a:lnSpc>
              <a:buFont typeface="Arial" panose="020B0604020202020204" pitchFamily="34" charset="0"/>
              <a:buChar char="•"/>
              <a:defRPr/>
            </a:pPr>
            <a:r>
              <a:rPr lang="en-US" sz="1500">
                <a:latin typeface="+mn-lt"/>
                <a:ea typeface="+mn-ea"/>
                <a:cs typeface="+mn-cs"/>
              </a:rPr>
              <a:t>ultimately dispose of it</a:t>
            </a:r>
          </a:p>
        </p:txBody>
      </p:sp>
      <p:pic>
        <p:nvPicPr>
          <p:cNvPr id="104" name="Picture 103">
            <a:extLst>
              <a:ext uri="{FF2B5EF4-FFF2-40B4-BE49-F238E27FC236}">
                <a16:creationId xmlns:a16="http://schemas.microsoft.com/office/drawing/2014/main" id="{5AE244A2-421B-9926-6896-80D0905AB8CC}"/>
              </a:ext>
            </a:extLst>
          </p:cNvPr>
          <p:cNvPicPr>
            <a:picLocks noChangeAspect="1"/>
          </p:cNvPicPr>
          <p:nvPr/>
        </p:nvPicPr>
        <p:blipFill>
          <a:blip r:embed="rId3"/>
          <a:srcRect l="318" r="-1" b="-1"/>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495257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Oval 38">
            <a:extLst>
              <a:ext uri="{FF2B5EF4-FFF2-40B4-BE49-F238E27FC236}">
                <a16:creationId xmlns:a16="http://schemas.microsoft.com/office/drawing/2014/main" id="{7630FDE3-8DA4-9DB6-F58A-F4BB2B633E5B}"/>
              </a:ext>
            </a:extLst>
          </p:cNvPr>
          <p:cNvSpPr/>
          <p:nvPr/>
        </p:nvSpPr>
        <p:spPr bwMode="auto">
          <a:xfrm>
            <a:off x="3783575" y="1577257"/>
            <a:ext cx="4414223" cy="4414223"/>
          </a:xfrm>
          <a:prstGeom prst="ellipse">
            <a:avLst/>
          </a:prstGeom>
          <a:solidFill>
            <a:srgbClr val="F4F4F4"/>
          </a:solidFill>
          <a:ln w="19050">
            <a:noFill/>
            <a:prstDash val="dash"/>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US" sz="700" dirty="0">
              <a:solidFill>
                <a:schemeClr val="bg1"/>
              </a:solidFill>
            </a:endParaRPr>
          </a:p>
        </p:txBody>
      </p:sp>
      <p:sp>
        <p:nvSpPr>
          <p:cNvPr id="32" name="Oval 31">
            <a:extLst>
              <a:ext uri="{FF2B5EF4-FFF2-40B4-BE49-F238E27FC236}">
                <a16:creationId xmlns:a16="http://schemas.microsoft.com/office/drawing/2014/main" id="{18E73B38-0809-3A50-55AC-EA2D119450CE}"/>
              </a:ext>
            </a:extLst>
          </p:cNvPr>
          <p:cNvSpPr/>
          <p:nvPr/>
        </p:nvSpPr>
        <p:spPr bwMode="auto">
          <a:xfrm>
            <a:off x="3350556" y="1155811"/>
            <a:ext cx="5257115" cy="5257115"/>
          </a:xfrm>
          <a:prstGeom prst="ellipse">
            <a:avLst/>
          </a:prstGeom>
          <a:noFill/>
          <a:ln w="19050">
            <a:solidFill>
              <a:schemeClr val="bg1">
                <a:lumMod val="85000"/>
              </a:schemeClr>
            </a:solidFill>
            <a:prstDash val="dash"/>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US" sz="700" dirty="0">
              <a:solidFill>
                <a:schemeClr val="bg1"/>
              </a:solidFill>
            </a:endParaRPr>
          </a:p>
        </p:txBody>
      </p:sp>
      <p:sp>
        <p:nvSpPr>
          <p:cNvPr id="2" name="Title 1">
            <a:extLst>
              <a:ext uri="{FF2B5EF4-FFF2-40B4-BE49-F238E27FC236}">
                <a16:creationId xmlns:a16="http://schemas.microsoft.com/office/drawing/2014/main" id="{FFC00323-CBCF-6240-4267-FA9644795729}"/>
              </a:ext>
            </a:extLst>
          </p:cNvPr>
          <p:cNvSpPr>
            <a:spLocks noGrp="1"/>
          </p:cNvSpPr>
          <p:nvPr>
            <p:ph type="title"/>
          </p:nvPr>
        </p:nvSpPr>
        <p:spPr>
          <a:xfrm>
            <a:off x="276417" y="241829"/>
            <a:ext cx="3857105" cy="762695"/>
          </a:xfrm>
        </p:spPr>
        <p:txBody>
          <a:bodyPr>
            <a:normAutofit fontScale="90000"/>
          </a:bodyPr>
          <a:lstStyle/>
          <a:p>
            <a:r>
              <a:rPr lang="en-US" sz="2200" dirty="0">
                <a:solidFill>
                  <a:srgbClr val="000000"/>
                </a:solidFill>
              </a:rPr>
              <a:t>Strategic Real Estate Asset Management can extend beyond IWMS to manage complex business operations</a:t>
            </a:r>
          </a:p>
        </p:txBody>
      </p:sp>
      <p:sp>
        <p:nvSpPr>
          <p:cNvPr id="5" name="TextBox 4">
            <a:extLst>
              <a:ext uri="{FF2B5EF4-FFF2-40B4-BE49-F238E27FC236}">
                <a16:creationId xmlns:a16="http://schemas.microsoft.com/office/drawing/2014/main" id="{B827E910-C33B-82CF-A937-37583F8B8F33}"/>
              </a:ext>
            </a:extLst>
          </p:cNvPr>
          <p:cNvSpPr txBox="1"/>
          <p:nvPr/>
        </p:nvSpPr>
        <p:spPr>
          <a:xfrm>
            <a:off x="-497329" y="-150706"/>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222188" indent="-223330" defTabSz="1218956">
              <a:spcBef>
                <a:spcPts val="1450"/>
              </a:spcBef>
              <a:buSzPct val="100000"/>
              <a:buFontTx/>
              <a:buChar char="–"/>
            </a:pPr>
            <a:endParaRPr lang="en-US" sz="900" kern="0" dirty="0">
              <a:solidFill>
                <a:srgbClr val="000000"/>
              </a:solidFill>
              <a:ea typeface="+mj-ea"/>
              <a:cs typeface="+mj-cs"/>
              <a:sym typeface="IBM Plex Sans Light"/>
            </a:endParaRPr>
          </a:p>
        </p:txBody>
      </p:sp>
      <p:sp>
        <p:nvSpPr>
          <p:cNvPr id="6" name="Text Placeholder 4">
            <a:extLst>
              <a:ext uri="{FF2B5EF4-FFF2-40B4-BE49-F238E27FC236}">
                <a16:creationId xmlns:a16="http://schemas.microsoft.com/office/drawing/2014/main" id="{DAB246C1-03F9-B98D-BB30-BCD713928058}"/>
              </a:ext>
            </a:extLst>
          </p:cNvPr>
          <p:cNvSpPr txBox="1">
            <a:spLocks/>
          </p:cNvSpPr>
          <p:nvPr/>
        </p:nvSpPr>
        <p:spPr>
          <a:xfrm>
            <a:off x="261511" y="4257541"/>
            <a:ext cx="2477587" cy="260422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2900"/>
              </a:spcBef>
              <a:spcAft>
                <a:spcPts val="0"/>
              </a:spcAft>
              <a:buClrTx/>
              <a:buSzTx/>
              <a:buFontTx/>
              <a:buNone/>
              <a:tabLst/>
              <a:defRPr sz="3600" b="0" i="0" u="none" strike="noStrike" cap="none" spc="0" baseline="0">
                <a:solidFill>
                  <a:srgbClr val="000000"/>
                </a:solidFill>
                <a:uFillTx/>
                <a:latin typeface="+mj-lt"/>
                <a:ea typeface="+mj-ea"/>
                <a:cs typeface="+mj-cs"/>
                <a:sym typeface="IBM Plex Sans Light"/>
              </a:defRPr>
            </a:lvl1pPr>
            <a:lvl2pPr marL="444465"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2pPr>
            <a:lvl3pPr marL="61591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3pPr>
            <a:lvl4pPr marL="901671"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4pPr>
            <a:lvl5pPr marL="107629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spcBef>
                <a:spcPts val="0"/>
              </a:spcBef>
            </a:pPr>
            <a:r>
              <a:rPr lang="en-US" sz="1200" dirty="0">
                <a:solidFill>
                  <a:schemeClr val="tx1"/>
                </a:solidFill>
                <a:latin typeface="IBM Plex Sans Medium" panose="020B0503050203000203" pitchFamily="34" charset="0"/>
              </a:rPr>
              <a:t>TRIRIGA</a:t>
            </a:r>
            <a:r>
              <a:rPr lang="en-US" sz="1200" dirty="0">
                <a:solidFill>
                  <a:schemeClr val="accent1"/>
                </a:solidFill>
                <a:latin typeface="+mn-lt"/>
              </a:rPr>
              <a:t> </a:t>
            </a:r>
            <a:endParaRPr lang="en-US" sz="1200" dirty="0"/>
          </a:p>
          <a:p>
            <a:pPr marL="164559" lvl="1" indent="-164559">
              <a:spcBef>
                <a:spcPts val="0"/>
              </a:spcBef>
              <a:buClr>
                <a:schemeClr val="tx1"/>
              </a:buClr>
            </a:pPr>
            <a:r>
              <a:rPr lang="en-US" sz="1200" dirty="0"/>
              <a:t>Location-based </a:t>
            </a:r>
            <a:r>
              <a:rPr lang="en-US" sz="1200" dirty="0">
                <a:solidFill>
                  <a:schemeClr val="accent1"/>
                </a:solidFill>
              </a:rPr>
              <a:t>hierarchy</a:t>
            </a:r>
          </a:p>
          <a:p>
            <a:pPr marL="164559" lvl="1" indent="-164559">
              <a:spcBef>
                <a:spcPts val="0"/>
              </a:spcBef>
              <a:buClr>
                <a:schemeClr val="tx1"/>
              </a:buClr>
            </a:pPr>
            <a:r>
              <a:rPr lang="en-US" sz="1200" dirty="0"/>
              <a:t>Request portal is the </a:t>
            </a:r>
            <a:r>
              <a:rPr lang="en-US" sz="1200" dirty="0">
                <a:solidFill>
                  <a:schemeClr val="accent1"/>
                </a:solidFill>
              </a:rPr>
              <a:t>“front door”</a:t>
            </a:r>
          </a:p>
          <a:p>
            <a:pPr marL="164559" lvl="1" indent="-164559">
              <a:spcBef>
                <a:spcPts val="0"/>
              </a:spcBef>
              <a:buClr>
                <a:schemeClr val="tx1"/>
              </a:buClr>
            </a:pPr>
            <a:r>
              <a:rPr lang="en-US" sz="1200" dirty="0"/>
              <a:t>Full OOB complement of </a:t>
            </a:r>
            <a:r>
              <a:rPr lang="en-US" sz="1200" dirty="0">
                <a:solidFill>
                  <a:schemeClr val="accent1"/>
                </a:solidFill>
              </a:rPr>
              <a:t>core real estate</a:t>
            </a:r>
            <a:r>
              <a:rPr lang="en-US" sz="1200" dirty="0"/>
              <a:t> capabilities</a:t>
            </a:r>
          </a:p>
          <a:p>
            <a:pPr marL="164559" lvl="1" indent="-164559">
              <a:spcBef>
                <a:spcPts val="0"/>
              </a:spcBef>
              <a:buClr>
                <a:schemeClr val="tx1"/>
              </a:buClr>
            </a:pPr>
            <a:r>
              <a:rPr lang="en-US" sz="1200" dirty="0"/>
              <a:t>End-user tools for </a:t>
            </a:r>
            <a:br>
              <a:rPr lang="en-US" sz="1200" dirty="0"/>
            </a:br>
            <a:r>
              <a:rPr lang="en-US" sz="1200" dirty="0"/>
              <a:t>workplace </a:t>
            </a:r>
            <a:r>
              <a:rPr lang="en-US" sz="1200" dirty="0">
                <a:solidFill>
                  <a:schemeClr val="accent1"/>
                </a:solidFill>
              </a:rPr>
              <a:t>experience</a:t>
            </a:r>
          </a:p>
          <a:p>
            <a:pPr marL="164559" lvl="1" indent="-164559">
              <a:spcBef>
                <a:spcPts val="0"/>
              </a:spcBef>
              <a:buClr>
                <a:schemeClr val="tx1"/>
              </a:buClr>
            </a:pPr>
            <a:r>
              <a:rPr lang="en-US" sz="1200" dirty="0">
                <a:solidFill>
                  <a:schemeClr val="accent1"/>
                </a:solidFill>
              </a:rPr>
              <a:t>Configurable</a:t>
            </a:r>
            <a:r>
              <a:rPr lang="en-US" sz="1200" dirty="0"/>
              <a:t> to align to user business processes</a:t>
            </a:r>
          </a:p>
        </p:txBody>
      </p:sp>
      <p:sp>
        <p:nvSpPr>
          <p:cNvPr id="9" name="Text Placeholder 4">
            <a:extLst>
              <a:ext uri="{FF2B5EF4-FFF2-40B4-BE49-F238E27FC236}">
                <a16:creationId xmlns:a16="http://schemas.microsoft.com/office/drawing/2014/main" id="{C20792F6-E22E-CB42-508C-3F1F7E200CC2}"/>
              </a:ext>
            </a:extLst>
          </p:cNvPr>
          <p:cNvSpPr txBox="1">
            <a:spLocks/>
          </p:cNvSpPr>
          <p:nvPr/>
        </p:nvSpPr>
        <p:spPr>
          <a:xfrm>
            <a:off x="9449507" y="1673708"/>
            <a:ext cx="2477587" cy="15792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2900"/>
              </a:spcBef>
              <a:spcAft>
                <a:spcPts val="0"/>
              </a:spcAft>
              <a:buClrTx/>
              <a:buSzTx/>
              <a:buFontTx/>
              <a:buNone/>
              <a:tabLst/>
              <a:defRPr sz="3600" b="0" i="0" u="none" strike="noStrike" cap="none" spc="0" baseline="0">
                <a:solidFill>
                  <a:srgbClr val="000000"/>
                </a:solidFill>
                <a:uFillTx/>
                <a:latin typeface="+mj-lt"/>
                <a:ea typeface="+mj-ea"/>
                <a:cs typeface="+mj-cs"/>
                <a:sym typeface="IBM Plex Sans Light"/>
              </a:defRPr>
            </a:lvl1pPr>
            <a:lvl2pPr marL="444465"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2pPr>
            <a:lvl3pPr marL="61591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3pPr>
            <a:lvl4pPr marL="901671"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4pPr>
            <a:lvl5pPr marL="107629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spcBef>
                <a:spcPts val="0"/>
              </a:spcBef>
            </a:pPr>
            <a:r>
              <a:rPr lang="en-US" sz="1200" dirty="0">
                <a:solidFill>
                  <a:schemeClr val="tx1"/>
                </a:solidFill>
                <a:latin typeface="IBM Plex Sans Medium" panose="020B0503050203000203" pitchFamily="34" charset="0"/>
              </a:rPr>
              <a:t>Envizi </a:t>
            </a:r>
          </a:p>
          <a:p>
            <a:pPr marL="164559" lvl="1" indent="-164559">
              <a:spcBef>
                <a:spcPts val="0"/>
              </a:spcBef>
              <a:buClr>
                <a:schemeClr val="tx1"/>
              </a:buClr>
            </a:pPr>
            <a:r>
              <a:rPr lang="en-US" sz="1200" dirty="0">
                <a:solidFill>
                  <a:schemeClr val="accent1"/>
                </a:solidFill>
              </a:rPr>
              <a:t>Environmental </a:t>
            </a:r>
            <a:r>
              <a:rPr lang="en-US" sz="1200" dirty="0"/>
              <a:t>goals </a:t>
            </a:r>
            <a:br>
              <a:rPr lang="en-US" sz="1200" dirty="0"/>
            </a:br>
            <a:r>
              <a:rPr lang="en-US" sz="1200" dirty="0"/>
              <a:t>and reporting</a:t>
            </a:r>
          </a:p>
          <a:p>
            <a:pPr marL="164559" lvl="1" indent="-164559">
              <a:spcBef>
                <a:spcPts val="0"/>
              </a:spcBef>
              <a:buClr>
                <a:schemeClr val="tx1"/>
              </a:buClr>
            </a:pPr>
            <a:r>
              <a:rPr lang="en-US" sz="1200" dirty="0"/>
              <a:t>Carbon emissions </a:t>
            </a:r>
            <a:br>
              <a:rPr lang="en-US" sz="1200" dirty="0"/>
            </a:br>
            <a:r>
              <a:rPr lang="en-US" sz="1200" dirty="0"/>
              <a:t>and energy </a:t>
            </a:r>
            <a:r>
              <a:rPr lang="en-US" sz="1200" dirty="0">
                <a:solidFill>
                  <a:schemeClr val="accent1"/>
                </a:solidFill>
              </a:rPr>
              <a:t>reporting</a:t>
            </a:r>
          </a:p>
          <a:p>
            <a:pPr marL="164559" lvl="1" indent="-164559">
              <a:spcBef>
                <a:spcPts val="0"/>
              </a:spcBef>
              <a:buClr>
                <a:schemeClr val="tx1"/>
              </a:buClr>
            </a:pPr>
            <a:r>
              <a:rPr lang="en-US" sz="1200" dirty="0">
                <a:solidFill>
                  <a:schemeClr val="accent1"/>
                </a:solidFill>
              </a:rPr>
              <a:t>Capture activity </a:t>
            </a:r>
            <a:r>
              <a:rPr lang="en-US" sz="1200" dirty="0"/>
              <a:t>data </a:t>
            </a:r>
            <a:br>
              <a:rPr lang="en-US" sz="1200" dirty="0"/>
            </a:br>
            <a:r>
              <a:rPr lang="en-US" sz="1200" dirty="0"/>
              <a:t>(energy, water, waste) or </a:t>
            </a:r>
            <a:br>
              <a:rPr lang="en-US" sz="1200" dirty="0"/>
            </a:br>
            <a:r>
              <a:rPr lang="en-US" sz="1200" dirty="0"/>
              <a:t>CO</a:t>
            </a:r>
            <a:r>
              <a:rPr lang="en-US" sz="1200" baseline="30000" dirty="0"/>
              <a:t>2</a:t>
            </a:r>
            <a:r>
              <a:rPr lang="en-US" sz="1200" dirty="0"/>
              <a:t> data from suppliers</a:t>
            </a:r>
          </a:p>
        </p:txBody>
      </p:sp>
      <p:sp>
        <p:nvSpPr>
          <p:cNvPr id="10" name="Text Placeholder 4">
            <a:extLst>
              <a:ext uri="{FF2B5EF4-FFF2-40B4-BE49-F238E27FC236}">
                <a16:creationId xmlns:a16="http://schemas.microsoft.com/office/drawing/2014/main" id="{B5EFE998-E501-95D8-96F0-B10E2C660B2A}"/>
              </a:ext>
            </a:extLst>
          </p:cNvPr>
          <p:cNvSpPr txBox="1">
            <a:spLocks/>
          </p:cNvSpPr>
          <p:nvPr/>
        </p:nvSpPr>
        <p:spPr>
          <a:xfrm>
            <a:off x="9449507" y="3746273"/>
            <a:ext cx="2477587" cy="7956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2900"/>
              </a:spcBef>
              <a:spcAft>
                <a:spcPts val="0"/>
              </a:spcAft>
              <a:buClrTx/>
              <a:buSzTx/>
              <a:buFontTx/>
              <a:buNone/>
              <a:tabLst/>
              <a:defRPr sz="3600" b="0" i="0" u="none" strike="noStrike" cap="none" spc="0" baseline="0">
                <a:solidFill>
                  <a:srgbClr val="000000"/>
                </a:solidFill>
                <a:uFillTx/>
                <a:latin typeface="+mj-lt"/>
                <a:ea typeface="+mj-ea"/>
                <a:cs typeface="+mj-cs"/>
                <a:sym typeface="IBM Plex Sans Light"/>
              </a:defRPr>
            </a:lvl1pPr>
            <a:lvl2pPr marL="444465"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2pPr>
            <a:lvl3pPr marL="61591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3pPr>
            <a:lvl4pPr marL="901671"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4pPr>
            <a:lvl5pPr marL="107629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spcBef>
                <a:spcPts val="0"/>
              </a:spcBef>
            </a:pPr>
            <a:r>
              <a:rPr lang="en-US" sz="1200" dirty="0">
                <a:solidFill>
                  <a:schemeClr val="tx1"/>
                </a:solidFill>
                <a:latin typeface="IBM Plex Sans Medium" panose="020B0503050203000203" pitchFamily="34" charset="0"/>
              </a:rPr>
              <a:t>TRIRIGA </a:t>
            </a:r>
          </a:p>
          <a:p>
            <a:pPr marL="164559" lvl="1" indent="-164559">
              <a:spcBef>
                <a:spcPts val="0"/>
              </a:spcBef>
              <a:buClr>
                <a:schemeClr val="tx1"/>
              </a:buClr>
            </a:pPr>
            <a:r>
              <a:rPr lang="en-US" sz="1200" dirty="0">
                <a:solidFill>
                  <a:schemeClr val="accent1"/>
                </a:solidFill>
              </a:rPr>
              <a:t>Routine requests </a:t>
            </a:r>
            <a:r>
              <a:rPr lang="en-US" sz="1200" dirty="0"/>
              <a:t>(cleaning, facility repairs, food orders, moves, etc.)</a:t>
            </a:r>
          </a:p>
        </p:txBody>
      </p:sp>
      <p:sp>
        <p:nvSpPr>
          <p:cNvPr id="11" name="Text Placeholder 4">
            <a:extLst>
              <a:ext uri="{FF2B5EF4-FFF2-40B4-BE49-F238E27FC236}">
                <a16:creationId xmlns:a16="http://schemas.microsoft.com/office/drawing/2014/main" id="{78B2E753-35E5-611B-3DFF-E438FD6FFE33}"/>
              </a:ext>
            </a:extLst>
          </p:cNvPr>
          <p:cNvSpPr txBox="1">
            <a:spLocks/>
          </p:cNvSpPr>
          <p:nvPr/>
        </p:nvSpPr>
        <p:spPr>
          <a:xfrm>
            <a:off x="9449507" y="4965922"/>
            <a:ext cx="2477587" cy="118746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2900"/>
              </a:spcBef>
              <a:spcAft>
                <a:spcPts val="0"/>
              </a:spcAft>
              <a:buClrTx/>
              <a:buSzTx/>
              <a:buFontTx/>
              <a:buNone/>
              <a:tabLst/>
              <a:defRPr sz="3600" b="0" i="0" u="none" strike="noStrike" cap="none" spc="0" baseline="0">
                <a:solidFill>
                  <a:srgbClr val="000000"/>
                </a:solidFill>
                <a:uFillTx/>
                <a:latin typeface="+mj-lt"/>
                <a:ea typeface="+mj-ea"/>
                <a:cs typeface="+mj-cs"/>
                <a:sym typeface="IBM Plex Sans Light"/>
              </a:defRPr>
            </a:lvl1pPr>
            <a:lvl2pPr marL="444465"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2pPr>
            <a:lvl3pPr marL="61591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3pPr>
            <a:lvl4pPr marL="901671"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4pPr>
            <a:lvl5pPr marL="107629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spcBef>
                <a:spcPts val="0"/>
              </a:spcBef>
            </a:pPr>
            <a:r>
              <a:rPr lang="en-US" sz="1200" dirty="0">
                <a:solidFill>
                  <a:schemeClr val="tx1"/>
                </a:solidFill>
                <a:latin typeface="IBM Plex Sans Medium" panose="020B0503050203000203" pitchFamily="34" charset="0"/>
              </a:rPr>
              <a:t>Maximo Application Suite </a:t>
            </a:r>
          </a:p>
          <a:p>
            <a:pPr marL="164559" lvl="1" indent="-164559">
              <a:spcBef>
                <a:spcPts val="0"/>
              </a:spcBef>
              <a:buClr>
                <a:schemeClr val="tx1"/>
              </a:buClr>
            </a:pPr>
            <a:r>
              <a:rPr lang="en-US" sz="1200" dirty="0"/>
              <a:t>Complex </a:t>
            </a:r>
            <a:r>
              <a:rPr lang="en-US" sz="1200" dirty="0">
                <a:solidFill>
                  <a:schemeClr val="accent1"/>
                </a:solidFill>
              </a:rPr>
              <a:t>equipment</a:t>
            </a:r>
            <a:r>
              <a:rPr lang="en-US" sz="1200" dirty="0"/>
              <a:t> failures</a:t>
            </a:r>
          </a:p>
          <a:p>
            <a:pPr marL="164559" lvl="1" indent="-164559">
              <a:spcBef>
                <a:spcPts val="0"/>
              </a:spcBef>
              <a:buClr>
                <a:schemeClr val="tx1"/>
              </a:buClr>
            </a:pPr>
            <a:r>
              <a:rPr lang="en-US" sz="1200" dirty="0"/>
              <a:t>Predictive and condition-based </a:t>
            </a:r>
            <a:r>
              <a:rPr lang="en-US" sz="1200" dirty="0">
                <a:solidFill>
                  <a:schemeClr val="accent1"/>
                </a:solidFill>
              </a:rPr>
              <a:t>maintenance</a:t>
            </a:r>
          </a:p>
          <a:p>
            <a:pPr marL="164559" lvl="1" indent="-164559">
              <a:spcBef>
                <a:spcPts val="0"/>
              </a:spcBef>
              <a:buClr>
                <a:schemeClr val="tx1"/>
              </a:buClr>
            </a:pPr>
            <a:r>
              <a:rPr lang="en-US" sz="1200" dirty="0"/>
              <a:t>Automated </a:t>
            </a:r>
            <a:r>
              <a:rPr lang="en-US" sz="1200" dirty="0">
                <a:solidFill>
                  <a:schemeClr val="accent1"/>
                </a:solidFill>
              </a:rPr>
              <a:t>visual inspection</a:t>
            </a:r>
          </a:p>
        </p:txBody>
      </p:sp>
      <p:cxnSp>
        <p:nvCxnSpPr>
          <p:cNvPr id="35" name="Straight Connector 34">
            <a:extLst>
              <a:ext uri="{FF2B5EF4-FFF2-40B4-BE49-F238E27FC236}">
                <a16:creationId xmlns:a16="http://schemas.microsoft.com/office/drawing/2014/main" id="{145FAB3C-0AB5-0577-8309-FE788162969F}"/>
              </a:ext>
            </a:extLst>
          </p:cNvPr>
          <p:cNvCxnSpPr>
            <a:cxnSpLocks/>
          </p:cNvCxnSpPr>
          <p:nvPr/>
        </p:nvCxnSpPr>
        <p:spPr bwMode="auto">
          <a:xfrm>
            <a:off x="1053963" y="4356902"/>
            <a:ext cx="3429403" cy="0"/>
          </a:xfrm>
          <a:prstGeom prst="line">
            <a:avLst/>
          </a:prstGeom>
          <a:ln>
            <a:headEnd type="oval" w="med" len="med"/>
            <a:tailEnd type="none" w="med" len="med"/>
          </a:ln>
          <a:effectLst/>
        </p:spPr>
        <p:style>
          <a:lnRef idx="2">
            <a:schemeClr val="accent1"/>
          </a:lnRef>
          <a:fillRef idx="0">
            <a:schemeClr val="accent1"/>
          </a:fillRef>
          <a:effectRef idx="1">
            <a:schemeClr val="accent1"/>
          </a:effectRef>
          <a:fontRef idx="minor">
            <a:schemeClr val="tx1"/>
          </a:fontRef>
        </p:style>
      </p:cxnSp>
      <p:grpSp>
        <p:nvGrpSpPr>
          <p:cNvPr id="12" name="Group 11">
            <a:extLst>
              <a:ext uri="{FF2B5EF4-FFF2-40B4-BE49-F238E27FC236}">
                <a16:creationId xmlns:a16="http://schemas.microsoft.com/office/drawing/2014/main" id="{CD24EE17-49AB-8DA3-521D-103F0519D37A}"/>
              </a:ext>
            </a:extLst>
          </p:cNvPr>
          <p:cNvGrpSpPr>
            <a:grpSpLocks noChangeAspect="1"/>
          </p:cNvGrpSpPr>
          <p:nvPr/>
        </p:nvGrpSpPr>
        <p:grpSpPr>
          <a:xfrm>
            <a:off x="3487213" y="1268003"/>
            <a:ext cx="5211608" cy="4669394"/>
            <a:chOff x="2959827" y="1622505"/>
            <a:chExt cx="2882480" cy="2582588"/>
          </a:xfrm>
        </p:grpSpPr>
        <p:sp>
          <p:nvSpPr>
            <p:cNvPr id="13" name="TextBox 12">
              <a:extLst>
                <a:ext uri="{FF2B5EF4-FFF2-40B4-BE49-F238E27FC236}">
                  <a16:creationId xmlns:a16="http://schemas.microsoft.com/office/drawing/2014/main" id="{2235F566-3A92-83D2-CF39-FB22B27641F7}"/>
                </a:ext>
              </a:extLst>
            </p:cNvPr>
            <p:cNvSpPr txBox="1"/>
            <p:nvPr/>
          </p:nvSpPr>
          <p:spPr>
            <a:xfrm>
              <a:off x="4016525" y="1622505"/>
              <a:ext cx="655888" cy="102137"/>
            </a:xfrm>
            <a:prstGeom prst="rect">
              <a:avLst/>
            </a:prstGeom>
            <a:noFill/>
          </p:spPr>
          <p:txBody>
            <a:bodyPr wrap="square" lIns="0" tIns="0" rIns="0" bIns="0" rtlCol="0">
              <a:spAutoFit/>
            </a:bodyPr>
            <a:lstStyle/>
            <a:p>
              <a:pPr algn="ctr" defTabSz="342823">
                <a:defRPr/>
              </a:pPr>
              <a:r>
                <a:rPr lang="en-US" sz="1200" dirty="0">
                  <a:solidFill>
                    <a:srgbClr val="0F62FE"/>
                  </a:solidFill>
                  <a:latin typeface="+mj-lt"/>
                  <a:ea typeface="IBM Plex Sans" charset="0"/>
                  <a:cs typeface="Arial" panose="020B0604020202020204" pitchFamily="34" charset="0"/>
                </a:rPr>
                <a:t>Lease</a:t>
              </a:r>
            </a:p>
          </p:txBody>
        </p:sp>
        <p:sp>
          <p:nvSpPr>
            <p:cNvPr id="14" name="TextBox 13">
              <a:extLst>
                <a:ext uri="{FF2B5EF4-FFF2-40B4-BE49-F238E27FC236}">
                  <a16:creationId xmlns:a16="http://schemas.microsoft.com/office/drawing/2014/main" id="{FAD7D038-8199-A786-13E4-3D46AD8BF86C}"/>
                </a:ext>
              </a:extLst>
            </p:cNvPr>
            <p:cNvSpPr txBox="1"/>
            <p:nvPr/>
          </p:nvSpPr>
          <p:spPr>
            <a:xfrm>
              <a:off x="3441401" y="4102956"/>
              <a:ext cx="655888" cy="102137"/>
            </a:xfrm>
            <a:prstGeom prst="rect">
              <a:avLst/>
            </a:prstGeom>
            <a:noFill/>
          </p:spPr>
          <p:txBody>
            <a:bodyPr wrap="square" lIns="0" tIns="0" rIns="0" bIns="0" rtlCol="0">
              <a:spAutoFit/>
            </a:bodyPr>
            <a:lstStyle/>
            <a:p>
              <a:pPr algn="ctr" defTabSz="342823">
                <a:defRPr/>
              </a:pPr>
              <a:r>
                <a:rPr lang="en-US" sz="1200" dirty="0">
                  <a:solidFill>
                    <a:srgbClr val="0F62FE"/>
                  </a:solidFill>
                  <a:latin typeface="+mj-lt"/>
                  <a:ea typeface="IBM Plex Sans" charset="0"/>
                  <a:cs typeface="Arial" panose="020B0604020202020204" pitchFamily="34" charset="0"/>
                </a:rPr>
                <a:t>Projects</a:t>
              </a:r>
            </a:p>
          </p:txBody>
        </p:sp>
        <p:sp>
          <p:nvSpPr>
            <p:cNvPr id="15" name="TextBox 14">
              <a:extLst>
                <a:ext uri="{FF2B5EF4-FFF2-40B4-BE49-F238E27FC236}">
                  <a16:creationId xmlns:a16="http://schemas.microsoft.com/office/drawing/2014/main" id="{1F55FD3D-9973-0771-A0DD-EA26F3ECED5C}"/>
                </a:ext>
              </a:extLst>
            </p:cNvPr>
            <p:cNvSpPr txBox="1"/>
            <p:nvPr/>
          </p:nvSpPr>
          <p:spPr>
            <a:xfrm>
              <a:off x="4594328" y="4102956"/>
              <a:ext cx="655888" cy="102137"/>
            </a:xfrm>
            <a:prstGeom prst="rect">
              <a:avLst/>
            </a:prstGeom>
            <a:noFill/>
          </p:spPr>
          <p:txBody>
            <a:bodyPr wrap="square" lIns="0" tIns="0" rIns="0" bIns="0" rtlCol="0">
              <a:spAutoFit/>
            </a:bodyPr>
            <a:lstStyle/>
            <a:p>
              <a:pPr algn="ctr" defTabSz="342823">
                <a:defRPr/>
              </a:pPr>
              <a:r>
                <a:rPr lang="en-US" sz="1200" dirty="0">
                  <a:solidFill>
                    <a:srgbClr val="0F62FE"/>
                  </a:solidFill>
                  <a:latin typeface="+mj-lt"/>
                  <a:ea typeface="IBM Plex Sans" charset="0"/>
                  <a:cs typeface="Arial" panose="020B0604020202020204" pitchFamily="34" charset="0"/>
                </a:rPr>
                <a:t>Maintenance</a:t>
              </a:r>
            </a:p>
          </p:txBody>
        </p:sp>
        <p:sp>
          <p:nvSpPr>
            <p:cNvPr id="16" name="Oval 15">
              <a:extLst>
                <a:ext uri="{FF2B5EF4-FFF2-40B4-BE49-F238E27FC236}">
                  <a16:creationId xmlns:a16="http://schemas.microsoft.com/office/drawing/2014/main" id="{85F86F49-0A3E-9FA4-5C26-F94A7A970DDC}"/>
                </a:ext>
              </a:extLst>
            </p:cNvPr>
            <p:cNvSpPr/>
            <p:nvPr/>
          </p:nvSpPr>
          <p:spPr bwMode="auto">
            <a:xfrm rot="10800000">
              <a:off x="3444778" y="2111659"/>
              <a:ext cx="1784289" cy="1784286"/>
            </a:xfrm>
            <a:prstGeom prst="ellipse">
              <a:avLst/>
            </a:prstGeom>
            <a:noFill/>
            <a:ln w="28575" cap="flat" cmpd="sng" algn="ctr">
              <a:solidFill>
                <a:schemeClr val="accent1"/>
              </a:solidFill>
              <a:prstDash val="solid"/>
              <a:headEnd type="none" w="med" len="med"/>
              <a:tailEnd type="none" w="med" len="med"/>
            </a:ln>
            <a:effectLst/>
          </p:spPr>
          <p:txBody>
            <a:bodyPr vert="horz" wrap="square" lIns="17998" tIns="17998" rIns="17998" bIns="17998" numCol="1" rtlCol="0" anchor="t" anchorCtr="0" compatLnSpc="1">
              <a:prstTxWarp prst="textNoShape">
                <a:avLst/>
              </a:prstTxWarp>
            </a:bodyPr>
            <a:lstStyle/>
            <a:p>
              <a:pPr defTabSz="457098">
                <a:defRPr/>
              </a:pPr>
              <a:endParaRPr lang="en-US" sz="1000" kern="0" dirty="0">
                <a:solidFill>
                  <a:srgbClr val="000000"/>
                </a:solidFill>
                <a:latin typeface="+mj-lt"/>
                <a:ea typeface="IBM Plex Sans" charset="0"/>
                <a:cs typeface="Arial" panose="020B0604020202020204" pitchFamily="34" charset="0"/>
              </a:endParaRPr>
            </a:p>
          </p:txBody>
        </p:sp>
        <p:sp>
          <p:nvSpPr>
            <p:cNvPr id="17" name="Oval 16">
              <a:extLst>
                <a:ext uri="{FF2B5EF4-FFF2-40B4-BE49-F238E27FC236}">
                  <a16:creationId xmlns:a16="http://schemas.microsoft.com/office/drawing/2014/main" id="{59948C76-2125-BCCB-3E1B-E4CAA30ABC63}"/>
                </a:ext>
              </a:extLst>
            </p:cNvPr>
            <p:cNvSpPr/>
            <p:nvPr/>
          </p:nvSpPr>
          <p:spPr>
            <a:xfrm rot="10800000">
              <a:off x="4893975" y="2405173"/>
              <a:ext cx="655888" cy="655887"/>
            </a:xfrm>
            <a:prstGeom prst="ellipse">
              <a:avLst/>
            </a:prstGeom>
            <a:solidFill>
              <a:schemeClr val="accent1"/>
            </a:solidFill>
            <a:ln w="25400" cap="flat" cmpd="sng" algn="ctr">
              <a:noFill/>
              <a:prstDash val="solid"/>
            </a:ln>
            <a:effectLst/>
          </p:spPr>
          <p:txBody>
            <a:bodyPr rtlCol="0" anchor="ctr"/>
            <a:lstStyle/>
            <a:p>
              <a:pPr algn="ctr" defTabSz="171412">
                <a:defRPr/>
              </a:pPr>
              <a:endParaRPr lang="en-US" sz="1000" kern="0" dirty="0">
                <a:solidFill>
                  <a:srgbClr val="FFFFFF"/>
                </a:solidFill>
                <a:latin typeface="+mj-lt"/>
                <a:cs typeface="Arial" panose="020B0604020202020204" pitchFamily="34" charset="0"/>
              </a:endParaRPr>
            </a:p>
          </p:txBody>
        </p:sp>
        <p:sp>
          <p:nvSpPr>
            <p:cNvPr id="18" name="Oval 17">
              <a:extLst>
                <a:ext uri="{FF2B5EF4-FFF2-40B4-BE49-F238E27FC236}">
                  <a16:creationId xmlns:a16="http://schemas.microsoft.com/office/drawing/2014/main" id="{3A967EE6-B41A-285B-CDAB-BA85AD5B861E}"/>
                </a:ext>
              </a:extLst>
            </p:cNvPr>
            <p:cNvSpPr/>
            <p:nvPr/>
          </p:nvSpPr>
          <p:spPr>
            <a:xfrm rot="10800000">
              <a:off x="4574956" y="3424682"/>
              <a:ext cx="655888" cy="655887"/>
            </a:xfrm>
            <a:prstGeom prst="ellipse">
              <a:avLst/>
            </a:prstGeom>
            <a:solidFill>
              <a:schemeClr val="accent1"/>
            </a:solidFill>
            <a:ln w="25400" cap="flat" cmpd="sng" algn="ctr">
              <a:noFill/>
              <a:prstDash val="solid"/>
            </a:ln>
            <a:effectLst/>
          </p:spPr>
          <p:txBody>
            <a:bodyPr rtlCol="0" anchor="ctr"/>
            <a:lstStyle/>
            <a:p>
              <a:pPr algn="ctr" defTabSz="171412">
                <a:defRPr/>
              </a:pPr>
              <a:endParaRPr lang="en-US" sz="1000" kern="0" dirty="0">
                <a:solidFill>
                  <a:srgbClr val="FFFFFF"/>
                </a:solidFill>
                <a:latin typeface="+mj-lt"/>
                <a:cs typeface="Arial" panose="020B0604020202020204" pitchFamily="34" charset="0"/>
              </a:endParaRPr>
            </a:p>
          </p:txBody>
        </p:sp>
        <p:sp>
          <p:nvSpPr>
            <p:cNvPr id="19" name="Oval 18">
              <a:extLst>
                <a:ext uri="{FF2B5EF4-FFF2-40B4-BE49-F238E27FC236}">
                  <a16:creationId xmlns:a16="http://schemas.microsoft.com/office/drawing/2014/main" id="{CBA237C5-5D16-7D32-AF75-21E891158BDC}"/>
                </a:ext>
              </a:extLst>
            </p:cNvPr>
            <p:cNvSpPr/>
            <p:nvPr/>
          </p:nvSpPr>
          <p:spPr>
            <a:xfrm rot="10800000">
              <a:off x="3460500" y="3429216"/>
              <a:ext cx="655888" cy="655887"/>
            </a:xfrm>
            <a:prstGeom prst="ellipse">
              <a:avLst/>
            </a:prstGeom>
            <a:solidFill>
              <a:schemeClr val="accent1"/>
            </a:solidFill>
            <a:ln w="25400" cap="flat" cmpd="sng" algn="ctr">
              <a:noFill/>
              <a:prstDash val="solid"/>
            </a:ln>
            <a:effectLst/>
          </p:spPr>
          <p:txBody>
            <a:bodyPr rtlCol="0" anchor="ctr"/>
            <a:lstStyle/>
            <a:p>
              <a:pPr algn="ctr" defTabSz="171412">
                <a:defRPr/>
              </a:pPr>
              <a:endParaRPr lang="en-US" sz="1000" kern="0" dirty="0">
                <a:solidFill>
                  <a:srgbClr val="FFFFFF"/>
                </a:solidFill>
                <a:latin typeface="+mj-lt"/>
                <a:cs typeface="Arial" panose="020B0604020202020204" pitchFamily="34" charset="0"/>
              </a:endParaRPr>
            </a:p>
          </p:txBody>
        </p:sp>
        <p:sp>
          <p:nvSpPr>
            <p:cNvPr id="20" name="Oval 19">
              <a:extLst>
                <a:ext uri="{FF2B5EF4-FFF2-40B4-BE49-F238E27FC236}">
                  <a16:creationId xmlns:a16="http://schemas.microsoft.com/office/drawing/2014/main" id="{EB0F5445-B414-8458-C2F9-A3919D2FB12D}"/>
                </a:ext>
              </a:extLst>
            </p:cNvPr>
            <p:cNvSpPr/>
            <p:nvPr/>
          </p:nvSpPr>
          <p:spPr>
            <a:xfrm rot="10800000">
              <a:off x="3126298" y="2405173"/>
              <a:ext cx="655888" cy="655887"/>
            </a:xfrm>
            <a:prstGeom prst="ellipse">
              <a:avLst/>
            </a:prstGeom>
            <a:solidFill>
              <a:schemeClr val="accent1"/>
            </a:solidFill>
            <a:ln w="25400" cap="flat" cmpd="sng" algn="ctr">
              <a:noFill/>
              <a:prstDash val="solid"/>
            </a:ln>
            <a:effectLst/>
          </p:spPr>
          <p:txBody>
            <a:bodyPr rtlCol="0" anchor="ctr"/>
            <a:lstStyle/>
            <a:p>
              <a:pPr algn="ctr" defTabSz="171412">
                <a:defRPr/>
              </a:pPr>
              <a:endParaRPr lang="en-US" sz="1000" kern="0" dirty="0">
                <a:solidFill>
                  <a:srgbClr val="FFFFFF"/>
                </a:solidFill>
                <a:latin typeface="+mj-lt"/>
                <a:cs typeface="Arial" panose="020B0604020202020204" pitchFamily="34" charset="0"/>
              </a:endParaRPr>
            </a:p>
          </p:txBody>
        </p:sp>
        <p:sp>
          <p:nvSpPr>
            <p:cNvPr id="21" name="Oval 20">
              <a:extLst>
                <a:ext uri="{FF2B5EF4-FFF2-40B4-BE49-F238E27FC236}">
                  <a16:creationId xmlns:a16="http://schemas.microsoft.com/office/drawing/2014/main" id="{391447BE-ECB2-9085-2295-10B6980FA2AE}"/>
                </a:ext>
              </a:extLst>
            </p:cNvPr>
            <p:cNvSpPr/>
            <p:nvPr/>
          </p:nvSpPr>
          <p:spPr>
            <a:xfrm rot="10800000">
              <a:off x="4008978" y="1746380"/>
              <a:ext cx="655888" cy="655887"/>
            </a:xfrm>
            <a:prstGeom prst="ellipse">
              <a:avLst/>
            </a:prstGeom>
            <a:solidFill>
              <a:schemeClr val="accent1"/>
            </a:solidFill>
            <a:ln w="25400" cap="flat" cmpd="sng" algn="ctr">
              <a:noFill/>
              <a:prstDash val="solid"/>
            </a:ln>
            <a:effectLst/>
          </p:spPr>
          <p:txBody>
            <a:bodyPr rtlCol="0" anchor="ctr"/>
            <a:lstStyle/>
            <a:p>
              <a:pPr algn="ctr" defTabSz="171412">
                <a:defRPr/>
              </a:pPr>
              <a:endParaRPr lang="en-US" sz="1000" kern="0" dirty="0">
                <a:solidFill>
                  <a:srgbClr val="FFFFFF"/>
                </a:solidFill>
                <a:latin typeface="+mj-lt"/>
                <a:cs typeface="Arial" panose="020B0604020202020204" pitchFamily="34" charset="0"/>
              </a:endParaRPr>
            </a:p>
          </p:txBody>
        </p:sp>
        <p:sp>
          <p:nvSpPr>
            <p:cNvPr id="22" name="TextBox 21">
              <a:extLst>
                <a:ext uri="{FF2B5EF4-FFF2-40B4-BE49-F238E27FC236}">
                  <a16:creationId xmlns:a16="http://schemas.microsoft.com/office/drawing/2014/main" id="{C10C6413-5857-2C11-E334-849C93804573}"/>
                </a:ext>
              </a:extLst>
            </p:cNvPr>
            <p:cNvSpPr txBox="1"/>
            <p:nvPr/>
          </p:nvSpPr>
          <p:spPr>
            <a:xfrm>
              <a:off x="2959827" y="3085297"/>
              <a:ext cx="655888" cy="102137"/>
            </a:xfrm>
            <a:prstGeom prst="rect">
              <a:avLst/>
            </a:prstGeom>
            <a:noFill/>
          </p:spPr>
          <p:txBody>
            <a:bodyPr wrap="square" lIns="0" tIns="0" rIns="0" bIns="0" rtlCol="0">
              <a:spAutoFit/>
            </a:bodyPr>
            <a:lstStyle/>
            <a:p>
              <a:pPr algn="ctr" defTabSz="342823">
                <a:defRPr/>
              </a:pPr>
              <a:r>
                <a:rPr lang="en-US" sz="1200" dirty="0">
                  <a:solidFill>
                    <a:srgbClr val="0F62FE"/>
                  </a:solidFill>
                  <a:latin typeface="+mj-lt"/>
                  <a:ea typeface="IBM Plex Sans" charset="0"/>
                  <a:cs typeface="Arial" panose="020B0604020202020204" pitchFamily="34" charset="0"/>
                </a:rPr>
                <a:t>Space</a:t>
              </a:r>
            </a:p>
          </p:txBody>
        </p:sp>
        <p:sp>
          <p:nvSpPr>
            <p:cNvPr id="23" name="TextBox 22">
              <a:extLst>
                <a:ext uri="{FF2B5EF4-FFF2-40B4-BE49-F238E27FC236}">
                  <a16:creationId xmlns:a16="http://schemas.microsoft.com/office/drawing/2014/main" id="{A3C23460-AF27-8566-0DCB-4D26CEBE0359}"/>
                </a:ext>
              </a:extLst>
            </p:cNvPr>
            <p:cNvSpPr txBox="1"/>
            <p:nvPr/>
          </p:nvSpPr>
          <p:spPr>
            <a:xfrm>
              <a:off x="3920416" y="2903560"/>
              <a:ext cx="836562" cy="204273"/>
            </a:xfrm>
            <a:prstGeom prst="rect">
              <a:avLst/>
            </a:prstGeom>
            <a:noFill/>
          </p:spPr>
          <p:txBody>
            <a:bodyPr wrap="square" lIns="0" tIns="0" rIns="0" bIns="0">
              <a:spAutoFit/>
            </a:bodyPr>
            <a:lstStyle/>
            <a:p>
              <a:pPr algn="ctr" defTabSz="342923">
                <a:defRPr/>
              </a:pPr>
              <a:r>
                <a:rPr lang="en-US" sz="1200" dirty="0">
                  <a:solidFill>
                    <a:srgbClr val="000000"/>
                  </a:solidFill>
                  <a:latin typeface="+mj-lt"/>
                  <a:ea typeface="IBM Plex Sans" charset="0"/>
                  <a:cs typeface="Arial" panose="020B0604020202020204" pitchFamily="34" charset="0"/>
                </a:rPr>
                <a:t>Integrated Workplace Management (IWMS)</a:t>
              </a:r>
              <a:endParaRPr lang="en-US" sz="1200" dirty="0">
                <a:solidFill>
                  <a:srgbClr val="000000"/>
                </a:solidFill>
                <a:latin typeface="+mj-lt"/>
              </a:endParaRPr>
            </a:p>
          </p:txBody>
        </p:sp>
        <p:sp>
          <p:nvSpPr>
            <p:cNvPr id="24" name="TextBox 23">
              <a:extLst>
                <a:ext uri="{FF2B5EF4-FFF2-40B4-BE49-F238E27FC236}">
                  <a16:creationId xmlns:a16="http://schemas.microsoft.com/office/drawing/2014/main" id="{DAC5C390-AB31-4CA9-BD9D-6D4CB063CBF4}"/>
                </a:ext>
              </a:extLst>
            </p:cNvPr>
            <p:cNvSpPr txBox="1"/>
            <p:nvPr/>
          </p:nvSpPr>
          <p:spPr>
            <a:xfrm>
              <a:off x="5199196" y="3085297"/>
              <a:ext cx="643111" cy="102137"/>
            </a:xfrm>
            <a:prstGeom prst="rect">
              <a:avLst/>
            </a:prstGeom>
            <a:noFill/>
          </p:spPr>
          <p:txBody>
            <a:bodyPr wrap="square" lIns="0" tIns="0" rIns="0" bIns="0" rtlCol="0">
              <a:spAutoFit/>
            </a:bodyPr>
            <a:lstStyle/>
            <a:p>
              <a:pPr algn="ctr" defTabSz="342823">
                <a:defRPr/>
              </a:pPr>
              <a:r>
                <a:rPr lang="en-US" sz="1200" dirty="0">
                  <a:solidFill>
                    <a:srgbClr val="0F62FE"/>
                  </a:solidFill>
                  <a:latin typeface="+mj-lt"/>
                  <a:ea typeface="IBM Plex Sans" charset="0"/>
                  <a:cs typeface="Arial" panose="020B0604020202020204" pitchFamily="34" charset="0"/>
                </a:rPr>
                <a:t>Sustainability</a:t>
              </a:r>
            </a:p>
          </p:txBody>
        </p:sp>
        <p:sp>
          <p:nvSpPr>
            <p:cNvPr id="25" name="Freeform 54">
              <a:extLst>
                <a:ext uri="{FF2B5EF4-FFF2-40B4-BE49-F238E27FC236}">
                  <a16:creationId xmlns:a16="http://schemas.microsoft.com/office/drawing/2014/main" id="{88912D4A-9DE7-C32D-F873-9E11CA4BE1AE}"/>
                </a:ext>
              </a:extLst>
            </p:cNvPr>
            <p:cNvSpPr>
              <a:spLocks noEditPoints="1"/>
            </p:cNvSpPr>
            <p:nvPr/>
          </p:nvSpPr>
          <p:spPr bwMode="auto">
            <a:xfrm>
              <a:off x="4722666" y="3575410"/>
              <a:ext cx="360470" cy="354432"/>
            </a:xfrm>
            <a:custGeom>
              <a:avLst/>
              <a:gdLst>
                <a:gd name="T0" fmla="*/ 1892 w 2936"/>
                <a:gd name="T1" fmla="*/ 2716 h 2887"/>
                <a:gd name="T2" fmla="*/ 815 w 2936"/>
                <a:gd name="T3" fmla="*/ 1186 h 2887"/>
                <a:gd name="T4" fmla="*/ 106 w 2936"/>
                <a:gd name="T5" fmla="*/ 381 h 2887"/>
                <a:gd name="T6" fmla="*/ 159 w 2936"/>
                <a:gd name="T7" fmla="*/ 372 h 2887"/>
                <a:gd name="T8" fmla="*/ 738 w 2936"/>
                <a:gd name="T9" fmla="*/ 739 h 2887"/>
                <a:gd name="T10" fmla="*/ 738 w 2936"/>
                <a:gd name="T11" fmla="*/ 526 h 2887"/>
                <a:gd name="T12" fmla="*/ 362 w 2936"/>
                <a:gd name="T13" fmla="*/ 130 h 2887"/>
                <a:gd name="T14" fmla="*/ 1044 w 2936"/>
                <a:gd name="T15" fmla="*/ 220 h 2887"/>
                <a:gd name="T16" fmla="*/ 2121 w 2936"/>
                <a:gd name="T17" fmla="*/ 1750 h 2887"/>
                <a:gd name="T18" fmla="*/ 2830 w 2936"/>
                <a:gd name="T19" fmla="*/ 2555 h 2887"/>
                <a:gd name="T20" fmla="*/ 2777 w 2936"/>
                <a:gd name="T21" fmla="*/ 2564 h 2887"/>
                <a:gd name="T22" fmla="*/ 2304 w 2936"/>
                <a:gd name="T23" fmla="*/ 2154 h 2887"/>
                <a:gd name="T24" fmla="*/ 2154 w 2936"/>
                <a:gd name="T25" fmla="*/ 2304 h 2887"/>
                <a:gd name="T26" fmla="*/ 2564 w 2936"/>
                <a:gd name="T27" fmla="*/ 2777 h 2887"/>
                <a:gd name="T28" fmla="*/ 2555 w 2936"/>
                <a:gd name="T29" fmla="*/ 2830 h 2887"/>
                <a:gd name="T30" fmla="*/ 824 w 2936"/>
                <a:gd name="T31" fmla="*/ 1115 h 2887"/>
                <a:gd name="T32" fmla="*/ 1812 w 2936"/>
                <a:gd name="T33" fmla="*/ 2089 h 2887"/>
                <a:gd name="T34" fmla="*/ 1938 w 2936"/>
                <a:gd name="T35" fmla="*/ 2670 h 2887"/>
                <a:gd name="T36" fmla="*/ 2151 w 2936"/>
                <a:gd name="T37" fmla="*/ 2457 h 2887"/>
                <a:gd name="T38" fmla="*/ 2151 w 2936"/>
                <a:gd name="T39" fmla="*/ 2151 h 2887"/>
                <a:gd name="T40" fmla="*/ 2457 w 2936"/>
                <a:gd name="T41" fmla="*/ 2151 h 2887"/>
                <a:gd name="T42" fmla="*/ 2669 w 2936"/>
                <a:gd name="T43" fmla="*/ 1939 h 2887"/>
                <a:gd name="T44" fmla="*/ 2089 w 2936"/>
                <a:gd name="T45" fmla="*/ 1812 h 2887"/>
                <a:gd name="T46" fmla="*/ 1117 w 2936"/>
                <a:gd name="T47" fmla="*/ 812 h 2887"/>
                <a:gd name="T48" fmla="*/ 453 w 2936"/>
                <a:gd name="T49" fmla="*/ 147 h 2887"/>
                <a:gd name="T50" fmla="*/ 848 w 2936"/>
                <a:gd name="T51" fmla="*/ 632 h 2887"/>
                <a:gd name="T52" fmla="*/ 632 w 2936"/>
                <a:gd name="T53" fmla="*/ 848 h 2887"/>
                <a:gd name="T54" fmla="*/ 147 w 2936"/>
                <a:gd name="T55" fmla="*/ 453 h 2887"/>
                <a:gd name="T56" fmla="*/ 812 w 2936"/>
                <a:gd name="T57" fmla="*/ 1117 h 2887"/>
                <a:gd name="T58" fmla="*/ 264 w 2936"/>
                <a:gd name="T59" fmla="*/ 2865 h 2887"/>
                <a:gd name="T60" fmla="*/ 80 w 2936"/>
                <a:gd name="T61" fmla="*/ 2695 h 2887"/>
                <a:gd name="T62" fmla="*/ 348 w 2936"/>
                <a:gd name="T63" fmla="*/ 2354 h 2887"/>
                <a:gd name="T64" fmla="*/ 396 w 2936"/>
                <a:gd name="T65" fmla="*/ 2353 h 2887"/>
                <a:gd name="T66" fmla="*/ 1151 w 2936"/>
                <a:gd name="T67" fmla="*/ 1738 h 2887"/>
                <a:gd name="T68" fmla="*/ 513 w 2936"/>
                <a:gd name="T69" fmla="*/ 2470 h 2887"/>
                <a:gd name="T70" fmla="*/ 592 w 2936"/>
                <a:gd name="T71" fmla="*/ 2564 h 2887"/>
                <a:gd name="T72" fmla="*/ 286 w 2936"/>
                <a:gd name="T73" fmla="*/ 2856 h 2887"/>
                <a:gd name="T74" fmla="*/ 149 w 2936"/>
                <a:gd name="T75" fmla="*/ 2671 h 2887"/>
                <a:gd name="T76" fmla="*/ 512 w 2936"/>
                <a:gd name="T77" fmla="*/ 2562 h 2887"/>
                <a:gd name="T78" fmla="*/ 149 w 2936"/>
                <a:gd name="T79" fmla="*/ 2671 h 2887"/>
                <a:gd name="T80" fmla="*/ 1913 w 2936"/>
                <a:gd name="T81" fmla="*/ 1286 h 2887"/>
                <a:gd name="T82" fmla="*/ 2820 w 2936"/>
                <a:gd name="T83" fmla="*/ 301 h 2887"/>
                <a:gd name="T84" fmla="*/ 2635 w 2936"/>
                <a:gd name="T85" fmla="*/ 115 h 2887"/>
                <a:gd name="T86" fmla="*/ 1650 w 2936"/>
                <a:gd name="T87" fmla="*/ 1023 h 2887"/>
                <a:gd name="T88" fmla="*/ 2457 w 2936"/>
                <a:gd name="T89" fmla="*/ 123 h 2887"/>
                <a:gd name="T90" fmla="*/ 2813 w 2936"/>
                <a:gd name="T91" fmla="*/ 123 h 2887"/>
                <a:gd name="T92" fmla="*/ 2813 w 2936"/>
                <a:gd name="T93" fmla="*/ 479 h 2887"/>
                <a:gd name="T94" fmla="*/ 1805 w 2936"/>
                <a:gd name="T95" fmla="*/ 1178 h 2887"/>
                <a:gd name="T96" fmla="*/ 2609 w 2936"/>
                <a:gd name="T97" fmla="*/ 280 h 2887"/>
                <a:gd name="T98" fmla="*/ 1805 w 2936"/>
                <a:gd name="T99" fmla="*/ 1178 h 28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936" h="2887">
                  <a:moveTo>
                    <a:pt x="2305" y="2887"/>
                  </a:moveTo>
                  <a:cubicBezTo>
                    <a:pt x="2153" y="2887"/>
                    <a:pt x="2003" y="2828"/>
                    <a:pt x="1892" y="2716"/>
                  </a:cubicBezTo>
                  <a:cubicBezTo>
                    <a:pt x="1736" y="2561"/>
                    <a:pt x="1682" y="2329"/>
                    <a:pt x="1750" y="2121"/>
                  </a:cubicBezTo>
                  <a:cubicBezTo>
                    <a:pt x="815" y="1186"/>
                    <a:pt x="815" y="1186"/>
                    <a:pt x="815" y="1186"/>
                  </a:cubicBezTo>
                  <a:cubicBezTo>
                    <a:pt x="607" y="1254"/>
                    <a:pt x="375" y="1200"/>
                    <a:pt x="220" y="1044"/>
                  </a:cubicBezTo>
                  <a:cubicBezTo>
                    <a:pt x="45" y="870"/>
                    <a:pt x="0" y="603"/>
                    <a:pt x="106" y="381"/>
                  </a:cubicBezTo>
                  <a:cubicBezTo>
                    <a:pt x="111" y="371"/>
                    <a:pt x="120" y="364"/>
                    <a:pt x="130" y="363"/>
                  </a:cubicBezTo>
                  <a:cubicBezTo>
                    <a:pt x="141" y="361"/>
                    <a:pt x="152" y="364"/>
                    <a:pt x="159" y="372"/>
                  </a:cubicBezTo>
                  <a:cubicBezTo>
                    <a:pt x="526" y="739"/>
                    <a:pt x="526" y="739"/>
                    <a:pt x="526" y="739"/>
                  </a:cubicBezTo>
                  <a:cubicBezTo>
                    <a:pt x="584" y="797"/>
                    <a:pt x="680" y="797"/>
                    <a:pt x="738" y="739"/>
                  </a:cubicBezTo>
                  <a:cubicBezTo>
                    <a:pt x="767" y="710"/>
                    <a:pt x="782" y="673"/>
                    <a:pt x="782" y="632"/>
                  </a:cubicBezTo>
                  <a:cubicBezTo>
                    <a:pt x="782" y="592"/>
                    <a:pt x="767" y="554"/>
                    <a:pt x="738" y="526"/>
                  </a:cubicBezTo>
                  <a:cubicBezTo>
                    <a:pt x="372" y="159"/>
                    <a:pt x="372" y="159"/>
                    <a:pt x="372" y="159"/>
                  </a:cubicBezTo>
                  <a:cubicBezTo>
                    <a:pt x="364" y="152"/>
                    <a:pt x="361" y="141"/>
                    <a:pt x="362" y="130"/>
                  </a:cubicBezTo>
                  <a:cubicBezTo>
                    <a:pt x="364" y="120"/>
                    <a:pt x="371" y="111"/>
                    <a:pt x="381" y="106"/>
                  </a:cubicBezTo>
                  <a:cubicBezTo>
                    <a:pt x="603" y="0"/>
                    <a:pt x="870" y="46"/>
                    <a:pt x="1044" y="220"/>
                  </a:cubicBezTo>
                  <a:cubicBezTo>
                    <a:pt x="1200" y="376"/>
                    <a:pt x="1254" y="607"/>
                    <a:pt x="1186" y="815"/>
                  </a:cubicBezTo>
                  <a:cubicBezTo>
                    <a:pt x="2121" y="1750"/>
                    <a:pt x="2121" y="1750"/>
                    <a:pt x="2121" y="1750"/>
                  </a:cubicBezTo>
                  <a:cubicBezTo>
                    <a:pt x="2329" y="1682"/>
                    <a:pt x="2560" y="1736"/>
                    <a:pt x="2716" y="1892"/>
                  </a:cubicBezTo>
                  <a:cubicBezTo>
                    <a:pt x="2890" y="2066"/>
                    <a:pt x="2936" y="2333"/>
                    <a:pt x="2830" y="2555"/>
                  </a:cubicBezTo>
                  <a:cubicBezTo>
                    <a:pt x="2825" y="2565"/>
                    <a:pt x="2816" y="2572"/>
                    <a:pt x="2806" y="2574"/>
                  </a:cubicBezTo>
                  <a:cubicBezTo>
                    <a:pt x="2795" y="2575"/>
                    <a:pt x="2784" y="2572"/>
                    <a:pt x="2777" y="2564"/>
                  </a:cubicBezTo>
                  <a:cubicBezTo>
                    <a:pt x="2410" y="2198"/>
                    <a:pt x="2410" y="2198"/>
                    <a:pt x="2410" y="2198"/>
                  </a:cubicBezTo>
                  <a:cubicBezTo>
                    <a:pt x="2382" y="2169"/>
                    <a:pt x="2344" y="2154"/>
                    <a:pt x="2304" y="2154"/>
                  </a:cubicBezTo>
                  <a:cubicBezTo>
                    <a:pt x="2264" y="2154"/>
                    <a:pt x="2226" y="2169"/>
                    <a:pt x="2198" y="2198"/>
                  </a:cubicBezTo>
                  <a:cubicBezTo>
                    <a:pt x="2169" y="2226"/>
                    <a:pt x="2154" y="2264"/>
                    <a:pt x="2154" y="2304"/>
                  </a:cubicBezTo>
                  <a:cubicBezTo>
                    <a:pt x="2154" y="2344"/>
                    <a:pt x="2169" y="2382"/>
                    <a:pt x="2198" y="2410"/>
                  </a:cubicBezTo>
                  <a:cubicBezTo>
                    <a:pt x="2564" y="2777"/>
                    <a:pt x="2564" y="2777"/>
                    <a:pt x="2564" y="2777"/>
                  </a:cubicBezTo>
                  <a:cubicBezTo>
                    <a:pt x="2572" y="2785"/>
                    <a:pt x="2575" y="2795"/>
                    <a:pt x="2573" y="2806"/>
                  </a:cubicBezTo>
                  <a:cubicBezTo>
                    <a:pt x="2572" y="2816"/>
                    <a:pt x="2565" y="2826"/>
                    <a:pt x="2555" y="2830"/>
                  </a:cubicBezTo>
                  <a:cubicBezTo>
                    <a:pt x="2475" y="2868"/>
                    <a:pt x="2390" y="2887"/>
                    <a:pt x="2305" y="2887"/>
                  </a:cubicBezTo>
                  <a:close/>
                  <a:moveTo>
                    <a:pt x="824" y="1115"/>
                  </a:moveTo>
                  <a:cubicBezTo>
                    <a:pt x="832" y="1115"/>
                    <a:pt x="841" y="1118"/>
                    <a:pt x="847" y="1125"/>
                  </a:cubicBezTo>
                  <a:cubicBezTo>
                    <a:pt x="1812" y="2089"/>
                    <a:pt x="1812" y="2089"/>
                    <a:pt x="1812" y="2089"/>
                  </a:cubicBezTo>
                  <a:cubicBezTo>
                    <a:pt x="1821" y="2098"/>
                    <a:pt x="1824" y="2112"/>
                    <a:pt x="1819" y="2124"/>
                  </a:cubicBezTo>
                  <a:cubicBezTo>
                    <a:pt x="1749" y="2313"/>
                    <a:pt x="1796" y="2527"/>
                    <a:pt x="1938" y="2670"/>
                  </a:cubicBezTo>
                  <a:cubicBezTo>
                    <a:pt x="2082" y="2813"/>
                    <a:pt x="2295" y="2858"/>
                    <a:pt x="2483" y="2789"/>
                  </a:cubicBezTo>
                  <a:cubicBezTo>
                    <a:pt x="2151" y="2457"/>
                    <a:pt x="2151" y="2457"/>
                    <a:pt x="2151" y="2457"/>
                  </a:cubicBezTo>
                  <a:cubicBezTo>
                    <a:pt x="2110" y="2416"/>
                    <a:pt x="2088" y="2362"/>
                    <a:pt x="2088" y="2304"/>
                  </a:cubicBezTo>
                  <a:cubicBezTo>
                    <a:pt x="2088" y="2246"/>
                    <a:pt x="2110" y="2192"/>
                    <a:pt x="2151" y="2151"/>
                  </a:cubicBezTo>
                  <a:cubicBezTo>
                    <a:pt x="2192" y="2110"/>
                    <a:pt x="2246" y="2088"/>
                    <a:pt x="2304" y="2088"/>
                  </a:cubicBezTo>
                  <a:cubicBezTo>
                    <a:pt x="2362" y="2088"/>
                    <a:pt x="2416" y="2110"/>
                    <a:pt x="2457" y="2151"/>
                  </a:cubicBezTo>
                  <a:cubicBezTo>
                    <a:pt x="2789" y="2483"/>
                    <a:pt x="2789" y="2483"/>
                    <a:pt x="2789" y="2483"/>
                  </a:cubicBezTo>
                  <a:cubicBezTo>
                    <a:pt x="2858" y="2296"/>
                    <a:pt x="2813" y="2082"/>
                    <a:pt x="2669" y="1939"/>
                  </a:cubicBezTo>
                  <a:cubicBezTo>
                    <a:pt x="2527" y="1796"/>
                    <a:pt x="2313" y="1749"/>
                    <a:pt x="2124" y="1819"/>
                  </a:cubicBezTo>
                  <a:cubicBezTo>
                    <a:pt x="2112" y="1824"/>
                    <a:pt x="2098" y="1821"/>
                    <a:pt x="2089" y="1812"/>
                  </a:cubicBezTo>
                  <a:cubicBezTo>
                    <a:pt x="1124" y="847"/>
                    <a:pt x="1124" y="847"/>
                    <a:pt x="1124" y="847"/>
                  </a:cubicBezTo>
                  <a:cubicBezTo>
                    <a:pt x="1115" y="838"/>
                    <a:pt x="1112" y="825"/>
                    <a:pt x="1117" y="812"/>
                  </a:cubicBezTo>
                  <a:cubicBezTo>
                    <a:pt x="1187" y="623"/>
                    <a:pt x="1140" y="409"/>
                    <a:pt x="998" y="267"/>
                  </a:cubicBezTo>
                  <a:cubicBezTo>
                    <a:pt x="854" y="123"/>
                    <a:pt x="641" y="78"/>
                    <a:pt x="453" y="147"/>
                  </a:cubicBezTo>
                  <a:cubicBezTo>
                    <a:pt x="785" y="479"/>
                    <a:pt x="785" y="479"/>
                    <a:pt x="785" y="479"/>
                  </a:cubicBezTo>
                  <a:cubicBezTo>
                    <a:pt x="826" y="520"/>
                    <a:pt x="848" y="574"/>
                    <a:pt x="848" y="632"/>
                  </a:cubicBezTo>
                  <a:cubicBezTo>
                    <a:pt x="848" y="690"/>
                    <a:pt x="826" y="745"/>
                    <a:pt x="785" y="785"/>
                  </a:cubicBezTo>
                  <a:cubicBezTo>
                    <a:pt x="744" y="826"/>
                    <a:pt x="690" y="848"/>
                    <a:pt x="632" y="848"/>
                  </a:cubicBezTo>
                  <a:cubicBezTo>
                    <a:pt x="574" y="848"/>
                    <a:pt x="520" y="826"/>
                    <a:pt x="479" y="785"/>
                  </a:cubicBezTo>
                  <a:cubicBezTo>
                    <a:pt x="147" y="453"/>
                    <a:pt x="147" y="453"/>
                    <a:pt x="147" y="453"/>
                  </a:cubicBezTo>
                  <a:cubicBezTo>
                    <a:pt x="78" y="641"/>
                    <a:pt x="123" y="854"/>
                    <a:pt x="267" y="998"/>
                  </a:cubicBezTo>
                  <a:cubicBezTo>
                    <a:pt x="409" y="1140"/>
                    <a:pt x="623" y="1187"/>
                    <a:pt x="812" y="1117"/>
                  </a:cubicBezTo>
                  <a:cubicBezTo>
                    <a:pt x="816" y="1116"/>
                    <a:pt x="820" y="1115"/>
                    <a:pt x="824" y="1115"/>
                  </a:cubicBezTo>
                  <a:close/>
                  <a:moveTo>
                    <a:pt x="264" y="2865"/>
                  </a:moveTo>
                  <a:cubicBezTo>
                    <a:pt x="255" y="2865"/>
                    <a:pt x="247" y="2862"/>
                    <a:pt x="240" y="2855"/>
                  </a:cubicBezTo>
                  <a:cubicBezTo>
                    <a:pt x="80" y="2695"/>
                    <a:pt x="80" y="2695"/>
                    <a:pt x="80" y="2695"/>
                  </a:cubicBezTo>
                  <a:cubicBezTo>
                    <a:pt x="68" y="2683"/>
                    <a:pt x="68" y="2663"/>
                    <a:pt x="79" y="2650"/>
                  </a:cubicBezTo>
                  <a:cubicBezTo>
                    <a:pt x="348" y="2354"/>
                    <a:pt x="348" y="2354"/>
                    <a:pt x="348" y="2354"/>
                  </a:cubicBezTo>
                  <a:cubicBezTo>
                    <a:pt x="355" y="2347"/>
                    <a:pt x="363" y="2343"/>
                    <a:pt x="372" y="2343"/>
                  </a:cubicBezTo>
                  <a:cubicBezTo>
                    <a:pt x="381" y="2343"/>
                    <a:pt x="390" y="2347"/>
                    <a:pt x="396" y="2353"/>
                  </a:cubicBezTo>
                  <a:cubicBezTo>
                    <a:pt x="466" y="2423"/>
                    <a:pt x="466" y="2423"/>
                    <a:pt x="466" y="2423"/>
                  </a:cubicBezTo>
                  <a:cubicBezTo>
                    <a:pt x="1151" y="1738"/>
                    <a:pt x="1151" y="1738"/>
                    <a:pt x="1151" y="1738"/>
                  </a:cubicBezTo>
                  <a:cubicBezTo>
                    <a:pt x="1198" y="1784"/>
                    <a:pt x="1198" y="1784"/>
                    <a:pt x="1198" y="1784"/>
                  </a:cubicBezTo>
                  <a:cubicBezTo>
                    <a:pt x="513" y="2470"/>
                    <a:pt x="513" y="2470"/>
                    <a:pt x="513" y="2470"/>
                  </a:cubicBezTo>
                  <a:cubicBezTo>
                    <a:pt x="583" y="2539"/>
                    <a:pt x="583" y="2539"/>
                    <a:pt x="583" y="2539"/>
                  </a:cubicBezTo>
                  <a:cubicBezTo>
                    <a:pt x="589" y="2546"/>
                    <a:pt x="593" y="2555"/>
                    <a:pt x="592" y="2564"/>
                  </a:cubicBezTo>
                  <a:cubicBezTo>
                    <a:pt x="592" y="2573"/>
                    <a:pt x="588" y="2581"/>
                    <a:pt x="582" y="2587"/>
                  </a:cubicBezTo>
                  <a:cubicBezTo>
                    <a:pt x="286" y="2856"/>
                    <a:pt x="286" y="2856"/>
                    <a:pt x="286" y="2856"/>
                  </a:cubicBezTo>
                  <a:cubicBezTo>
                    <a:pt x="279" y="2862"/>
                    <a:pt x="272" y="2865"/>
                    <a:pt x="264" y="2865"/>
                  </a:cubicBezTo>
                  <a:close/>
                  <a:moveTo>
                    <a:pt x="149" y="2671"/>
                  </a:moveTo>
                  <a:cubicBezTo>
                    <a:pt x="265" y="2786"/>
                    <a:pt x="265" y="2786"/>
                    <a:pt x="265" y="2786"/>
                  </a:cubicBezTo>
                  <a:cubicBezTo>
                    <a:pt x="512" y="2562"/>
                    <a:pt x="512" y="2562"/>
                    <a:pt x="512" y="2562"/>
                  </a:cubicBezTo>
                  <a:cubicBezTo>
                    <a:pt x="374" y="2424"/>
                    <a:pt x="374" y="2424"/>
                    <a:pt x="374" y="2424"/>
                  </a:cubicBezTo>
                  <a:lnTo>
                    <a:pt x="149" y="2671"/>
                  </a:lnTo>
                  <a:close/>
                  <a:moveTo>
                    <a:pt x="1959" y="1332"/>
                  </a:moveTo>
                  <a:cubicBezTo>
                    <a:pt x="1913" y="1286"/>
                    <a:pt x="1913" y="1286"/>
                    <a:pt x="1913" y="1286"/>
                  </a:cubicBezTo>
                  <a:cubicBezTo>
                    <a:pt x="2766" y="432"/>
                    <a:pt x="2766" y="432"/>
                    <a:pt x="2766" y="432"/>
                  </a:cubicBezTo>
                  <a:cubicBezTo>
                    <a:pt x="2801" y="397"/>
                    <a:pt x="2820" y="351"/>
                    <a:pt x="2820" y="301"/>
                  </a:cubicBezTo>
                  <a:cubicBezTo>
                    <a:pt x="2820" y="251"/>
                    <a:pt x="2801" y="205"/>
                    <a:pt x="2766" y="170"/>
                  </a:cubicBezTo>
                  <a:cubicBezTo>
                    <a:pt x="2731" y="135"/>
                    <a:pt x="2684" y="115"/>
                    <a:pt x="2635" y="115"/>
                  </a:cubicBezTo>
                  <a:cubicBezTo>
                    <a:pt x="2585" y="115"/>
                    <a:pt x="2538" y="135"/>
                    <a:pt x="2503" y="170"/>
                  </a:cubicBezTo>
                  <a:cubicBezTo>
                    <a:pt x="1650" y="1023"/>
                    <a:pt x="1650" y="1023"/>
                    <a:pt x="1650" y="1023"/>
                  </a:cubicBezTo>
                  <a:cubicBezTo>
                    <a:pt x="1603" y="976"/>
                    <a:pt x="1603" y="976"/>
                    <a:pt x="1603" y="976"/>
                  </a:cubicBezTo>
                  <a:cubicBezTo>
                    <a:pt x="2457" y="123"/>
                    <a:pt x="2457" y="123"/>
                    <a:pt x="2457" y="123"/>
                  </a:cubicBezTo>
                  <a:cubicBezTo>
                    <a:pt x="2504" y="76"/>
                    <a:pt x="2567" y="49"/>
                    <a:pt x="2635" y="49"/>
                  </a:cubicBezTo>
                  <a:cubicBezTo>
                    <a:pt x="2702" y="49"/>
                    <a:pt x="2765" y="76"/>
                    <a:pt x="2813" y="123"/>
                  </a:cubicBezTo>
                  <a:cubicBezTo>
                    <a:pt x="2860" y="171"/>
                    <a:pt x="2886" y="234"/>
                    <a:pt x="2886" y="301"/>
                  </a:cubicBezTo>
                  <a:cubicBezTo>
                    <a:pt x="2886" y="368"/>
                    <a:pt x="2860" y="432"/>
                    <a:pt x="2813" y="479"/>
                  </a:cubicBezTo>
                  <a:lnTo>
                    <a:pt x="1959" y="1332"/>
                  </a:lnTo>
                  <a:close/>
                  <a:moveTo>
                    <a:pt x="1805" y="1178"/>
                  </a:moveTo>
                  <a:cubicBezTo>
                    <a:pt x="1758" y="1131"/>
                    <a:pt x="1758" y="1131"/>
                    <a:pt x="1758" y="1131"/>
                  </a:cubicBezTo>
                  <a:cubicBezTo>
                    <a:pt x="2609" y="280"/>
                    <a:pt x="2609" y="280"/>
                    <a:pt x="2609" y="280"/>
                  </a:cubicBezTo>
                  <a:cubicBezTo>
                    <a:pt x="2655" y="327"/>
                    <a:pt x="2655" y="327"/>
                    <a:pt x="2655" y="327"/>
                  </a:cubicBezTo>
                  <a:lnTo>
                    <a:pt x="1805" y="1178"/>
                  </a:lnTo>
                  <a:close/>
                </a:path>
              </a:pathLst>
            </a:custGeom>
            <a:solidFill>
              <a:schemeClr val="bg1"/>
            </a:solidFill>
            <a:ln>
              <a:noFill/>
            </a:ln>
          </p:spPr>
          <p:txBody>
            <a:bodyPr vert="horz" wrap="square" lIns="45714" tIns="22857" rIns="45714" bIns="22857" numCol="1" anchor="t" anchorCtr="0" compatLnSpc="1">
              <a:prstTxWarp prst="textNoShape">
                <a:avLst/>
              </a:prstTxWarp>
            </a:bodyPr>
            <a:lstStyle/>
            <a:p>
              <a:pPr defTabSz="342923">
                <a:defRPr/>
              </a:pPr>
              <a:endParaRPr lang="uk-UA" sz="1000">
                <a:solidFill>
                  <a:srgbClr val="000000"/>
                </a:solidFill>
                <a:latin typeface="+mj-lt"/>
              </a:endParaRPr>
            </a:p>
          </p:txBody>
        </p:sp>
        <p:grpSp>
          <p:nvGrpSpPr>
            <p:cNvPr id="26" name="Group 42">
              <a:extLst>
                <a:ext uri="{FF2B5EF4-FFF2-40B4-BE49-F238E27FC236}">
                  <a16:creationId xmlns:a16="http://schemas.microsoft.com/office/drawing/2014/main" id="{86525CEF-65A5-8897-E861-899DF58612EE}"/>
                </a:ext>
              </a:extLst>
            </p:cNvPr>
            <p:cNvGrpSpPr>
              <a:grpSpLocks noChangeAspect="1"/>
            </p:cNvGrpSpPr>
            <p:nvPr/>
          </p:nvGrpSpPr>
          <p:grpSpPr bwMode="auto">
            <a:xfrm>
              <a:off x="5053040" y="2562520"/>
              <a:ext cx="337758" cy="341194"/>
              <a:chOff x="24601" y="4584"/>
              <a:chExt cx="2751" cy="2779"/>
            </a:xfrm>
            <a:solidFill>
              <a:schemeClr val="bg1"/>
            </a:solidFill>
          </p:grpSpPr>
          <p:sp>
            <p:nvSpPr>
              <p:cNvPr id="30" name="Freeform 43">
                <a:extLst>
                  <a:ext uri="{FF2B5EF4-FFF2-40B4-BE49-F238E27FC236}">
                    <a16:creationId xmlns:a16="http://schemas.microsoft.com/office/drawing/2014/main" id="{75BDDA83-48E3-0EA6-51E7-604C8B144665}"/>
                  </a:ext>
                </a:extLst>
              </p:cNvPr>
              <p:cNvSpPr>
                <a:spLocks noEditPoints="1"/>
              </p:cNvSpPr>
              <p:nvPr/>
            </p:nvSpPr>
            <p:spPr bwMode="auto">
              <a:xfrm>
                <a:off x="25097" y="4584"/>
                <a:ext cx="2068" cy="2779"/>
              </a:xfrm>
              <a:custGeom>
                <a:avLst/>
                <a:gdLst>
                  <a:gd name="T0" fmla="*/ 561 w 1092"/>
                  <a:gd name="T1" fmla="*/ 1467 h 1467"/>
                  <a:gd name="T2" fmla="*/ 368 w 1092"/>
                  <a:gd name="T3" fmla="*/ 1467 h 1467"/>
                  <a:gd name="T4" fmla="*/ 350 w 1092"/>
                  <a:gd name="T5" fmla="*/ 1450 h 1467"/>
                  <a:gd name="T6" fmla="*/ 447 w 1092"/>
                  <a:gd name="T7" fmla="*/ 1337 h 1467"/>
                  <a:gd name="T8" fmla="*/ 447 w 1092"/>
                  <a:gd name="T9" fmla="*/ 821 h 1467"/>
                  <a:gd name="T10" fmla="*/ 464 w 1092"/>
                  <a:gd name="T11" fmla="*/ 803 h 1467"/>
                  <a:gd name="T12" fmla="*/ 482 w 1092"/>
                  <a:gd name="T13" fmla="*/ 821 h 1467"/>
                  <a:gd name="T14" fmla="*/ 482 w 1092"/>
                  <a:gd name="T15" fmla="*/ 1337 h 1467"/>
                  <a:gd name="T16" fmla="*/ 579 w 1092"/>
                  <a:gd name="T17" fmla="*/ 1450 h 1467"/>
                  <a:gd name="T18" fmla="*/ 561 w 1092"/>
                  <a:gd name="T19" fmla="*/ 1467 h 1467"/>
                  <a:gd name="T20" fmla="*/ 387 w 1092"/>
                  <a:gd name="T21" fmla="*/ 1433 h 1467"/>
                  <a:gd name="T22" fmla="*/ 542 w 1092"/>
                  <a:gd name="T23" fmla="*/ 1433 h 1467"/>
                  <a:gd name="T24" fmla="*/ 464 w 1092"/>
                  <a:gd name="T25" fmla="*/ 1371 h 1467"/>
                  <a:gd name="T26" fmla="*/ 387 w 1092"/>
                  <a:gd name="T27" fmla="*/ 1433 h 1467"/>
                  <a:gd name="T28" fmla="*/ 19 w 1092"/>
                  <a:gd name="T29" fmla="*/ 1089 h 1467"/>
                  <a:gd name="T30" fmla="*/ 7 w 1092"/>
                  <a:gd name="T31" fmla="*/ 1084 h 1467"/>
                  <a:gd name="T32" fmla="*/ 7 w 1092"/>
                  <a:gd name="T33" fmla="*/ 1060 h 1467"/>
                  <a:gd name="T34" fmla="*/ 372 w 1092"/>
                  <a:gd name="T35" fmla="*/ 695 h 1467"/>
                  <a:gd name="T36" fmla="*/ 354 w 1092"/>
                  <a:gd name="T37" fmla="*/ 657 h 1467"/>
                  <a:gd name="T38" fmla="*/ 365 w 1092"/>
                  <a:gd name="T39" fmla="*/ 570 h 1467"/>
                  <a:gd name="T40" fmla="*/ 418 w 1092"/>
                  <a:gd name="T41" fmla="*/ 522 h 1467"/>
                  <a:gd name="T42" fmla="*/ 285 w 1092"/>
                  <a:gd name="T43" fmla="*/ 24 h 1467"/>
                  <a:gd name="T44" fmla="*/ 297 w 1092"/>
                  <a:gd name="T45" fmla="*/ 2 h 1467"/>
                  <a:gd name="T46" fmla="*/ 318 w 1092"/>
                  <a:gd name="T47" fmla="*/ 14 h 1467"/>
                  <a:gd name="T48" fmla="*/ 452 w 1092"/>
                  <a:gd name="T49" fmla="*/ 513 h 1467"/>
                  <a:gd name="T50" fmla="*/ 522 w 1092"/>
                  <a:gd name="T51" fmla="*/ 528 h 1467"/>
                  <a:gd name="T52" fmla="*/ 575 w 1092"/>
                  <a:gd name="T53" fmla="*/ 597 h 1467"/>
                  <a:gd name="T54" fmla="*/ 578 w 1092"/>
                  <a:gd name="T55" fmla="*/ 639 h 1467"/>
                  <a:gd name="T56" fmla="*/ 1077 w 1092"/>
                  <a:gd name="T57" fmla="*/ 773 h 1467"/>
                  <a:gd name="T58" fmla="*/ 1089 w 1092"/>
                  <a:gd name="T59" fmla="*/ 794 h 1467"/>
                  <a:gd name="T60" fmla="*/ 1068 w 1092"/>
                  <a:gd name="T61" fmla="*/ 807 h 1467"/>
                  <a:gd name="T62" fmla="*/ 569 w 1092"/>
                  <a:gd name="T63" fmla="*/ 673 h 1467"/>
                  <a:gd name="T64" fmla="*/ 494 w 1092"/>
                  <a:gd name="T65" fmla="*/ 737 h 1467"/>
                  <a:gd name="T66" fmla="*/ 407 w 1092"/>
                  <a:gd name="T67" fmla="*/ 726 h 1467"/>
                  <a:gd name="T68" fmla="*/ 397 w 1092"/>
                  <a:gd name="T69" fmla="*/ 719 h 1467"/>
                  <a:gd name="T70" fmla="*/ 32 w 1092"/>
                  <a:gd name="T71" fmla="*/ 1084 h 1467"/>
                  <a:gd name="T72" fmla="*/ 19 w 1092"/>
                  <a:gd name="T73" fmla="*/ 1089 h 1467"/>
                  <a:gd name="T74" fmla="*/ 409 w 1092"/>
                  <a:gd name="T75" fmla="*/ 684 h 1467"/>
                  <a:gd name="T76" fmla="*/ 425 w 1092"/>
                  <a:gd name="T77" fmla="*/ 696 h 1467"/>
                  <a:gd name="T78" fmla="*/ 485 w 1092"/>
                  <a:gd name="T79" fmla="*/ 704 h 1467"/>
                  <a:gd name="T80" fmla="*/ 541 w 1092"/>
                  <a:gd name="T81" fmla="*/ 606 h 1467"/>
                  <a:gd name="T82" fmla="*/ 444 w 1092"/>
                  <a:gd name="T83" fmla="*/ 550 h 1467"/>
                  <a:gd name="T84" fmla="*/ 444 w 1092"/>
                  <a:gd name="T85" fmla="*/ 550 h 1467"/>
                  <a:gd name="T86" fmla="*/ 396 w 1092"/>
                  <a:gd name="T87" fmla="*/ 587 h 1467"/>
                  <a:gd name="T88" fmla="*/ 388 w 1092"/>
                  <a:gd name="T89" fmla="*/ 648 h 1467"/>
                  <a:gd name="T90" fmla="*/ 408 w 1092"/>
                  <a:gd name="T91" fmla="*/ 682 h 1467"/>
                  <a:gd name="T92" fmla="*/ 408 w 1092"/>
                  <a:gd name="T93" fmla="*/ 683 h 1467"/>
                  <a:gd name="T94" fmla="*/ 409 w 1092"/>
                  <a:gd name="T95" fmla="*/ 684 h 14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92" h="1467">
                    <a:moveTo>
                      <a:pt x="561" y="1467"/>
                    </a:moveTo>
                    <a:cubicBezTo>
                      <a:pt x="368" y="1467"/>
                      <a:pt x="368" y="1467"/>
                      <a:pt x="368" y="1467"/>
                    </a:cubicBezTo>
                    <a:cubicBezTo>
                      <a:pt x="358" y="1467"/>
                      <a:pt x="350" y="1460"/>
                      <a:pt x="350" y="1450"/>
                    </a:cubicBezTo>
                    <a:cubicBezTo>
                      <a:pt x="350" y="1393"/>
                      <a:pt x="392" y="1346"/>
                      <a:pt x="447" y="1337"/>
                    </a:cubicBezTo>
                    <a:cubicBezTo>
                      <a:pt x="447" y="821"/>
                      <a:pt x="447" y="821"/>
                      <a:pt x="447" y="821"/>
                    </a:cubicBezTo>
                    <a:cubicBezTo>
                      <a:pt x="447" y="811"/>
                      <a:pt x="455" y="803"/>
                      <a:pt x="464" y="803"/>
                    </a:cubicBezTo>
                    <a:cubicBezTo>
                      <a:pt x="474" y="803"/>
                      <a:pt x="482" y="811"/>
                      <a:pt x="482" y="821"/>
                    </a:cubicBezTo>
                    <a:cubicBezTo>
                      <a:pt x="482" y="1337"/>
                      <a:pt x="482" y="1337"/>
                      <a:pt x="482" y="1337"/>
                    </a:cubicBezTo>
                    <a:cubicBezTo>
                      <a:pt x="537" y="1346"/>
                      <a:pt x="579" y="1393"/>
                      <a:pt x="579" y="1450"/>
                    </a:cubicBezTo>
                    <a:cubicBezTo>
                      <a:pt x="579" y="1460"/>
                      <a:pt x="571" y="1467"/>
                      <a:pt x="561" y="1467"/>
                    </a:cubicBezTo>
                    <a:close/>
                    <a:moveTo>
                      <a:pt x="387" y="1433"/>
                    </a:moveTo>
                    <a:cubicBezTo>
                      <a:pt x="542" y="1433"/>
                      <a:pt x="542" y="1433"/>
                      <a:pt x="542" y="1433"/>
                    </a:cubicBezTo>
                    <a:cubicBezTo>
                      <a:pt x="534" y="1397"/>
                      <a:pt x="502" y="1371"/>
                      <a:pt x="464" y="1371"/>
                    </a:cubicBezTo>
                    <a:cubicBezTo>
                      <a:pt x="427" y="1371"/>
                      <a:pt x="395" y="1397"/>
                      <a:pt x="387" y="1433"/>
                    </a:cubicBezTo>
                    <a:close/>
                    <a:moveTo>
                      <a:pt x="19" y="1089"/>
                    </a:moveTo>
                    <a:cubicBezTo>
                      <a:pt x="15" y="1089"/>
                      <a:pt x="10" y="1088"/>
                      <a:pt x="7" y="1084"/>
                    </a:cubicBezTo>
                    <a:cubicBezTo>
                      <a:pt x="0" y="1078"/>
                      <a:pt x="0" y="1067"/>
                      <a:pt x="7" y="1060"/>
                    </a:cubicBezTo>
                    <a:cubicBezTo>
                      <a:pt x="372" y="695"/>
                      <a:pt x="372" y="695"/>
                      <a:pt x="372" y="695"/>
                    </a:cubicBezTo>
                    <a:cubicBezTo>
                      <a:pt x="364" y="683"/>
                      <a:pt x="358" y="670"/>
                      <a:pt x="354" y="657"/>
                    </a:cubicBezTo>
                    <a:cubicBezTo>
                      <a:pt x="346" y="627"/>
                      <a:pt x="350" y="596"/>
                      <a:pt x="365" y="570"/>
                    </a:cubicBezTo>
                    <a:cubicBezTo>
                      <a:pt x="378" y="549"/>
                      <a:pt x="396" y="532"/>
                      <a:pt x="418" y="522"/>
                    </a:cubicBezTo>
                    <a:cubicBezTo>
                      <a:pt x="285" y="24"/>
                      <a:pt x="285" y="24"/>
                      <a:pt x="285" y="24"/>
                    </a:cubicBezTo>
                    <a:cubicBezTo>
                      <a:pt x="282" y="14"/>
                      <a:pt x="288" y="5"/>
                      <a:pt x="297" y="2"/>
                    </a:cubicBezTo>
                    <a:cubicBezTo>
                      <a:pt x="306" y="0"/>
                      <a:pt x="316" y="5"/>
                      <a:pt x="318" y="14"/>
                    </a:cubicBezTo>
                    <a:cubicBezTo>
                      <a:pt x="452" y="513"/>
                      <a:pt x="452" y="513"/>
                      <a:pt x="452" y="513"/>
                    </a:cubicBezTo>
                    <a:cubicBezTo>
                      <a:pt x="476" y="511"/>
                      <a:pt x="500" y="516"/>
                      <a:pt x="522" y="528"/>
                    </a:cubicBezTo>
                    <a:cubicBezTo>
                      <a:pt x="548" y="543"/>
                      <a:pt x="567" y="568"/>
                      <a:pt x="575" y="597"/>
                    </a:cubicBezTo>
                    <a:cubicBezTo>
                      <a:pt x="579" y="611"/>
                      <a:pt x="580" y="626"/>
                      <a:pt x="578" y="639"/>
                    </a:cubicBezTo>
                    <a:cubicBezTo>
                      <a:pt x="1077" y="773"/>
                      <a:pt x="1077" y="773"/>
                      <a:pt x="1077" y="773"/>
                    </a:cubicBezTo>
                    <a:cubicBezTo>
                      <a:pt x="1086" y="776"/>
                      <a:pt x="1092" y="785"/>
                      <a:pt x="1089" y="794"/>
                    </a:cubicBezTo>
                    <a:cubicBezTo>
                      <a:pt x="1087" y="804"/>
                      <a:pt x="1077" y="809"/>
                      <a:pt x="1068" y="807"/>
                    </a:cubicBezTo>
                    <a:cubicBezTo>
                      <a:pt x="569" y="673"/>
                      <a:pt x="569" y="673"/>
                      <a:pt x="569" y="673"/>
                    </a:cubicBezTo>
                    <a:cubicBezTo>
                      <a:pt x="555" y="704"/>
                      <a:pt x="529" y="728"/>
                      <a:pt x="494" y="737"/>
                    </a:cubicBezTo>
                    <a:cubicBezTo>
                      <a:pt x="465" y="745"/>
                      <a:pt x="434" y="741"/>
                      <a:pt x="407" y="726"/>
                    </a:cubicBezTo>
                    <a:cubicBezTo>
                      <a:pt x="404" y="724"/>
                      <a:pt x="400" y="722"/>
                      <a:pt x="397" y="719"/>
                    </a:cubicBezTo>
                    <a:cubicBezTo>
                      <a:pt x="32" y="1084"/>
                      <a:pt x="32" y="1084"/>
                      <a:pt x="32" y="1084"/>
                    </a:cubicBezTo>
                    <a:cubicBezTo>
                      <a:pt x="28" y="1088"/>
                      <a:pt x="24" y="1089"/>
                      <a:pt x="19" y="1089"/>
                    </a:cubicBezTo>
                    <a:close/>
                    <a:moveTo>
                      <a:pt x="409" y="684"/>
                    </a:moveTo>
                    <a:cubicBezTo>
                      <a:pt x="414" y="688"/>
                      <a:pt x="419" y="692"/>
                      <a:pt x="425" y="696"/>
                    </a:cubicBezTo>
                    <a:cubicBezTo>
                      <a:pt x="443" y="706"/>
                      <a:pt x="465" y="709"/>
                      <a:pt x="485" y="704"/>
                    </a:cubicBezTo>
                    <a:cubicBezTo>
                      <a:pt x="527" y="692"/>
                      <a:pt x="552" y="649"/>
                      <a:pt x="541" y="606"/>
                    </a:cubicBezTo>
                    <a:cubicBezTo>
                      <a:pt x="530" y="564"/>
                      <a:pt x="486" y="539"/>
                      <a:pt x="444" y="550"/>
                    </a:cubicBezTo>
                    <a:cubicBezTo>
                      <a:pt x="444" y="550"/>
                      <a:pt x="444" y="550"/>
                      <a:pt x="444" y="550"/>
                    </a:cubicBezTo>
                    <a:cubicBezTo>
                      <a:pt x="423" y="556"/>
                      <a:pt x="406" y="569"/>
                      <a:pt x="396" y="587"/>
                    </a:cubicBezTo>
                    <a:cubicBezTo>
                      <a:pt x="385" y="606"/>
                      <a:pt x="382" y="627"/>
                      <a:pt x="388" y="648"/>
                    </a:cubicBezTo>
                    <a:cubicBezTo>
                      <a:pt x="391" y="661"/>
                      <a:pt x="398" y="673"/>
                      <a:pt x="408" y="682"/>
                    </a:cubicBezTo>
                    <a:cubicBezTo>
                      <a:pt x="408" y="683"/>
                      <a:pt x="408" y="683"/>
                      <a:pt x="408" y="683"/>
                    </a:cubicBezTo>
                    <a:cubicBezTo>
                      <a:pt x="409" y="683"/>
                      <a:pt x="409" y="684"/>
                      <a:pt x="409" y="6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342923">
                  <a:defRPr/>
                </a:pPr>
                <a:endParaRPr lang="uk-UA" sz="1000">
                  <a:solidFill>
                    <a:srgbClr val="000000"/>
                  </a:solidFill>
                  <a:latin typeface="+mj-lt"/>
                </a:endParaRPr>
              </a:p>
            </p:txBody>
          </p:sp>
          <p:sp>
            <p:nvSpPr>
              <p:cNvPr id="31" name="Freeform 44">
                <a:extLst>
                  <a:ext uri="{FF2B5EF4-FFF2-40B4-BE49-F238E27FC236}">
                    <a16:creationId xmlns:a16="http://schemas.microsoft.com/office/drawing/2014/main" id="{D13B545F-E0E3-E7C1-3400-80716108DF6B}"/>
                  </a:ext>
                </a:extLst>
              </p:cNvPr>
              <p:cNvSpPr>
                <a:spLocks noEditPoints="1"/>
              </p:cNvSpPr>
              <p:nvPr/>
            </p:nvSpPr>
            <p:spPr bwMode="auto">
              <a:xfrm>
                <a:off x="24601" y="4639"/>
                <a:ext cx="2751" cy="2724"/>
              </a:xfrm>
              <a:custGeom>
                <a:avLst/>
                <a:gdLst>
                  <a:gd name="T0" fmla="*/ 1453 w 1453"/>
                  <a:gd name="T1" fmla="*/ 1438 h 1438"/>
                  <a:gd name="T2" fmla="*/ 0 w 1453"/>
                  <a:gd name="T3" fmla="*/ 1438 h 1438"/>
                  <a:gd name="T4" fmla="*/ 0 w 1453"/>
                  <a:gd name="T5" fmla="*/ 1404 h 1438"/>
                  <a:gd name="T6" fmla="*/ 1453 w 1453"/>
                  <a:gd name="T7" fmla="*/ 1404 h 1438"/>
                  <a:gd name="T8" fmla="*/ 1453 w 1453"/>
                  <a:gd name="T9" fmla="*/ 1438 h 1438"/>
                  <a:gd name="T10" fmla="*/ 1076 w 1453"/>
                  <a:gd name="T11" fmla="*/ 1084 h 1438"/>
                  <a:gd name="T12" fmla="*/ 1055 w 1453"/>
                  <a:gd name="T13" fmla="*/ 1056 h 1438"/>
                  <a:gd name="T14" fmla="*/ 1075 w 1453"/>
                  <a:gd name="T15" fmla="*/ 1041 h 1438"/>
                  <a:gd name="T16" fmla="*/ 1243 w 1453"/>
                  <a:gd name="T17" fmla="*/ 824 h 1438"/>
                  <a:gd name="T18" fmla="*/ 1275 w 1453"/>
                  <a:gd name="T19" fmla="*/ 837 h 1438"/>
                  <a:gd name="T20" fmla="*/ 1097 w 1453"/>
                  <a:gd name="T21" fmla="*/ 1068 h 1438"/>
                  <a:gd name="T22" fmla="*/ 1076 w 1453"/>
                  <a:gd name="T23" fmla="*/ 1084 h 1438"/>
                  <a:gd name="T24" fmla="*/ 228 w 1453"/>
                  <a:gd name="T25" fmla="*/ 929 h 1438"/>
                  <a:gd name="T26" fmla="*/ 208 w 1453"/>
                  <a:gd name="T27" fmla="*/ 897 h 1438"/>
                  <a:gd name="T28" fmla="*/ 128 w 1453"/>
                  <a:gd name="T29" fmla="*/ 598 h 1438"/>
                  <a:gd name="T30" fmla="*/ 130 w 1453"/>
                  <a:gd name="T31" fmla="*/ 548 h 1438"/>
                  <a:gd name="T32" fmla="*/ 165 w 1453"/>
                  <a:gd name="T33" fmla="*/ 551 h 1438"/>
                  <a:gd name="T34" fmla="*/ 163 w 1453"/>
                  <a:gd name="T35" fmla="*/ 598 h 1438"/>
                  <a:gd name="T36" fmla="*/ 238 w 1453"/>
                  <a:gd name="T37" fmla="*/ 880 h 1438"/>
                  <a:gd name="T38" fmla="*/ 257 w 1453"/>
                  <a:gd name="T39" fmla="*/ 910 h 1438"/>
                  <a:gd name="T40" fmla="*/ 228 w 1453"/>
                  <a:gd name="T41" fmla="*/ 929 h 1438"/>
                  <a:gd name="T42" fmla="*/ 1064 w 1453"/>
                  <a:gd name="T43" fmla="*/ 900 h 1438"/>
                  <a:gd name="T44" fmla="*/ 1038 w 1453"/>
                  <a:gd name="T45" fmla="*/ 877 h 1438"/>
                  <a:gd name="T46" fmla="*/ 1098 w 1453"/>
                  <a:gd name="T47" fmla="*/ 790 h 1438"/>
                  <a:gd name="T48" fmla="*/ 1129 w 1453"/>
                  <a:gd name="T49" fmla="*/ 806 h 1438"/>
                  <a:gd name="T50" fmla="*/ 1064 w 1453"/>
                  <a:gd name="T51" fmla="*/ 900 h 1438"/>
                  <a:gd name="T52" fmla="*/ 324 w 1453"/>
                  <a:gd name="T53" fmla="*/ 806 h 1438"/>
                  <a:gd name="T54" fmla="*/ 299 w 1453"/>
                  <a:gd name="T55" fmla="*/ 749 h 1438"/>
                  <a:gd name="T56" fmla="*/ 276 w 1453"/>
                  <a:gd name="T57" fmla="*/ 648 h 1438"/>
                  <a:gd name="T58" fmla="*/ 311 w 1453"/>
                  <a:gd name="T59" fmla="*/ 644 h 1438"/>
                  <a:gd name="T60" fmla="*/ 332 w 1453"/>
                  <a:gd name="T61" fmla="*/ 737 h 1438"/>
                  <a:gd name="T62" fmla="*/ 355 w 1453"/>
                  <a:gd name="T63" fmla="*/ 790 h 1438"/>
                  <a:gd name="T64" fmla="*/ 324 w 1453"/>
                  <a:gd name="T65" fmla="*/ 806 h 1438"/>
                  <a:gd name="T66" fmla="*/ 866 w 1453"/>
                  <a:gd name="T67" fmla="*/ 203 h 1438"/>
                  <a:gd name="T68" fmla="*/ 726 w 1453"/>
                  <a:gd name="T69" fmla="*/ 180 h 1438"/>
                  <a:gd name="T70" fmla="*/ 726 w 1453"/>
                  <a:gd name="T71" fmla="*/ 145 h 1438"/>
                  <a:gd name="T72" fmla="*/ 877 w 1453"/>
                  <a:gd name="T73" fmla="*/ 171 h 1438"/>
                  <a:gd name="T74" fmla="*/ 866 w 1453"/>
                  <a:gd name="T75" fmla="*/ 203 h 1438"/>
                  <a:gd name="T76" fmla="*/ 1008 w 1453"/>
                  <a:gd name="T77" fmla="*/ 110 h 1438"/>
                  <a:gd name="T78" fmla="*/ 961 w 1453"/>
                  <a:gd name="T79" fmla="*/ 85 h 1438"/>
                  <a:gd name="T80" fmla="*/ 726 w 1453"/>
                  <a:gd name="T81" fmla="*/ 34 h 1438"/>
                  <a:gd name="T82" fmla="*/ 679 w 1453"/>
                  <a:gd name="T83" fmla="*/ 36 h 1438"/>
                  <a:gd name="T84" fmla="*/ 677 w 1453"/>
                  <a:gd name="T85" fmla="*/ 2 h 1438"/>
                  <a:gd name="T86" fmla="*/ 726 w 1453"/>
                  <a:gd name="T87" fmla="*/ 0 h 1438"/>
                  <a:gd name="T88" fmla="*/ 976 w 1453"/>
                  <a:gd name="T89" fmla="*/ 54 h 1438"/>
                  <a:gd name="T90" fmla="*/ 1026 w 1453"/>
                  <a:gd name="T91" fmla="*/ 80 h 1438"/>
                  <a:gd name="T92" fmla="*/ 1008 w 1453"/>
                  <a:gd name="T93" fmla="*/ 110 h 1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453" h="1438">
                    <a:moveTo>
                      <a:pt x="1453" y="1438"/>
                    </a:moveTo>
                    <a:cubicBezTo>
                      <a:pt x="0" y="1438"/>
                      <a:pt x="0" y="1438"/>
                      <a:pt x="0" y="1438"/>
                    </a:cubicBezTo>
                    <a:cubicBezTo>
                      <a:pt x="0" y="1404"/>
                      <a:pt x="0" y="1404"/>
                      <a:pt x="0" y="1404"/>
                    </a:cubicBezTo>
                    <a:cubicBezTo>
                      <a:pt x="1453" y="1404"/>
                      <a:pt x="1453" y="1404"/>
                      <a:pt x="1453" y="1404"/>
                    </a:cubicBezTo>
                    <a:lnTo>
                      <a:pt x="1453" y="1438"/>
                    </a:lnTo>
                    <a:close/>
                    <a:moveTo>
                      <a:pt x="1076" y="1084"/>
                    </a:moveTo>
                    <a:cubicBezTo>
                      <a:pt x="1055" y="1056"/>
                      <a:pt x="1055" y="1056"/>
                      <a:pt x="1055" y="1056"/>
                    </a:cubicBezTo>
                    <a:cubicBezTo>
                      <a:pt x="1062" y="1051"/>
                      <a:pt x="1069" y="1046"/>
                      <a:pt x="1075" y="1041"/>
                    </a:cubicBezTo>
                    <a:cubicBezTo>
                      <a:pt x="1148" y="983"/>
                      <a:pt x="1206" y="908"/>
                      <a:pt x="1243" y="824"/>
                    </a:cubicBezTo>
                    <a:cubicBezTo>
                      <a:pt x="1275" y="837"/>
                      <a:pt x="1275" y="837"/>
                      <a:pt x="1275" y="837"/>
                    </a:cubicBezTo>
                    <a:cubicBezTo>
                      <a:pt x="1236" y="927"/>
                      <a:pt x="1174" y="1007"/>
                      <a:pt x="1097" y="1068"/>
                    </a:cubicBezTo>
                    <a:cubicBezTo>
                      <a:pt x="1090" y="1074"/>
                      <a:pt x="1083" y="1079"/>
                      <a:pt x="1076" y="1084"/>
                    </a:cubicBezTo>
                    <a:close/>
                    <a:moveTo>
                      <a:pt x="228" y="929"/>
                    </a:moveTo>
                    <a:cubicBezTo>
                      <a:pt x="221" y="919"/>
                      <a:pt x="214" y="908"/>
                      <a:pt x="208" y="897"/>
                    </a:cubicBezTo>
                    <a:cubicBezTo>
                      <a:pt x="156" y="807"/>
                      <a:pt x="128" y="703"/>
                      <a:pt x="128" y="598"/>
                    </a:cubicBezTo>
                    <a:cubicBezTo>
                      <a:pt x="128" y="581"/>
                      <a:pt x="129" y="565"/>
                      <a:pt x="130" y="548"/>
                    </a:cubicBezTo>
                    <a:cubicBezTo>
                      <a:pt x="165" y="551"/>
                      <a:pt x="165" y="551"/>
                      <a:pt x="165" y="551"/>
                    </a:cubicBezTo>
                    <a:cubicBezTo>
                      <a:pt x="164" y="567"/>
                      <a:pt x="163" y="582"/>
                      <a:pt x="163" y="598"/>
                    </a:cubicBezTo>
                    <a:cubicBezTo>
                      <a:pt x="163" y="697"/>
                      <a:pt x="189" y="794"/>
                      <a:pt x="238" y="880"/>
                    </a:cubicBezTo>
                    <a:cubicBezTo>
                      <a:pt x="244" y="890"/>
                      <a:pt x="250" y="900"/>
                      <a:pt x="257" y="910"/>
                    </a:cubicBezTo>
                    <a:lnTo>
                      <a:pt x="228" y="929"/>
                    </a:lnTo>
                    <a:close/>
                    <a:moveTo>
                      <a:pt x="1064" y="900"/>
                    </a:moveTo>
                    <a:cubicBezTo>
                      <a:pt x="1038" y="877"/>
                      <a:pt x="1038" y="877"/>
                      <a:pt x="1038" y="877"/>
                    </a:cubicBezTo>
                    <a:cubicBezTo>
                      <a:pt x="1062" y="850"/>
                      <a:pt x="1082" y="821"/>
                      <a:pt x="1098" y="790"/>
                    </a:cubicBezTo>
                    <a:cubicBezTo>
                      <a:pt x="1129" y="806"/>
                      <a:pt x="1129" y="806"/>
                      <a:pt x="1129" y="806"/>
                    </a:cubicBezTo>
                    <a:cubicBezTo>
                      <a:pt x="1112" y="840"/>
                      <a:pt x="1090" y="872"/>
                      <a:pt x="1064" y="900"/>
                    </a:cubicBezTo>
                    <a:close/>
                    <a:moveTo>
                      <a:pt x="324" y="806"/>
                    </a:moveTo>
                    <a:cubicBezTo>
                      <a:pt x="314" y="787"/>
                      <a:pt x="306" y="768"/>
                      <a:pt x="299" y="749"/>
                    </a:cubicBezTo>
                    <a:cubicBezTo>
                      <a:pt x="288" y="717"/>
                      <a:pt x="280" y="683"/>
                      <a:pt x="276" y="648"/>
                    </a:cubicBezTo>
                    <a:cubicBezTo>
                      <a:pt x="311" y="644"/>
                      <a:pt x="311" y="644"/>
                      <a:pt x="311" y="644"/>
                    </a:cubicBezTo>
                    <a:cubicBezTo>
                      <a:pt x="314" y="676"/>
                      <a:pt x="321" y="707"/>
                      <a:pt x="332" y="737"/>
                    </a:cubicBezTo>
                    <a:cubicBezTo>
                      <a:pt x="338" y="755"/>
                      <a:pt x="346" y="773"/>
                      <a:pt x="355" y="790"/>
                    </a:cubicBezTo>
                    <a:lnTo>
                      <a:pt x="324" y="806"/>
                    </a:lnTo>
                    <a:close/>
                    <a:moveTo>
                      <a:pt x="866" y="203"/>
                    </a:moveTo>
                    <a:cubicBezTo>
                      <a:pt x="821" y="188"/>
                      <a:pt x="774" y="180"/>
                      <a:pt x="726" y="180"/>
                    </a:cubicBezTo>
                    <a:cubicBezTo>
                      <a:pt x="726" y="145"/>
                      <a:pt x="726" y="145"/>
                      <a:pt x="726" y="145"/>
                    </a:cubicBezTo>
                    <a:cubicBezTo>
                      <a:pt x="778" y="145"/>
                      <a:pt x="829" y="153"/>
                      <a:pt x="877" y="171"/>
                    </a:cubicBezTo>
                    <a:lnTo>
                      <a:pt x="866" y="203"/>
                    </a:lnTo>
                    <a:close/>
                    <a:moveTo>
                      <a:pt x="1008" y="110"/>
                    </a:moveTo>
                    <a:cubicBezTo>
                      <a:pt x="993" y="101"/>
                      <a:pt x="977" y="93"/>
                      <a:pt x="961" y="85"/>
                    </a:cubicBezTo>
                    <a:cubicBezTo>
                      <a:pt x="887" y="52"/>
                      <a:pt x="808" y="34"/>
                      <a:pt x="726" y="34"/>
                    </a:cubicBezTo>
                    <a:cubicBezTo>
                      <a:pt x="711" y="34"/>
                      <a:pt x="695" y="35"/>
                      <a:pt x="679" y="36"/>
                    </a:cubicBezTo>
                    <a:cubicBezTo>
                      <a:pt x="677" y="2"/>
                      <a:pt x="677" y="2"/>
                      <a:pt x="677" y="2"/>
                    </a:cubicBezTo>
                    <a:cubicBezTo>
                      <a:pt x="693" y="0"/>
                      <a:pt x="710" y="0"/>
                      <a:pt x="726" y="0"/>
                    </a:cubicBezTo>
                    <a:cubicBezTo>
                      <a:pt x="813" y="0"/>
                      <a:pt x="897" y="18"/>
                      <a:pt x="976" y="54"/>
                    </a:cubicBezTo>
                    <a:cubicBezTo>
                      <a:pt x="993" y="62"/>
                      <a:pt x="1010" y="70"/>
                      <a:pt x="1026" y="80"/>
                    </a:cubicBezTo>
                    <a:lnTo>
                      <a:pt x="1008" y="1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342923">
                  <a:defRPr/>
                </a:pPr>
                <a:endParaRPr lang="uk-UA" sz="1000">
                  <a:solidFill>
                    <a:srgbClr val="000000"/>
                  </a:solidFill>
                  <a:latin typeface="+mj-lt"/>
                </a:endParaRPr>
              </a:p>
            </p:txBody>
          </p:sp>
        </p:grpSp>
        <p:sp>
          <p:nvSpPr>
            <p:cNvPr id="27" name="Freeform 11">
              <a:extLst>
                <a:ext uri="{FF2B5EF4-FFF2-40B4-BE49-F238E27FC236}">
                  <a16:creationId xmlns:a16="http://schemas.microsoft.com/office/drawing/2014/main" id="{79863239-87BE-D565-5DF5-7A5A972DC750}"/>
                </a:ext>
              </a:extLst>
            </p:cNvPr>
            <p:cNvSpPr>
              <a:spLocks noEditPoints="1"/>
            </p:cNvSpPr>
            <p:nvPr/>
          </p:nvSpPr>
          <p:spPr bwMode="auto">
            <a:xfrm>
              <a:off x="3615715" y="3584327"/>
              <a:ext cx="345459" cy="345666"/>
            </a:xfrm>
            <a:custGeom>
              <a:avLst/>
              <a:gdLst>
                <a:gd name="T0" fmla="*/ 4650 w 5247"/>
                <a:gd name="T1" fmla="*/ 1967 h 5250"/>
                <a:gd name="T2" fmla="*/ 5247 w 5247"/>
                <a:gd name="T3" fmla="*/ 662 h 5250"/>
                <a:gd name="T4" fmla="*/ 3929 w 5247"/>
                <a:gd name="T5" fmla="*/ 662 h 5250"/>
                <a:gd name="T6" fmla="*/ 4527 w 5247"/>
                <a:gd name="T7" fmla="*/ 1967 h 5250"/>
                <a:gd name="T8" fmla="*/ 3929 w 5247"/>
                <a:gd name="T9" fmla="*/ 2028 h 5250"/>
                <a:gd name="T10" fmla="*/ 3280 w 5247"/>
                <a:gd name="T11" fmla="*/ 2565 h 5250"/>
                <a:gd name="T12" fmla="*/ 1968 w 5247"/>
                <a:gd name="T13" fmla="*/ 2565 h 5250"/>
                <a:gd name="T14" fmla="*/ 721 w 5247"/>
                <a:gd name="T15" fmla="*/ 1943 h 5250"/>
                <a:gd name="T16" fmla="*/ 1257 w 5247"/>
                <a:gd name="T17" fmla="*/ 1321 h 5250"/>
                <a:gd name="T18" fmla="*/ 1319 w 5247"/>
                <a:gd name="T19" fmla="*/ 723 h 5250"/>
                <a:gd name="T20" fmla="*/ 2221 w 5247"/>
                <a:gd name="T21" fmla="*/ 1260 h 5250"/>
                <a:gd name="T22" fmla="*/ 2282 w 5247"/>
                <a:gd name="T23" fmla="*/ 1321 h 5250"/>
                <a:gd name="T24" fmla="*/ 3338 w 5247"/>
                <a:gd name="T25" fmla="*/ 709 h 5250"/>
                <a:gd name="T26" fmla="*/ 3338 w 5247"/>
                <a:gd name="T27" fmla="*/ 603 h 5250"/>
                <a:gd name="T28" fmla="*/ 2252 w 5247"/>
                <a:gd name="T29" fmla="*/ 11 h 5250"/>
                <a:gd name="T30" fmla="*/ 2221 w 5247"/>
                <a:gd name="T31" fmla="*/ 600 h 5250"/>
                <a:gd name="T32" fmla="*/ 1319 w 5247"/>
                <a:gd name="T33" fmla="*/ 64 h 5250"/>
                <a:gd name="T34" fmla="*/ 62 w 5247"/>
                <a:gd name="T35" fmla="*/ 3 h 5250"/>
                <a:gd name="T36" fmla="*/ 0 w 5247"/>
                <a:gd name="T37" fmla="*/ 1260 h 5250"/>
                <a:gd name="T38" fmla="*/ 598 w 5247"/>
                <a:gd name="T39" fmla="*/ 1321 h 5250"/>
                <a:gd name="T40" fmla="*/ 1343 w 5247"/>
                <a:gd name="T41" fmla="*/ 2688 h 5250"/>
                <a:gd name="T42" fmla="*/ 2117 w 5247"/>
                <a:gd name="T43" fmla="*/ 3047 h 5250"/>
                <a:gd name="T44" fmla="*/ 660 w 5247"/>
                <a:gd name="T45" fmla="*/ 3931 h 5250"/>
                <a:gd name="T46" fmla="*/ 660 w 5247"/>
                <a:gd name="T47" fmla="*/ 5250 h 5250"/>
                <a:gd name="T48" fmla="*/ 1167 w 5247"/>
                <a:gd name="T49" fmla="*/ 4170 h 5250"/>
                <a:gd name="T50" fmla="*/ 2562 w 5247"/>
                <a:gd name="T51" fmla="*/ 3282 h 5250"/>
                <a:gd name="T52" fmla="*/ 2026 w 5247"/>
                <a:gd name="T53" fmla="*/ 3931 h 5250"/>
                <a:gd name="T54" fmla="*/ 1965 w 5247"/>
                <a:gd name="T55" fmla="*/ 5188 h 5250"/>
                <a:gd name="T56" fmla="*/ 3222 w 5247"/>
                <a:gd name="T57" fmla="*/ 5250 h 5250"/>
                <a:gd name="T58" fmla="*/ 3283 w 5247"/>
                <a:gd name="T59" fmla="*/ 4823 h 5250"/>
                <a:gd name="T60" fmla="*/ 4650 w 5247"/>
                <a:gd name="T61" fmla="*/ 4078 h 5250"/>
                <a:gd name="T62" fmla="*/ 5186 w 5247"/>
                <a:gd name="T63" fmla="*/ 3285 h 5250"/>
                <a:gd name="T64" fmla="*/ 5247 w 5247"/>
                <a:gd name="T65" fmla="*/ 2028 h 5250"/>
                <a:gd name="T66" fmla="*/ 4052 w 5247"/>
                <a:gd name="T67" fmla="*/ 662 h 5250"/>
                <a:gd name="T68" fmla="*/ 5124 w 5247"/>
                <a:gd name="T69" fmla="*/ 662 h 5250"/>
                <a:gd name="T70" fmla="*/ 4052 w 5247"/>
                <a:gd name="T71" fmla="*/ 662 h 5250"/>
                <a:gd name="T72" fmla="*/ 3185 w 5247"/>
                <a:gd name="T73" fmla="*/ 656 h 5250"/>
                <a:gd name="T74" fmla="*/ 2344 w 5247"/>
                <a:gd name="T75" fmla="*/ 171 h 5250"/>
                <a:gd name="T76" fmla="*/ 1196 w 5247"/>
                <a:gd name="T77" fmla="*/ 126 h 5250"/>
                <a:gd name="T78" fmla="*/ 123 w 5247"/>
                <a:gd name="T79" fmla="*/ 1198 h 5250"/>
                <a:gd name="T80" fmla="*/ 660 w 5247"/>
                <a:gd name="T81" fmla="*/ 5127 h 5250"/>
                <a:gd name="T82" fmla="*/ 660 w 5247"/>
                <a:gd name="T83" fmla="*/ 4054 h 5250"/>
                <a:gd name="T84" fmla="*/ 660 w 5247"/>
                <a:gd name="T85" fmla="*/ 5127 h 5250"/>
                <a:gd name="T86" fmla="*/ 2624 w 5247"/>
                <a:gd name="T87" fmla="*/ 2090 h 5250"/>
                <a:gd name="T88" fmla="*/ 2624 w 5247"/>
                <a:gd name="T89" fmla="*/ 3162 h 5250"/>
                <a:gd name="T90" fmla="*/ 3160 w 5247"/>
                <a:gd name="T91" fmla="*/ 5127 h 5250"/>
                <a:gd name="T92" fmla="*/ 2088 w 5247"/>
                <a:gd name="T93" fmla="*/ 4054 h 5250"/>
                <a:gd name="T94" fmla="*/ 3160 w 5247"/>
                <a:gd name="T95" fmla="*/ 5127 h 5250"/>
                <a:gd name="T96" fmla="*/ 3905 w 5247"/>
                <a:gd name="T97" fmla="*/ 4700 h 5250"/>
                <a:gd name="T98" fmla="*/ 3283 w 5247"/>
                <a:gd name="T99" fmla="*/ 3993 h 5250"/>
                <a:gd name="T100" fmla="*/ 2685 w 5247"/>
                <a:gd name="T101" fmla="*/ 3931 h 5250"/>
                <a:gd name="T102" fmla="*/ 3280 w 5247"/>
                <a:gd name="T103" fmla="*/ 2688 h 5250"/>
                <a:gd name="T104" fmla="*/ 3929 w 5247"/>
                <a:gd name="T105" fmla="*/ 3224 h 5250"/>
                <a:gd name="T106" fmla="*/ 4527 w 5247"/>
                <a:gd name="T107" fmla="*/ 3285 h 5250"/>
                <a:gd name="T108" fmla="*/ 5124 w 5247"/>
                <a:gd name="T109" fmla="*/ 3162 h 5250"/>
                <a:gd name="T110" fmla="*/ 4052 w 5247"/>
                <a:gd name="T111" fmla="*/ 2090 h 5250"/>
                <a:gd name="T112" fmla="*/ 5124 w 5247"/>
                <a:gd name="T113" fmla="*/ 3162 h 5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247" h="5250">
                  <a:moveTo>
                    <a:pt x="5186" y="1967"/>
                  </a:moveTo>
                  <a:cubicBezTo>
                    <a:pt x="4650" y="1967"/>
                    <a:pt x="4650" y="1967"/>
                    <a:pt x="4650" y="1967"/>
                  </a:cubicBezTo>
                  <a:cubicBezTo>
                    <a:pt x="4650" y="1318"/>
                    <a:pt x="4650" y="1318"/>
                    <a:pt x="4650" y="1318"/>
                  </a:cubicBezTo>
                  <a:cubicBezTo>
                    <a:pt x="4984" y="1287"/>
                    <a:pt x="5247" y="1005"/>
                    <a:pt x="5247" y="662"/>
                  </a:cubicBezTo>
                  <a:cubicBezTo>
                    <a:pt x="5247" y="298"/>
                    <a:pt x="4952" y="3"/>
                    <a:pt x="4588" y="3"/>
                  </a:cubicBezTo>
                  <a:cubicBezTo>
                    <a:pt x="4225" y="3"/>
                    <a:pt x="3929" y="298"/>
                    <a:pt x="3929" y="662"/>
                  </a:cubicBezTo>
                  <a:cubicBezTo>
                    <a:pt x="3929" y="1005"/>
                    <a:pt x="4192" y="1287"/>
                    <a:pt x="4527" y="1318"/>
                  </a:cubicBezTo>
                  <a:cubicBezTo>
                    <a:pt x="4527" y="1967"/>
                    <a:pt x="4527" y="1967"/>
                    <a:pt x="4527" y="1967"/>
                  </a:cubicBezTo>
                  <a:cubicBezTo>
                    <a:pt x="3990" y="1967"/>
                    <a:pt x="3990" y="1967"/>
                    <a:pt x="3990" y="1967"/>
                  </a:cubicBezTo>
                  <a:cubicBezTo>
                    <a:pt x="3956" y="1967"/>
                    <a:pt x="3929" y="1994"/>
                    <a:pt x="3929" y="2028"/>
                  </a:cubicBezTo>
                  <a:cubicBezTo>
                    <a:pt x="3929" y="2565"/>
                    <a:pt x="3929" y="2565"/>
                    <a:pt x="3929" y="2565"/>
                  </a:cubicBezTo>
                  <a:cubicBezTo>
                    <a:pt x="3280" y="2565"/>
                    <a:pt x="3280" y="2565"/>
                    <a:pt x="3280" y="2565"/>
                  </a:cubicBezTo>
                  <a:cubicBezTo>
                    <a:pt x="3249" y="2230"/>
                    <a:pt x="2967" y="1967"/>
                    <a:pt x="2624" y="1967"/>
                  </a:cubicBezTo>
                  <a:cubicBezTo>
                    <a:pt x="2281" y="1967"/>
                    <a:pt x="1999" y="2230"/>
                    <a:pt x="1968" y="2565"/>
                  </a:cubicBezTo>
                  <a:cubicBezTo>
                    <a:pt x="1343" y="2565"/>
                    <a:pt x="1343" y="2565"/>
                    <a:pt x="1343" y="2565"/>
                  </a:cubicBezTo>
                  <a:cubicBezTo>
                    <a:pt x="1000" y="2565"/>
                    <a:pt x="721" y="2286"/>
                    <a:pt x="721" y="1943"/>
                  </a:cubicBezTo>
                  <a:cubicBezTo>
                    <a:pt x="721" y="1321"/>
                    <a:pt x="721" y="1321"/>
                    <a:pt x="721" y="1321"/>
                  </a:cubicBezTo>
                  <a:cubicBezTo>
                    <a:pt x="1257" y="1321"/>
                    <a:pt x="1257" y="1321"/>
                    <a:pt x="1257" y="1321"/>
                  </a:cubicBezTo>
                  <a:cubicBezTo>
                    <a:pt x="1291" y="1321"/>
                    <a:pt x="1319" y="1294"/>
                    <a:pt x="1319" y="1260"/>
                  </a:cubicBezTo>
                  <a:cubicBezTo>
                    <a:pt x="1319" y="723"/>
                    <a:pt x="1319" y="723"/>
                    <a:pt x="1319" y="723"/>
                  </a:cubicBezTo>
                  <a:cubicBezTo>
                    <a:pt x="2221" y="723"/>
                    <a:pt x="2221" y="723"/>
                    <a:pt x="2221" y="723"/>
                  </a:cubicBezTo>
                  <a:cubicBezTo>
                    <a:pt x="2221" y="1260"/>
                    <a:pt x="2221" y="1260"/>
                    <a:pt x="2221" y="1260"/>
                  </a:cubicBezTo>
                  <a:cubicBezTo>
                    <a:pt x="2221" y="1282"/>
                    <a:pt x="2233" y="1302"/>
                    <a:pt x="2252" y="1313"/>
                  </a:cubicBezTo>
                  <a:cubicBezTo>
                    <a:pt x="2261" y="1318"/>
                    <a:pt x="2272" y="1321"/>
                    <a:pt x="2282" y="1321"/>
                  </a:cubicBezTo>
                  <a:cubicBezTo>
                    <a:pt x="2293" y="1321"/>
                    <a:pt x="2304" y="1318"/>
                    <a:pt x="2314" y="1313"/>
                  </a:cubicBezTo>
                  <a:cubicBezTo>
                    <a:pt x="3338" y="709"/>
                    <a:pt x="3338" y="709"/>
                    <a:pt x="3338" y="709"/>
                  </a:cubicBezTo>
                  <a:cubicBezTo>
                    <a:pt x="3357" y="698"/>
                    <a:pt x="3369" y="677"/>
                    <a:pt x="3369" y="656"/>
                  </a:cubicBezTo>
                  <a:cubicBezTo>
                    <a:pt x="3369" y="634"/>
                    <a:pt x="3357" y="613"/>
                    <a:pt x="3338" y="603"/>
                  </a:cubicBezTo>
                  <a:cubicBezTo>
                    <a:pt x="2313" y="11"/>
                    <a:pt x="2313" y="11"/>
                    <a:pt x="2313" y="11"/>
                  </a:cubicBezTo>
                  <a:cubicBezTo>
                    <a:pt x="2294" y="0"/>
                    <a:pt x="2271" y="0"/>
                    <a:pt x="2252" y="11"/>
                  </a:cubicBezTo>
                  <a:cubicBezTo>
                    <a:pt x="2233" y="22"/>
                    <a:pt x="2221" y="42"/>
                    <a:pt x="2221" y="64"/>
                  </a:cubicBezTo>
                  <a:cubicBezTo>
                    <a:pt x="2221" y="600"/>
                    <a:pt x="2221" y="600"/>
                    <a:pt x="2221" y="600"/>
                  </a:cubicBezTo>
                  <a:cubicBezTo>
                    <a:pt x="1319" y="600"/>
                    <a:pt x="1319" y="600"/>
                    <a:pt x="1319" y="600"/>
                  </a:cubicBezTo>
                  <a:cubicBezTo>
                    <a:pt x="1319" y="64"/>
                    <a:pt x="1319" y="64"/>
                    <a:pt x="1319" y="64"/>
                  </a:cubicBezTo>
                  <a:cubicBezTo>
                    <a:pt x="1319" y="30"/>
                    <a:pt x="1291" y="3"/>
                    <a:pt x="1257" y="3"/>
                  </a:cubicBezTo>
                  <a:cubicBezTo>
                    <a:pt x="62" y="3"/>
                    <a:pt x="62" y="3"/>
                    <a:pt x="62" y="3"/>
                  </a:cubicBezTo>
                  <a:cubicBezTo>
                    <a:pt x="28" y="3"/>
                    <a:pt x="0" y="30"/>
                    <a:pt x="0" y="64"/>
                  </a:cubicBezTo>
                  <a:cubicBezTo>
                    <a:pt x="0" y="1260"/>
                    <a:pt x="0" y="1260"/>
                    <a:pt x="0" y="1260"/>
                  </a:cubicBezTo>
                  <a:cubicBezTo>
                    <a:pt x="0" y="1294"/>
                    <a:pt x="28" y="1321"/>
                    <a:pt x="62" y="1321"/>
                  </a:cubicBezTo>
                  <a:cubicBezTo>
                    <a:pt x="598" y="1321"/>
                    <a:pt x="598" y="1321"/>
                    <a:pt x="598" y="1321"/>
                  </a:cubicBezTo>
                  <a:cubicBezTo>
                    <a:pt x="598" y="1943"/>
                    <a:pt x="598" y="1943"/>
                    <a:pt x="598" y="1943"/>
                  </a:cubicBezTo>
                  <a:cubicBezTo>
                    <a:pt x="598" y="2354"/>
                    <a:pt x="932" y="2688"/>
                    <a:pt x="1343" y="2688"/>
                  </a:cubicBezTo>
                  <a:cubicBezTo>
                    <a:pt x="1968" y="2688"/>
                    <a:pt x="1968" y="2688"/>
                    <a:pt x="1968" y="2688"/>
                  </a:cubicBezTo>
                  <a:cubicBezTo>
                    <a:pt x="1980" y="2823"/>
                    <a:pt x="2034" y="2947"/>
                    <a:pt x="2117" y="3047"/>
                  </a:cubicBezTo>
                  <a:cubicBezTo>
                    <a:pt x="1080" y="4083"/>
                    <a:pt x="1080" y="4083"/>
                    <a:pt x="1080" y="4083"/>
                  </a:cubicBezTo>
                  <a:cubicBezTo>
                    <a:pt x="966" y="3988"/>
                    <a:pt x="819" y="3931"/>
                    <a:pt x="660" y="3931"/>
                  </a:cubicBezTo>
                  <a:cubicBezTo>
                    <a:pt x="296" y="3931"/>
                    <a:pt x="0" y="4227"/>
                    <a:pt x="0" y="4590"/>
                  </a:cubicBezTo>
                  <a:cubicBezTo>
                    <a:pt x="0" y="4954"/>
                    <a:pt x="296" y="5250"/>
                    <a:pt x="660" y="5250"/>
                  </a:cubicBezTo>
                  <a:cubicBezTo>
                    <a:pt x="1023" y="5250"/>
                    <a:pt x="1319" y="4954"/>
                    <a:pt x="1319" y="4590"/>
                  </a:cubicBezTo>
                  <a:cubicBezTo>
                    <a:pt x="1319" y="4431"/>
                    <a:pt x="1262" y="4284"/>
                    <a:pt x="1167" y="4170"/>
                  </a:cubicBezTo>
                  <a:cubicBezTo>
                    <a:pt x="2203" y="3134"/>
                    <a:pt x="2203" y="3134"/>
                    <a:pt x="2203" y="3134"/>
                  </a:cubicBezTo>
                  <a:cubicBezTo>
                    <a:pt x="2303" y="3216"/>
                    <a:pt x="2427" y="3270"/>
                    <a:pt x="2562" y="3282"/>
                  </a:cubicBezTo>
                  <a:cubicBezTo>
                    <a:pt x="2562" y="3931"/>
                    <a:pt x="2562" y="3931"/>
                    <a:pt x="2562" y="3931"/>
                  </a:cubicBezTo>
                  <a:cubicBezTo>
                    <a:pt x="2026" y="3931"/>
                    <a:pt x="2026" y="3931"/>
                    <a:pt x="2026" y="3931"/>
                  </a:cubicBezTo>
                  <a:cubicBezTo>
                    <a:pt x="1992" y="3931"/>
                    <a:pt x="1965" y="3959"/>
                    <a:pt x="1965" y="3993"/>
                  </a:cubicBezTo>
                  <a:cubicBezTo>
                    <a:pt x="1965" y="5188"/>
                    <a:pt x="1965" y="5188"/>
                    <a:pt x="1965" y="5188"/>
                  </a:cubicBezTo>
                  <a:cubicBezTo>
                    <a:pt x="1965" y="5222"/>
                    <a:pt x="1992" y="5250"/>
                    <a:pt x="2026" y="5250"/>
                  </a:cubicBezTo>
                  <a:cubicBezTo>
                    <a:pt x="3222" y="5250"/>
                    <a:pt x="3222" y="5250"/>
                    <a:pt x="3222" y="5250"/>
                  </a:cubicBezTo>
                  <a:cubicBezTo>
                    <a:pt x="3256" y="5250"/>
                    <a:pt x="3283" y="5222"/>
                    <a:pt x="3283" y="5188"/>
                  </a:cubicBezTo>
                  <a:cubicBezTo>
                    <a:pt x="3283" y="4823"/>
                    <a:pt x="3283" y="4823"/>
                    <a:pt x="3283" y="4823"/>
                  </a:cubicBezTo>
                  <a:cubicBezTo>
                    <a:pt x="3905" y="4823"/>
                    <a:pt x="3905" y="4823"/>
                    <a:pt x="3905" y="4823"/>
                  </a:cubicBezTo>
                  <a:cubicBezTo>
                    <a:pt x="4316" y="4823"/>
                    <a:pt x="4650" y="4489"/>
                    <a:pt x="4650" y="4078"/>
                  </a:cubicBezTo>
                  <a:cubicBezTo>
                    <a:pt x="4650" y="3285"/>
                    <a:pt x="4650" y="3285"/>
                    <a:pt x="4650" y="3285"/>
                  </a:cubicBezTo>
                  <a:cubicBezTo>
                    <a:pt x="5186" y="3285"/>
                    <a:pt x="5186" y="3285"/>
                    <a:pt x="5186" y="3285"/>
                  </a:cubicBezTo>
                  <a:cubicBezTo>
                    <a:pt x="5220" y="3285"/>
                    <a:pt x="5247" y="3258"/>
                    <a:pt x="5247" y="3224"/>
                  </a:cubicBezTo>
                  <a:cubicBezTo>
                    <a:pt x="5247" y="2028"/>
                    <a:pt x="5247" y="2028"/>
                    <a:pt x="5247" y="2028"/>
                  </a:cubicBezTo>
                  <a:cubicBezTo>
                    <a:pt x="5247" y="1994"/>
                    <a:pt x="5220" y="1967"/>
                    <a:pt x="5186" y="1967"/>
                  </a:cubicBezTo>
                  <a:close/>
                  <a:moveTo>
                    <a:pt x="4052" y="662"/>
                  </a:moveTo>
                  <a:cubicBezTo>
                    <a:pt x="4052" y="366"/>
                    <a:pt x="4292" y="126"/>
                    <a:pt x="4588" y="126"/>
                  </a:cubicBezTo>
                  <a:cubicBezTo>
                    <a:pt x="4884" y="126"/>
                    <a:pt x="5124" y="366"/>
                    <a:pt x="5124" y="662"/>
                  </a:cubicBezTo>
                  <a:cubicBezTo>
                    <a:pt x="5124" y="958"/>
                    <a:pt x="4884" y="1198"/>
                    <a:pt x="4588" y="1198"/>
                  </a:cubicBezTo>
                  <a:cubicBezTo>
                    <a:pt x="4292" y="1198"/>
                    <a:pt x="4052" y="958"/>
                    <a:pt x="4052" y="662"/>
                  </a:cubicBezTo>
                  <a:close/>
                  <a:moveTo>
                    <a:pt x="2344" y="171"/>
                  </a:moveTo>
                  <a:cubicBezTo>
                    <a:pt x="3185" y="656"/>
                    <a:pt x="3185" y="656"/>
                    <a:pt x="3185" y="656"/>
                  </a:cubicBezTo>
                  <a:cubicBezTo>
                    <a:pt x="2344" y="1152"/>
                    <a:pt x="2344" y="1152"/>
                    <a:pt x="2344" y="1152"/>
                  </a:cubicBezTo>
                  <a:lnTo>
                    <a:pt x="2344" y="171"/>
                  </a:lnTo>
                  <a:close/>
                  <a:moveTo>
                    <a:pt x="123" y="126"/>
                  </a:moveTo>
                  <a:cubicBezTo>
                    <a:pt x="1196" y="126"/>
                    <a:pt x="1196" y="126"/>
                    <a:pt x="1196" y="126"/>
                  </a:cubicBezTo>
                  <a:cubicBezTo>
                    <a:pt x="1196" y="1198"/>
                    <a:pt x="1196" y="1198"/>
                    <a:pt x="1196" y="1198"/>
                  </a:cubicBezTo>
                  <a:cubicBezTo>
                    <a:pt x="123" y="1198"/>
                    <a:pt x="123" y="1198"/>
                    <a:pt x="123" y="1198"/>
                  </a:cubicBezTo>
                  <a:lnTo>
                    <a:pt x="123" y="126"/>
                  </a:lnTo>
                  <a:close/>
                  <a:moveTo>
                    <a:pt x="660" y="5127"/>
                  </a:moveTo>
                  <a:cubicBezTo>
                    <a:pt x="364" y="5127"/>
                    <a:pt x="123" y="4886"/>
                    <a:pt x="123" y="4590"/>
                  </a:cubicBezTo>
                  <a:cubicBezTo>
                    <a:pt x="123" y="4295"/>
                    <a:pt x="364" y="4054"/>
                    <a:pt x="660" y="4054"/>
                  </a:cubicBezTo>
                  <a:cubicBezTo>
                    <a:pt x="955" y="4054"/>
                    <a:pt x="1196" y="4295"/>
                    <a:pt x="1196" y="4590"/>
                  </a:cubicBezTo>
                  <a:cubicBezTo>
                    <a:pt x="1196" y="4886"/>
                    <a:pt x="955" y="5127"/>
                    <a:pt x="660" y="5127"/>
                  </a:cubicBezTo>
                  <a:close/>
                  <a:moveTo>
                    <a:pt x="2088" y="2626"/>
                  </a:moveTo>
                  <a:cubicBezTo>
                    <a:pt x="2088" y="2330"/>
                    <a:pt x="2328" y="2090"/>
                    <a:pt x="2624" y="2090"/>
                  </a:cubicBezTo>
                  <a:cubicBezTo>
                    <a:pt x="2920" y="2090"/>
                    <a:pt x="3160" y="2330"/>
                    <a:pt x="3160" y="2626"/>
                  </a:cubicBezTo>
                  <a:cubicBezTo>
                    <a:pt x="3160" y="2922"/>
                    <a:pt x="2920" y="3162"/>
                    <a:pt x="2624" y="3162"/>
                  </a:cubicBezTo>
                  <a:cubicBezTo>
                    <a:pt x="2328" y="3162"/>
                    <a:pt x="2088" y="2922"/>
                    <a:pt x="2088" y="2626"/>
                  </a:cubicBezTo>
                  <a:close/>
                  <a:moveTo>
                    <a:pt x="3160" y="5127"/>
                  </a:moveTo>
                  <a:cubicBezTo>
                    <a:pt x="2088" y="5127"/>
                    <a:pt x="2088" y="5127"/>
                    <a:pt x="2088" y="5127"/>
                  </a:cubicBezTo>
                  <a:cubicBezTo>
                    <a:pt x="2088" y="4054"/>
                    <a:pt x="2088" y="4054"/>
                    <a:pt x="2088" y="4054"/>
                  </a:cubicBezTo>
                  <a:cubicBezTo>
                    <a:pt x="3160" y="4054"/>
                    <a:pt x="3160" y="4054"/>
                    <a:pt x="3160" y="4054"/>
                  </a:cubicBezTo>
                  <a:lnTo>
                    <a:pt x="3160" y="5127"/>
                  </a:lnTo>
                  <a:close/>
                  <a:moveTo>
                    <a:pt x="4527" y="4078"/>
                  </a:moveTo>
                  <a:cubicBezTo>
                    <a:pt x="4527" y="4421"/>
                    <a:pt x="4248" y="4700"/>
                    <a:pt x="3905" y="4700"/>
                  </a:cubicBezTo>
                  <a:cubicBezTo>
                    <a:pt x="3283" y="4700"/>
                    <a:pt x="3283" y="4700"/>
                    <a:pt x="3283" y="4700"/>
                  </a:cubicBezTo>
                  <a:cubicBezTo>
                    <a:pt x="3283" y="3993"/>
                    <a:pt x="3283" y="3993"/>
                    <a:pt x="3283" y="3993"/>
                  </a:cubicBezTo>
                  <a:cubicBezTo>
                    <a:pt x="3283" y="3959"/>
                    <a:pt x="3256" y="3931"/>
                    <a:pt x="3222" y="3931"/>
                  </a:cubicBezTo>
                  <a:cubicBezTo>
                    <a:pt x="2685" y="3931"/>
                    <a:pt x="2685" y="3931"/>
                    <a:pt x="2685" y="3931"/>
                  </a:cubicBezTo>
                  <a:cubicBezTo>
                    <a:pt x="2685" y="3282"/>
                    <a:pt x="2685" y="3282"/>
                    <a:pt x="2685" y="3282"/>
                  </a:cubicBezTo>
                  <a:cubicBezTo>
                    <a:pt x="3000" y="3253"/>
                    <a:pt x="3251" y="3002"/>
                    <a:pt x="3280" y="2688"/>
                  </a:cubicBezTo>
                  <a:cubicBezTo>
                    <a:pt x="3929" y="2688"/>
                    <a:pt x="3929" y="2688"/>
                    <a:pt x="3929" y="2688"/>
                  </a:cubicBezTo>
                  <a:cubicBezTo>
                    <a:pt x="3929" y="3224"/>
                    <a:pt x="3929" y="3224"/>
                    <a:pt x="3929" y="3224"/>
                  </a:cubicBezTo>
                  <a:cubicBezTo>
                    <a:pt x="3929" y="3258"/>
                    <a:pt x="3956" y="3285"/>
                    <a:pt x="3990" y="3285"/>
                  </a:cubicBezTo>
                  <a:cubicBezTo>
                    <a:pt x="4527" y="3285"/>
                    <a:pt x="4527" y="3285"/>
                    <a:pt x="4527" y="3285"/>
                  </a:cubicBezTo>
                  <a:lnTo>
                    <a:pt x="4527" y="4078"/>
                  </a:lnTo>
                  <a:close/>
                  <a:moveTo>
                    <a:pt x="5124" y="3162"/>
                  </a:moveTo>
                  <a:cubicBezTo>
                    <a:pt x="4052" y="3162"/>
                    <a:pt x="4052" y="3162"/>
                    <a:pt x="4052" y="3162"/>
                  </a:cubicBezTo>
                  <a:cubicBezTo>
                    <a:pt x="4052" y="2090"/>
                    <a:pt x="4052" y="2090"/>
                    <a:pt x="4052" y="2090"/>
                  </a:cubicBezTo>
                  <a:cubicBezTo>
                    <a:pt x="5124" y="2090"/>
                    <a:pt x="5124" y="2090"/>
                    <a:pt x="5124" y="2090"/>
                  </a:cubicBezTo>
                  <a:lnTo>
                    <a:pt x="5124" y="3162"/>
                  </a:lnTo>
                  <a:close/>
                </a:path>
              </a:pathLst>
            </a:custGeom>
            <a:solidFill>
              <a:schemeClr val="bg1"/>
            </a:solidFill>
            <a:ln>
              <a:noFill/>
            </a:ln>
          </p:spPr>
          <p:txBody>
            <a:bodyPr vert="horz" wrap="square" lIns="45714" tIns="22857" rIns="45714" bIns="22857" numCol="1" anchor="t" anchorCtr="0" compatLnSpc="1">
              <a:prstTxWarp prst="textNoShape">
                <a:avLst/>
              </a:prstTxWarp>
            </a:bodyPr>
            <a:lstStyle/>
            <a:p>
              <a:pPr defTabSz="342923">
                <a:defRPr/>
              </a:pPr>
              <a:endParaRPr lang="uk-UA" sz="1000">
                <a:solidFill>
                  <a:srgbClr val="000000"/>
                </a:solidFill>
                <a:latin typeface="+mj-lt"/>
              </a:endParaRPr>
            </a:p>
          </p:txBody>
        </p:sp>
        <p:sp>
          <p:nvSpPr>
            <p:cNvPr id="28" name="Freeform 27">
              <a:extLst>
                <a:ext uri="{FF2B5EF4-FFF2-40B4-BE49-F238E27FC236}">
                  <a16:creationId xmlns:a16="http://schemas.microsoft.com/office/drawing/2014/main" id="{AE1F93B7-E9C8-6D6D-3D95-1B4BAB5D4BBD}"/>
                </a:ext>
              </a:extLst>
            </p:cNvPr>
            <p:cNvSpPr/>
            <p:nvPr/>
          </p:nvSpPr>
          <p:spPr>
            <a:xfrm>
              <a:off x="3262114" y="2552319"/>
              <a:ext cx="384255" cy="361597"/>
            </a:xfrm>
            <a:custGeom>
              <a:avLst/>
              <a:gdLst>
                <a:gd name="connsiteX0" fmla="*/ 374531 w 393407"/>
                <a:gd name="connsiteY0" fmla="*/ 280128 h 370209"/>
                <a:gd name="connsiteX1" fmla="*/ 372380 w 393407"/>
                <a:gd name="connsiteY1" fmla="*/ 280128 h 370209"/>
                <a:gd name="connsiteX2" fmla="*/ 369975 w 393407"/>
                <a:gd name="connsiteY2" fmla="*/ 280128 h 370209"/>
                <a:gd name="connsiteX3" fmla="*/ 369975 w 393407"/>
                <a:gd name="connsiteY3" fmla="*/ 277751 h 370209"/>
                <a:gd name="connsiteX4" fmla="*/ 375924 w 393407"/>
                <a:gd name="connsiteY4" fmla="*/ 203309 h 370209"/>
                <a:gd name="connsiteX5" fmla="*/ 367063 w 393407"/>
                <a:gd name="connsiteY5" fmla="*/ 175158 h 370209"/>
                <a:gd name="connsiteX6" fmla="*/ 341747 w 393407"/>
                <a:gd name="connsiteY6" fmla="*/ 162647 h 370209"/>
                <a:gd name="connsiteX7" fmla="*/ 305545 w 393407"/>
                <a:gd name="connsiteY7" fmla="*/ 162647 h 370209"/>
                <a:gd name="connsiteX8" fmla="*/ 280229 w 393407"/>
                <a:gd name="connsiteY8" fmla="*/ 175158 h 370209"/>
                <a:gd name="connsiteX9" fmla="*/ 273647 w 393407"/>
                <a:gd name="connsiteY9" fmla="*/ 185918 h 370209"/>
                <a:gd name="connsiteX10" fmla="*/ 273647 w 393407"/>
                <a:gd name="connsiteY10" fmla="*/ 187169 h 370209"/>
                <a:gd name="connsiteX11" fmla="*/ 273014 w 393407"/>
                <a:gd name="connsiteY11" fmla="*/ 188796 h 370209"/>
                <a:gd name="connsiteX12" fmla="*/ 232002 w 393407"/>
                <a:gd name="connsiteY12" fmla="*/ 188796 h 370209"/>
                <a:gd name="connsiteX13" fmla="*/ 232002 w 393407"/>
                <a:gd name="connsiteY13" fmla="*/ 186543 h 370209"/>
                <a:gd name="connsiteX14" fmla="*/ 228837 w 393407"/>
                <a:gd name="connsiteY14" fmla="*/ 152263 h 370209"/>
                <a:gd name="connsiteX15" fmla="*/ 228837 w 393407"/>
                <a:gd name="connsiteY15" fmla="*/ 149510 h 370209"/>
                <a:gd name="connsiteX16" fmla="*/ 291115 w 393407"/>
                <a:gd name="connsiteY16" fmla="*/ 149510 h 370209"/>
                <a:gd name="connsiteX17" fmla="*/ 303773 w 393407"/>
                <a:gd name="connsiteY17" fmla="*/ 133746 h 370209"/>
                <a:gd name="connsiteX18" fmla="*/ 303773 w 393407"/>
                <a:gd name="connsiteY18" fmla="*/ 15264 h 370209"/>
                <a:gd name="connsiteX19" fmla="*/ 291115 w 393407"/>
                <a:gd name="connsiteY19" fmla="*/ 0 h 370209"/>
                <a:gd name="connsiteX20" fmla="*/ 129345 w 393407"/>
                <a:gd name="connsiteY20" fmla="*/ 0 h 370209"/>
                <a:gd name="connsiteX21" fmla="*/ 115674 w 393407"/>
                <a:gd name="connsiteY21" fmla="*/ 15264 h 370209"/>
                <a:gd name="connsiteX22" fmla="*/ 115674 w 393407"/>
                <a:gd name="connsiteY22" fmla="*/ 133746 h 370209"/>
                <a:gd name="connsiteX23" fmla="*/ 129345 w 393407"/>
                <a:gd name="connsiteY23" fmla="*/ 148884 h 370209"/>
                <a:gd name="connsiteX24" fmla="*/ 191369 w 393407"/>
                <a:gd name="connsiteY24" fmla="*/ 148884 h 370209"/>
                <a:gd name="connsiteX25" fmla="*/ 191369 w 393407"/>
                <a:gd name="connsiteY25" fmla="*/ 151637 h 370209"/>
                <a:gd name="connsiteX26" fmla="*/ 188331 w 393407"/>
                <a:gd name="connsiteY26" fmla="*/ 185793 h 370209"/>
                <a:gd name="connsiteX27" fmla="*/ 188331 w 393407"/>
                <a:gd name="connsiteY27" fmla="*/ 187670 h 370209"/>
                <a:gd name="connsiteX28" fmla="*/ 101244 w 393407"/>
                <a:gd name="connsiteY28" fmla="*/ 187670 h 370209"/>
                <a:gd name="connsiteX29" fmla="*/ 101244 w 393407"/>
                <a:gd name="connsiteY29" fmla="*/ 184917 h 370209"/>
                <a:gd name="connsiteX30" fmla="*/ 104788 w 393407"/>
                <a:gd name="connsiteY30" fmla="*/ 150636 h 370209"/>
                <a:gd name="connsiteX31" fmla="*/ 103775 w 393407"/>
                <a:gd name="connsiteY31" fmla="*/ 147258 h 370209"/>
                <a:gd name="connsiteX32" fmla="*/ 101117 w 393407"/>
                <a:gd name="connsiteY32" fmla="*/ 146007 h 370209"/>
                <a:gd name="connsiteX33" fmla="*/ 69346 w 393407"/>
                <a:gd name="connsiteY33" fmla="*/ 146007 h 370209"/>
                <a:gd name="connsiteX34" fmla="*/ 66434 w 393407"/>
                <a:gd name="connsiteY34" fmla="*/ 147383 h 370209"/>
                <a:gd name="connsiteX35" fmla="*/ 65548 w 393407"/>
                <a:gd name="connsiteY35" fmla="*/ 150636 h 370209"/>
                <a:gd name="connsiteX36" fmla="*/ 69346 w 393407"/>
                <a:gd name="connsiteY36" fmla="*/ 184917 h 370209"/>
                <a:gd name="connsiteX37" fmla="*/ 69346 w 393407"/>
                <a:gd name="connsiteY37" fmla="*/ 187670 h 370209"/>
                <a:gd name="connsiteX38" fmla="*/ 56055 w 393407"/>
                <a:gd name="connsiteY38" fmla="*/ 187670 h 370209"/>
                <a:gd name="connsiteX39" fmla="*/ 55295 w 393407"/>
                <a:gd name="connsiteY39" fmla="*/ 187670 h 370209"/>
                <a:gd name="connsiteX40" fmla="*/ 11751 w 393407"/>
                <a:gd name="connsiteY40" fmla="*/ 137624 h 370209"/>
                <a:gd name="connsiteX41" fmla="*/ 10612 w 393407"/>
                <a:gd name="connsiteY41" fmla="*/ 114604 h 370209"/>
                <a:gd name="connsiteX42" fmla="*/ 34916 w 393407"/>
                <a:gd name="connsiteY42" fmla="*/ 78696 h 370209"/>
                <a:gd name="connsiteX43" fmla="*/ 37194 w 393407"/>
                <a:gd name="connsiteY43" fmla="*/ 75068 h 370209"/>
                <a:gd name="connsiteX44" fmla="*/ 39219 w 393407"/>
                <a:gd name="connsiteY44" fmla="*/ 78571 h 370209"/>
                <a:gd name="connsiteX45" fmla="*/ 40612 w 393407"/>
                <a:gd name="connsiteY45" fmla="*/ 81073 h 370209"/>
                <a:gd name="connsiteX46" fmla="*/ 53270 w 393407"/>
                <a:gd name="connsiteY46" fmla="*/ 97088 h 370209"/>
                <a:gd name="connsiteX47" fmla="*/ 55422 w 393407"/>
                <a:gd name="connsiteY47" fmla="*/ 97963 h 370209"/>
                <a:gd name="connsiteX48" fmla="*/ 56181 w 393407"/>
                <a:gd name="connsiteY48" fmla="*/ 97963 h 370209"/>
                <a:gd name="connsiteX49" fmla="*/ 58586 w 393407"/>
                <a:gd name="connsiteY49" fmla="*/ 96337 h 370209"/>
                <a:gd name="connsiteX50" fmla="*/ 100358 w 393407"/>
                <a:gd name="connsiteY50" fmla="*/ 39411 h 370209"/>
                <a:gd name="connsiteX51" fmla="*/ 101244 w 393407"/>
                <a:gd name="connsiteY51" fmla="*/ 36158 h 370209"/>
                <a:gd name="connsiteX52" fmla="*/ 99851 w 393407"/>
                <a:gd name="connsiteY52" fmla="*/ 33155 h 370209"/>
                <a:gd name="connsiteX53" fmla="*/ 71371 w 393407"/>
                <a:gd name="connsiteY53" fmla="*/ 21770 h 370209"/>
                <a:gd name="connsiteX54" fmla="*/ 59599 w 393407"/>
                <a:gd name="connsiteY54" fmla="*/ 23771 h 370209"/>
                <a:gd name="connsiteX55" fmla="*/ 58586 w 393407"/>
                <a:gd name="connsiteY55" fmla="*/ 23771 h 370209"/>
                <a:gd name="connsiteX56" fmla="*/ 56941 w 393407"/>
                <a:gd name="connsiteY56" fmla="*/ 25023 h 370209"/>
                <a:gd name="connsiteX57" fmla="*/ 55928 w 393407"/>
                <a:gd name="connsiteY57" fmla="*/ 24147 h 370209"/>
                <a:gd name="connsiteX58" fmla="*/ 48460 w 393407"/>
                <a:gd name="connsiteY58" fmla="*/ 17140 h 370209"/>
                <a:gd name="connsiteX59" fmla="*/ 37953 w 393407"/>
                <a:gd name="connsiteY59" fmla="*/ 12511 h 370209"/>
                <a:gd name="connsiteX60" fmla="*/ 25295 w 393407"/>
                <a:gd name="connsiteY60" fmla="*/ 19017 h 370209"/>
                <a:gd name="connsiteX61" fmla="*/ 26435 w 393407"/>
                <a:gd name="connsiteY61" fmla="*/ 45041 h 370209"/>
                <a:gd name="connsiteX62" fmla="*/ 27827 w 393407"/>
                <a:gd name="connsiteY62" fmla="*/ 46292 h 370209"/>
                <a:gd name="connsiteX63" fmla="*/ 32511 w 393407"/>
                <a:gd name="connsiteY63" fmla="*/ 50796 h 370209"/>
                <a:gd name="connsiteX64" fmla="*/ 32511 w 393407"/>
                <a:gd name="connsiteY64" fmla="*/ 50796 h 370209"/>
                <a:gd name="connsiteX65" fmla="*/ 34156 w 393407"/>
                <a:gd name="connsiteY65" fmla="*/ 52422 h 370209"/>
                <a:gd name="connsiteX66" fmla="*/ 34916 w 393407"/>
                <a:gd name="connsiteY66" fmla="*/ 56176 h 370209"/>
                <a:gd name="connsiteX67" fmla="*/ 35422 w 393407"/>
                <a:gd name="connsiteY67" fmla="*/ 62557 h 370209"/>
                <a:gd name="connsiteX68" fmla="*/ 35422 w 393407"/>
                <a:gd name="connsiteY68" fmla="*/ 64308 h 370209"/>
                <a:gd name="connsiteX69" fmla="*/ 35422 w 393407"/>
                <a:gd name="connsiteY69" fmla="*/ 64934 h 370209"/>
                <a:gd name="connsiteX70" fmla="*/ 4663 w 393407"/>
                <a:gd name="connsiteY70" fmla="*/ 109474 h 370209"/>
                <a:gd name="connsiteX71" fmla="*/ 6561 w 393407"/>
                <a:gd name="connsiteY71" fmla="*/ 143129 h 370209"/>
                <a:gd name="connsiteX72" fmla="*/ 46561 w 393407"/>
                <a:gd name="connsiteY72" fmla="*/ 189296 h 370209"/>
                <a:gd name="connsiteX73" fmla="*/ 48207 w 393407"/>
                <a:gd name="connsiteY73" fmla="*/ 191173 h 370209"/>
                <a:gd name="connsiteX74" fmla="*/ 46308 w 393407"/>
                <a:gd name="connsiteY74" fmla="*/ 192799 h 370209"/>
                <a:gd name="connsiteX75" fmla="*/ 45042 w 393407"/>
                <a:gd name="connsiteY75" fmla="*/ 193925 h 370209"/>
                <a:gd name="connsiteX76" fmla="*/ 34789 w 393407"/>
                <a:gd name="connsiteY76" fmla="*/ 216571 h 370209"/>
                <a:gd name="connsiteX77" fmla="*/ 34789 w 393407"/>
                <a:gd name="connsiteY77" fmla="*/ 227581 h 370209"/>
                <a:gd name="connsiteX78" fmla="*/ 38180 w 393407"/>
                <a:gd name="connsiteY78" fmla="*/ 231697 h 370209"/>
                <a:gd name="connsiteX79" fmla="*/ 38333 w 393407"/>
                <a:gd name="connsiteY79" fmla="*/ 231709 h 370209"/>
                <a:gd name="connsiteX80" fmla="*/ 86687 w 393407"/>
                <a:gd name="connsiteY80" fmla="*/ 231709 h 370209"/>
                <a:gd name="connsiteX81" fmla="*/ 86687 w 393407"/>
                <a:gd name="connsiteY81" fmla="*/ 294266 h 370209"/>
                <a:gd name="connsiteX82" fmla="*/ 104825 w 393407"/>
                <a:gd name="connsiteY82" fmla="*/ 315020 h 370209"/>
                <a:gd name="connsiteX83" fmla="*/ 105041 w 393407"/>
                <a:gd name="connsiteY83" fmla="*/ 315035 h 370209"/>
                <a:gd name="connsiteX84" fmla="*/ 123269 w 393407"/>
                <a:gd name="connsiteY84" fmla="*/ 294766 h 370209"/>
                <a:gd name="connsiteX85" fmla="*/ 123269 w 393407"/>
                <a:gd name="connsiteY85" fmla="*/ 232210 h 370209"/>
                <a:gd name="connsiteX86" fmla="*/ 273900 w 393407"/>
                <a:gd name="connsiteY86" fmla="*/ 232210 h 370209"/>
                <a:gd name="connsiteX87" fmla="*/ 273900 w 393407"/>
                <a:gd name="connsiteY87" fmla="*/ 234587 h 370209"/>
                <a:gd name="connsiteX88" fmla="*/ 276938 w 393407"/>
                <a:gd name="connsiteY88" fmla="*/ 277626 h 370209"/>
                <a:gd name="connsiteX89" fmla="*/ 276938 w 393407"/>
                <a:gd name="connsiteY89" fmla="*/ 280003 h 370209"/>
                <a:gd name="connsiteX90" fmla="*/ 274533 w 393407"/>
                <a:gd name="connsiteY90" fmla="*/ 280003 h 370209"/>
                <a:gd name="connsiteX91" fmla="*/ 273014 w 393407"/>
                <a:gd name="connsiteY91" fmla="*/ 280003 h 370209"/>
                <a:gd name="connsiteX92" fmla="*/ 254280 w 393407"/>
                <a:gd name="connsiteY92" fmla="*/ 300271 h 370209"/>
                <a:gd name="connsiteX93" fmla="*/ 254280 w 393407"/>
                <a:gd name="connsiteY93" fmla="*/ 313658 h 370209"/>
                <a:gd name="connsiteX94" fmla="*/ 262364 w 393407"/>
                <a:gd name="connsiteY94" fmla="*/ 322415 h 370209"/>
                <a:gd name="connsiteX95" fmla="*/ 262381 w 393407"/>
                <a:gd name="connsiteY95" fmla="*/ 322416 h 370209"/>
                <a:gd name="connsiteX96" fmla="*/ 296051 w 393407"/>
                <a:gd name="connsiteY96" fmla="*/ 322416 h 370209"/>
                <a:gd name="connsiteX97" fmla="*/ 295419 w 393407"/>
                <a:gd name="connsiteY97" fmla="*/ 325419 h 370209"/>
                <a:gd name="connsiteX98" fmla="*/ 286684 w 393407"/>
                <a:gd name="connsiteY98" fmla="*/ 367582 h 370209"/>
                <a:gd name="connsiteX99" fmla="*/ 294153 w 393407"/>
                <a:gd name="connsiteY99" fmla="*/ 369334 h 370209"/>
                <a:gd name="connsiteX100" fmla="*/ 303773 w 393407"/>
                <a:gd name="connsiteY100" fmla="*/ 325294 h 370209"/>
                <a:gd name="connsiteX101" fmla="*/ 303773 w 393407"/>
                <a:gd name="connsiteY101" fmla="*/ 323292 h 370209"/>
                <a:gd name="connsiteX102" fmla="*/ 343646 w 393407"/>
                <a:gd name="connsiteY102" fmla="*/ 323292 h 370209"/>
                <a:gd name="connsiteX103" fmla="*/ 343646 w 393407"/>
                <a:gd name="connsiteY103" fmla="*/ 325294 h 370209"/>
                <a:gd name="connsiteX104" fmla="*/ 353013 w 393407"/>
                <a:gd name="connsiteY104" fmla="*/ 370209 h 370209"/>
                <a:gd name="connsiteX105" fmla="*/ 360481 w 393407"/>
                <a:gd name="connsiteY105" fmla="*/ 368458 h 370209"/>
                <a:gd name="connsiteX106" fmla="*/ 351494 w 393407"/>
                <a:gd name="connsiteY106" fmla="*/ 326295 h 370209"/>
                <a:gd name="connsiteX107" fmla="*/ 351494 w 393407"/>
                <a:gd name="connsiteY107" fmla="*/ 323292 h 370209"/>
                <a:gd name="connsiteX108" fmla="*/ 385417 w 393407"/>
                <a:gd name="connsiteY108" fmla="*/ 323292 h 370209"/>
                <a:gd name="connsiteX109" fmla="*/ 393400 w 393407"/>
                <a:gd name="connsiteY109" fmla="*/ 314683 h 370209"/>
                <a:gd name="connsiteX110" fmla="*/ 393392 w 393407"/>
                <a:gd name="connsiteY110" fmla="*/ 314534 h 370209"/>
                <a:gd name="connsiteX111" fmla="*/ 393392 w 393407"/>
                <a:gd name="connsiteY111" fmla="*/ 300271 h 370209"/>
                <a:gd name="connsiteX112" fmla="*/ 374531 w 393407"/>
                <a:gd name="connsiteY112" fmla="*/ 280128 h 370209"/>
                <a:gd name="connsiteX113" fmla="*/ 54409 w 393407"/>
                <a:gd name="connsiteY113" fmla="*/ 36033 h 370209"/>
                <a:gd name="connsiteX114" fmla="*/ 58206 w 393407"/>
                <a:gd name="connsiteY114" fmla="*/ 33655 h 370209"/>
                <a:gd name="connsiteX115" fmla="*/ 70864 w 393407"/>
                <a:gd name="connsiteY115" fmla="*/ 30402 h 370209"/>
                <a:gd name="connsiteX116" fmla="*/ 87826 w 393407"/>
                <a:gd name="connsiteY116" fmla="*/ 34781 h 370209"/>
                <a:gd name="connsiteX117" fmla="*/ 89598 w 393407"/>
                <a:gd name="connsiteY117" fmla="*/ 35782 h 370209"/>
                <a:gd name="connsiteX118" fmla="*/ 91877 w 393407"/>
                <a:gd name="connsiteY118" fmla="*/ 37534 h 370209"/>
                <a:gd name="connsiteX119" fmla="*/ 90231 w 393407"/>
                <a:gd name="connsiteY119" fmla="*/ 39661 h 370209"/>
                <a:gd name="connsiteX120" fmla="*/ 56561 w 393407"/>
                <a:gd name="connsiteY120" fmla="*/ 85327 h 370209"/>
                <a:gd name="connsiteX121" fmla="*/ 54662 w 393407"/>
                <a:gd name="connsiteY121" fmla="*/ 87579 h 370209"/>
                <a:gd name="connsiteX122" fmla="*/ 52510 w 393407"/>
                <a:gd name="connsiteY122" fmla="*/ 84952 h 370209"/>
                <a:gd name="connsiteX123" fmla="*/ 51244 w 393407"/>
                <a:gd name="connsiteY123" fmla="*/ 83325 h 370209"/>
                <a:gd name="connsiteX124" fmla="*/ 42890 w 393407"/>
                <a:gd name="connsiteY124" fmla="*/ 62932 h 370209"/>
                <a:gd name="connsiteX125" fmla="*/ 42890 w 393407"/>
                <a:gd name="connsiteY125" fmla="*/ 59429 h 370209"/>
                <a:gd name="connsiteX126" fmla="*/ 43650 w 393407"/>
                <a:gd name="connsiteY126" fmla="*/ 52798 h 370209"/>
                <a:gd name="connsiteX127" fmla="*/ 45169 w 393407"/>
                <a:gd name="connsiteY127" fmla="*/ 48043 h 370209"/>
                <a:gd name="connsiteX128" fmla="*/ 48713 w 393407"/>
                <a:gd name="connsiteY128" fmla="*/ 41913 h 370209"/>
                <a:gd name="connsiteX129" fmla="*/ 52004 w 393407"/>
                <a:gd name="connsiteY129" fmla="*/ 38034 h 370209"/>
                <a:gd name="connsiteX130" fmla="*/ 30992 w 393407"/>
                <a:gd name="connsiteY130" fmla="*/ 38410 h 370209"/>
                <a:gd name="connsiteX131" fmla="*/ 27700 w 393407"/>
                <a:gd name="connsiteY131" fmla="*/ 31528 h 370209"/>
                <a:gd name="connsiteX132" fmla="*/ 30105 w 393407"/>
                <a:gd name="connsiteY132" fmla="*/ 24147 h 370209"/>
                <a:gd name="connsiteX133" fmla="*/ 37953 w 393407"/>
                <a:gd name="connsiteY133" fmla="*/ 20644 h 370209"/>
                <a:gd name="connsiteX134" fmla="*/ 44283 w 393407"/>
                <a:gd name="connsiteY134" fmla="*/ 23271 h 370209"/>
                <a:gd name="connsiteX135" fmla="*/ 48460 w 393407"/>
                <a:gd name="connsiteY135" fmla="*/ 27275 h 370209"/>
                <a:gd name="connsiteX136" fmla="*/ 50232 w 393407"/>
                <a:gd name="connsiteY136" fmla="*/ 29026 h 370209"/>
                <a:gd name="connsiteX137" fmla="*/ 48586 w 393407"/>
                <a:gd name="connsiteY137" fmla="*/ 30778 h 370209"/>
                <a:gd name="connsiteX138" fmla="*/ 47447 w 393407"/>
                <a:gd name="connsiteY138" fmla="*/ 32029 h 370209"/>
                <a:gd name="connsiteX139" fmla="*/ 40232 w 393407"/>
                <a:gd name="connsiteY139" fmla="*/ 42038 h 370209"/>
                <a:gd name="connsiteX140" fmla="*/ 37953 w 393407"/>
                <a:gd name="connsiteY140" fmla="*/ 44916 h 370209"/>
                <a:gd name="connsiteX141" fmla="*/ 35548 w 393407"/>
                <a:gd name="connsiteY141" fmla="*/ 42664 h 370209"/>
                <a:gd name="connsiteX142" fmla="*/ 129345 w 393407"/>
                <a:gd name="connsiteY142" fmla="*/ 140252 h 370209"/>
                <a:gd name="connsiteX143" fmla="*/ 123016 w 393407"/>
                <a:gd name="connsiteY143" fmla="*/ 133746 h 370209"/>
                <a:gd name="connsiteX144" fmla="*/ 123016 w 393407"/>
                <a:gd name="connsiteY144" fmla="*/ 15264 h 370209"/>
                <a:gd name="connsiteX145" fmla="*/ 129212 w 393407"/>
                <a:gd name="connsiteY145" fmla="*/ 8637 h 370209"/>
                <a:gd name="connsiteX146" fmla="*/ 129345 w 393407"/>
                <a:gd name="connsiteY146" fmla="*/ 8633 h 370209"/>
                <a:gd name="connsiteX147" fmla="*/ 291115 w 393407"/>
                <a:gd name="connsiteY147" fmla="*/ 8633 h 370209"/>
                <a:gd name="connsiteX148" fmla="*/ 297448 w 393407"/>
                <a:gd name="connsiteY148" fmla="*/ 15133 h 370209"/>
                <a:gd name="connsiteX149" fmla="*/ 297444 w 393407"/>
                <a:gd name="connsiteY149" fmla="*/ 15264 h 370209"/>
                <a:gd name="connsiteX150" fmla="*/ 297444 w 393407"/>
                <a:gd name="connsiteY150" fmla="*/ 133746 h 370209"/>
                <a:gd name="connsiteX151" fmla="*/ 291117 w 393407"/>
                <a:gd name="connsiteY151" fmla="*/ 140252 h 370209"/>
                <a:gd name="connsiteX152" fmla="*/ 291115 w 393407"/>
                <a:gd name="connsiteY152" fmla="*/ 140252 h 370209"/>
                <a:gd name="connsiteX153" fmla="*/ 224407 w 393407"/>
                <a:gd name="connsiteY153" fmla="*/ 187670 h 370209"/>
                <a:gd name="connsiteX154" fmla="*/ 195546 w 393407"/>
                <a:gd name="connsiteY154" fmla="*/ 187670 h 370209"/>
                <a:gd name="connsiteX155" fmla="*/ 195546 w 393407"/>
                <a:gd name="connsiteY155" fmla="*/ 184917 h 370209"/>
                <a:gd name="connsiteX156" fmla="*/ 198458 w 393407"/>
                <a:gd name="connsiteY156" fmla="*/ 150761 h 370209"/>
                <a:gd name="connsiteX157" fmla="*/ 198458 w 393407"/>
                <a:gd name="connsiteY157" fmla="*/ 148384 h 370209"/>
                <a:gd name="connsiteX158" fmla="*/ 220356 w 393407"/>
                <a:gd name="connsiteY158" fmla="*/ 148384 h 370209"/>
                <a:gd name="connsiteX159" fmla="*/ 220356 w 393407"/>
                <a:gd name="connsiteY159" fmla="*/ 150636 h 370209"/>
                <a:gd name="connsiteX160" fmla="*/ 223394 w 393407"/>
                <a:gd name="connsiteY160" fmla="*/ 184917 h 370209"/>
                <a:gd name="connsiteX161" fmla="*/ 97826 w 393407"/>
                <a:gd name="connsiteY161" fmla="*/ 154640 h 370209"/>
                <a:gd name="connsiteX162" fmla="*/ 97826 w 393407"/>
                <a:gd name="connsiteY162" fmla="*/ 157392 h 370209"/>
                <a:gd name="connsiteX163" fmla="*/ 94662 w 393407"/>
                <a:gd name="connsiteY163" fmla="*/ 185417 h 370209"/>
                <a:gd name="connsiteX164" fmla="*/ 94662 w 393407"/>
                <a:gd name="connsiteY164" fmla="*/ 187670 h 370209"/>
                <a:gd name="connsiteX165" fmla="*/ 77194 w 393407"/>
                <a:gd name="connsiteY165" fmla="*/ 187670 h 370209"/>
                <a:gd name="connsiteX166" fmla="*/ 77194 w 393407"/>
                <a:gd name="connsiteY166" fmla="*/ 185417 h 370209"/>
                <a:gd name="connsiteX167" fmla="*/ 74029 w 393407"/>
                <a:gd name="connsiteY167" fmla="*/ 157392 h 370209"/>
                <a:gd name="connsiteX168" fmla="*/ 74029 w 393407"/>
                <a:gd name="connsiteY168" fmla="*/ 154640 h 370209"/>
                <a:gd name="connsiteX169" fmla="*/ 115927 w 393407"/>
                <a:gd name="connsiteY169" fmla="*/ 294766 h 370209"/>
                <a:gd name="connsiteX170" fmla="*/ 105041 w 393407"/>
                <a:gd name="connsiteY170" fmla="*/ 306402 h 370209"/>
                <a:gd name="connsiteX171" fmla="*/ 94269 w 393407"/>
                <a:gd name="connsiteY171" fmla="*/ 295040 h 370209"/>
                <a:gd name="connsiteX172" fmla="*/ 94282 w 393407"/>
                <a:gd name="connsiteY172" fmla="*/ 294766 h 370209"/>
                <a:gd name="connsiteX173" fmla="*/ 94282 w 393407"/>
                <a:gd name="connsiteY173" fmla="*/ 232210 h 370209"/>
                <a:gd name="connsiteX174" fmla="*/ 115927 w 393407"/>
                <a:gd name="connsiteY174" fmla="*/ 232210 h 370209"/>
                <a:gd name="connsiteX175" fmla="*/ 42384 w 393407"/>
                <a:gd name="connsiteY175" fmla="*/ 223327 h 370209"/>
                <a:gd name="connsiteX176" fmla="*/ 42384 w 393407"/>
                <a:gd name="connsiteY176" fmla="*/ 216571 h 370209"/>
                <a:gd name="connsiteX177" fmla="*/ 60061 w 393407"/>
                <a:gd name="connsiteY177" fmla="*/ 196828 h 370209"/>
                <a:gd name="connsiteX178" fmla="*/ 60611 w 393407"/>
                <a:gd name="connsiteY178" fmla="*/ 196803 h 370209"/>
                <a:gd name="connsiteX179" fmla="*/ 270988 w 393407"/>
                <a:gd name="connsiteY179" fmla="*/ 196803 h 370209"/>
                <a:gd name="connsiteX180" fmla="*/ 270988 w 393407"/>
                <a:gd name="connsiteY180" fmla="*/ 198930 h 370209"/>
                <a:gd name="connsiteX181" fmla="*/ 270988 w 393407"/>
                <a:gd name="connsiteY181" fmla="*/ 200306 h 370209"/>
                <a:gd name="connsiteX182" fmla="*/ 270988 w 393407"/>
                <a:gd name="connsiteY182" fmla="*/ 202433 h 370209"/>
                <a:gd name="connsiteX183" fmla="*/ 272381 w 393407"/>
                <a:gd name="connsiteY183" fmla="*/ 220699 h 370209"/>
                <a:gd name="connsiteX184" fmla="*/ 272381 w 393407"/>
                <a:gd name="connsiteY184" fmla="*/ 223327 h 370209"/>
                <a:gd name="connsiteX185" fmla="*/ 279596 w 393407"/>
                <a:gd name="connsiteY185" fmla="*/ 193300 h 370209"/>
                <a:gd name="connsiteX186" fmla="*/ 286052 w 393407"/>
                <a:gd name="connsiteY186" fmla="*/ 180788 h 370209"/>
                <a:gd name="connsiteX187" fmla="*/ 305545 w 393407"/>
                <a:gd name="connsiteY187" fmla="*/ 171530 h 370209"/>
                <a:gd name="connsiteX188" fmla="*/ 341747 w 393407"/>
                <a:gd name="connsiteY188" fmla="*/ 171530 h 370209"/>
                <a:gd name="connsiteX189" fmla="*/ 361494 w 393407"/>
                <a:gd name="connsiteY189" fmla="*/ 180788 h 370209"/>
                <a:gd name="connsiteX190" fmla="*/ 368329 w 393407"/>
                <a:gd name="connsiteY190" fmla="*/ 202558 h 370209"/>
                <a:gd name="connsiteX191" fmla="*/ 362759 w 393407"/>
                <a:gd name="connsiteY191" fmla="*/ 277626 h 370209"/>
                <a:gd name="connsiteX192" fmla="*/ 362759 w 393407"/>
                <a:gd name="connsiteY192" fmla="*/ 280003 h 370209"/>
                <a:gd name="connsiteX193" fmla="*/ 284912 w 393407"/>
                <a:gd name="connsiteY193" fmla="*/ 280003 h 370209"/>
                <a:gd name="connsiteX194" fmla="*/ 284912 w 393407"/>
                <a:gd name="connsiteY194" fmla="*/ 277751 h 370209"/>
                <a:gd name="connsiteX195" fmla="*/ 281115 w 393407"/>
                <a:gd name="connsiteY195" fmla="*/ 227706 h 370209"/>
                <a:gd name="connsiteX196" fmla="*/ 279343 w 393407"/>
                <a:gd name="connsiteY196" fmla="*/ 202683 h 370209"/>
                <a:gd name="connsiteX197" fmla="*/ 279343 w 393407"/>
                <a:gd name="connsiteY197" fmla="*/ 201557 h 370209"/>
                <a:gd name="connsiteX198" fmla="*/ 279596 w 393407"/>
                <a:gd name="connsiteY198" fmla="*/ 193300 h 370209"/>
                <a:gd name="connsiteX199" fmla="*/ 385797 w 393407"/>
                <a:gd name="connsiteY199" fmla="*/ 314284 h 370209"/>
                <a:gd name="connsiteX200" fmla="*/ 261875 w 393407"/>
                <a:gd name="connsiteY200" fmla="*/ 314284 h 370209"/>
                <a:gd name="connsiteX201" fmla="*/ 261875 w 393407"/>
                <a:gd name="connsiteY201" fmla="*/ 300271 h 370209"/>
                <a:gd name="connsiteX202" fmla="*/ 273394 w 393407"/>
                <a:gd name="connsiteY202" fmla="*/ 287760 h 370209"/>
                <a:gd name="connsiteX203" fmla="*/ 374658 w 393407"/>
                <a:gd name="connsiteY203" fmla="*/ 287760 h 370209"/>
                <a:gd name="connsiteX204" fmla="*/ 386430 w 393407"/>
                <a:gd name="connsiteY204" fmla="*/ 300271 h 370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Lst>
              <a:rect l="l" t="t" r="r" b="b"/>
              <a:pathLst>
                <a:path w="393407" h="370209">
                  <a:moveTo>
                    <a:pt x="374531" y="280128"/>
                  </a:moveTo>
                  <a:lnTo>
                    <a:pt x="372380" y="280128"/>
                  </a:lnTo>
                  <a:lnTo>
                    <a:pt x="369975" y="280128"/>
                  </a:lnTo>
                  <a:lnTo>
                    <a:pt x="369975" y="277751"/>
                  </a:lnTo>
                  <a:lnTo>
                    <a:pt x="375924" y="203309"/>
                  </a:lnTo>
                  <a:cubicBezTo>
                    <a:pt x="376700" y="193153"/>
                    <a:pt x="373532" y="183086"/>
                    <a:pt x="367063" y="175158"/>
                  </a:cubicBezTo>
                  <a:cubicBezTo>
                    <a:pt x="360974" y="167417"/>
                    <a:pt x="351666" y="162817"/>
                    <a:pt x="341747" y="162647"/>
                  </a:cubicBezTo>
                  <a:lnTo>
                    <a:pt x="305545" y="162647"/>
                  </a:lnTo>
                  <a:cubicBezTo>
                    <a:pt x="295617" y="162780"/>
                    <a:pt x="286294" y="167388"/>
                    <a:pt x="280229" y="175158"/>
                  </a:cubicBezTo>
                  <a:cubicBezTo>
                    <a:pt x="277394" y="178321"/>
                    <a:pt x="275164" y="181967"/>
                    <a:pt x="273647" y="185918"/>
                  </a:cubicBezTo>
                  <a:lnTo>
                    <a:pt x="273647" y="187169"/>
                  </a:lnTo>
                  <a:lnTo>
                    <a:pt x="273014" y="188796"/>
                  </a:lnTo>
                  <a:lnTo>
                    <a:pt x="232002" y="188796"/>
                  </a:lnTo>
                  <a:lnTo>
                    <a:pt x="232002" y="186543"/>
                  </a:lnTo>
                  <a:lnTo>
                    <a:pt x="228837" y="152263"/>
                  </a:lnTo>
                  <a:lnTo>
                    <a:pt x="228837" y="149510"/>
                  </a:lnTo>
                  <a:lnTo>
                    <a:pt x="291115" y="149510"/>
                  </a:lnTo>
                  <a:cubicBezTo>
                    <a:pt x="298899" y="148410"/>
                    <a:pt x="304457" y="141489"/>
                    <a:pt x="303773" y="133746"/>
                  </a:cubicBezTo>
                  <a:lnTo>
                    <a:pt x="303773" y="15264"/>
                  </a:lnTo>
                  <a:cubicBezTo>
                    <a:pt x="304242" y="7687"/>
                    <a:pt x="298724" y="1033"/>
                    <a:pt x="291115" y="0"/>
                  </a:cubicBezTo>
                  <a:lnTo>
                    <a:pt x="129345" y="0"/>
                  </a:lnTo>
                  <a:cubicBezTo>
                    <a:pt x="121331" y="536"/>
                    <a:pt x="115240" y="7337"/>
                    <a:pt x="115674" y="15264"/>
                  </a:cubicBezTo>
                  <a:lnTo>
                    <a:pt x="115674" y="133746"/>
                  </a:lnTo>
                  <a:cubicBezTo>
                    <a:pt x="115379" y="141602"/>
                    <a:pt x="121414" y="148285"/>
                    <a:pt x="129345" y="148884"/>
                  </a:cubicBezTo>
                  <a:lnTo>
                    <a:pt x="191369" y="148884"/>
                  </a:lnTo>
                  <a:lnTo>
                    <a:pt x="191369" y="151637"/>
                  </a:lnTo>
                  <a:lnTo>
                    <a:pt x="188331" y="185793"/>
                  </a:lnTo>
                  <a:lnTo>
                    <a:pt x="188331" y="187670"/>
                  </a:lnTo>
                  <a:lnTo>
                    <a:pt x="101244" y="187670"/>
                  </a:lnTo>
                  <a:lnTo>
                    <a:pt x="101244" y="184917"/>
                  </a:lnTo>
                  <a:lnTo>
                    <a:pt x="104788" y="150636"/>
                  </a:lnTo>
                  <a:cubicBezTo>
                    <a:pt x="104978" y="149417"/>
                    <a:pt x="104607" y="148178"/>
                    <a:pt x="103775" y="147258"/>
                  </a:cubicBezTo>
                  <a:cubicBezTo>
                    <a:pt x="103184" y="146396"/>
                    <a:pt x="102167" y="145918"/>
                    <a:pt x="101117" y="146007"/>
                  </a:cubicBezTo>
                  <a:lnTo>
                    <a:pt x="69346" y="146007"/>
                  </a:lnTo>
                  <a:cubicBezTo>
                    <a:pt x="68216" y="146015"/>
                    <a:pt x="67149" y="146519"/>
                    <a:pt x="66434" y="147383"/>
                  </a:cubicBezTo>
                  <a:cubicBezTo>
                    <a:pt x="65831" y="148362"/>
                    <a:pt x="65523" y="149490"/>
                    <a:pt x="65548" y="150636"/>
                  </a:cubicBezTo>
                  <a:lnTo>
                    <a:pt x="69346" y="184917"/>
                  </a:lnTo>
                  <a:lnTo>
                    <a:pt x="69346" y="187670"/>
                  </a:lnTo>
                  <a:lnTo>
                    <a:pt x="56055" y="187670"/>
                  </a:lnTo>
                  <a:lnTo>
                    <a:pt x="55295" y="187670"/>
                  </a:lnTo>
                  <a:lnTo>
                    <a:pt x="11751" y="137624"/>
                  </a:lnTo>
                  <a:cubicBezTo>
                    <a:pt x="6174" y="131078"/>
                    <a:pt x="5708" y="121656"/>
                    <a:pt x="10612" y="114604"/>
                  </a:cubicBezTo>
                  <a:lnTo>
                    <a:pt x="34916" y="78696"/>
                  </a:lnTo>
                  <a:lnTo>
                    <a:pt x="37194" y="75068"/>
                  </a:lnTo>
                  <a:lnTo>
                    <a:pt x="39219" y="78571"/>
                  </a:lnTo>
                  <a:lnTo>
                    <a:pt x="40612" y="81073"/>
                  </a:lnTo>
                  <a:cubicBezTo>
                    <a:pt x="43627" y="87242"/>
                    <a:pt x="47943" y="92703"/>
                    <a:pt x="53270" y="97088"/>
                  </a:cubicBezTo>
                  <a:cubicBezTo>
                    <a:pt x="53867" y="97611"/>
                    <a:pt x="54625" y="97919"/>
                    <a:pt x="55422" y="97963"/>
                  </a:cubicBezTo>
                  <a:lnTo>
                    <a:pt x="56181" y="97963"/>
                  </a:lnTo>
                  <a:cubicBezTo>
                    <a:pt x="57120" y="97653"/>
                    <a:pt x="57953" y="97090"/>
                    <a:pt x="58586" y="96337"/>
                  </a:cubicBezTo>
                  <a:lnTo>
                    <a:pt x="100358" y="39411"/>
                  </a:lnTo>
                  <a:cubicBezTo>
                    <a:pt x="100968" y="38435"/>
                    <a:pt x="101276" y="37304"/>
                    <a:pt x="101244" y="36158"/>
                  </a:cubicBezTo>
                  <a:cubicBezTo>
                    <a:pt x="101274" y="34998"/>
                    <a:pt x="100760" y="33889"/>
                    <a:pt x="99851" y="33155"/>
                  </a:cubicBezTo>
                  <a:cubicBezTo>
                    <a:pt x="92098" y="26026"/>
                    <a:pt x="81958" y="21972"/>
                    <a:pt x="71371" y="21770"/>
                  </a:cubicBezTo>
                  <a:cubicBezTo>
                    <a:pt x="67365" y="21819"/>
                    <a:pt x="63391" y="22495"/>
                    <a:pt x="59599" y="23771"/>
                  </a:cubicBezTo>
                  <a:lnTo>
                    <a:pt x="58586" y="23771"/>
                  </a:lnTo>
                  <a:lnTo>
                    <a:pt x="56941" y="25023"/>
                  </a:lnTo>
                  <a:lnTo>
                    <a:pt x="55928" y="24147"/>
                  </a:lnTo>
                  <a:lnTo>
                    <a:pt x="48460" y="17140"/>
                  </a:lnTo>
                  <a:cubicBezTo>
                    <a:pt x="45635" y="14398"/>
                    <a:pt x="41905" y="12755"/>
                    <a:pt x="37953" y="12511"/>
                  </a:cubicBezTo>
                  <a:cubicBezTo>
                    <a:pt x="32985" y="12784"/>
                    <a:pt x="28375" y="15154"/>
                    <a:pt x="25295" y="19017"/>
                  </a:cubicBezTo>
                  <a:cubicBezTo>
                    <a:pt x="19022" y="26748"/>
                    <a:pt x="19509" y="37875"/>
                    <a:pt x="26435" y="45041"/>
                  </a:cubicBezTo>
                  <a:lnTo>
                    <a:pt x="27827" y="46292"/>
                  </a:lnTo>
                  <a:lnTo>
                    <a:pt x="32511" y="50796"/>
                  </a:lnTo>
                  <a:lnTo>
                    <a:pt x="32511" y="50796"/>
                  </a:lnTo>
                  <a:cubicBezTo>
                    <a:pt x="33120" y="51274"/>
                    <a:pt x="33673" y="51819"/>
                    <a:pt x="34156" y="52422"/>
                  </a:cubicBezTo>
                  <a:cubicBezTo>
                    <a:pt x="34930" y="53513"/>
                    <a:pt x="35206" y="54875"/>
                    <a:pt x="34916" y="56176"/>
                  </a:cubicBezTo>
                  <a:cubicBezTo>
                    <a:pt x="34934" y="58312"/>
                    <a:pt x="35103" y="60444"/>
                    <a:pt x="35422" y="62557"/>
                  </a:cubicBezTo>
                  <a:lnTo>
                    <a:pt x="35422" y="64308"/>
                  </a:lnTo>
                  <a:lnTo>
                    <a:pt x="35422" y="64934"/>
                  </a:lnTo>
                  <a:lnTo>
                    <a:pt x="4663" y="109474"/>
                  </a:lnTo>
                  <a:cubicBezTo>
                    <a:pt x="-2195" y="119902"/>
                    <a:pt x="-1427" y="133520"/>
                    <a:pt x="6561" y="143129"/>
                  </a:cubicBezTo>
                  <a:lnTo>
                    <a:pt x="46561" y="189296"/>
                  </a:lnTo>
                  <a:lnTo>
                    <a:pt x="48207" y="191173"/>
                  </a:lnTo>
                  <a:lnTo>
                    <a:pt x="46308" y="192799"/>
                  </a:lnTo>
                  <a:lnTo>
                    <a:pt x="45042" y="193925"/>
                  </a:lnTo>
                  <a:cubicBezTo>
                    <a:pt x="38440" y="199630"/>
                    <a:pt x="34694" y="207904"/>
                    <a:pt x="34789" y="216571"/>
                  </a:cubicBezTo>
                  <a:lnTo>
                    <a:pt x="34789" y="227581"/>
                  </a:lnTo>
                  <a:cubicBezTo>
                    <a:pt x="34575" y="229643"/>
                    <a:pt x="36093" y="231486"/>
                    <a:pt x="38180" y="231697"/>
                  </a:cubicBezTo>
                  <a:cubicBezTo>
                    <a:pt x="38231" y="231702"/>
                    <a:pt x="38282" y="231706"/>
                    <a:pt x="38333" y="231709"/>
                  </a:cubicBezTo>
                  <a:lnTo>
                    <a:pt x="86687" y="231709"/>
                  </a:lnTo>
                  <a:lnTo>
                    <a:pt x="86687" y="294266"/>
                  </a:lnTo>
                  <a:cubicBezTo>
                    <a:pt x="85897" y="304948"/>
                    <a:pt x="94018" y="314240"/>
                    <a:pt x="104825" y="315020"/>
                  </a:cubicBezTo>
                  <a:cubicBezTo>
                    <a:pt x="104897" y="315025"/>
                    <a:pt x="104969" y="315030"/>
                    <a:pt x="105041" y="315035"/>
                  </a:cubicBezTo>
                  <a:cubicBezTo>
                    <a:pt x="115713" y="314364"/>
                    <a:pt x="123846" y="305320"/>
                    <a:pt x="123269" y="294766"/>
                  </a:cubicBezTo>
                  <a:lnTo>
                    <a:pt x="123269" y="232210"/>
                  </a:lnTo>
                  <a:lnTo>
                    <a:pt x="273900" y="232210"/>
                  </a:lnTo>
                  <a:lnTo>
                    <a:pt x="273900" y="234587"/>
                  </a:lnTo>
                  <a:lnTo>
                    <a:pt x="276938" y="277626"/>
                  </a:lnTo>
                  <a:lnTo>
                    <a:pt x="276938" y="280003"/>
                  </a:lnTo>
                  <a:lnTo>
                    <a:pt x="274533" y="280003"/>
                  </a:lnTo>
                  <a:lnTo>
                    <a:pt x="273014" y="280003"/>
                  </a:lnTo>
                  <a:cubicBezTo>
                    <a:pt x="262357" y="280856"/>
                    <a:pt x="254179" y="289704"/>
                    <a:pt x="254280" y="300271"/>
                  </a:cubicBezTo>
                  <a:lnTo>
                    <a:pt x="254280" y="313658"/>
                  </a:lnTo>
                  <a:cubicBezTo>
                    <a:pt x="254066" y="318283"/>
                    <a:pt x="257685" y="322204"/>
                    <a:pt x="262364" y="322415"/>
                  </a:cubicBezTo>
                  <a:cubicBezTo>
                    <a:pt x="262370" y="322416"/>
                    <a:pt x="262375" y="322416"/>
                    <a:pt x="262381" y="322416"/>
                  </a:cubicBezTo>
                  <a:lnTo>
                    <a:pt x="296051" y="322416"/>
                  </a:lnTo>
                  <a:lnTo>
                    <a:pt x="295419" y="325419"/>
                  </a:lnTo>
                  <a:lnTo>
                    <a:pt x="286684" y="367582"/>
                  </a:lnTo>
                  <a:lnTo>
                    <a:pt x="294153" y="369334"/>
                  </a:lnTo>
                  <a:lnTo>
                    <a:pt x="303773" y="325294"/>
                  </a:lnTo>
                  <a:lnTo>
                    <a:pt x="303773" y="323292"/>
                  </a:lnTo>
                  <a:lnTo>
                    <a:pt x="343646" y="323292"/>
                  </a:lnTo>
                  <a:lnTo>
                    <a:pt x="343646" y="325294"/>
                  </a:lnTo>
                  <a:lnTo>
                    <a:pt x="353013" y="370209"/>
                  </a:lnTo>
                  <a:lnTo>
                    <a:pt x="360481" y="368458"/>
                  </a:lnTo>
                  <a:lnTo>
                    <a:pt x="351494" y="326295"/>
                  </a:lnTo>
                  <a:lnTo>
                    <a:pt x="351494" y="323292"/>
                  </a:lnTo>
                  <a:lnTo>
                    <a:pt x="385417" y="323292"/>
                  </a:lnTo>
                  <a:cubicBezTo>
                    <a:pt x="390027" y="323093"/>
                    <a:pt x="393601" y="319239"/>
                    <a:pt x="393400" y="314683"/>
                  </a:cubicBezTo>
                  <a:cubicBezTo>
                    <a:pt x="393398" y="314633"/>
                    <a:pt x="393395" y="314584"/>
                    <a:pt x="393392" y="314534"/>
                  </a:cubicBezTo>
                  <a:lnTo>
                    <a:pt x="393392" y="300271"/>
                  </a:lnTo>
                  <a:cubicBezTo>
                    <a:pt x="393548" y="289659"/>
                    <a:pt x="385248" y="280794"/>
                    <a:pt x="374531" y="280128"/>
                  </a:cubicBezTo>
                  <a:close/>
                  <a:moveTo>
                    <a:pt x="54409" y="36033"/>
                  </a:moveTo>
                  <a:cubicBezTo>
                    <a:pt x="55616" y="35152"/>
                    <a:pt x="56885" y="34357"/>
                    <a:pt x="58206" y="33655"/>
                  </a:cubicBezTo>
                  <a:cubicBezTo>
                    <a:pt x="62086" y="31546"/>
                    <a:pt x="66437" y="30428"/>
                    <a:pt x="70864" y="30402"/>
                  </a:cubicBezTo>
                  <a:cubicBezTo>
                    <a:pt x="76793" y="30492"/>
                    <a:pt x="82611" y="31994"/>
                    <a:pt x="87826" y="34781"/>
                  </a:cubicBezTo>
                  <a:lnTo>
                    <a:pt x="89598" y="35782"/>
                  </a:lnTo>
                  <a:lnTo>
                    <a:pt x="91877" y="37534"/>
                  </a:lnTo>
                  <a:lnTo>
                    <a:pt x="90231" y="39661"/>
                  </a:lnTo>
                  <a:lnTo>
                    <a:pt x="56561" y="85327"/>
                  </a:lnTo>
                  <a:lnTo>
                    <a:pt x="54662" y="87579"/>
                  </a:lnTo>
                  <a:lnTo>
                    <a:pt x="52510" y="84952"/>
                  </a:lnTo>
                  <a:lnTo>
                    <a:pt x="51244" y="83325"/>
                  </a:lnTo>
                  <a:cubicBezTo>
                    <a:pt x="46656" y="77393"/>
                    <a:pt x="43770" y="70348"/>
                    <a:pt x="42890" y="62932"/>
                  </a:cubicBezTo>
                  <a:cubicBezTo>
                    <a:pt x="42827" y="61765"/>
                    <a:pt x="42827" y="60596"/>
                    <a:pt x="42890" y="59429"/>
                  </a:cubicBezTo>
                  <a:cubicBezTo>
                    <a:pt x="42886" y="57197"/>
                    <a:pt x="43140" y="54972"/>
                    <a:pt x="43650" y="52798"/>
                  </a:cubicBezTo>
                  <a:cubicBezTo>
                    <a:pt x="43985" y="51164"/>
                    <a:pt x="44494" y="49571"/>
                    <a:pt x="45169" y="48043"/>
                  </a:cubicBezTo>
                  <a:cubicBezTo>
                    <a:pt x="46143" y="45889"/>
                    <a:pt x="47330" y="43836"/>
                    <a:pt x="48713" y="41913"/>
                  </a:cubicBezTo>
                  <a:cubicBezTo>
                    <a:pt x="49670" y="40510"/>
                    <a:pt x="50773" y="39210"/>
                    <a:pt x="52004" y="38034"/>
                  </a:cubicBezTo>
                  <a:close/>
                  <a:moveTo>
                    <a:pt x="30992" y="38410"/>
                  </a:moveTo>
                  <a:cubicBezTo>
                    <a:pt x="29273" y="36460"/>
                    <a:pt x="28134" y="34078"/>
                    <a:pt x="27700" y="31528"/>
                  </a:cubicBezTo>
                  <a:cubicBezTo>
                    <a:pt x="27691" y="28878"/>
                    <a:pt x="28533" y="26293"/>
                    <a:pt x="30105" y="24147"/>
                  </a:cubicBezTo>
                  <a:cubicBezTo>
                    <a:pt x="31991" y="21789"/>
                    <a:pt x="34917" y="20483"/>
                    <a:pt x="37953" y="20644"/>
                  </a:cubicBezTo>
                  <a:cubicBezTo>
                    <a:pt x="40338" y="20629"/>
                    <a:pt x="42624" y="21578"/>
                    <a:pt x="44283" y="23271"/>
                  </a:cubicBezTo>
                  <a:lnTo>
                    <a:pt x="48460" y="27275"/>
                  </a:lnTo>
                  <a:lnTo>
                    <a:pt x="50232" y="29026"/>
                  </a:lnTo>
                  <a:lnTo>
                    <a:pt x="48586" y="30778"/>
                  </a:lnTo>
                  <a:lnTo>
                    <a:pt x="47447" y="32029"/>
                  </a:lnTo>
                  <a:cubicBezTo>
                    <a:pt x="44581" y="35016"/>
                    <a:pt x="42152" y="38385"/>
                    <a:pt x="40232" y="42038"/>
                  </a:cubicBezTo>
                  <a:lnTo>
                    <a:pt x="37953" y="44916"/>
                  </a:lnTo>
                  <a:lnTo>
                    <a:pt x="35548" y="42664"/>
                  </a:lnTo>
                  <a:close/>
                  <a:moveTo>
                    <a:pt x="129345" y="140252"/>
                  </a:moveTo>
                  <a:cubicBezTo>
                    <a:pt x="125809" y="140117"/>
                    <a:pt x="123013" y="137243"/>
                    <a:pt x="123016" y="133746"/>
                  </a:cubicBezTo>
                  <a:lnTo>
                    <a:pt x="123016" y="15264"/>
                  </a:lnTo>
                  <a:cubicBezTo>
                    <a:pt x="122875" y="11743"/>
                    <a:pt x="125649" y="8775"/>
                    <a:pt x="129212" y="8637"/>
                  </a:cubicBezTo>
                  <a:cubicBezTo>
                    <a:pt x="129256" y="8635"/>
                    <a:pt x="129300" y="8634"/>
                    <a:pt x="129345" y="8633"/>
                  </a:cubicBezTo>
                  <a:lnTo>
                    <a:pt x="291115" y="8633"/>
                  </a:lnTo>
                  <a:cubicBezTo>
                    <a:pt x="294680" y="8699"/>
                    <a:pt x="297515" y="11609"/>
                    <a:pt x="297448" y="15133"/>
                  </a:cubicBezTo>
                  <a:cubicBezTo>
                    <a:pt x="297447" y="15176"/>
                    <a:pt x="297446" y="15220"/>
                    <a:pt x="297444" y="15264"/>
                  </a:cubicBezTo>
                  <a:lnTo>
                    <a:pt x="297444" y="133746"/>
                  </a:lnTo>
                  <a:cubicBezTo>
                    <a:pt x="297514" y="137269"/>
                    <a:pt x="294682" y="140182"/>
                    <a:pt x="291117" y="140252"/>
                  </a:cubicBezTo>
                  <a:cubicBezTo>
                    <a:pt x="291116" y="140252"/>
                    <a:pt x="291116" y="140252"/>
                    <a:pt x="291115" y="140252"/>
                  </a:cubicBezTo>
                  <a:close/>
                  <a:moveTo>
                    <a:pt x="224407" y="187670"/>
                  </a:moveTo>
                  <a:lnTo>
                    <a:pt x="195546" y="187670"/>
                  </a:lnTo>
                  <a:lnTo>
                    <a:pt x="195546" y="184917"/>
                  </a:lnTo>
                  <a:lnTo>
                    <a:pt x="198458" y="150761"/>
                  </a:lnTo>
                  <a:lnTo>
                    <a:pt x="198458" y="148384"/>
                  </a:lnTo>
                  <a:lnTo>
                    <a:pt x="220356" y="148384"/>
                  </a:lnTo>
                  <a:lnTo>
                    <a:pt x="220356" y="150636"/>
                  </a:lnTo>
                  <a:lnTo>
                    <a:pt x="223394" y="184917"/>
                  </a:lnTo>
                  <a:close/>
                  <a:moveTo>
                    <a:pt x="97826" y="154640"/>
                  </a:moveTo>
                  <a:lnTo>
                    <a:pt x="97826" y="157392"/>
                  </a:lnTo>
                  <a:lnTo>
                    <a:pt x="94662" y="185417"/>
                  </a:lnTo>
                  <a:lnTo>
                    <a:pt x="94662" y="187670"/>
                  </a:lnTo>
                  <a:lnTo>
                    <a:pt x="77194" y="187670"/>
                  </a:lnTo>
                  <a:lnTo>
                    <a:pt x="77194" y="185417"/>
                  </a:lnTo>
                  <a:lnTo>
                    <a:pt x="74029" y="157392"/>
                  </a:lnTo>
                  <a:lnTo>
                    <a:pt x="74029" y="154640"/>
                  </a:lnTo>
                  <a:close/>
                  <a:moveTo>
                    <a:pt x="115927" y="294766"/>
                  </a:moveTo>
                  <a:cubicBezTo>
                    <a:pt x="116141" y="300939"/>
                    <a:pt x="111284" y="306131"/>
                    <a:pt x="105041" y="306402"/>
                  </a:cubicBezTo>
                  <a:cubicBezTo>
                    <a:pt x="98893" y="306204"/>
                    <a:pt x="94070" y="301118"/>
                    <a:pt x="94269" y="295040"/>
                  </a:cubicBezTo>
                  <a:cubicBezTo>
                    <a:pt x="94272" y="294949"/>
                    <a:pt x="94277" y="294858"/>
                    <a:pt x="94282" y="294766"/>
                  </a:cubicBezTo>
                  <a:lnTo>
                    <a:pt x="94282" y="232210"/>
                  </a:lnTo>
                  <a:lnTo>
                    <a:pt x="115927" y="232210"/>
                  </a:lnTo>
                  <a:close/>
                  <a:moveTo>
                    <a:pt x="42384" y="223327"/>
                  </a:moveTo>
                  <a:lnTo>
                    <a:pt x="42384" y="216571"/>
                  </a:lnTo>
                  <a:cubicBezTo>
                    <a:pt x="41749" y="206294"/>
                    <a:pt x="49664" y="197455"/>
                    <a:pt x="60061" y="196828"/>
                  </a:cubicBezTo>
                  <a:cubicBezTo>
                    <a:pt x="60244" y="196817"/>
                    <a:pt x="60428" y="196809"/>
                    <a:pt x="60611" y="196803"/>
                  </a:cubicBezTo>
                  <a:lnTo>
                    <a:pt x="270988" y="196803"/>
                  </a:lnTo>
                  <a:lnTo>
                    <a:pt x="270988" y="198930"/>
                  </a:lnTo>
                  <a:lnTo>
                    <a:pt x="270988" y="200306"/>
                  </a:lnTo>
                  <a:lnTo>
                    <a:pt x="270988" y="202433"/>
                  </a:lnTo>
                  <a:lnTo>
                    <a:pt x="272381" y="220699"/>
                  </a:lnTo>
                  <a:lnTo>
                    <a:pt x="272381" y="223327"/>
                  </a:lnTo>
                  <a:close/>
                  <a:moveTo>
                    <a:pt x="279596" y="193300"/>
                  </a:moveTo>
                  <a:cubicBezTo>
                    <a:pt x="280730" y="188688"/>
                    <a:pt x="282941" y="184404"/>
                    <a:pt x="286052" y="180788"/>
                  </a:cubicBezTo>
                  <a:cubicBezTo>
                    <a:pt x="290822" y="174976"/>
                    <a:pt x="297973" y="171579"/>
                    <a:pt x="305545" y="171530"/>
                  </a:cubicBezTo>
                  <a:lnTo>
                    <a:pt x="341747" y="171530"/>
                  </a:lnTo>
                  <a:cubicBezTo>
                    <a:pt x="349407" y="171504"/>
                    <a:pt x="356668" y="174908"/>
                    <a:pt x="361494" y="180788"/>
                  </a:cubicBezTo>
                  <a:cubicBezTo>
                    <a:pt x="366542" y="186894"/>
                    <a:pt x="368993" y="194700"/>
                    <a:pt x="368329" y="202558"/>
                  </a:cubicBezTo>
                  <a:lnTo>
                    <a:pt x="362759" y="277626"/>
                  </a:lnTo>
                  <a:lnTo>
                    <a:pt x="362759" y="280003"/>
                  </a:lnTo>
                  <a:lnTo>
                    <a:pt x="284912" y="280003"/>
                  </a:lnTo>
                  <a:lnTo>
                    <a:pt x="284912" y="277751"/>
                  </a:lnTo>
                  <a:lnTo>
                    <a:pt x="281115" y="227706"/>
                  </a:lnTo>
                  <a:lnTo>
                    <a:pt x="279343" y="202683"/>
                  </a:lnTo>
                  <a:lnTo>
                    <a:pt x="279343" y="201557"/>
                  </a:lnTo>
                  <a:cubicBezTo>
                    <a:pt x="279090" y="198805"/>
                    <a:pt x="279175" y="196032"/>
                    <a:pt x="279596" y="193300"/>
                  </a:cubicBezTo>
                  <a:close/>
                  <a:moveTo>
                    <a:pt x="385797" y="314284"/>
                  </a:moveTo>
                  <a:lnTo>
                    <a:pt x="261875" y="314284"/>
                  </a:lnTo>
                  <a:lnTo>
                    <a:pt x="261875" y="300271"/>
                  </a:lnTo>
                  <a:cubicBezTo>
                    <a:pt x="261848" y="293778"/>
                    <a:pt x="266851" y="288344"/>
                    <a:pt x="273394" y="287760"/>
                  </a:cubicBezTo>
                  <a:lnTo>
                    <a:pt x="374658" y="287760"/>
                  </a:lnTo>
                  <a:cubicBezTo>
                    <a:pt x="381301" y="288221"/>
                    <a:pt x="386446" y="293689"/>
                    <a:pt x="386430" y="300271"/>
                  </a:cubicBezTo>
                  <a:close/>
                </a:path>
              </a:pathLst>
            </a:custGeom>
            <a:solidFill>
              <a:schemeClr val="bg1"/>
            </a:solidFill>
            <a:ln w="12598" cap="flat">
              <a:noFill/>
              <a:prstDash val="solid"/>
              <a:miter/>
            </a:ln>
          </p:spPr>
          <p:txBody>
            <a:bodyPr rtlCol="0" anchor="ctr"/>
            <a:lstStyle/>
            <a:p>
              <a:pPr defTabSz="342923">
                <a:defRPr/>
              </a:pPr>
              <a:endParaRPr lang="en-US" sz="1000" dirty="0">
                <a:solidFill>
                  <a:srgbClr val="000000"/>
                </a:solidFill>
                <a:latin typeface="+mj-lt"/>
              </a:endParaRPr>
            </a:p>
          </p:txBody>
        </p:sp>
        <p:sp>
          <p:nvSpPr>
            <p:cNvPr id="29" name="Freeform 28">
              <a:extLst>
                <a:ext uri="{FF2B5EF4-FFF2-40B4-BE49-F238E27FC236}">
                  <a16:creationId xmlns:a16="http://schemas.microsoft.com/office/drawing/2014/main" id="{2C730BCE-32C3-9304-8340-EB48530D2218}"/>
                </a:ext>
              </a:extLst>
            </p:cNvPr>
            <p:cNvSpPr/>
            <p:nvPr/>
          </p:nvSpPr>
          <p:spPr>
            <a:xfrm>
              <a:off x="4168760" y="1898615"/>
              <a:ext cx="351418" cy="351417"/>
            </a:xfrm>
            <a:custGeom>
              <a:avLst/>
              <a:gdLst>
                <a:gd name="connsiteX0" fmla="*/ 177762 w 368357"/>
                <a:gd name="connsiteY0" fmla="*/ 109794 h 368356"/>
                <a:gd name="connsiteX1" fmla="*/ 186740 w 368357"/>
                <a:gd name="connsiteY1" fmla="*/ 109794 h 368356"/>
                <a:gd name="connsiteX2" fmla="*/ 186740 w 368357"/>
                <a:gd name="connsiteY2" fmla="*/ 129306 h 368356"/>
                <a:gd name="connsiteX3" fmla="*/ 230073 w 368357"/>
                <a:gd name="connsiteY3" fmla="*/ 129306 h 368356"/>
                <a:gd name="connsiteX4" fmla="*/ 230073 w 368357"/>
                <a:gd name="connsiteY4" fmla="*/ 138284 h 368356"/>
                <a:gd name="connsiteX5" fmla="*/ 158250 w 368357"/>
                <a:gd name="connsiteY5" fmla="*/ 138284 h 368356"/>
                <a:gd name="connsiteX6" fmla="*/ 138858 w 368357"/>
                <a:gd name="connsiteY6" fmla="*/ 157676 h 368356"/>
                <a:gd name="connsiteX7" fmla="*/ 158250 w 368357"/>
                <a:gd name="connsiteY7" fmla="*/ 177068 h 368356"/>
                <a:gd name="connsiteX8" fmla="*/ 206132 w 368357"/>
                <a:gd name="connsiteY8" fmla="*/ 177068 h 368356"/>
                <a:gd name="connsiteX9" fmla="*/ 234502 w 368357"/>
                <a:gd name="connsiteY9" fmla="*/ 205438 h 368356"/>
                <a:gd name="connsiteX10" fmla="*/ 206132 w 368357"/>
                <a:gd name="connsiteY10" fmla="*/ 233808 h 368356"/>
                <a:gd name="connsiteX11" fmla="*/ 186740 w 368357"/>
                <a:gd name="connsiteY11" fmla="*/ 233808 h 368356"/>
                <a:gd name="connsiteX12" fmla="*/ 186740 w 368357"/>
                <a:gd name="connsiteY12" fmla="*/ 252961 h 368356"/>
                <a:gd name="connsiteX13" fmla="*/ 177762 w 368357"/>
                <a:gd name="connsiteY13" fmla="*/ 252961 h 368356"/>
                <a:gd name="connsiteX14" fmla="*/ 177762 w 368357"/>
                <a:gd name="connsiteY14" fmla="*/ 233569 h 368356"/>
                <a:gd name="connsiteX15" fmla="*/ 134429 w 368357"/>
                <a:gd name="connsiteY15" fmla="*/ 233569 h 368356"/>
                <a:gd name="connsiteX16" fmla="*/ 134429 w 368357"/>
                <a:gd name="connsiteY16" fmla="*/ 224830 h 368356"/>
                <a:gd name="connsiteX17" fmla="*/ 206252 w 368357"/>
                <a:gd name="connsiteY17" fmla="*/ 224830 h 368356"/>
                <a:gd name="connsiteX18" fmla="*/ 225644 w 368357"/>
                <a:gd name="connsiteY18" fmla="*/ 205438 h 368356"/>
                <a:gd name="connsiteX19" fmla="*/ 206252 w 368357"/>
                <a:gd name="connsiteY19" fmla="*/ 186046 h 368356"/>
                <a:gd name="connsiteX20" fmla="*/ 158370 w 368357"/>
                <a:gd name="connsiteY20" fmla="*/ 186046 h 368356"/>
                <a:gd name="connsiteX21" fmla="*/ 130000 w 368357"/>
                <a:gd name="connsiteY21" fmla="*/ 157676 h 368356"/>
                <a:gd name="connsiteX22" fmla="*/ 158370 w 368357"/>
                <a:gd name="connsiteY22" fmla="*/ 129306 h 368356"/>
                <a:gd name="connsiteX23" fmla="*/ 177762 w 368357"/>
                <a:gd name="connsiteY23" fmla="*/ 129306 h 368356"/>
                <a:gd name="connsiteX24" fmla="*/ 183868 w 368357"/>
                <a:gd name="connsiteY24" fmla="*/ 90282 h 368356"/>
                <a:gd name="connsiteX25" fmla="*/ 90259 w 368357"/>
                <a:gd name="connsiteY25" fmla="*/ 184130 h 368356"/>
                <a:gd name="connsiteX26" fmla="*/ 184107 w 368357"/>
                <a:gd name="connsiteY26" fmla="*/ 277740 h 368356"/>
                <a:gd name="connsiteX27" fmla="*/ 277716 w 368357"/>
                <a:gd name="connsiteY27" fmla="*/ 184130 h 368356"/>
                <a:gd name="connsiteX28" fmla="*/ 277716 w 368357"/>
                <a:gd name="connsiteY28" fmla="*/ 183891 h 368356"/>
                <a:gd name="connsiteX29" fmla="*/ 183868 w 368357"/>
                <a:gd name="connsiteY29" fmla="*/ 90282 h 368356"/>
                <a:gd name="connsiteX30" fmla="*/ 184347 w 368357"/>
                <a:gd name="connsiteY30" fmla="*/ 81423 h 368356"/>
                <a:gd name="connsiteX31" fmla="*/ 287293 w 368357"/>
                <a:gd name="connsiteY31" fmla="*/ 184130 h 368356"/>
                <a:gd name="connsiteX32" fmla="*/ 185065 w 368357"/>
                <a:gd name="connsiteY32" fmla="*/ 286835 h 368356"/>
                <a:gd name="connsiteX33" fmla="*/ 81880 w 368357"/>
                <a:gd name="connsiteY33" fmla="*/ 184608 h 368356"/>
                <a:gd name="connsiteX34" fmla="*/ 184107 w 368357"/>
                <a:gd name="connsiteY34" fmla="*/ 81424 h 368356"/>
                <a:gd name="connsiteX35" fmla="*/ 184347 w 368357"/>
                <a:gd name="connsiteY35" fmla="*/ 81423 h 368356"/>
                <a:gd name="connsiteX36" fmla="*/ 153102 w 368357"/>
                <a:gd name="connsiteY36" fmla="*/ 9003 h 368356"/>
                <a:gd name="connsiteX37" fmla="*/ 153102 w 368357"/>
                <a:gd name="connsiteY37" fmla="*/ 51019 h 368356"/>
                <a:gd name="connsiteX38" fmla="*/ 150349 w 368357"/>
                <a:gd name="connsiteY38" fmla="*/ 55209 h 368356"/>
                <a:gd name="connsiteX39" fmla="*/ 116593 w 368357"/>
                <a:gd name="connsiteY39" fmla="*/ 68975 h 368356"/>
                <a:gd name="connsiteX40" fmla="*/ 111685 w 368357"/>
                <a:gd name="connsiteY40" fmla="*/ 68017 h 368356"/>
                <a:gd name="connsiteX41" fmla="*/ 82118 w 368357"/>
                <a:gd name="connsiteY41" fmla="*/ 38450 h 368356"/>
                <a:gd name="connsiteX42" fmla="*/ 38425 w 368357"/>
                <a:gd name="connsiteY42" fmla="*/ 82142 h 368356"/>
                <a:gd name="connsiteX43" fmla="*/ 68112 w 368357"/>
                <a:gd name="connsiteY43" fmla="*/ 111829 h 368356"/>
                <a:gd name="connsiteX44" fmla="*/ 69070 w 368357"/>
                <a:gd name="connsiteY44" fmla="*/ 116737 h 368356"/>
                <a:gd name="connsiteX45" fmla="*/ 54945 w 368357"/>
                <a:gd name="connsiteY45" fmla="*/ 150374 h 368356"/>
                <a:gd name="connsiteX46" fmla="*/ 50875 w 368357"/>
                <a:gd name="connsiteY46" fmla="*/ 153127 h 368356"/>
                <a:gd name="connsiteX47" fmla="*/ 8978 w 368357"/>
                <a:gd name="connsiteY47" fmla="*/ 153127 h 368356"/>
                <a:gd name="connsiteX48" fmla="*/ 8978 w 368357"/>
                <a:gd name="connsiteY48" fmla="*/ 215493 h 368356"/>
                <a:gd name="connsiteX49" fmla="*/ 50994 w 368357"/>
                <a:gd name="connsiteY49" fmla="*/ 215493 h 368356"/>
                <a:gd name="connsiteX50" fmla="*/ 55184 w 368357"/>
                <a:gd name="connsiteY50" fmla="*/ 217768 h 368356"/>
                <a:gd name="connsiteX51" fmla="*/ 68950 w 368357"/>
                <a:gd name="connsiteY51" fmla="*/ 251405 h 368356"/>
                <a:gd name="connsiteX52" fmla="*/ 67992 w 368357"/>
                <a:gd name="connsiteY52" fmla="*/ 256432 h 368356"/>
                <a:gd name="connsiteX53" fmla="*/ 38425 w 368357"/>
                <a:gd name="connsiteY53" fmla="*/ 286000 h 368356"/>
                <a:gd name="connsiteX54" fmla="*/ 82118 w 368357"/>
                <a:gd name="connsiteY54" fmla="*/ 329692 h 368356"/>
                <a:gd name="connsiteX55" fmla="*/ 111804 w 368357"/>
                <a:gd name="connsiteY55" fmla="*/ 300244 h 368356"/>
                <a:gd name="connsiteX56" fmla="*/ 116712 w 368357"/>
                <a:gd name="connsiteY56" fmla="*/ 299287 h 368356"/>
                <a:gd name="connsiteX57" fmla="*/ 150349 w 368357"/>
                <a:gd name="connsiteY57" fmla="*/ 313173 h 368356"/>
                <a:gd name="connsiteX58" fmla="*/ 153102 w 368357"/>
                <a:gd name="connsiteY58" fmla="*/ 317242 h 368356"/>
                <a:gd name="connsiteX59" fmla="*/ 153102 w 368357"/>
                <a:gd name="connsiteY59" fmla="*/ 359139 h 368356"/>
                <a:gd name="connsiteX60" fmla="*/ 214870 w 368357"/>
                <a:gd name="connsiteY60" fmla="*/ 359139 h 368356"/>
                <a:gd name="connsiteX61" fmla="*/ 214870 w 368357"/>
                <a:gd name="connsiteY61" fmla="*/ 317242 h 368356"/>
                <a:gd name="connsiteX62" fmla="*/ 217623 w 368357"/>
                <a:gd name="connsiteY62" fmla="*/ 313053 h 368356"/>
                <a:gd name="connsiteX63" fmla="*/ 251380 w 368357"/>
                <a:gd name="connsiteY63" fmla="*/ 299287 h 368356"/>
                <a:gd name="connsiteX64" fmla="*/ 256647 w 368357"/>
                <a:gd name="connsiteY64" fmla="*/ 300125 h 368356"/>
                <a:gd name="connsiteX65" fmla="*/ 286214 w 368357"/>
                <a:gd name="connsiteY65" fmla="*/ 329692 h 368356"/>
                <a:gd name="connsiteX66" fmla="*/ 329907 w 368357"/>
                <a:gd name="connsiteY66" fmla="*/ 286000 h 368356"/>
                <a:gd name="connsiteX67" fmla="*/ 300220 w 368357"/>
                <a:gd name="connsiteY67" fmla="*/ 256313 h 368356"/>
                <a:gd name="connsiteX68" fmla="*/ 299262 w 368357"/>
                <a:gd name="connsiteY68" fmla="*/ 251405 h 368356"/>
                <a:gd name="connsiteX69" fmla="*/ 313148 w 368357"/>
                <a:gd name="connsiteY69" fmla="*/ 218247 h 368356"/>
                <a:gd name="connsiteX70" fmla="*/ 317218 w 368357"/>
                <a:gd name="connsiteY70" fmla="*/ 215493 h 368356"/>
                <a:gd name="connsiteX71" fmla="*/ 359115 w 368357"/>
                <a:gd name="connsiteY71" fmla="*/ 215493 h 368356"/>
                <a:gd name="connsiteX72" fmla="*/ 359115 w 368357"/>
                <a:gd name="connsiteY72" fmla="*/ 153127 h 368356"/>
                <a:gd name="connsiteX73" fmla="*/ 317098 w 368357"/>
                <a:gd name="connsiteY73" fmla="*/ 153127 h 368356"/>
                <a:gd name="connsiteX74" fmla="*/ 313028 w 368357"/>
                <a:gd name="connsiteY74" fmla="*/ 150374 h 368356"/>
                <a:gd name="connsiteX75" fmla="*/ 299142 w 368357"/>
                <a:gd name="connsiteY75" fmla="*/ 116617 h 368356"/>
                <a:gd name="connsiteX76" fmla="*/ 300100 w 368357"/>
                <a:gd name="connsiteY76" fmla="*/ 111709 h 368356"/>
                <a:gd name="connsiteX77" fmla="*/ 329667 w 368357"/>
                <a:gd name="connsiteY77" fmla="*/ 82142 h 368356"/>
                <a:gd name="connsiteX78" fmla="*/ 285975 w 368357"/>
                <a:gd name="connsiteY78" fmla="*/ 38450 h 368356"/>
                <a:gd name="connsiteX79" fmla="*/ 256288 w 368357"/>
                <a:gd name="connsiteY79" fmla="*/ 68137 h 368356"/>
                <a:gd name="connsiteX80" fmla="*/ 251380 w 368357"/>
                <a:gd name="connsiteY80" fmla="*/ 69094 h 368356"/>
                <a:gd name="connsiteX81" fmla="*/ 218222 w 368357"/>
                <a:gd name="connsiteY81" fmla="*/ 54969 h 368356"/>
                <a:gd name="connsiteX82" fmla="*/ 215469 w 368357"/>
                <a:gd name="connsiteY82" fmla="*/ 50899 h 368356"/>
                <a:gd name="connsiteX83" fmla="*/ 215469 w 368357"/>
                <a:gd name="connsiteY83" fmla="*/ 9003 h 368356"/>
                <a:gd name="connsiteX84" fmla="*/ 148673 w 368357"/>
                <a:gd name="connsiteY84" fmla="*/ 25 h 368356"/>
                <a:gd name="connsiteX85" fmla="*/ 219419 w 368357"/>
                <a:gd name="connsiteY85" fmla="*/ 25 h 368356"/>
                <a:gd name="connsiteX86" fmla="*/ 223968 w 368357"/>
                <a:gd name="connsiteY86" fmla="*/ 4573 h 368356"/>
                <a:gd name="connsiteX87" fmla="*/ 223968 w 368357"/>
                <a:gd name="connsiteY87" fmla="*/ 47907 h 368356"/>
                <a:gd name="connsiteX88" fmla="*/ 252098 w 368357"/>
                <a:gd name="connsiteY88" fmla="*/ 59877 h 368356"/>
                <a:gd name="connsiteX89" fmla="*/ 282743 w 368357"/>
                <a:gd name="connsiteY89" fmla="*/ 28874 h 368356"/>
                <a:gd name="connsiteX90" fmla="*/ 289207 w 368357"/>
                <a:gd name="connsiteY90" fmla="*/ 28874 h 368356"/>
                <a:gd name="connsiteX91" fmla="*/ 338765 w 368357"/>
                <a:gd name="connsiteY91" fmla="*/ 78431 h 368356"/>
                <a:gd name="connsiteX92" fmla="*/ 340081 w 368357"/>
                <a:gd name="connsiteY92" fmla="*/ 81663 h 368356"/>
                <a:gd name="connsiteX93" fmla="*/ 338765 w 368357"/>
                <a:gd name="connsiteY93" fmla="*/ 84776 h 368356"/>
                <a:gd name="connsiteX94" fmla="*/ 308120 w 368357"/>
                <a:gd name="connsiteY94" fmla="*/ 115540 h 368356"/>
                <a:gd name="connsiteX95" fmla="*/ 320091 w 368357"/>
                <a:gd name="connsiteY95" fmla="*/ 143670 h 368356"/>
                <a:gd name="connsiteX96" fmla="*/ 363663 w 368357"/>
                <a:gd name="connsiteY96" fmla="*/ 143670 h 368356"/>
                <a:gd name="connsiteX97" fmla="*/ 364290 w 368357"/>
                <a:gd name="connsiteY97" fmla="*/ 143694 h 368356"/>
                <a:gd name="connsiteX98" fmla="*/ 368332 w 368357"/>
                <a:gd name="connsiteY98" fmla="*/ 148698 h 368356"/>
                <a:gd name="connsiteX99" fmla="*/ 368332 w 368357"/>
                <a:gd name="connsiteY99" fmla="*/ 218965 h 368356"/>
                <a:gd name="connsiteX100" fmla="*/ 363903 w 368357"/>
                <a:gd name="connsiteY100" fmla="*/ 223514 h 368356"/>
                <a:gd name="connsiteX101" fmla="*/ 320450 w 368357"/>
                <a:gd name="connsiteY101" fmla="*/ 223514 h 368356"/>
                <a:gd name="connsiteX102" fmla="*/ 308479 w 368357"/>
                <a:gd name="connsiteY102" fmla="*/ 251644 h 368356"/>
                <a:gd name="connsiteX103" fmla="*/ 339244 w 368357"/>
                <a:gd name="connsiteY103" fmla="*/ 282289 h 368356"/>
                <a:gd name="connsiteX104" fmla="*/ 339244 w 368357"/>
                <a:gd name="connsiteY104" fmla="*/ 288753 h 368356"/>
                <a:gd name="connsiteX105" fmla="*/ 289207 w 368357"/>
                <a:gd name="connsiteY105" fmla="*/ 338789 h 368356"/>
                <a:gd name="connsiteX106" fmla="*/ 282743 w 368357"/>
                <a:gd name="connsiteY106" fmla="*/ 338789 h 368356"/>
                <a:gd name="connsiteX107" fmla="*/ 252098 w 368357"/>
                <a:gd name="connsiteY107" fmla="*/ 308145 h 368356"/>
                <a:gd name="connsiteX108" fmla="*/ 223968 w 368357"/>
                <a:gd name="connsiteY108" fmla="*/ 320115 h 368356"/>
                <a:gd name="connsiteX109" fmla="*/ 223968 w 368357"/>
                <a:gd name="connsiteY109" fmla="*/ 363927 h 368356"/>
                <a:gd name="connsiteX110" fmla="*/ 219419 w 368357"/>
                <a:gd name="connsiteY110" fmla="*/ 368356 h 368356"/>
                <a:gd name="connsiteX111" fmla="*/ 148673 w 368357"/>
                <a:gd name="connsiteY111" fmla="*/ 368356 h 368356"/>
                <a:gd name="connsiteX112" fmla="*/ 144125 w 368357"/>
                <a:gd name="connsiteY112" fmla="*/ 363927 h 368356"/>
                <a:gd name="connsiteX113" fmla="*/ 144125 w 368357"/>
                <a:gd name="connsiteY113" fmla="*/ 320475 h 368356"/>
                <a:gd name="connsiteX114" fmla="*/ 115994 w 368357"/>
                <a:gd name="connsiteY114" fmla="*/ 308504 h 368356"/>
                <a:gd name="connsiteX115" fmla="*/ 85230 w 368357"/>
                <a:gd name="connsiteY115" fmla="*/ 339268 h 368356"/>
                <a:gd name="connsiteX116" fmla="*/ 78885 w 368357"/>
                <a:gd name="connsiteY116" fmla="*/ 339268 h 368356"/>
                <a:gd name="connsiteX117" fmla="*/ 28849 w 368357"/>
                <a:gd name="connsiteY117" fmla="*/ 289232 h 368356"/>
                <a:gd name="connsiteX118" fmla="*/ 28849 w 368357"/>
                <a:gd name="connsiteY118" fmla="*/ 282768 h 368356"/>
                <a:gd name="connsiteX119" fmla="*/ 59852 w 368357"/>
                <a:gd name="connsiteY119" fmla="*/ 251644 h 368356"/>
                <a:gd name="connsiteX120" fmla="*/ 47882 w 368357"/>
                <a:gd name="connsiteY120" fmla="*/ 223514 h 368356"/>
                <a:gd name="connsiteX121" fmla="*/ 4549 w 368357"/>
                <a:gd name="connsiteY121" fmla="*/ 223514 h 368356"/>
                <a:gd name="connsiteX122" fmla="*/ 0 w 368357"/>
                <a:gd name="connsiteY122" fmla="*/ 218965 h 368356"/>
                <a:gd name="connsiteX123" fmla="*/ 0 w 368357"/>
                <a:gd name="connsiteY123" fmla="*/ 148219 h 368356"/>
                <a:gd name="connsiteX124" fmla="*/ 4549 w 368357"/>
                <a:gd name="connsiteY124" fmla="*/ 143670 h 368356"/>
                <a:gd name="connsiteX125" fmla="*/ 47882 w 368357"/>
                <a:gd name="connsiteY125" fmla="*/ 143670 h 368356"/>
                <a:gd name="connsiteX126" fmla="*/ 59852 w 368357"/>
                <a:gd name="connsiteY126" fmla="*/ 116019 h 368356"/>
                <a:gd name="connsiteX127" fmla="*/ 28849 w 368357"/>
                <a:gd name="connsiteY127" fmla="*/ 85255 h 368356"/>
                <a:gd name="connsiteX128" fmla="*/ 28849 w 368357"/>
                <a:gd name="connsiteY128" fmla="*/ 78910 h 368356"/>
                <a:gd name="connsiteX129" fmla="*/ 78885 w 368357"/>
                <a:gd name="connsiteY129" fmla="*/ 28874 h 368356"/>
                <a:gd name="connsiteX130" fmla="*/ 85230 w 368357"/>
                <a:gd name="connsiteY130" fmla="*/ 28874 h 368356"/>
                <a:gd name="connsiteX131" fmla="*/ 115994 w 368357"/>
                <a:gd name="connsiteY131" fmla="*/ 59877 h 368356"/>
                <a:gd name="connsiteX132" fmla="*/ 143646 w 368357"/>
                <a:gd name="connsiteY132" fmla="*/ 47907 h 368356"/>
                <a:gd name="connsiteX133" fmla="*/ 143646 w 368357"/>
                <a:gd name="connsiteY133" fmla="*/ 4573 h 368356"/>
                <a:gd name="connsiteX134" fmla="*/ 143671 w 368357"/>
                <a:gd name="connsiteY134" fmla="*/ 4069 h 368356"/>
                <a:gd name="connsiteX135" fmla="*/ 148673 w 368357"/>
                <a:gd name="connsiteY135" fmla="*/ 25 h 36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368357" h="368356">
                  <a:moveTo>
                    <a:pt x="177762" y="109794"/>
                  </a:moveTo>
                  <a:lnTo>
                    <a:pt x="186740" y="109794"/>
                  </a:lnTo>
                  <a:lnTo>
                    <a:pt x="186740" y="129306"/>
                  </a:lnTo>
                  <a:lnTo>
                    <a:pt x="230073" y="129306"/>
                  </a:lnTo>
                  <a:lnTo>
                    <a:pt x="230073" y="138284"/>
                  </a:lnTo>
                  <a:lnTo>
                    <a:pt x="158250" y="138284"/>
                  </a:lnTo>
                  <a:cubicBezTo>
                    <a:pt x="147540" y="138284"/>
                    <a:pt x="138858" y="146966"/>
                    <a:pt x="138858" y="157676"/>
                  </a:cubicBezTo>
                  <a:cubicBezTo>
                    <a:pt x="138858" y="168386"/>
                    <a:pt x="147540" y="177068"/>
                    <a:pt x="158250" y="177068"/>
                  </a:cubicBezTo>
                  <a:lnTo>
                    <a:pt x="206132" y="177068"/>
                  </a:lnTo>
                  <a:cubicBezTo>
                    <a:pt x="221801" y="177068"/>
                    <a:pt x="234502" y="189770"/>
                    <a:pt x="234502" y="205438"/>
                  </a:cubicBezTo>
                  <a:cubicBezTo>
                    <a:pt x="234502" y="221107"/>
                    <a:pt x="221801" y="233808"/>
                    <a:pt x="206132" y="233808"/>
                  </a:cubicBezTo>
                  <a:lnTo>
                    <a:pt x="186740" y="233808"/>
                  </a:lnTo>
                  <a:lnTo>
                    <a:pt x="186740" y="252961"/>
                  </a:lnTo>
                  <a:lnTo>
                    <a:pt x="177762" y="252961"/>
                  </a:lnTo>
                  <a:lnTo>
                    <a:pt x="177762" y="233569"/>
                  </a:lnTo>
                  <a:lnTo>
                    <a:pt x="134429" y="233569"/>
                  </a:lnTo>
                  <a:lnTo>
                    <a:pt x="134429" y="224830"/>
                  </a:lnTo>
                  <a:lnTo>
                    <a:pt x="206252" y="224830"/>
                  </a:lnTo>
                  <a:cubicBezTo>
                    <a:pt x="216962" y="224830"/>
                    <a:pt x="225644" y="216148"/>
                    <a:pt x="225644" y="205438"/>
                  </a:cubicBezTo>
                  <a:cubicBezTo>
                    <a:pt x="225644" y="194728"/>
                    <a:pt x="216962" y="186046"/>
                    <a:pt x="206252" y="186046"/>
                  </a:cubicBezTo>
                  <a:lnTo>
                    <a:pt x="158370" y="186046"/>
                  </a:lnTo>
                  <a:cubicBezTo>
                    <a:pt x="142702" y="186046"/>
                    <a:pt x="130000" y="173344"/>
                    <a:pt x="130000" y="157676"/>
                  </a:cubicBezTo>
                  <a:cubicBezTo>
                    <a:pt x="130000" y="142008"/>
                    <a:pt x="142702" y="129306"/>
                    <a:pt x="158370" y="129306"/>
                  </a:cubicBezTo>
                  <a:lnTo>
                    <a:pt x="177762" y="129306"/>
                  </a:lnTo>
                  <a:close/>
                  <a:moveTo>
                    <a:pt x="183868" y="90282"/>
                  </a:moveTo>
                  <a:cubicBezTo>
                    <a:pt x="132103" y="90348"/>
                    <a:pt x="90192" y="132365"/>
                    <a:pt x="90259" y="184130"/>
                  </a:cubicBezTo>
                  <a:cubicBezTo>
                    <a:pt x="90325" y="235895"/>
                    <a:pt x="132342" y="277806"/>
                    <a:pt x="184107" y="277740"/>
                  </a:cubicBezTo>
                  <a:cubicBezTo>
                    <a:pt x="235779" y="277674"/>
                    <a:pt x="277650" y="235802"/>
                    <a:pt x="277716" y="184130"/>
                  </a:cubicBezTo>
                  <a:cubicBezTo>
                    <a:pt x="277716" y="184051"/>
                    <a:pt x="277716" y="183971"/>
                    <a:pt x="277716" y="183891"/>
                  </a:cubicBezTo>
                  <a:cubicBezTo>
                    <a:pt x="277650" y="132126"/>
                    <a:pt x="235633" y="90216"/>
                    <a:pt x="183868" y="90282"/>
                  </a:cubicBezTo>
                  <a:close/>
                  <a:moveTo>
                    <a:pt x="184347" y="81423"/>
                  </a:moveTo>
                  <a:cubicBezTo>
                    <a:pt x="241137" y="81357"/>
                    <a:pt x="287227" y="127341"/>
                    <a:pt x="287293" y="184130"/>
                  </a:cubicBezTo>
                  <a:cubicBezTo>
                    <a:pt x="287292" y="240666"/>
                    <a:pt x="241600" y="286571"/>
                    <a:pt x="185065" y="286835"/>
                  </a:cubicBezTo>
                  <a:cubicBezTo>
                    <a:pt x="128342" y="287099"/>
                    <a:pt x="82145" y="241331"/>
                    <a:pt x="81880" y="184608"/>
                  </a:cubicBezTo>
                  <a:cubicBezTo>
                    <a:pt x="81616" y="127885"/>
                    <a:pt x="127384" y="81688"/>
                    <a:pt x="184107" y="81424"/>
                  </a:cubicBezTo>
                  <a:cubicBezTo>
                    <a:pt x="184187" y="81423"/>
                    <a:pt x="184267" y="81423"/>
                    <a:pt x="184347" y="81423"/>
                  </a:cubicBezTo>
                  <a:close/>
                  <a:moveTo>
                    <a:pt x="153102" y="9003"/>
                  </a:moveTo>
                  <a:lnTo>
                    <a:pt x="153102" y="51019"/>
                  </a:lnTo>
                  <a:cubicBezTo>
                    <a:pt x="153107" y="52841"/>
                    <a:pt x="152023" y="54489"/>
                    <a:pt x="150349" y="55209"/>
                  </a:cubicBezTo>
                  <a:lnTo>
                    <a:pt x="116593" y="68975"/>
                  </a:lnTo>
                  <a:cubicBezTo>
                    <a:pt x="114916" y="69698"/>
                    <a:pt x="112967" y="69318"/>
                    <a:pt x="111685" y="68017"/>
                  </a:cubicBezTo>
                  <a:lnTo>
                    <a:pt x="82118" y="38450"/>
                  </a:lnTo>
                  <a:lnTo>
                    <a:pt x="38425" y="82142"/>
                  </a:lnTo>
                  <a:lnTo>
                    <a:pt x="68112" y="111829"/>
                  </a:lnTo>
                  <a:cubicBezTo>
                    <a:pt x="69413" y="113111"/>
                    <a:pt x="69793" y="115060"/>
                    <a:pt x="69070" y="116737"/>
                  </a:cubicBezTo>
                  <a:lnTo>
                    <a:pt x="54945" y="150374"/>
                  </a:lnTo>
                  <a:cubicBezTo>
                    <a:pt x="54268" y="152029"/>
                    <a:pt x="52663" y="153115"/>
                    <a:pt x="50875" y="153127"/>
                  </a:cubicBezTo>
                  <a:lnTo>
                    <a:pt x="8978" y="153127"/>
                  </a:lnTo>
                  <a:lnTo>
                    <a:pt x="8978" y="215493"/>
                  </a:lnTo>
                  <a:lnTo>
                    <a:pt x="50994" y="215493"/>
                  </a:lnTo>
                  <a:cubicBezTo>
                    <a:pt x="52708" y="215400"/>
                    <a:pt x="54328" y="216280"/>
                    <a:pt x="55184" y="217768"/>
                  </a:cubicBezTo>
                  <a:lnTo>
                    <a:pt x="68950" y="251405"/>
                  </a:lnTo>
                  <a:cubicBezTo>
                    <a:pt x="69729" y="253114"/>
                    <a:pt x="69346" y="255129"/>
                    <a:pt x="67992" y="256432"/>
                  </a:cubicBezTo>
                  <a:lnTo>
                    <a:pt x="38425" y="286000"/>
                  </a:lnTo>
                  <a:lnTo>
                    <a:pt x="82118" y="329692"/>
                  </a:lnTo>
                  <a:lnTo>
                    <a:pt x="111804" y="300244"/>
                  </a:lnTo>
                  <a:cubicBezTo>
                    <a:pt x="113086" y="298944"/>
                    <a:pt x="115035" y="298564"/>
                    <a:pt x="116712" y="299287"/>
                  </a:cubicBezTo>
                  <a:lnTo>
                    <a:pt x="150349" y="313173"/>
                  </a:lnTo>
                  <a:cubicBezTo>
                    <a:pt x="152026" y="313822"/>
                    <a:pt x="153124" y="315444"/>
                    <a:pt x="153102" y="317242"/>
                  </a:cubicBezTo>
                  <a:lnTo>
                    <a:pt x="153102" y="359139"/>
                  </a:lnTo>
                  <a:lnTo>
                    <a:pt x="214870" y="359139"/>
                  </a:lnTo>
                  <a:lnTo>
                    <a:pt x="214870" y="317242"/>
                  </a:lnTo>
                  <a:cubicBezTo>
                    <a:pt x="214866" y="315421"/>
                    <a:pt x="215949" y="313772"/>
                    <a:pt x="217623" y="313053"/>
                  </a:cubicBezTo>
                  <a:lnTo>
                    <a:pt x="251380" y="299287"/>
                  </a:lnTo>
                  <a:cubicBezTo>
                    <a:pt x="253126" y="298359"/>
                    <a:pt x="255275" y="298701"/>
                    <a:pt x="256647" y="300125"/>
                  </a:cubicBezTo>
                  <a:lnTo>
                    <a:pt x="286214" y="329692"/>
                  </a:lnTo>
                  <a:lnTo>
                    <a:pt x="329907" y="286000"/>
                  </a:lnTo>
                  <a:lnTo>
                    <a:pt x="300220" y="256313"/>
                  </a:lnTo>
                  <a:cubicBezTo>
                    <a:pt x="298919" y="255031"/>
                    <a:pt x="298539" y="253082"/>
                    <a:pt x="299262" y="251405"/>
                  </a:cubicBezTo>
                  <a:lnTo>
                    <a:pt x="313148" y="218247"/>
                  </a:lnTo>
                  <a:cubicBezTo>
                    <a:pt x="313824" y="216591"/>
                    <a:pt x="315430" y="215505"/>
                    <a:pt x="317218" y="215493"/>
                  </a:cubicBezTo>
                  <a:lnTo>
                    <a:pt x="359115" y="215493"/>
                  </a:lnTo>
                  <a:lnTo>
                    <a:pt x="359115" y="153127"/>
                  </a:lnTo>
                  <a:lnTo>
                    <a:pt x="317098" y="153127"/>
                  </a:lnTo>
                  <a:cubicBezTo>
                    <a:pt x="315300" y="153149"/>
                    <a:pt x="313677" y="152051"/>
                    <a:pt x="313028" y="150374"/>
                  </a:cubicBezTo>
                  <a:lnTo>
                    <a:pt x="299142" y="116617"/>
                  </a:lnTo>
                  <a:cubicBezTo>
                    <a:pt x="298419" y="114940"/>
                    <a:pt x="298800" y="112991"/>
                    <a:pt x="300100" y="111709"/>
                  </a:cubicBezTo>
                  <a:lnTo>
                    <a:pt x="329667" y="82142"/>
                  </a:lnTo>
                  <a:lnTo>
                    <a:pt x="285975" y="38450"/>
                  </a:lnTo>
                  <a:lnTo>
                    <a:pt x="256288" y="68137"/>
                  </a:lnTo>
                  <a:cubicBezTo>
                    <a:pt x="255006" y="69437"/>
                    <a:pt x="253057" y="69817"/>
                    <a:pt x="251380" y="69094"/>
                  </a:cubicBezTo>
                  <a:lnTo>
                    <a:pt x="218222" y="54969"/>
                  </a:lnTo>
                  <a:cubicBezTo>
                    <a:pt x="216567" y="54293"/>
                    <a:pt x="215481" y="52687"/>
                    <a:pt x="215469" y="50899"/>
                  </a:cubicBezTo>
                  <a:lnTo>
                    <a:pt x="215469" y="9003"/>
                  </a:lnTo>
                  <a:close/>
                  <a:moveTo>
                    <a:pt x="148673" y="25"/>
                  </a:moveTo>
                  <a:lnTo>
                    <a:pt x="219419" y="25"/>
                  </a:lnTo>
                  <a:cubicBezTo>
                    <a:pt x="221931" y="25"/>
                    <a:pt x="223968" y="2061"/>
                    <a:pt x="223968" y="4573"/>
                  </a:cubicBezTo>
                  <a:lnTo>
                    <a:pt x="223968" y="47907"/>
                  </a:lnTo>
                  <a:lnTo>
                    <a:pt x="252098" y="59877"/>
                  </a:lnTo>
                  <a:lnTo>
                    <a:pt x="282743" y="28874"/>
                  </a:lnTo>
                  <a:cubicBezTo>
                    <a:pt x="284572" y="27200"/>
                    <a:pt x="287377" y="27200"/>
                    <a:pt x="289207" y="28874"/>
                  </a:cubicBezTo>
                  <a:lnTo>
                    <a:pt x="338765" y="78431"/>
                  </a:lnTo>
                  <a:cubicBezTo>
                    <a:pt x="339605" y="79298"/>
                    <a:pt x="340077" y="80456"/>
                    <a:pt x="340081" y="81663"/>
                  </a:cubicBezTo>
                  <a:cubicBezTo>
                    <a:pt x="340085" y="82837"/>
                    <a:pt x="339609" y="83961"/>
                    <a:pt x="338765" y="84776"/>
                  </a:cubicBezTo>
                  <a:lnTo>
                    <a:pt x="308120" y="115540"/>
                  </a:lnTo>
                  <a:lnTo>
                    <a:pt x="320091" y="143670"/>
                  </a:lnTo>
                  <a:lnTo>
                    <a:pt x="363663" y="143670"/>
                  </a:lnTo>
                  <a:cubicBezTo>
                    <a:pt x="363872" y="143664"/>
                    <a:pt x="364082" y="143672"/>
                    <a:pt x="364290" y="143694"/>
                  </a:cubicBezTo>
                  <a:cubicBezTo>
                    <a:pt x="366788" y="143959"/>
                    <a:pt x="368598" y="146200"/>
                    <a:pt x="368332" y="148698"/>
                  </a:cubicBezTo>
                  <a:lnTo>
                    <a:pt x="368332" y="218965"/>
                  </a:lnTo>
                  <a:cubicBezTo>
                    <a:pt x="368333" y="221431"/>
                    <a:pt x="366368" y="223449"/>
                    <a:pt x="363903" y="223514"/>
                  </a:cubicBezTo>
                  <a:lnTo>
                    <a:pt x="320450" y="223514"/>
                  </a:lnTo>
                  <a:lnTo>
                    <a:pt x="308479" y="251644"/>
                  </a:lnTo>
                  <a:lnTo>
                    <a:pt x="339244" y="282289"/>
                  </a:lnTo>
                  <a:cubicBezTo>
                    <a:pt x="340976" y="284095"/>
                    <a:pt x="340976" y="286946"/>
                    <a:pt x="339244" y="288753"/>
                  </a:cubicBezTo>
                  <a:lnTo>
                    <a:pt x="289207" y="338789"/>
                  </a:lnTo>
                  <a:cubicBezTo>
                    <a:pt x="287377" y="340463"/>
                    <a:pt x="284572" y="340463"/>
                    <a:pt x="282743" y="338789"/>
                  </a:cubicBezTo>
                  <a:lnTo>
                    <a:pt x="252098" y="308145"/>
                  </a:lnTo>
                  <a:lnTo>
                    <a:pt x="223968" y="320115"/>
                  </a:lnTo>
                  <a:lnTo>
                    <a:pt x="223968" y="363927"/>
                  </a:lnTo>
                  <a:cubicBezTo>
                    <a:pt x="223903" y="366393"/>
                    <a:pt x="221885" y="368357"/>
                    <a:pt x="219419" y="368356"/>
                  </a:cubicBezTo>
                  <a:lnTo>
                    <a:pt x="148673" y="368356"/>
                  </a:lnTo>
                  <a:cubicBezTo>
                    <a:pt x="146207" y="368357"/>
                    <a:pt x="144190" y="366393"/>
                    <a:pt x="144125" y="363927"/>
                  </a:cubicBezTo>
                  <a:lnTo>
                    <a:pt x="144125" y="320475"/>
                  </a:lnTo>
                  <a:lnTo>
                    <a:pt x="115994" y="308504"/>
                  </a:lnTo>
                  <a:lnTo>
                    <a:pt x="85230" y="339268"/>
                  </a:lnTo>
                  <a:cubicBezTo>
                    <a:pt x="83440" y="340926"/>
                    <a:pt x="80675" y="340926"/>
                    <a:pt x="78885" y="339268"/>
                  </a:cubicBezTo>
                  <a:lnTo>
                    <a:pt x="28849" y="289232"/>
                  </a:lnTo>
                  <a:cubicBezTo>
                    <a:pt x="27175" y="287402"/>
                    <a:pt x="27175" y="284597"/>
                    <a:pt x="28849" y="282768"/>
                  </a:cubicBezTo>
                  <a:lnTo>
                    <a:pt x="59852" y="251644"/>
                  </a:lnTo>
                  <a:lnTo>
                    <a:pt x="47882" y="223514"/>
                  </a:lnTo>
                  <a:lnTo>
                    <a:pt x="4549" y="223514"/>
                  </a:lnTo>
                  <a:cubicBezTo>
                    <a:pt x="2037" y="223514"/>
                    <a:pt x="0" y="221477"/>
                    <a:pt x="0" y="218965"/>
                  </a:cubicBezTo>
                  <a:lnTo>
                    <a:pt x="0" y="148219"/>
                  </a:lnTo>
                  <a:cubicBezTo>
                    <a:pt x="0" y="145707"/>
                    <a:pt x="2037" y="143670"/>
                    <a:pt x="4549" y="143670"/>
                  </a:cubicBezTo>
                  <a:lnTo>
                    <a:pt x="47882" y="143670"/>
                  </a:lnTo>
                  <a:lnTo>
                    <a:pt x="59852" y="116019"/>
                  </a:lnTo>
                  <a:lnTo>
                    <a:pt x="28849" y="85255"/>
                  </a:lnTo>
                  <a:cubicBezTo>
                    <a:pt x="27191" y="83465"/>
                    <a:pt x="27191" y="80700"/>
                    <a:pt x="28849" y="78910"/>
                  </a:cubicBezTo>
                  <a:lnTo>
                    <a:pt x="78885" y="28874"/>
                  </a:lnTo>
                  <a:cubicBezTo>
                    <a:pt x="80675" y="27216"/>
                    <a:pt x="83440" y="27216"/>
                    <a:pt x="85230" y="28874"/>
                  </a:cubicBezTo>
                  <a:lnTo>
                    <a:pt x="115994" y="59877"/>
                  </a:lnTo>
                  <a:lnTo>
                    <a:pt x="143646" y="47907"/>
                  </a:lnTo>
                  <a:lnTo>
                    <a:pt x="143646" y="4573"/>
                  </a:lnTo>
                  <a:cubicBezTo>
                    <a:pt x="143645" y="4405"/>
                    <a:pt x="143653" y="4237"/>
                    <a:pt x="143671" y="4069"/>
                  </a:cubicBezTo>
                  <a:cubicBezTo>
                    <a:pt x="143936" y="1571"/>
                    <a:pt x="146175" y="-240"/>
                    <a:pt x="148673" y="25"/>
                  </a:cubicBezTo>
                  <a:close/>
                </a:path>
              </a:pathLst>
            </a:custGeom>
            <a:solidFill>
              <a:schemeClr val="bg1"/>
            </a:solidFill>
            <a:ln w="11676" cap="flat">
              <a:noFill/>
              <a:prstDash val="solid"/>
              <a:miter/>
            </a:ln>
          </p:spPr>
          <p:txBody>
            <a:bodyPr rtlCol="0" anchor="ctr"/>
            <a:lstStyle/>
            <a:p>
              <a:pPr defTabSz="342923">
                <a:defRPr/>
              </a:pPr>
              <a:endParaRPr lang="en-US" sz="1000" dirty="0">
                <a:solidFill>
                  <a:srgbClr val="000000"/>
                </a:solidFill>
                <a:latin typeface="+mj-lt"/>
              </a:endParaRPr>
            </a:p>
          </p:txBody>
        </p:sp>
      </p:grpSp>
      <p:sp>
        <p:nvSpPr>
          <p:cNvPr id="4" name="Rectangle 3">
            <a:extLst>
              <a:ext uri="{FF2B5EF4-FFF2-40B4-BE49-F238E27FC236}">
                <a16:creationId xmlns:a16="http://schemas.microsoft.com/office/drawing/2014/main" id="{F46A0BD0-483C-F597-64A8-6E3E1F124D6D}"/>
              </a:ext>
            </a:extLst>
          </p:cNvPr>
          <p:cNvSpPr/>
          <p:nvPr/>
        </p:nvSpPr>
        <p:spPr bwMode="auto">
          <a:xfrm>
            <a:off x="7593278" y="1767218"/>
            <a:ext cx="1740007" cy="928080"/>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 name="connsiteX4" fmla="*/ 0 w 914400"/>
              <a:gd name="connsiteY4" fmla="*/ 0 h 914400"/>
              <a:gd name="connsiteX0" fmla="*/ 914400 w 1005840"/>
              <a:gd name="connsiteY0" fmla="*/ 914400 h 1005840"/>
              <a:gd name="connsiteX1" fmla="*/ 0 w 1005840"/>
              <a:gd name="connsiteY1" fmla="*/ 914400 h 1005840"/>
              <a:gd name="connsiteX2" fmla="*/ 0 w 1005840"/>
              <a:gd name="connsiteY2" fmla="*/ 0 h 1005840"/>
              <a:gd name="connsiteX3" fmla="*/ 914400 w 1005840"/>
              <a:gd name="connsiteY3" fmla="*/ 0 h 1005840"/>
              <a:gd name="connsiteX4" fmla="*/ 1005840 w 1005840"/>
              <a:gd name="connsiteY4" fmla="*/ 1005840 h 1005840"/>
              <a:gd name="connsiteX0" fmla="*/ 914400 w 914400"/>
              <a:gd name="connsiteY0" fmla="*/ 914400 h 914400"/>
              <a:gd name="connsiteX1" fmla="*/ 0 w 914400"/>
              <a:gd name="connsiteY1" fmla="*/ 914400 h 914400"/>
              <a:gd name="connsiteX2" fmla="*/ 0 w 914400"/>
              <a:gd name="connsiteY2" fmla="*/ 0 h 914400"/>
              <a:gd name="connsiteX3" fmla="*/ 914400 w 914400"/>
              <a:gd name="connsiteY3" fmla="*/ 0 h 914400"/>
              <a:gd name="connsiteX0" fmla="*/ 0 w 914400"/>
              <a:gd name="connsiteY0" fmla="*/ 914400 h 914400"/>
              <a:gd name="connsiteX1" fmla="*/ 0 w 914400"/>
              <a:gd name="connsiteY1" fmla="*/ 0 h 914400"/>
              <a:gd name="connsiteX2" fmla="*/ 914400 w 914400"/>
              <a:gd name="connsiteY2" fmla="*/ 0 h 914400"/>
            </a:gdLst>
            <a:ahLst/>
            <a:cxnLst>
              <a:cxn ang="0">
                <a:pos x="connsiteX0" y="connsiteY0"/>
              </a:cxn>
              <a:cxn ang="0">
                <a:pos x="connsiteX1" y="connsiteY1"/>
              </a:cxn>
              <a:cxn ang="0">
                <a:pos x="connsiteX2" y="connsiteY2"/>
              </a:cxn>
            </a:cxnLst>
            <a:rect l="l" t="t" r="r" b="b"/>
            <a:pathLst>
              <a:path w="914400" h="914400">
                <a:moveTo>
                  <a:pt x="0" y="914400"/>
                </a:moveTo>
                <a:lnTo>
                  <a:pt x="0" y="0"/>
                </a:lnTo>
                <a:lnTo>
                  <a:pt x="914400" y="0"/>
                </a:lnTo>
              </a:path>
            </a:pathLst>
          </a:custGeom>
          <a:ln>
            <a:headEnd type="none" w="med" len="med"/>
            <a:tailEnd type="oval" w="med" len="med"/>
          </a:ln>
          <a:effectLst/>
        </p:spPr>
        <p:style>
          <a:lnRef idx="2">
            <a:schemeClr val="accent1"/>
          </a:lnRef>
          <a:fillRef idx="0">
            <a:schemeClr val="accent1"/>
          </a:fillRef>
          <a:effectRef idx="1">
            <a:schemeClr val="accent1"/>
          </a:effectRef>
          <a:fontRef idx="minor">
            <a:schemeClr val="tx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US" sz="700" dirty="0">
              <a:solidFill>
                <a:schemeClr val="bg1"/>
              </a:solidFill>
            </a:endParaRPr>
          </a:p>
        </p:txBody>
      </p:sp>
      <p:sp>
        <p:nvSpPr>
          <p:cNvPr id="7" name="Rectangle 6">
            <a:extLst>
              <a:ext uri="{FF2B5EF4-FFF2-40B4-BE49-F238E27FC236}">
                <a16:creationId xmlns:a16="http://schemas.microsoft.com/office/drawing/2014/main" id="{63A19018-6E9A-7CF5-1A05-3B695602E649}"/>
              </a:ext>
            </a:extLst>
          </p:cNvPr>
          <p:cNvSpPr/>
          <p:nvPr/>
        </p:nvSpPr>
        <p:spPr bwMode="auto">
          <a:xfrm>
            <a:off x="8857097" y="3830857"/>
            <a:ext cx="476188" cy="1187460"/>
          </a:xfrm>
          <a:custGeom>
            <a:avLst/>
            <a:gdLst>
              <a:gd name="connsiteX0" fmla="*/ 0 w 1155934"/>
              <a:gd name="connsiteY0" fmla="*/ 0 h 2162477"/>
              <a:gd name="connsiteX1" fmla="*/ 1155934 w 1155934"/>
              <a:gd name="connsiteY1" fmla="*/ 0 h 2162477"/>
              <a:gd name="connsiteX2" fmla="*/ 1155934 w 1155934"/>
              <a:gd name="connsiteY2" fmla="*/ 2162477 h 2162477"/>
              <a:gd name="connsiteX3" fmla="*/ 0 w 1155934"/>
              <a:gd name="connsiteY3" fmla="*/ 2162477 h 2162477"/>
              <a:gd name="connsiteX4" fmla="*/ 0 w 1155934"/>
              <a:gd name="connsiteY4" fmla="*/ 0 h 2162477"/>
              <a:gd name="connsiteX0" fmla="*/ 0 w 1185622"/>
              <a:gd name="connsiteY0" fmla="*/ 0 h 2162477"/>
              <a:gd name="connsiteX1" fmla="*/ 1155934 w 1185622"/>
              <a:gd name="connsiteY1" fmla="*/ 0 h 2162477"/>
              <a:gd name="connsiteX2" fmla="*/ 1185622 w 1185622"/>
              <a:gd name="connsiteY2" fmla="*/ 1013268 h 2162477"/>
              <a:gd name="connsiteX3" fmla="*/ 1155934 w 1185622"/>
              <a:gd name="connsiteY3" fmla="*/ 2162477 h 2162477"/>
              <a:gd name="connsiteX4" fmla="*/ 0 w 1185622"/>
              <a:gd name="connsiteY4" fmla="*/ 2162477 h 2162477"/>
              <a:gd name="connsiteX5" fmla="*/ 0 w 1185622"/>
              <a:gd name="connsiteY5" fmla="*/ 0 h 2162477"/>
              <a:gd name="connsiteX0" fmla="*/ 0 w 1155934"/>
              <a:gd name="connsiteY0" fmla="*/ 0 h 2162477"/>
              <a:gd name="connsiteX1" fmla="*/ 1155934 w 1155934"/>
              <a:gd name="connsiteY1" fmla="*/ 0 h 2162477"/>
              <a:gd name="connsiteX2" fmla="*/ 1155934 w 1155934"/>
              <a:gd name="connsiteY2" fmla="*/ 2162477 h 2162477"/>
              <a:gd name="connsiteX3" fmla="*/ 0 w 1155934"/>
              <a:gd name="connsiteY3" fmla="*/ 2162477 h 2162477"/>
              <a:gd name="connsiteX4" fmla="*/ 0 w 1155934"/>
              <a:gd name="connsiteY4" fmla="*/ 0 h 2162477"/>
              <a:gd name="connsiteX0" fmla="*/ 0 w 1185622"/>
              <a:gd name="connsiteY0" fmla="*/ 0 h 2162477"/>
              <a:gd name="connsiteX1" fmla="*/ 1155934 w 1185622"/>
              <a:gd name="connsiteY1" fmla="*/ 0 h 2162477"/>
              <a:gd name="connsiteX2" fmla="*/ 1185622 w 1185622"/>
              <a:gd name="connsiteY2" fmla="*/ 1038668 h 2162477"/>
              <a:gd name="connsiteX3" fmla="*/ 1155934 w 1185622"/>
              <a:gd name="connsiteY3" fmla="*/ 2162477 h 2162477"/>
              <a:gd name="connsiteX4" fmla="*/ 0 w 1185622"/>
              <a:gd name="connsiteY4" fmla="*/ 2162477 h 2162477"/>
              <a:gd name="connsiteX5" fmla="*/ 0 w 1185622"/>
              <a:gd name="connsiteY5" fmla="*/ 0 h 2162477"/>
              <a:gd name="connsiteX0" fmla="*/ 1185622 w 1277062"/>
              <a:gd name="connsiteY0" fmla="*/ 1038668 h 2162477"/>
              <a:gd name="connsiteX1" fmla="*/ 1155934 w 1277062"/>
              <a:gd name="connsiteY1" fmla="*/ 2162477 h 2162477"/>
              <a:gd name="connsiteX2" fmla="*/ 0 w 1277062"/>
              <a:gd name="connsiteY2" fmla="*/ 2162477 h 2162477"/>
              <a:gd name="connsiteX3" fmla="*/ 0 w 1277062"/>
              <a:gd name="connsiteY3" fmla="*/ 0 h 2162477"/>
              <a:gd name="connsiteX4" fmla="*/ 1155934 w 1277062"/>
              <a:gd name="connsiteY4" fmla="*/ 0 h 2162477"/>
              <a:gd name="connsiteX5" fmla="*/ 1277062 w 1277062"/>
              <a:gd name="connsiteY5" fmla="*/ 1130108 h 2162477"/>
              <a:gd name="connsiteX0" fmla="*/ 1185622 w 1185622"/>
              <a:gd name="connsiteY0" fmla="*/ 1038668 h 2162477"/>
              <a:gd name="connsiteX1" fmla="*/ 1155934 w 1185622"/>
              <a:gd name="connsiteY1" fmla="*/ 2162477 h 2162477"/>
              <a:gd name="connsiteX2" fmla="*/ 0 w 1185622"/>
              <a:gd name="connsiteY2" fmla="*/ 2162477 h 2162477"/>
              <a:gd name="connsiteX3" fmla="*/ 0 w 1185622"/>
              <a:gd name="connsiteY3" fmla="*/ 0 h 2162477"/>
              <a:gd name="connsiteX4" fmla="*/ 1155934 w 1185622"/>
              <a:gd name="connsiteY4" fmla="*/ 0 h 2162477"/>
              <a:gd name="connsiteX0" fmla="*/ 1155934 w 1155934"/>
              <a:gd name="connsiteY0" fmla="*/ 2162477 h 2162477"/>
              <a:gd name="connsiteX1" fmla="*/ 0 w 1155934"/>
              <a:gd name="connsiteY1" fmla="*/ 2162477 h 2162477"/>
              <a:gd name="connsiteX2" fmla="*/ 0 w 1155934"/>
              <a:gd name="connsiteY2" fmla="*/ 0 h 2162477"/>
              <a:gd name="connsiteX3" fmla="*/ 1155934 w 1155934"/>
              <a:gd name="connsiteY3" fmla="*/ 0 h 2162477"/>
            </a:gdLst>
            <a:ahLst/>
            <a:cxnLst>
              <a:cxn ang="0">
                <a:pos x="connsiteX0" y="connsiteY0"/>
              </a:cxn>
              <a:cxn ang="0">
                <a:pos x="connsiteX1" y="connsiteY1"/>
              </a:cxn>
              <a:cxn ang="0">
                <a:pos x="connsiteX2" y="connsiteY2"/>
              </a:cxn>
              <a:cxn ang="0">
                <a:pos x="connsiteX3" y="connsiteY3"/>
              </a:cxn>
            </a:cxnLst>
            <a:rect l="l" t="t" r="r" b="b"/>
            <a:pathLst>
              <a:path w="1155934" h="2162477">
                <a:moveTo>
                  <a:pt x="1155934" y="2162477"/>
                </a:moveTo>
                <a:lnTo>
                  <a:pt x="0" y="2162477"/>
                </a:lnTo>
                <a:lnTo>
                  <a:pt x="0" y="0"/>
                </a:lnTo>
                <a:lnTo>
                  <a:pt x="1155934" y="0"/>
                </a:lnTo>
              </a:path>
            </a:pathLst>
          </a:custGeom>
          <a:ln>
            <a:headEnd type="oval" w="med" len="med"/>
            <a:tailEnd type="oval" w="med" len="med"/>
          </a:ln>
          <a:effectLst/>
        </p:spPr>
        <p:style>
          <a:lnRef idx="2">
            <a:schemeClr val="accent1"/>
          </a:lnRef>
          <a:fillRef idx="0">
            <a:schemeClr val="accent1"/>
          </a:fillRef>
          <a:effectRef idx="1">
            <a:schemeClr val="accent1"/>
          </a:effectRef>
          <a:fontRef idx="minor">
            <a:schemeClr val="tx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US" sz="700" dirty="0">
              <a:solidFill>
                <a:schemeClr val="bg1"/>
              </a:solidFill>
            </a:endParaRPr>
          </a:p>
        </p:txBody>
      </p:sp>
      <p:cxnSp>
        <p:nvCxnSpPr>
          <p:cNvPr id="8" name="Straight Connector 7">
            <a:extLst>
              <a:ext uri="{FF2B5EF4-FFF2-40B4-BE49-F238E27FC236}">
                <a16:creationId xmlns:a16="http://schemas.microsoft.com/office/drawing/2014/main" id="{B64B84D5-3DEB-3532-8DCE-A8C31BF05D57}"/>
              </a:ext>
            </a:extLst>
          </p:cNvPr>
          <p:cNvCxnSpPr>
            <a:cxnSpLocks/>
          </p:cNvCxnSpPr>
          <p:nvPr/>
        </p:nvCxnSpPr>
        <p:spPr bwMode="auto">
          <a:xfrm>
            <a:off x="7271803" y="4791794"/>
            <a:ext cx="1585294"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46686878"/>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AB00A-5207-4845-B6EE-51E203798350}"/>
              </a:ext>
            </a:extLst>
          </p:cNvPr>
          <p:cNvSpPr>
            <a:spLocks noGrp="1"/>
          </p:cNvSpPr>
          <p:nvPr>
            <p:ph type="title"/>
          </p:nvPr>
        </p:nvSpPr>
        <p:spPr>
          <a:xfrm>
            <a:off x="304800" y="268224"/>
            <a:ext cx="10554587" cy="508000"/>
          </a:xfrm>
        </p:spPr>
        <p:txBody>
          <a:bodyPr>
            <a:noAutofit/>
          </a:bodyPr>
          <a:lstStyle/>
          <a:p>
            <a:r>
              <a:rPr lang="en-US" sz="3600" b="1" dirty="0">
                <a:solidFill>
                  <a:schemeClr val="tx2">
                    <a:lumMod val="50000"/>
                    <a:lumOff val="50000"/>
                  </a:schemeClr>
                </a:solidFill>
                <a:latin typeface="IBM Plex Sans" panose="020B0503050203000203" pitchFamily="34" charset="0"/>
              </a:rPr>
              <a:t>Portfolios of IBM TRIRIGA </a:t>
            </a:r>
          </a:p>
        </p:txBody>
      </p:sp>
      <p:sp>
        <p:nvSpPr>
          <p:cNvPr id="3" name="Slide Number Placeholder 2">
            <a:extLst>
              <a:ext uri="{FF2B5EF4-FFF2-40B4-BE49-F238E27FC236}">
                <a16:creationId xmlns:a16="http://schemas.microsoft.com/office/drawing/2014/main" id="{2B21092C-3D90-D649-B500-81172F22F437}"/>
              </a:ext>
            </a:extLst>
          </p:cNvPr>
          <p:cNvSpPr>
            <a:spLocks noGrp="1"/>
          </p:cNvSpPr>
          <p:nvPr>
            <p:ph type="sldNum" sz="quarter" idx="10"/>
          </p:nvPr>
        </p:nvSpPr>
        <p:spPr/>
        <p:txBody>
          <a:bodyPr/>
          <a:lstStyle/>
          <a:p>
            <a:fld id="{3FD999D4-B456-9943-89B7-30D56181CE18}" type="slidenum">
              <a:rPr lang="en-US" smtClean="0"/>
              <a:t>5</a:t>
            </a:fld>
            <a:endParaRPr lang="en-US"/>
          </a:p>
        </p:txBody>
      </p:sp>
      <p:pic>
        <p:nvPicPr>
          <p:cNvPr id="65" name="Picture 64">
            <a:extLst>
              <a:ext uri="{FF2B5EF4-FFF2-40B4-BE49-F238E27FC236}">
                <a16:creationId xmlns:a16="http://schemas.microsoft.com/office/drawing/2014/main" id="{D69BF03A-75CE-693D-2C49-0634655C44F1}"/>
              </a:ext>
            </a:extLst>
          </p:cNvPr>
          <p:cNvPicPr>
            <a:picLocks noChangeAspect="1"/>
          </p:cNvPicPr>
          <p:nvPr/>
        </p:nvPicPr>
        <p:blipFill>
          <a:blip r:embed="rId3"/>
          <a:stretch>
            <a:fillRect/>
          </a:stretch>
        </p:blipFill>
        <p:spPr>
          <a:xfrm>
            <a:off x="508589" y="776224"/>
            <a:ext cx="10793819" cy="5974296"/>
          </a:xfrm>
          <a:prstGeom prst="rect">
            <a:avLst/>
          </a:prstGeom>
        </p:spPr>
      </p:pic>
    </p:spTree>
    <p:extLst>
      <p:ext uri="{BB962C8B-B14F-4D97-AF65-F5344CB8AC3E}">
        <p14:creationId xmlns:p14="http://schemas.microsoft.com/office/powerpoint/2010/main" val="2723315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B47D6-3C73-41E3-B372-BE735B276DF9}"/>
              </a:ext>
            </a:extLst>
          </p:cNvPr>
          <p:cNvSpPr>
            <a:spLocks noGrp="1"/>
          </p:cNvSpPr>
          <p:nvPr>
            <p:ph type="title"/>
          </p:nvPr>
        </p:nvSpPr>
        <p:spPr>
          <a:xfrm>
            <a:off x="281173" y="268636"/>
            <a:ext cx="9139468" cy="1072756"/>
          </a:xfrm>
        </p:spPr>
        <p:txBody>
          <a:bodyPr/>
          <a:lstStyle/>
          <a:p>
            <a:r>
              <a:rPr lang="en-US" sz="2400" dirty="0">
                <a:latin typeface="IBM Plex Sans Light" panose="020B0403050203000203" pitchFamily="34" charset="0"/>
              </a:rPr>
              <a:t>Transitioning to ALM introduces new possibilities to extend </a:t>
            </a:r>
            <a:r>
              <a:rPr lang="en-US" sz="2400" dirty="0">
                <a:solidFill>
                  <a:schemeClr val="accent1"/>
                </a:solidFill>
                <a:latin typeface="IBM Plex Sans Light" panose="020B0403050203000203" pitchFamily="34" charset="0"/>
              </a:rPr>
              <a:t>sustainability, maintenance and asset management </a:t>
            </a:r>
            <a:r>
              <a:rPr lang="en-US" sz="2400" dirty="0">
                <a:latin typeface="IBM Plex Sans Light" panose="020B0403050203000203" pitchFamily="34" charset="0"/>
              </a:rPr>
              <a:t>capabilities</a:t>
            </a:r>
            <a:endParaRPr lang="en-US" sz="2400" dirty="0">
              <a:solidFill>
                <a:schemeClr val="accent2"/>
              </a:solidFill>
              <a:latin typeface="IBM Plex Sans Light" panose="020B0403050203000203" pitchFamily="34" charset="0"/>
            </a:endParaRPr>
          </a:p>
        </p:txBody>
      </p:sp>
      <p:sp>
        <p:nvSpPr>
          <p:cNvPr id="4" name="Slide Number Placeholder 3">
            <a:extLst>
              <a:ext uri="{FF2B5EF4-FFF2-40B4-BE49-F238E27FC236}">
                <a16:creationId xmlns:a16="http://schemas.microsoft.com/office/drawing/2014/main" id="{ADDCBB6A-59CB-4863-B801-143AF37F32E0}"/>
              </a:ext>
            </a:extLst>
          </p:cNvPr>
          <p:cNvSpPr>
            <a:spLocks noGrp="1"/>
          </p:cNvSpPr>
          <p:nvPr>
            <p:ph type="sldNum" sz="quarter" idx="11"/>
          </p:nvPr>
        </p:nvSpPr>
        <p:spPr>
          <a:xfrm>
            <a:off x="11781285" y="6469112"/>
            <a:ext cx="123415" cy="123094"/>
          </a:xfrm>
        </p:spPr>
        <p:txBody>
          <a:bodyPr/>
          <a:lstStyle/>
          <a:p>
            <a:fld id="{59395FB3-9C97-154F-86B2-7E381B951268}" type="slidenum">
              <a:rPr lang="en-US" smtClean="0">
                <a:latin typeface="IBM Plex Sans Light" panose="020B0403050203000203" pitchFamily="34" charset="0"/>
              </a:rPr>
              <a:pPr/>
              <a:t>6</a:t>
            </a:fld>
            <a:endParaRPr lang="en-US" dirty="0">
              <a:latin typeface="IBM Plex Sans Light" panose="020B0403050203000203" pitchFamily="34" charset="0"/>
            </a:endParaRPr>
          </a:p>
        </p:txBody>
      </p:sp>
      <p:sp>
        <p:nvSpPr>
          <p:cNvPr id="6" name="Arrow: Chevron 7">
            <a:extLst>
              <a:ext uri="{FF2B5EF4-FFF2-40B4-BE49-F238E27FC236}">
                <a16:creationId xmlns:a16="http://schemas.microsoft.com/office/drawing/2014/main" id="{3349D388-42FE-447E-9814-99B9FB197EE6}"/>
              </a:ext>
            </a:extLst>
          </p:cNvPr>
          <p:cNvSpPr/>
          <p:nvPr/>
        </p:nvSpPr>
        <p:spPr>
          <a:xfrm>
            <a:off x="188082" y="1556911"/>
            <a:ext cx="5320973" cy="788692"/>
          </a:xfrm>
          <a:prstGeom prst="chevron">
            <a:avLst>
              <a:gd name="adj" fmla="val 30194"/>
            </a:avLst>
          </a:prstGeom>
          <a:solidFill>
            <a:schemeClr val="accent1">
              <a:lumMod val="50000"/>
            </a:schemeClr>
          </a:solidFill>
          <a:ln w="22225">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US" sz="4799">
              <a:latin typeface="IBM Plex Sans Light" panose="020B0403050203000203" pitchFamily="34" charset="0"/>
            </a:endParaRPr>
          </a:p>
        </p:txBody>
      </p:sp>
      <p:sp>
        <p:nvSpPr>
          <p:cNvPr id="7" name="Arrow: Chevron 6">
            <a:extLst>
              <a:ext uri="{FF2B5EF4-FFF2-40B4-BE49-F238E27FC236}">
                <a16:creationId xmlns:a16="http://schemas.microsoft.com/office/drawing/2014/main" id="{F4E92DC1-45DD-4079-891E-C554A31468C4}"/>
              </a:ext>
            </a:extLst>
          </p:cNvPr>
          <p:cNvSpPr/>
          <p:nvPr/>
        </p:nvSpPr>
        <p:spPr>
          <a:xfrm>
            <a:off x="5253813" y="1556911"/>
            <a:ext cx="5421409" cy="788692"/>
          </a:xfrm>
          <a:prstGeom prst="chevron">
            <a:avLst>
              <a:gd name="adj" fmla="val 30194"/>
            </a:avLst>
          </a:prstGeom>
          <a:solidFill>
            <a:schemeClr val="accent1">
              <a:lumMod val="75000"/>
            </a:schemeClr>
          </a:solidFill>
          <a:ln w="22225">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US" sz="4799">
              <a:latin typeface="IBM Plex Sans Light" panose="020B0403050203000203" pitchFamily="34" charset="0"/>
            </a:endParaRPr>
          </a:p>
        </p:txBody>
      </p:sp>
      <p:sp>
        <p:nvSpPr>
          <p:cNvPr id="8" name="Arrow: Chevron 24">
            <a:extLst>
              <a:ext uri="{FF2B5EF4-FFF2-40B4-BE49-F238E27FC236}">
                <a16:creationId xmlns:a16="http://schemas.microsoft.com/office/drawing/2014/main" id="{C66DDB32-24E7-4448-8A42-C122558DA5BC}"/>
              </a:ext>
            </a:extLst>
          </p:cNvPr>
          <p:cNvSpPr/>
          <p:nvPr/>
        </p:nvSpPr>
        <p:spPr>
          <a:xfrm>
            <a:off x="10357501" y="1556911"/>
            <a:ext cx="1656508" cy="788692"/>
          </a:xfrm>
          <a:prstGeom prst="chevron">
            <a:avLst>
              <a:gd name="adj" fmla="val 30194"/>
            </a:avLst>
          </a:prstGeom>
          <a:solidFill>
            <a:schemeClr val="accent1"/>
          </a:solidFill>
          <a:ln w="22225">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US" sz="4799">
              <a:latin typeface="IBM Plex Sans Light" panose="020B0403050203000203" pitchFamily="34" charset="0"/>
            </a:endParaRPr>
          </a:p>
        </p:txBody>
      </p:sp>
      <p:sp>
        <p:nvSpPr>
          <p:cNvPr id="10" name="TextBox 9">
            <a:extLst>
              <a:ext uri="{FF2B5EF4-FFF2-40B4-BE49-F238E27FC236}">
                <a16:creationId xmlns:a16="http://schemas.microsoft.com/office/drawing/2014/main" id="{E991EE3D-6EB3-4A23-BB44-DE5F756F66B9}"/>
              </a:ext>
            </a:extLst>
          </p:cNvPr>
          <p:cNvSpPr txBox="1"/>
          <p:nvPr/>
        </p:nvSpPr>
        <p:spPr>
          <a:xfrm>
            <a:off x="532897" y="1854309"/>
            <a:ext cx="1057652" cy="193899"/>
          </a:xfrm>
          <a:prstGeom prst="rect">
            <a:avLst/>
          </a:prstGeom>
          <a:noFill/>
        </p:spPr>
        <p:txBody>
          <a:bodyPr wrap="square" lIns="0" tIns="0" rIns="0" bIns="0" rtlCol="0" anchor="ctr">
            <a:spAutoFit/>
          </a:bodyPr>
          <a:lstStyle/>
          <a:p>
            <a:pPr algn="ctr" defTabSz="914473">
              <a:lnSpc>
                <a:spcPct val="90000"/>
              </a:lnSpc>
              <a:defRPr/>
            </a:pPr>
            <a:r>
              <a:rPr lang="en-US" sz="1400" dirty="0">
                <a:ln w="0"/>
                <a:solidFill>
                  <a:srgbClr val="FFFFFF"/>
                </a:solidFill>
                <a:latin typeface="IBM Plex Sans Medm" panose="020B0503050203000203" pitchFamily="34" charset="0"/>
                <a:cs typeface="Arial"/>
              </a:rPr>
              <a:t>Acquire </a:t>
            </a:r>
          </a:p>
        </p:txBody>
      </p:sp>
      <p:sp>
        <p:nvSpPr>
          <p:cNvPr id="11" name="TextBox 10">
            <a:extLst>
              <a:ext uri="{FF2B5EF4-FFF2-40B4-BE49-F238E27FC236}">
                <a16:creationId xmlns:a16="http://schemas.microsoft.com/office/drawing/2014/main" id="{7072BF69-0104-489A-9A06-2DF65B2231B4}"/>
              </a:ext>
            </a:extLst>
          </p:cNvPr>
          <p:cNvSpPr txBox="1"/>
          <p:nvPr/>
        </p:nvSpPr>
        <p:spPr>
          <a:xfrm>
            <a:off x="2114168" y="1854309"/>
            <a:ext cx="1301023" cy="193899"/>
          </a:xfrm>
          <a:prstGeom prst="rect">
            <a:avLst/>
          </a:prstGeom>
          <a:noFill/>
        </p:spPr>
        <p:txBody>
          <a:bodyPr wrap="square" lIns="0" tIns="0" rIns="0" bIns="0" rtlCol="0" anchor="ctr">
            <a:spAutoFit/>
          </a:bodyPr>
          <a:lstStyle>
            <a:defPPr>
              <a:defRPr lang="en-US"/>
            </a:defPPr>
            <a:lvl1pPr marR="0" lvl="0" indent="0" algn="ctr" fontAlgn="auto">
              <a:lnSpc>
                <a:spcPct val="90000"/>
              </a:lnSpc>
              <a:spcBef>
                <a:spcPts val="0"/>
              </a:spcBef>
              <a:spcAft>
                <a:spcPts val="0"/>
              </a:spcAft>
              <a:buClrTx/>
              <a:buSzTx/>
              <a:buFontTx/>
              <a:buNone/>
              <a:tabLst/>
              <a:defRPr kumimoji="0" sz="1200" b="0" i="0" u="none" strike="noStrike" cap="none" spc="0" normalizeH="0" baseline="0">
                <a:ln w="0"/>
                <a:solidFill>
                  <a:srgbClr val="FFFFFF"/>
                </a:solidFill>
                <a:effectLst/>
                <a:uLnTx/>
                <a:uFillTx/>
                <a:cs typeface="Arial"/>
              </a:defRPr>
            </a:lvl1pPr>
          </a:lstStyle>
          <a:p>
            <a:r>
              <a:rPr lang="en-US" sz="1400" dirty="0">
                <a:latin typeface="IBM Plex Sans Medm" panose="020B0503050203000203" pitchFamily="34" charset="0"/>
              </a:rPr>
              <a:t>Build-out </a:t>
            </a:r>
          </a:p>
        </p:txBody>
      </p:sp>
      <p:sp>
        <p:nvSpPr>
          <p:cNvPr id="13" name="TextBox 12">
            <a:extLst>
              <a:ext uri="{FF2B5EF4-FFF2-40B4-BE49-F238E27FC236}">
                <a16:creationId xmlns:a16="http://schemas.microsoft.com/office/drawing/2014/main" id="{23F395F2-7F13-4E9F-BB48-98F3F7C1C729}"/>
              </a:ext>
            </a:extLst>
          </p:cNvPr>
          <p:cNvSpPr txBox="1"/>
          <p:nvPr/>
        </p:nvSpPr>
        <p:spPr>
          <a:xfrm>
            <a:off x="5508364" y="1757360"/>
            <a:ext cx="1262366" cy="387798"/>
          </a:xfrm>
          <a:prstGeom prst="rect">
            <a:avLst/>
          </a:prstGeom>
          <a:noFill/>
        </p:spPr>
        <p:txBody>
          <a:bodyPr wrap="square" lIns="0" tIns="0" rIns="0" bIns="0" rtlCol="0" anchor="ctr">
            <a:spAutoFit/>
          </a:bodyPr>
          <a:lstStyle/>
          <a:p>
            <a:pPr algn="ctr" defTabSz="914473">
              <a:lnSpc>
                <a:spcPct val="90000"/>
              </a:lnSpc>
              <a:defRPr/>
            </a:pPr>
            <a:r>
              <a:rPr lang="en-US" sz="1400" dirty="0">
                <a:ln w="0"/>
                <a:solidFill>
                  <a:srgbClr val="FFFFFF"/>
                </a:solidFill>
                <a:latin typeface="IBM Plex Sans Medm" panose="020B0503050203000203" pitchFamily="34" charset="0"/>
                <a:cs typeface="Arial"/>
              </a:rPr>
              <a:t>Administer Real Estate</a:t>
            </a:r>
          </a:p>
        </p:txBody>
      </p:sp>
      <p:sp>
        <p:nvSpPr>
          <p:cNvPr id="14" name="TextBox 13">
            <a:extLst>
              <a:ext uri="{FF2B5EF4-FFF2-40B4-BE49-F238E27FC236}">
                <a16:creationId xmlns:a16="http://schemas.microsoft.com/office/drawing/2014/main" id="{D8E2AEB7-4E96-448A-B987-64C4BFBDBD32}"/>
              </a:ext>
            </a:extLst>
          </p:cNvPr>
          <p:cNvSpPr txBox="1"/>
          <p:nvPr/>
        </p:nvSpPr>
        <p:spPr>
          <a:xfrm>
            <a:off x="3862337" y="1757360"/>
            <a:ext cx="1165863" cy="387798"/>
          </a:xfrm>
          <a:prstGeom prst="rect">
            <a:avLst/>
          </a:prstGeom>
          <a:noFill/>
        </p:spPr>
        <p:txBody>
          <a:bodyPr wrap="square" lIns="0" tIns="0" rIns="0" bIns="0" rtlCol="0" anchor="ctr">
            <a:spAutoFit/>
          </a:bodyPr>
          <a:lstStyle/>
          <a:p>
            <a:pPr algn="ctr" defTabSz="914473">
              <a:lnSpc>
                <a:spcPct val="90000"/>
              </a:lnSpc>
              <a:defRPr/>
            </a:pPr>
            <a:r>
              <a:rPr lang="en-US" sz="1400" dirty="0">
                <a:ln w="0"/>
                <a:solidFill>
                  <a:srgbClr val="FFFFFF"/>
                </a:solidFill>
                <a:latin typeface="IBM Plex Sans Medm" panose="020B0503050203000203" pitchFamily="34" charset="0"/>
                <a:cs typeface="Arial"/>
              </a:rPr>
              <a:t>Populate Portfolio Data</a:t>
            </a:r>
          </a:p>
        </p:txBody>
      </p:sp>
      <p:sp>
        <p:nvSpPr>
          <p:cNvPr id="15" name="TextBox 14">
            <a:extLst>
              <a:ext uri="{FF2B5EF4-FFF2-40B4-BE49-F238E27FC236}">
                <a16:creationId xmlns:a16="http://schemas.microsoft.com/office/drawing/2014/main" id="{24275763-44B8-4716-AB05-404E0F30CAE8}"/>
              </a:ext>
            </a:extLst>
          </p:cNvPr>
          <p:cNvSpPr txBox="1"/>
          <p:nvPr/>
        </p:nvSpPr>
        <p:spPr>
          <a:xfrm>
            <a:off x="7231912" y="1854309"/>
            <a:ext cx="1183049" cy="193899"/>
          </a:xfrm>
          <a:prstGeom prst="rect">
            <a:avLst/>
          </a:prstGeom>
          <a:noFill/>
        </p:spPr>
        <p:txBody>
          <a:bodyPr wrap="square" lIns="0" tIns="0" rIns="0" bIns="0" rtlCol="0" anchor="ctr">
            <a:spAutoFit/>
          </a:bodyPr>
          <a:lstStyle>
            <a:defPPr>
              <a:defRPr lang="en-US"/>
            </a:defPPr>
            <a:lvl1pPr marR="0" lvl="0" indent="0" algn="ctr" fontAlgn="auto">
              <a:lnSpc>
                <a:spcPct val="90000"/>
              </a:lnSpc>
              <a:spcBef>
                <a:spcPts val="0"/>
              </a:spcBef>
              <a:spcAft>
                <a:spcPts val="0"/>
              </a:spcAft>
              <a:buClrTx/>
              <a:buSzTx/>
              <a:buFontTx/>
              <a:buNone/>
              <a:tabLst/>
              <a:defRPr kumimoji="0" sz="1200" b="0" i="0" u="none" strike="noStrike" cap="none" spc="0" normalizeH="0" baseline="0">
                <a:ln w="0"/>
                <a:solidFill>
                  <a:srgbClr val="FFFFFF"/>
                </a:solidFill>
                <a:effectLst/>
                <a:uLnTx/>
                <a:uFillTx/>
                <a:cs typeface="Arial"/>
              </a:defRPr>
            </a:lvl1pPr>
          </a:lstStyle>
          <a:p>
            <a:r>
              <a:rPr lang="en-US" sz="1400" dirty="0">
                <a:latin typeface="IBM Plex Sans Medm" panose="020B0503050203000203" pitchFamily="34" charset="0"/>
              </a:rPr>
              <a:t>Experience </a:t>
            </a:r>
          </a:p>
        </p:txBody>
      </p:sp>
      <p:sp>
        <p:nvSpPr>
          <p:cNvPr id="16" name="TextBox 15">
            <a:extLst>
              <a:ext uri="{FF2B5EF4-FFF2-40B4-BE49-F238E27FC236}">
                <a16:creationId xmlns:a16="http://schemas.microsoft.com/office/drawing/2014/main" id="{E2A1AB92-14C3-4486-802F-18A021486418}"/>
              </a:ext>
            </a:extLst>
          </p:cNvPr>
          <p:cNvSpPr txBox="1"/>
          <p:nvPr/>
        </p:nvSpPr>
        <p:spPr>
          <a:xfrm>
            <a:off x="8781653" y="1854309"/>
            <a:ext cx="1497932" cy="193899"/>
          </a:xfrm>
          <a:prstGeom prst="rect">
            <a:avLst/>
          </a:prstGeom>
          <a:noFill/>
        </p:spPr>
        <p:txBody>
          <a:bodyPr wrap="square" lIns="0" tIns="0" rIns="0" bIns="0" rtlCol="0" anchor="ctr">
            <a:spAutoFit/>
          </a:bodyPr>
          <a:lstStyle>
            <a:defPPr>
              <a:defRPr lang="en-US"/>
            </a:defPPr>
            <a:lvl1pPr marR="0" lvl="0" indent="0" algn="ctr" fontAlgn="auto">
              <a:lnSpc>
                <a:spcPct val="90000"/>
              </a:lnSpc>
              <a:spcBef>
                <a:spcPts val="0"/>
              </a:spcBef>
              <a:spcAft>
                <a:spcPts val="0"/>
              </a:spcAft>
              <a:buClrTx/>
              <a:buSzTx/>
              <a:buFontTx/>
              <a:buNone/>
              <a:tabLst/>
              <a:defRPr kumimoji="0" sz="1200" b="0" i="0" u="none" strike="noStrike" cap="none" spc="0" normalizeH="0" baseline="0">
                <a:ln w="0"/>
                <a:solidFill>
                  <a:srgbClr val="FFFFFF"/>
                </a:solidFill>
                <a:effectLst/>
                <a:uLnTx/>
                <a:uFillTx/>
                <a:cs typeface="Arial"/>
              </a:defRPr>
            </a:lvl1pPr>
          </a:lstStyle>
          <a:p>
            <a:r>
              <a:rPr lang="en-US" sz="1400" dirty="0">
                <a:latin typeface="IBM Plex Sans Medm" panose="020B0503050203000203" pitchFamily="34" charset="0"/>
              </a:rPr>
              <a:t>Maintain </a:t>
            </a:r>
          </a:p>
        </p:txBody>
      </p:sp>
      <p:sp>
        <p:nvSpPr>
          <p:cNvPr id="23" name="Rectangle 22">
            <a:extLst>
              <a:ext uri="{FF2B5EF4-FFF2-40B4-BE49-F238E27FC236}">
                <a16:creationId xmlns:a16="http://schemas.microsoft.com/office/drawing/2014/main" id="{E07476AD-A8BA-416B-AAB3-2A8CA98C6DD5}"/>
              </a:ext>
            </a:extLst>
          </p:cNvPr>
          <p:cNvSpPr/>
          <p:nvPr/>
        </p:nvSpPr>
        <p:spPr>
          <a:xfrm>
            <a:off x="384022" y="1222428"/>
            <a:ext cx="1334804" cy="311110"/>
          </a:xfrm>
          <a:prstGeom prst="rect">
            <a:avLst/>
          </a:prstGeom>
          <a:noFill/>
          <a:ln>
            <a:noFill/>
          </a:ln>
        </p:spPr>
        <p:txBody>
          <a:bodyPr wrap="square" lIns="0" tIns="0" rIns="0" bIns="0" rtlCol="0" anchor="ctr">
            <a:noAutofit/>
          </a:bodyPr>
          <a:lstStyle/>
          <a:p>
            <a:pPr defTabSz="914473">
              <a:defRPr/>
            </a:pPr>
            <a:r>
              <a:rPr lang="en-US" sz="1200" dirty="0">
                <a:ln w="0"/>
                <a:solidFill>
                  <a:srgbClr val="001D6C"/>
                </a:solidFill>
                <a:latin typeface="IBM Plex Sans Light" panose="020B0403050203000203" pitchFamily="34" charset="0"/>
                <a:cs typeface="Arial"/>
              </a:rPr>
              <a:t>On-Boarding</a:t>
            </a:r>
          </a:p>
        </p:txBody>
      </p:sp>
      <p:sp>
        <p:nvSpPr>
          <p:cNvPr id="24" name="Rectangle 23">
            <a:extLst>
              <a:ext uri="{FF2B5EF4-FFF2-40B4-BE49-F238E27FC236}">
                <a16:creationId xmlns:a16="http://schemas.microsoft.com/office/drawing/2014/main" id="{7E4BDEE4-E5F6-451C-9EFB-0E4F62660E0B}"/>
              </a:ext>
            </a:extLst>
          </p:cNvPr>
          <p:cNvSpPr/>
          <p:nvPr/>
        </p:nvSpPr>
        <p:spPr>
          <a:xfrm>
            <a:off x="5466032" y="1222428"/>
            <a:ext cx="1709744" cy="311110"/>
          </a:xfrm>
          <a:prstGeom prst="rect">
            <a:avLst/>
          </a:prstGeom>
          <a:noFill/>
          <a:ln>
            <a:noFill/>
          </a:ln>
        </p:spPr>
        <p:txBody>
          <a:bodyPr wrap="square" lIns="0" tIns="0" rIns="0" bIns="0" rtlCol="0" anchor="ctr">
            <a:noAutofit/>
          </a:bodyPr>
          <a:lstStyle/>
          <a:p>
            <a:pPr defTabSz="914473">
              <a:defRPr/>
            </a:pPr>
            <a:r>
              <a:rPr lang="en-US" sz="1200" dirty="0">
                <a:ln w="0"/>
                <a:solidFill>
                  <a:schemeClr val="accent1"/>
                </a:solidFill>
                <a:latin typeface="IBM Plex Sans Light" panose="020B0403050203000203" pitchFamily="34" charset="0"/>
                <a:cs typeface="Arial"/>
              </a:rPr>
              <a:t>Utilize</a:t>
            </a:r>
          </a:p>
        </p:txBody>
      </p:sp>
      <p:cxnSp>
        <p:nvCxnSpPr>
          <p:cNvPr id="25" name="Elbow Connector 92">
            <a:extLst>
              <a:ext uri="{FF2B5EF4-FFF2-40B4-BE49-F238E27FC236}">
                <a16:creationId xmlns:a16="http://schemas.microsoft.com/office/drawing/2014/main" id="{7227EC97-5D65-47D0-A8ED-29F2EB6BBEBE}"/>
              </a:ext>
            </a:extLst>
          </p:cNvPr>
          <p:cNvCxnSpPr>
            <a:cxnSpLocks/>
            <a:stCxn id="49" idx="4"/>
            <a:endCxn id="50" idx="4"/>
          </p:cNvCxnSpPr>
          <p:nvPr/>
        </p:nvCxnSpPr>
        <p:spPr>
          <a:xfrm rot="5400000">
            <a:off x="6111776" y="-1033559"/>
            <a:ext cx="16931" cy="6758327"/>
          </a:xfrm>
          <a:prstGeom prst="bentConnector3">
            <a:avLst>
              <a:gd name="adj1" fmla="val 1466646"/>
            </a:avLst>
          </a:prstGeom>
          <a:ln w="3175">
            <a:gradFill>
              <a:gsLst>
                <a:gs pos="0">
                  <a:schemeClr val="accent2"/>
                </a:gs>
                <a:gs pos="46000">
                  <a:schemeClr val="accent1"/>
                </a:gs>
                <a:gs pos="87000">
                  <a:srgbClr val="001D6C"/>
                </a:gs>
              </a:gsLst>
              <a:lin ang="5400000" scaled="1"/>
            </a:gradFill>
            <a:headEnd w="sm" len="sm"/>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CB8FDE45-302A-460D-9614-9067B1680D0C}"/>
              </a:ext>
            </a:extLst>
          </p:cNvPr>
          <p:cNvSpPr txBox="1"/>
          <p:nvPr/>
        </p:nvSpPr>
        <p:spPr>
          <a:xfrm>
            <a:off x="308943" y="2680142"/>
            <a:ext cx="1633793" cy="2077492"/>
          </a:xfrm>
          <a:prstGeom prst="rect">
            <a:avLst/>
          </a:prstGeom>
          <a:noFill/>
        </p:spPr>
        <p:txBody>
          <a:bodyPr wrap="square" lIns="0" tIns="0" rIns="0" bIns="0" rtlCol="0">
            <a:spAutoFit/>
          </a:bodyPr>
          <a:lstStyle/>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Portfolio assessment</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Identify requirements</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Search for potential locations</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Compare potential locations</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Justify lease or purchase decision</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Exercise lease options</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Execute purchases</a:t>
            </a:r>
          </a:p>
        </p:txBody>
      </p:sp>
      <p:sp>
        <p:nvSpPr>
          <p:cNvPr id="27" name="TextBox 26">
            <a:extLst>
              <a:ext uri="{FF2B5EF4-FFF2-40B4-BE49-F238E27FC236}">
                <a16:creationId xmlns:a16="http://schemas.microsoft.com/office/drawing/2014/main" id="{825FCC15-E422-4C2E-90BB-7DA93CA474D3}"/>
              </a:ext>
            </a:extLst>
          </p:cNvPr>
          <p:cNvSpPr txBox="1"/>
          <p:nvPr/>
        </p:nvSpPr>
        <p:spPr>
          <a:xfrm>
            <a:off x="1991896" y="2680143"/>
            <a:ext cx="1633793" cy="3221395"/>
          </a:xfrm>
          <a:prstGeom prst="rect">
            <a:avLst/>
          </a:prstGeom>
          <a:noFill/>
        </p:spPr>
        <p:txBody>
          <a:bodyPr wrap="square" lIns="0" tIns="0" rIns="0" bIns="0" rtlCol="0">
            <a:spAutoFit/>
          </a:bodyPr>
          <a:lstStyle/>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Estimate projects</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Prioritize and execute environmental improvement projects</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Establish and manage schedules</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Manage proposals</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Manage commitments and payments</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Manage project risks, changes and progress</a:t>
            </a:r>
          </a:p>
          <a:p>
            <a:pPr marL="154489" indent="-154489">
              <a:spcAft>
                <a:spcPts val="533"/>
              </a:spcAft>
              <a:buFont typeface="Calibri Light" panose="020F0302020204030204" pitchFamily="34" charset="0"/>
              <a:buChar char="–"/>
            </a:pPr>
            <a:r>
              <a:rPr lang="en-US" sz="1100" dirty="0">
                <a:solidFill>
                  <a:srgbClr val="A56EFF"/>
                </a:solidFill>
                <a:latin typeface="IBM Plex Sans Medm" panose="020B0503050203000203" pitchFamily="34" charset="0"/>
                <a:ea typeface="IBM Plex Sans" charset="0"/>
                <a:cs typeface="IBM Plex Sans" charset="0"/>
              </a:rPr>
              <a:t>Plan and instrument IoT technology</a:t>
            </a:r>
          </a:p>
          <a:p>
            <a:pPr marL="154489" indent="-154489">
              <a:spcAft>
                <a:spcPts val="533"/>
              </a:spcAft>
              <a:buFont typeface="Calibri Light" panose="020F0302020204030204" pitchFamily="34" charset="0"/>
              <a:buChar char="–"/>
            </a:pPr>
            <a:r>
              <a:rPr lang="en-US" sz="1100" dirty="0">
                <a:solidFill>
                  <a:srgbClr val="009D9A"/>
                </a:solidFill>
                <a:latin typeface="IBM Plex Sans Medm" panose="020B0503050203000203" pitchFamily="34" charset="0"/>
                <a:ea typeface="IBM Plex Sans" charset="0"/>
                <a:cs typeface="IBM Plex Sans" charset="0"/>
              </a:rPr>
              <a:t>Track carbon reduction to project progress</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Project close-out</a:t>
            </a:r>
          </a:p>
        </p:txBody>
      </p:sp>
      <p:sp>
        <p:nvSpPr>
          <p:cNvPr id="28" name="TextBox 27">
            <a:extLst>
              <a:ext uri="{FF2B5EF4-FFF2-40B4-BE49-F238E27FC236}">
                <a16:creationId xmlns:a16="http://schemas.microsoft.com/office/drawing/2014/main" id="{03F53D78-F205-4E45-80A4-67BDBABF89EE}"/>
              </a:ext>
            </a:extLst>
          </p:cNvPr>
          <p:cNvSpPr txBox="1"/>
          <p:nvPr/>
        </p:nvSpPr>
        <p:spPr>
          <a:xfrm>
            <a:off x="5357802" y="2680143"/>
            <a:ext cx="1633793" cy="3857466"/>
          </a:xfrm>
          <a:prstGeom prst="rect">
            <a:avLst/>
          </a:prstGeom>
          <a:noFill/>
        </p:spPr>
        <p:txBody>
          <a:bodyPr wrap="square" lIns="0" tIns="0" rIns="0" bIns="0" rtlCol="0">
            <a:spAutoFit/>
          </a:bodyPr>
          <a:lstStyle/>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Abstract new leases</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Meet lease accounting regulations</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Manage lease financials</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Track critical dates</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Comply with </a:t>
            </a:r>
            <a:br>
              <a:rPr lang="en-US" sz="1100" dirty="0">
                <a:latin typeface="IBM Plex Sans Light" panose="020B0403050203000203" pitchFamily="34" charset="0"/>
                <a:ea typeface="IBM Plex Sans" charset="0"/>
                <a:cs typeface="IBM Plex Sans" charset="0"/>
              </a:rPr>
            </a:br>
            <a:r>
              <a:rPr lang="en-US" sz="1100" dirty="0">
                <a:latin typeface="IBM Plex Sans Light" panose="020B0403050203000203" pitchFamily="34" charset="0"/>
                <a:ea typeface="IBM Plex Sans" charset="0"/>
                <a:cs typeface="IBM Plex Sans" charset="0"/>
              </a:rPr>
              <a:t>lease terms</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Renegotiate leases</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Execute property management on leased and owned properties</a:t>
            </a:r>
          </a:p>
          <a:p>
            <a:pPr marL="154489" indent="-154489">
              <a:spcAft>
                <a:spcPts val="533"/>
              </a:spcAft>
              <a:buFont typeface="Calibri Light" panose="020F0302020204030204" pitchFamily="34" charset="0"/>
              <a:buChar char="–"/>
            </a:pPr>
            <a:r>
              <a:rPr lang="en-US" sz="1100" dirty="0">
                <a:solidFill>
                  <a:srgbClr val="009D9A"/>
                </a:solidFill>
                <a:latin typeface="IBM Plex Sans Medm" panose="020B0503050203000203" pitchFamily="34" charset="0"/>
                <a:ea typeface="IBM Plex Sans" charset="0"/>
                <a:cs typeface="IBM Plex Sans" charset="0"/>
              </a:rPr>
              <a:t>Track supplier  sustainability data</a:t>
            </a:r>
          </a:p>
          <a:p>
            <a:pPr marL="154489" indent="-154489">
              <a:spcAft>
                <a:spcPts val="533"/>
              </a:spcAft>
              <a:buFont typeface="Calibri Light" panose="020F0302020204030204" pitchFamily="34" charset="0"/>
              <a:buChar char="–"/>
            </a:pPr>
            <a:r>
              <a:rPr lang="en-US" sz="1100" dirty="0">
                <a:solidFill>
                  <a:srgbClr val="009D9A"/>
                </a:solidFill>
                <a:latin typeface="IBM Plex Sans Medm" panose="020B0503050203000203" pitchFamily="34" charset="0"/>
                <a:ea typeface="IBM Plex Sans" charset="0"/>
                <a:cs typeface="IBM Plex Sans" charset="0"/>
              </a:rPr>
              <a:t>Aggregate operational KPIs to dashboards</a:t>
            </a:r>
          </a:p>
          <a:p>
            <a:pPr marL="154489" indent="-154489">
              <a:spcAft>
                <a:spcPts val="533"/>
              </a:spcAft>
              <a:buFont typeface="Calibri Light" panose="020F0302020204030204" pitchFamily="34" charset="0"/>
              <a:buChar char="–"/>
            </a:pPr>
            <a:r>
              <a:rPr lang="en-US" sz="1100" dirty="0">
                <a:solidFill>
                  <a:srgbClr val="009D9A"/>
                </a:solidFill>
                <a:latin typeface="IBM Plex Sans Medm" panose="020B0503050203000203" pitchFamily="34" charset="0"/>
                <a:ea typeface="IBM Plex Sans" charset="0"/>
                <a:cs typeface="IBM Plex Sans" charset="0"/>
              </a:rPr>
              <a:t>ESG reporting and risk management</a:t>
            </a:r>
          </a:p>
          <a:p>
            <a:pPr marL="154489" indent="-154489">
              <a:spcAft>
                <a:spcPts val="533"/>
              </a:spcAft>
              <a:buFont typeface="Calibri Light" panose="020F0302020204030204" pitchFamily="34" charset="0"/>
              <a:buChar char="–"/>
            </a:pPr>
            <a:r>
              <a:rPr lang="en-US" sz="1100" dirty="0">
                <a:solidFill>
                  <a:srgbClr val="009D9A"/>
                </a:solidFill>
                <a:latin typeface="IBM Plex Sans Medm" panose="020B0503050203000203" pitchFamily="34" charset="0"/>
                <a:ea typeface="IBM Plex Sans" charset="0"/>
                <a:cs typeface="IBM Plex Sans" charset="0"/>
              </a:rPr>
              <a:t>Submit facility rating data to agencies</a:t>
            </a:r>
          </a:p>
        </p:txBody>
      </p:sp>
      <p:sp>
        <p:nvSpPr>
          <p:cNvPr id="29" name="TextBox 28">
            <a:extLst>
              <a:ext uri="{FF2B5EF4-FFF2-40B4-BE49-F238E27FC236}">
                <a16:creationId xmlns:a16="http://schemas.microsoft.com/office/drawing/2014/main" id="{AB303C29-F585-401C-918F-857F59C88906}"/>
              </a:ext>
            </a:extLst>
          </p:cNvPr>
          <p:cNvSpPr txBox="1"/>
          <p:nvPr/>
        </p:nvSpPr>
        <p:spPr>
          <a:xfrm>
            <a:off x="3674849" y="2695444"/>
            <a:ext cx="1633793" cy="3390672"/>
          </a:xfrm>
          <a:prstGeom prst="rect">
            <a:avLst/>
          </a:prstGeom>
          <a:noFill/>
        </p:spPr>
        <p:txBody>
          <a:bodyPr wrap="square" lIns="0" tIns="0" rIns="0" bIns="0" rtlCol="0">
            <a:spAutoFit/>
          </a:bodyPr>
          <a:lstStyle/>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Populate location hierarchy</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Load floorplans from CAD/BIM</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Load assets</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Manage space details </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Manage space allocations</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Assign seats</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rPr>
              <a:t>Synthesize utility and BMS data sources</a:t>
            </a:r>
          </a:p>
          <a:p>
            <a:pPr marL="154489" indent="-154489">
              <a:spcAft>
                <a:spcPts val="533"/>
              </a:spcAft>
              <a:buFont typeface="Calibri Light" panose="020F0302020204030204" pitchFamily="34" charset="0"/>
              <a:buChar char="–"/>
            </a:pPr>
            <a:r>
              <a:rPr lang="en-US" sz="1100" dirty="0">
                <a:solidFill>
                  <a:srgbClr val="009D9A"/>
                </a:solidFill>
                <a:latin typeface="IBM Plex Sans Medm" panose="020B0503050203000203" pitchFamily="34" charset="0"/>
                <a:ea typeface="IBM Plex Sans" charset="0"/>
                <a:cs typeface="IBM Plex Sans" charset="0"/>
              </a:rPr>
              <a:t>Ingest energy, waste and water data for reporting and KPIs</a:t>
            </a:r>
          </a:p>
          <a:p>
            <a:pPr marL="154489" indent="-154489">
              <a:spcAft>
                <a:spcPts val="533"/>
              </a:spcAft>
              <a:buFont typeface="Calibri Light" panose="020F0302020204030204" pitchFamily="34" charset="0"/>
              <a:buChar char="–"/>
            </a:pPr>
            <a:r>
              <a:rPr lang="en-US" sz="1100" dirty="0">
                <a:solidFill>
                  <a:srgbClr val="009D9A"/>
                </a:solidFill>
                <a:latin typeface="IBM Plex Sans Medm" panose="020B0503050203000203" pitchFamily="34" charset="0"/>
                <a:ea typeface="IBM Plex Sans" charset="0"/>
                <a:cs typeface="IBM Plex Sans" charset="0"/>
              </a:rPr>
              <a:t>Convert utility and fuel consumption data to  carbon emissions</a:t>
            </a:r>
          </a:p>
        </p:txBody>
      </p:sp>
      <p:sp>
        <p:nvSpPr>
          <p:cNvPr id="30" name="TextBox 29">
            <a:extLst>
              <a:ext uri="{FF2B5EF4-FFF2-40B4-BE49-F238E27FC236}">
                <a16:creationId xmlns:a16="http://schemas.microsoft.com/office/drawing/2014/main" id="{4392EBA1-FCE0-4EB6-9A44-3A357B502D9F}"/>
              </a:ext>
            </a:extLst>
          </p:cNvPr>
          <p:cNvSpPr txBox="1"/>
          <p:nvPr/>
        </p:nvSpPr>
        <p:spPr>
          <a:xfrm>
            <a:off x="7040755" y="2680142"/>
            <a:ext cx="1633793" cy="3285515"/>
          </a:xfrm>
          <a:prstGeom prst="rect">
            <a:avLst/>
          </a:prstGeom>
          <a:noFill/>
        </p:spPr>
        <p:txBody>
          <a:bodyPr wrap="square" lIns="0" tIns="0" rIns="0" bIns="0" rtlCol="0">
            <a:spAutoFit/>
          </a:bodyPr>
          <a:lstStyle/>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Measure real time </a:t>
            </a:r>
            <a:br>
              <a:rPr lang="en-US" sz="1100" dirty="0">
                <a:latin typeface="IBM Plex Sans Light" panose="020B0403050203000203" pitchFamily="34" charset="0"/>
                <a:ea typeface="IBM Plex Sans" charset="0"/>
                <a:cs typeface="IBM Plex Sans" charset="0"/>
              </a:rPr>
            </a:br>
            <a:r>
              <a:rPr lang="en-US" sz="1100" dirty="0">
                <a:latin typeface="IBM Plex Sans Light" panose="020B0403050203000203" pitchFamily="34" charset="0"/>
                <a:ea typeface="IBM Plex Sans" charset="0"/>
                <a:cs typeface="IBM Plex Sans" charset="0"/>
              </a:rPr>
              <a:t>space use</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Validate space use</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Initiate and manage moves</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Employee workplace services portal</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Reserve work and meeting space</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Indoor wayfinding</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Locate colleagues</a:t>
            </a:r>
          </a:p>
          <a:p>
            <a:pPr marL="154489" indent="-154489">
              <a:spcAft>
                <a:spcPts val="533"/>
              </a:spcAft>
              <a:buFont typeface="Calibri Light" panose="020F0302020204030204" pitchFamily="34" charset="0"/>
              <a:buChar char="–"/>
            </a:pPr>
            <a:r>
              <a:rPr lang="en-US" sz="1100" dirty="0">
                <a:solidFill>
                  <a:srgbClr val="A56EFF"/>
                </a:solidFill>
                <a:latin typeface="IBM Plex Sans Medm" panose="020B0503050203000203" pitchFamily="34" charset="0"/>
                <a:ea typeface="IBM Plex Sans" charset="0"/>
                <a:cs typeface="IBM Plex Sans" charset="0"/>
              </a:rPr>
              <a:t>Remote asset monitoring and utilization</a:t>
            </a:r>
          </a:p>
          <a:p>
            <a:pPr marL="154489" indent="-154489">
              <a:spcAft>
                <a:spcPts val="533"/>
              </a:spcAft>
              <a:buFont typeface="Calibri Light" panose="020F0302020204030204" pitchFamily="34" charset="0"/>
              <a:buChar char="–"/>
            </a:pPr>
            <a:r>
              <a:rPr lang="en-US" sz="1100" dirty="0">
                <a:solidFill>
                  <a:srgbClr val="A56EFF"/>
                </a:solidFill>
                <a:latin typeface="IBM Plex Sans Medm" panose="020B0503050203000203" pitchFamily="34" charset="0"/>
                <a:ea typeface="IBM Plex Sans" charset="0"/>
                <a:cs typeface="IBM Plex Sans" charset="0"/>
              </a:rPr>
              <a:t>Health analytics for facility use and assets</a:t>
            </a:r>
          </a:p>
          <a:p>
            <a:pPr marL="154489" indent="-154489">
              <a:spcAft>
                <a:spcPts val="533"/>
              </a:spcAft>
              <a:buFont typeface="Calibri Light" panose="020F0302020204030204" pitchFamily="34" charset="0"/>
              <a:buChar char="–"/>
            </a:pPr>
            <a:r>
              <a:rPr lang="en-US" sz="1100" dirty="0">
                <a:solidFill>
                  <a:srgbClr val="A56EFF"/>
                </a:solidFill>
                <a:latin typeface="IBM Plex Sans Medm" panose="020B0503050203000203" pitchFamily="34" charset="0"/>
                <a:ea typeface="IBM Plex Sans" charset="0"/>
                <a:cs typeface="IBM Plex Sans" charset="0"/>
              </a:rPr>
              <a:t>HSE management</a:t>
            </a:r>
          </a:p>
        </p:txBody>
      </p:sp>
      <p:sp>
        <p:nvSpPr>
          <p:cNvPr id="31" name="TextBox 30">
            <a:extLst>
              <a:ext uri="{FF2B5EF4-FFF2-40B4-BE49-F238E27FC236}">
                <a16:creationId xmlns:a16="http://schemas.microsoft.com/office/drawing/2014/main" id="{3E19DE47-7891-4D59-B8AA-89433795D5AF}"/>
              </a:ext>
            </a:extLst>
          </p:cNvPr>
          <p:cNvSpPr txBox="1"/>
          <p:nvPr/>
        </p:nvSpPr>
        <p:spPr>
          <a:xfrm>
            <a:off x="8723707" y="2680142"/>
            <a:ext cx="1694237" cy="4026743"/>
          </a:xfrm>
          <a:prstGeom prst="rect">
            <a:avLst/>
          </a:prstGeom>
          <a:noFill/>
        </p:spPr>
        <p:txBody>
          <a:bodyPr wrap="square" lIns="0" tIns="0" rIns="0" bIns="0" rtlCol="0">
            <a:spAutoFit/>
          </a:bodyPr>
          <a:lstStyle/>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Manage work orders </a:t>
            </a:r>
            <a:br>
              <a:rPr lang="en-US" sz="1100" dirty="0">
                <a:solidFill>
                  <a:srgbClr val="000000"/>
                </a:solidFill>
                <a:latin typeface="IBM Plex Sans Light"/>
                <a:ea typeface="IBM Plex Sans" charset="0"/>
                <a:cs typeface="IBM Plex Sans" charset="0"/>
              </a:rPr>
            </a:br>
            <a:r>
              <a:rPr lang="en-US" sz="1100" dirty="0">
                <a:solidFill>
                  <a:srgbClr val="000000"/>
                </a:solidFill>
                <a:latin typeface="IBM Plex Sans Light"/>
                <a:ea typeface="IBM Plex Sans" charset="0"/>
                <a:cs typeface="IBM Plex Sans" charset="0"/>
              </a:rPr>
              <a:t>and service requests</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Manage planned, </a:t>
            </a:r>
            <a:r>
              <a:rPr lang="en-US" sz="1100" dirty="0">
                <a:solidFill>
                  <a:srgbClr val="A56EFF"/>
                </a:solidFill>
                <a:latin typeface="IBM Plex Sans Medm" panose="020B0503050203000203" pitchFamily="34" charset="0"/>
                <a:ea typeface="IBM Plex Sans" charset="0"/>
                <a:cs typeface="IBM Plex Sans" charset="0"/>
              </a:rPr>
              <a:t>predictive and condition </a:t>
            </a:r>
            <a:r>
              <a:rPr lang="en-US" sz="1100" dirty="0">
                <a:latin typeface="IBM Plex Sans Light" panose="020B0403050203000203" pitchFamily="34" charset="0"/>
                <a:ea typeface="IBM Plex Sans" charset="0"/>
                <a:cs typeface="IBM Plex Sans" charset="0"/>
              </a:rPr>
              <a:t>maintenance</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Maintain parts inventory</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Warranty management</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Plan for facility component lifecycle</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Manage facility </a:t>
            </a:r>
            <a:br>
              <a:rPr lang="en-US" sz="1100" dirty="0">
                <a:latin typeface="IBM Plex Sans Light" panose="020B0403050203000203" pitchFamily="34" charset="0"/>
                <a:ea typeface="IBM Plex Sans" charset="0"/>
                <a:cs typeface="IBM Plex Sans" charset="0"/>
              </a:rPr>
            </a:br>
            <a:r>
              <a:rPr lang="en-US" sz="1100" dirty="0">
                <a:latin typeface="IBM Plex Sans Light" panose="020B0403050203000203" pitchFamily="34" charset="0"/>
                <a:ea typeface="IBM Plex Sans" charset="0"/>
                <a:cs typeface="IBM Plex Sans" charset="0"/>
              </a:rPr>
              <a:t>condition index</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Plan and execute </a:t>
            </a:r>
            <a:br>
              <a:rPr lang="en-US" sz="1100" dirty="0">
                <a:latin typeface="IBM Plex Sans Light" panose="020B0403050203000203" pitchFamily="34" charset="0"/>
                <a:ea typeface="IBM Plex Sans" charset="0"/>
                <a:cs typeface="IBM Plex Sans" charset="0"/>
              </a:rPr>
            </a:br>
            <a:r>
              <a:rPr lang="en-US" sz="1100" dirty="0">
                <a:latin typeface="IBM Plex Sans Light" panose="020B0403050203000203" pitchFamily="34" charset="0"/>
                <a:ea typeface="IBM Plex Sans" charset="0"/>
                <a:cs typeface="IBM Plex Sans" charset="0"/>
              </a:rPr>
              <a:t>local projects</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Identify environmental improvement projects</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Track utility consumption</a:t>
            </a:r>
          </a:p>
          <a:p>
            <a:pPr marL="154489" indent="-154489">
              <a:spcAft>
                <a:spcPts val="533"/>
              </a:spcAft>
              <a:buFont typeface="Calibri Light" panose="020F0302020204030204" pitchFamily="34" charset="0"/>
              <a:buChar char="–"/>
            </a:pPr>
            <a:r>
              <a:rPr lang="en-US" sz="1100" dirty="0">
                <a:solidFill>
                  <a:srgbClr val="A56EFF"/>
                </a:solidFill>
                <a:latin typeface="IBM Plex Sans Medm" panose="020B0503050203000203" pitchFamily="34" charset="0"/>
                <a:ea typeface="IBM Plex Sans" charset="0"/>
                <a:cs typeface="IBM Plex Sans" charset="0"/>
              </a:rPr>
              <a:t>Physical and visual inspections</a:t>
            </a:r>
          </a:p>
          <a:p>
            <a:pPr marL="154489" indent="-154489">
              <a:spcAft>
                <a:spcPts val="533"/>
              </a:spcAft>
              <a:buFont typeface="Calibri Light" panose="020F0302020204030204" pitchFamily="34" charset="0"/>
              <a:buChar char="–"/>
            </a:pPr>
            <a:r>
              <a:rPr lang="en-US" sz="1100" dirty="0">
                <a:solidFill>
                  <a:srgbClr val="A56EFF"/>
                </a:solidFill>
                <a:latin typeface="IBM Plex Sans Medm" panose="020B0503050203000203" pitchFamily="34" charset="0"/>
                <a:ea typeface="IBM Plex Sans" charset="0"/>
                <a:cs typeface="IBM Plex Sans" charset="0"/>
              </a:rPr>
              <a:t>Mobile technician WS</a:t>
            </a:r>
          </a:p>
        </p:txBody>
      </p:sp>
      <p:sp>
        <p:nvSpPr>
          <p:cNvPr id="33" name="TextBox 32">
            <a:extLst>
              <a:ext uri="{FF2B5EF4-FFF2-40B4-BE49-F238E27FC236}">
                <a16:creationId xmlns:a16="http://schemas.microsoft.com/office/drawing/2014/main" id="{4911FE87-BFF1-49C8-A4F0-930541D94F7D}"/>
              </a:ext>
            </a:extLst>
          </p:cNvPr>
          <p:cNvSpPr txBox="1"/>
          <p:nvPr/>
        </p:nvSpPr>
        <p:spPr>
          <a:xfrm>
            <a:off x="10406656" y="2680142"/>
            <a:ext cx="1633793" cy="3349635"/>
          </a:xfrm>
          <a:prstGeom prst="rect">
            <a:avLst/>
          </a:prstGeom>
          <a:noFill/>
        </p:spPr>
        <p:txBody>
          <a:bodyPr wrap="square" lIns="0" tIns="0" rIns="0" bIns="0" rtlCol="0">
            <a:spAutoFit/>
          </a:bodyPr>
          <a:lstStyle/>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Portfolio reassessment</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Identify space and facilities to relinquish</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Model space scenarios</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Implement moves</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Identify excess space for disposal</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Define and compare downsize scenarios</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Decide and execute</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Site remediation</a:t>
            </a:r>
          </a:p>
          <a:p>
            <a:pPr marL="154489" indent="-154489">
              <a:spcAft>
                <a:spcPts val="533"/>
              </a:spcAft>
              <a:buFont typeface="Calibri Light" panose="020F0302020204030204" pitchFamily="34" charset="0"/>
              <a:buChar char="–"/>
            </a:pPr>
            <a:r>
              <a:rPr lang="en-US" sz="1100" dirty="0">
                <a:latin typeface="IBM Plex Sans Light" panose="020B0403050203000203" pitchFamily="34" charset="0"/>
                <a:ea typeface="IBM Plex Sans" charset="0"/>
                <a:cs typeface="IBM Plex Sans" charset="0"/>
              </a:rPr>
              <a:t>Prepare site to sell or return</a:t>
            </a:r>
          </a:p>
          <a:p>
            <a:pPr marL="154489" indent="-154489">
              <a:spcAft>
                <a:spcPts val="533"/>
              </a:spcAft>
              <a:buFont typeface="Calibri Light" panose="020F0302020204030204" pitchFamily="34" charset="0"/>
              <a:buChar char="–"/>
            </a:pPr>
            <a:r>
              <a:rPr lang="en-US" sz="1100" dirty="0">
                <a:solidFill>
                  <a:srgbClr val="A56EFF"/>
                </a:solidFill>
                <a:latin typeface="IBM Plex Sans Medm" panose="020B0503050203000203" pitchFamily="34" charset="0"/>
                <a:ea typeface="IBM Plex Sans" charset="0"/>
                <a:cs typeface="IBM Plex Sans" charset="0"/>
              </a:rPr>
              <a:t>Retire assets</a:t>
            </a:r>
          </a:p>
          <a:p>
            <a:pPr marL="154489" indent="-154489">
              <a:spcAft>
                <a:spcPts val="533"/>
              </a:spcAft>
              <a:buFont typeface="Calibri Light" panose="020F0302020204030204" pitchFamily="34" charset="0"/>
              <a:buChar char="–"/>
            </a:pPr>
            <a:r>
              <a:rPr lang="en-US" sz="1100" dirty="0">
                <a:solidFill>
                  <a:srgbClr val="009D9A"/>
                </a:solidFill>
                <a:latin typeface="IBM Plex Sans Medm" panose="020B0503050203000203" pitchFamily="34" charset="0"/>
                <a:ea typeface="IBM Plex Sans" charset="0"/>
                <a:cs typeface="IBM Plex Sans" charset="0"/>
              </a:rPr>
              <a:t>Report carbon savings from consolidation</a:t>
            </a:r>
          </a:p>
        </p:txBody>
      </p:sp>
      <p:sp>
        <p:nvSpPr>
          <p:cNvPr id="12" name="Isosceles Triangle 11">
            <a:extLst>
              <a:ext uri="{FF2B5EF4-FFF2-40B4-BE49-F238E27FC236}">
                <a16:creationId xmlns:a16="http://schemas.microsoft.com/office/drawing/2014/main" id="{34C09E3C-81CC-4A8D-BB72-07B146E3C788}"/>
              </a:ext>
            </a:extLst>
          </p:cNvPr>
          <p:cNvSpPr/>
          <p:nvPr/>
        </p:nvSpPr>
        <p:spPr bwMode="auto">
          <a:xfrm rot="5400000">
            <a:off x="1773883" y="1887101"/>
            <a:ext cx="211446" cy="128311"/>
          </a:xfrm>
          <a:prstGeom prst="triangle">
            <a:avLst/>
          </a:prstGeom>
          <a:solidFill>
            <a:schemeClr val="bg1">
              <a:alpha val="3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7994" tIns="47994" rIns="47994" bIns="47994" numCol="1" rtlCol="0" anchor="ctr" anchorCtr="0" compatLnSpc="1">
            <a:prstTxWarp prst="textNoShape">
              <a:avLst/>
            </a:prstTxWarp>
          </a:bodyPr>
          <a:lstStyle/>
          <a:p>
            <a:pPr defTabSz="1218971" fontAlgn="base">
              <a:lnSpc>
                <a:spcPct val="90000"/>
              </a:lnSpc>
              <a:spcBef>
                <a:spcPct val="0"/>
              </a:spcBef>
              <a:spcAft>
                <a:spcPct val="0"/>
              </a:spcAft>
              <a:defRPr/>
            </a:pPr>
            <a:endParaRPr lang="en-US" sz="1866" dirty="0">
              <a:solidFill>
                <a:srgbClr val="FFFFFF"/>
              </a:solidFill>
              <a:latin typeface="IBM Plex Sans Light" panose="020B0403050203000203" pitchFamily="34" charset="0"/>
            </a:endParaRPr>
          </a:p>
        </p:txBody>
      </p:sp>
      <p:sp>
        <p:nvSpPr>
          <p:cNvPr id="19" name="Isosceles Triangle 21">
            <a:extLst>
              <a:ext uri="{FF2B5EF4-FFF2-40B4-BE49-F238E27FC236}">
                <a16:creationId xmlns:a16="http://schemas.microsoft.com/office/drawing/2014/main" id="{78B1117D-C205-4520-A2E6-59BB923AD9E5}"/>
              </a:ext>
            </a:extLst>
          </p:cNvPr>
          <p:cNvSpPr/>
          <p:nvPr/>
        </p:nvSpPr>
        <p:spPr bwMode="auto">
          <a:xfrm rot="5400000">
            <a:off x="3462459" y="1887101"/>
            <a:ext cx="211446" cy="128311"/>
          </a:xfrm>
          <a:prstGeom prst="triangle">
            <a:avLst/>
          </a:prstGeom>
          <a:solidFill>
            <a:schemeClr val="bg1">
              <a:alpha val="3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7994" tIns="47994" rIns="47994" bIns="47994" numCol="1" rtlCol="0" anchor="ctr" anchorCtr="0" compatLnSpc="1">
            <a:prstTxWarp prst="textNoShape">
              <a:avLst/>
            </a:prstTxWarp>
          </a:bodyPr>
          <a:lstStyle/>
          <a:p>
            <a:pPr defTabSz="1218971" fontAlgn="base">
              <a:lnSpc>
                <a:spcPct val="90000"/>
              </a:lnSpc>
              <a:spcBef>
                <a:spcPct val="0"/>
              </a:spcBef>
              <a:spcAft>
                <a:spcPct val="0"/>
              </a:spcAft>
              <a:defRPr/>
            </a:pPr>
            <a:endParaRPr lang="en-US" sz="1866" dirty="0">
              <a:solidFill>
                <a:srgbClr val="FFFFFF"/>
              </a:solidFill>
              <a:latin typeface="IBM Plex Sans Light" panose="020B0403050203000203" pitchFamily="34" charset="0"/>
            </a:endParaRPr>
          </a:p>
        </p:txBody>
      </p:sp>
      <p:sp>
        <p:nvSpPr>
          <p:cNvPr id="20" name="Isosceles Triangle 22">
            <a:extLst>
              <a:ext uri="{FF2B5EF4-FFF2-40B4-BE49-F238E27FC236}">
                <a16:creationId xmlns:a16="http://schemas.microsoft.com/office/drawing/2014/main" id="{A460AD97-C358-438B-9E15-ECB42BD94B3A}"/>
              </a:ext>
            </a:extLst>
          </p:cNvPr>
          <p:cNvSpPr/>
          <p:nvPr/>
        </p:nvSpPr>
        <p:spPr bwMode="auto">
          <a:xfrm rot="5400000">
            <a:off x="6839609" y="1887101"/>
            <a:ext cx="211446" cy="128311"/>
          </a:xfrm>
          <a:prstGeom prst="triangle">
            <a:avLst/>
          </a:prstGeom>
          <a:solidFill>
            <a:schemeClr val="bg1">
              <a:alpha val="3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7994" tIns="47994" rIns="47994" bIns="47994" numCol="1" rtlCol="0" anchor="ctr" anchorCtr="0" compatLnSpc="1">
            <a:prstTxWarp prst="textNoShape">
              <a:avLst/>
            </a:prstTxWarp>
          </a:bodyPr>
          <a:lstStyle/>
          <a:p>
            <a:pPr defTabSz="1218971" fontAlgn="base">
              <a:lnSpc>
                <a:spcPct val="90000"/>
              </a:lnSpc>
              <a:spcBef>
                <a:spcPct val="0"/>
              </a:spcBef>
              <a:spcAft>
                <a:spcPct val="0"/>
              </a:spcAft>
              <a:defRPr/>
            </a:pPr>
            <a:endParaRPr lang="en-US" sz="1866" dirty="0">
              <a:solidFill>
                <a:srgbClr val="FFFFFF"/>
              </a:solidFill>
              <a:latin typeface="IBM Plex Sans Light" panose="020B0403050203000203" pitchFamily="34" charset="0"/>
            </a:endParaRPr>
          </a:p>
        </p:txBody>
      </p:sp>
      <p:sp>
        <p:nvSpPr>
          <p:cNvPr id="21" name="Isosceles Triangle 23">
            <a:extLst>
              <a:ext uri="{FF2B5EF4-FFF2-40B4-BE49-F238E27FC236}">
                <a16:creationId xmlns:a16="http://schemas.microsoft.com/office/drawing/2014/main" id="{BAF90EC6-5D4C-4791-8FC9-74242ABFCA5F}"/>
              </a:ext>
            </a:extLst>
          </p:cNvPr>
          <p:cNvSpPr/>
          <p:nvPr/>
        </p:nvSpPr>
        <p:spPr bwMode="auto">
          <a:xfrm rot="5400000">
            <a:off x="8528186" y="1887101"/>
            <a:ext cx="211446" cy="128311"/>
          </a:xfrm>
          <a:prstGeom prst="triangle">
            <a:avLst/>
          </a:prstGeom>
          <a:solidFill>
            <a:schemeClr val="bg1">
              <a:alpha val="3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7994" tIns="47994" rIns="47994" bIns="47994" numCol="1" rtlCol="0" anchor="ctr" anchorCtr="0" compatLnSpc="1">
            <a:prstTxWarp prst="textNoShape">
              <a:avLst/>
            </a:prstTxWarp>
          </a:bodyPr>
          <a:lstStyle/>
          <a:p>
            <a:pPr defTabSz="1218971" fontAlgn="base">
              <a:lnSpc>
                <a:spcPct val="90000"/>
              </a:lnSpc>
              <a:spcBef>
                <a:spcPct val="0"/>
              </a:spcBef>
              <a:spcAft>
                <a:spcPct val="0"/>
              </a:spcAft>
              <a:defRPr/>
            </a:pPr>
            <a:endParaRPr lang="en-US" sz="1866" dirty="0">
              <a:solidFill>
                <a:srgbClr val="FFFFFF"/>
              </a:solidFill>
              <a:latin typeface="IBM Plex Sans Light" panose="020B0403050203000203" pitchFamily="34" charset="0"/>
            </a:endParaRPr>
          </a:p>
        </p:txBody>
      </p:sp>
      <p:sp>
        <p:nvSpPr>
          <p:cNvPr id="22" name="TextBox 21">
            <a:extLst>
              <a:ext uri="{FF2B5EF4-FFF2-40B4-BE49-F238E27FC236}">
                <a16:creationId xmlns:a16="http://schemas.microsoft.com/office/drawing/2014/main" id="{1A095B53-7109-4788-A0C3-B5AB4D35F667}"/>
              </a:ext>
            </a:extLst>
          </p:cNvPr>
          <p:cNvSpPr txBox="1"/>
          <p:nvPr/>
        </p:nvSpPr>
        <p:spPr>
          <a:xfrm>
            <a:off x="10725417" y="1843535"/>
            <a:ext cx="919160" cy="215444"/>
          </a:xfrm>
          <a:prstGeom prst="rect">
            <a:avLst/>
          </a:prstGeom>
          <a:noFill/>
        </p:spPr>
        <p:txBody>
          <a:bodyPr wrap="square" lIns="0" tIns="0" rIns="0" bIns="0" rtlCol="0" anchor="ctr">
            <a:spAutoFit/>
          </a:bodyPr>
          <a:lstStyle/>
          <a:p>
            <a:pPr algn="ctr" defTabSz="914473">
              <a:defRPr/>
            </a:pPr>
            <a:r>
              <a:rPr lang="en-US" sz="1400" dirty="0">
                <a:ln w="0"/>
                <a:solidFill>
                  <a:srgbClr val="FFFFFF"/>
                </a:solidFill>
                <a:latin typeface="IBM Plex Sans Medm" panose="020B0503050203000203" pitchFamily="34" charset="0"/>
                <a:cs typeface="Arial"/>
              </a:rPr>
              <a:t>Dispose </a:t>
            </a:r>
          </a:p>
        </p:txBody>
      </p:sp>
      <p:sp>
        <p:nvSpPr>
          <p:cNvPr id="44" name="Rectangle 43">
            <a:extLst>
              <a:ext uri="{FF2B5EF4-FFF2-40B4-BE49-F238E27FC236}">
                <a16:creationId xmlns:a16="http://schemas.microsoft.com/office/drawing/2014/main" id="{18A13340-B78C-B1D6-3AD6-61DA6C760A23}"/>
              </a:ext>
            </a:extLst>
          </p:cNvPr>
          <p:cNvSpPr/>
          <p:nvPr/>
        </p:nvSpPr>
        <p:spPr>
          <a:xfrm>
            <a:off x="10417945" y="1191147"/>
            <a:ext cx="1709744" cy="311110"/>
          </a:xfrm>
          <a:prstGeom prst="rect">
            <a:avLst/>
          </a:prstGeom>
          <a:noFill/>
          <a:ln>
            <a:noFill/>
          </a:ln>
        </p:spPr>
        <p:txBody>
          <a:bodyPr wrap="square" lIns="0" tIns="0" rIns="0" bIns="0" rtlCol="0" anchor="ctr">
            <a:noAutofit/>
          </a:bodyPr>
          <a:lstStyle/>
          <a:p>
            <a:pPr defTabSz="914473">
              <a:defRPr/>
            </a:pPr>
            <a:r>
              <a:rPr lang="en-US" sz="1200" dirty="0">
                <a:ln w="0"/>
                <a:solidFill>
                  <a:schemeClr val="accent1"/>
                </a:solidFill>
                <a:latin typeface="IBM Plex Sans Light" panose="020B0403050203000203" pitchFamily="34" charset="0"/>
                <a:cs typeface="Arial"/>
              </a:rPr>
              <a:t>Disposal</a:t>
            </a:r>
          </a:p>
        </p:txBody>
      </p:sp>
      <p:sp>
        <p:nvSpPr>
          <p:cNvPr id="49" name="Oval 48">
            <a:extLst>
              <a:ext uri="{FF2B5EF4-FFF2-40B4-BE49-F238E27FC236}">
                <a16:creationId xmlns:a16="http://schemas.microsoft.com/office/drawing/2014/main" id="{889FD1E3-ED26-B79A-076B-FE76473350D8}"/>
              </a:ext>
            </a:extLst>
          </p:cNvPr>
          <p:cNvSpPr/>
          <p:nvPr/>
        </p:nvSpPr>
        <p:spPr bwMode="auto">
          <a:xfrm>
            <a:off x="9420641" y="2205009"/>
            <a:ext cx="140594" cy="140594"/>
          </a:xfrm>
          <a:prstGeom prst="ellipse">
            <a:avLst/>
          </a:prstGeom>
          <a:no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21904" tIns="121904" rIns="121904" bIns="121904" numCol="1" rtlCol="0" anchor="t" anchorCtr="0" compatLnSpc="1">
            <a:prstTxWarp prst="textNoShape">
              <a:avLst/>
            </a:prstTxWarp>
          </a:bodyPr>
          <a:lstStyle/>
          <a:p>
            <a:pPr defTabSz="1218971" fontAlgn="base">
              <a:spcBef>
                <a:spcPct val="0"/>
              </a:spcBef>
              <a:spcAft>
                <a:spcPct val="0"/>
              </a:spcAft>
            </a:pPr>
            <a:endParaRPr lang="en-US" sz="1866" dirty="0">
              <a:solidFill>
                <a:schemeClr val="bg1"/>
              </a:solidFill>
              <a:latin typeface="IBM Plex Sans Light" panose="020B0403050203000203" pitchFamily="34" charset="0"/>
            </a:endParaRPr>
          </a:p>
        </p:txBody>
      </p:sp>
      <p:sp>
        <p:nvSpPr>
          <p:cNvPr id="50" name="Oval 49">
            <a:extLst>
              <a:ext uri="{FF2B5EF4-FFF2-40B4-BE49-F238E27FC236}">
                <a16:creationId xmlns:a16="http://schemas.microsoft.com/office/drawing/2014/main" id="{C5B94BDC-46DF-3437-47AE-3B5C17925C8F}"/>
              </a:ext>
            </a:extLst>
          </p:cNvPr>
          <p:cNvSpPr/>
          <p:nvPr/>
        </p:nvSpPr>
        <p:spPr bwMode="auto">
          <a:xfrm>
            <a:off x="2662314" y="2205009"/>
            <a:ext cx="140594" cy="140594"/>
          </a:xfrm>
          <a:prstGeom prst="ellipse">
            <a:avLst/>
          </a:prstGeom>
          <a:no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21904" tIns="121904" rIns="121904" bIns="121904" numCol="1" rtlCol="0" anchor="t" anchorCtr="0" compatLnSpc="1">
            <a:prstTxWarp prst="textNoShape">
              <a:avLst/>
            </a:prstTxWarp>
          </a:bodyPr>
          <a:lstStyle/>
          <a:p>
            <a:pPr defTabSz="1218971" fontAlgn="base">
              <a:spcBef>
                <a:spcPct val="0"/>
              </a:spcBef>
              <a:spcAft>
                <a:spcPct val="0"/>
              </a:spcAft>
            </a:pPr>
            <a:endParaRPr lang="en-US" sz="1866" dirty="0">
              <a:solidFill>
                <a:schemeClr val="bg1"/>
              </a:solidFill>
              <a:latin typeface="IBM Plex Sans Light" panose="020B0403050203000203" pitchFamily="34" charset="0"/>
            </a:endParaRPr>
          </a:p>
        </p:txBody>
      </p:sp>
      <p:sp>
        <p:nvSpPr>
          <p:cNvPr id="3" name="Footer Placeholder 2">
            <a:extLst>
              <a:ext uri="{FF2B5EF4-FFF2-40B4-BE49-F238E27FC236}">
                <a16:creationId xmlns:a16="http://schemas.microsoft.com/office/drawing/2014/main" id="{E1ECF163-65DF-4FE3-E77D-757A1F73AD08}"/>
              </a:ext>
            </a:extLst>
          </p:cNvPr>
          <p:cNvSpPr>
            <a:spLocks noGrp="1"/>
          </p:cNvSpPr>
          <p:nvPr>
            <p:ph type="ftr" sz="quarter" idx="10"/>
          </p:nvPr>
        </p:nvSpPr>
        <p:spPr>
          <a:xfrm>
            <a:off x="305643" y="6400414"/>
            <a:ext cx="5485599" cy="222221"/>
          </a:xfrm>
        </p:spPr>
        <p:txBody>
          <a:bodyPr/>
          <a:lstStyle/>
          <a:p>
            <a:r>
              <a:rPr lang="pt-BR" sz="900" dirty="0">
                <a:latin typeface="IBM Plex Sans Light" panose="020B0403050203000203" pitchFamily="34" charset="0"/>
              </a:rPr>
              <a:t>IBM Asset Lifecycle Management / © 2025 IBM Corporation</a:t>
            </a:r>
          </a:p>
        </p:txBody>
      </p:sp>
      <p:grpSp>
        <p:nvGrpSpPr>
          <p:cNvPr id="34" name="Group 33">
            <a:extLst>
              <a:ext uri="{FF2B5EF4-FFF2-40B4-BE49-F238E27FC236}">
                <a16:creationId xmlns:a16="http://schemas.microsoft.com/office/drawing/2014/main" id="{389812E3-4F88-835C-3AC0-010322CDD434}"/>
              </a:ext>
            </a:extLst>
          </p:cNvPr>
          <p:cNvGrpSpPr/>
          <p:nvPr/>
        </p:nvGrpSpPr>
        <p:grpSpPr>
          <a:xfrm>
            <a:off x="9561313" y="267667"/>
            <a:ext cx="2087953" cy="741746"/>
            <a:chOff x="18958862" y="534511"/>
            <a:chExt cx="4176450" cy="1483685"/>
          </a:xfrm>
        </p:grpSpPr>
        <p:sp>
          <p:nvSpPr>
            <p:cNvPr id="35" name="TextBox 34">
              <a:extLst>
                <a:ext uri="{FF2B5EF4-FFF2-40B4-BE49-F238E27FC236}">
                  <a16:creationId xmlns:a16="http://schemas.microsoft.com/office/drawing/2014/main" id="{DA34DFB6-1EF4-8731-623C-DE632E7E80DE}"/>
                </a:ext>
              </a:extLst>
            </p:cNvPr>
            <p:cNvSpPr txBox="1"/>
            <p:nvPr/>
          </p:nvSpPr>
          <p:spPr>
            <a:xfrm>
              <a:off x="18958862" y="534511"/>
              <a:ext cx="4176450" cy="430944"/>
            </a:xfrm>
            <a:prstGeom prst="rect">
              <a:avLst/>
            </a:prstGeom>
            <a:solidFill>
              <a:schemeClr val="tx1"/>
            </a:solidFill>
          </p:spPr>
          <p:txBody>
            <a:bodyPr wrap="square" lIns="91428" tIns="0" rIns="0" bIns="0" rtlCol="0" anchor="ctr">
              <a:spAutoFit/>
            </a:bodyPr>
            <a:lstStyle/>
            <a:p>
              <a:pPr>
                <a:spcAft>
                  <a:spcPts val="266"/>
                </a:spcAft>
              </a:pPr>
              <a:r>
                <a:rPr lang="en-US" sz="1400" dirty="0">
                  <a:solidFill>
                    <a:schemeClr val="bg1"/>
                  </a:solidFill>
                  <a:latin typeface="IBM Plex Sans Light" panose="020B0403050203000203" pitchFamily="34" charset="0"/>
                  <a:ea typeface="IBM Plex Sans" charset="0"/>
                  <a:cs typeface="IBM Plex Sans" charset="0"/>
                </a:rPr>
                <a:t>Real Estate &amp; Facilities</a:t>
              </a:r>
            </a:p>
          </p:txBody>
        </p:sp>
        <p:sp>
          <p:nvSpPr>
            <p:cNvPr id="36" name="TextBox 35">
              <a:extLst>
                <a:ext uri="{FF2B5EF4-FFF2-40B4-BE49-F238E27FC236}">
                  <a16:creationId xmlns:a16="http://schemas.microsoft.com/office/drawing/2014/main" id="{FD69DF80-7643-FCB0-A61B-51FB2E5524B1}"/>
                </a:ext>
              </a:extLst>
            </p:cNvPr>
            <p:cNvSpPr txBox="1"/>
            <p:nvPr/>
          </p:nvSpPr>
          <p:spPr>
            <a:xfrm>
              <a:off x="18958862" y="1060881"/>
              <a:ext cx="4176450" cy="430944"/>
            </a:xfrm>
            <a:prstGeom prst="rect">
              <a:avLst/>
            </a:prstGeom>
            <a:solidFill>
              <a:schemeClr val="accent2"/>
            </a:solidFill>
          </p:spPr>
          <p:txBody>
            <a:bodyPr wrap="square" lIns="91428" tIns="0" rIns="0" bIns="0" rtlCol="0" anchor="ctr">
              <a:spAutoFit/>
            </a:bodyPr>
            <a:lstStyle/>
            <a:p>
              <a:pPr>
                <a:spcAft>
                  <a:spcPts val="266"/>
                </a:spcAft>
              </a:pPr>
              <a:r>
                <a:rPr lang="en-US" sz="1400" dirty="0">
                  <a:solidFill>
                    <a:schemeClr val="bg1"/>
                  </a:solidFill>
                  <a:latin typeface="IBM Plex Sans Light" panose="020B0403050203000203" pitchFamily="34" charset="0"/>
                  <a:ea typeface="IBM Plex Sans" charset="0"/>
                  <a:cs typeface="IBM Plex Sans" charset="0"/>
                </a:rPr>
                <a:t>Asset Management</a:t>
              </a:r>
            </a:p>
          </p:txBody>
        </p:sp>
        <p:sp>
          <p:nvSpPr>
            <p:cNvPr id="37" name="TextBox 36">
              <a:extLst>
                <a:ext uri="{FF2B5EF4-FFF2-40B4-BE49-F238E27FC236}">
                  <a16:creationId xmlns:a16="http://schemas.microsoft.com/office/drawing/2014/main" id="{CCC926B2-0F70-DAEA-68B3-666F2C57BD33}"/>
                </a:ext>
              </a:extLst>
            </p:cNvPr>
            <p:cNvSpPr txBox="1"/>
            <p:nvPr/>
          </p:nvSpPr>
          <p:spPr>
            <a:xfrm>
              <a:off x="18958862" y="1587252"/>
              <a:ext cx="4176450" cy="430944"/>
            </a:xfrm>
            <a:prstGeom prst="rect">
              <a:avLst/>
            </a:prstGeom>
            <a:solidFill>
              <a:srgbClr val="009D9A"/>
            </a:solidFill>
          </p:spPr>
          <p:txBody>
            <a:bodyPr wrap="square" lIns="91428" tIns="0" rIns="0" bIns="0" rtlCol="0" anchor="ctr">
              <a:spAutoFit/>
            </a:bodyPr>
            <a:lstStyle/>
            <a:p>
              <a:pPr>
                <a:spcAft>
                  <a:spcPts val="266"/>
                </a:spcAft>
              </a:pPr>
              <a:r>
                <a:rPr lang="en-US" sz="1400" dirty="0">
                  <a:solidFill>
                    <a:schemeClr val="bg1"/>
                  </a:solidFill>
                  <a:latin typeface="IBM Plex Sans Light" panose="020B0403050203000203" pitchFamily="34" charset="0"/>
                  <a:ea typeface="IBM Plex Sans" charset="0"/>
                  <a:cs typeface="IBM Plex Sans" charset="0"/>
                </a:rPr>
                <a:t>Environmental Solutions</a:t>
              </a:r>
            </a:p>
          </p:txBody>
        </p:sp>
      </p:grpSp>
    </p:spTree>
    <p:extLst>
      <p:ext uri="{BB962C8B-B14F-4D97-AF65-F5344CB8AC3E}">
        <p14:creationId xmlns:p14="http://schemas.microsoft.com/office/powerpoint/2010/main" val="1942588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ED9FEB5-0B0E-B098-913F-D4EB8DC78BAA}"/>
              </a:ext>
            </a:extLst>
          </p:cNvPr>
          <p:cNvSpPr/>
          <p:nvPr/>
        </p:nvSpPr>
        <p:spPr bwMode="auto">
          <a:xfrm>
            <a:off x="2214" y="5761291"/>
            <a:ext cx="12188826" cy="1096994"/>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21888" tIns="121888" rIns="121888" bIns="121888" numCol="1" rtlCol="0" anchor="t" anchorCtr="0" compatLnSpc="1">
            <a:prstTxWarp prst="textNoShape">
              <a:avLst/>
            </a:prstTxWarp>
          </a:bodyPr>
          <a:lstStyle/>
          <a:p>
            <a:pPr defTabSz="1218727" fontAlgn="base">
              <a:spcBef>
                <a:spcPct val="0"/>
              </a:spcBef>
              <a:spcAft>
                <a:spcPct val="0"/>
              </a:spcAft>
            </a:pPr>
            <a:endParaRPr lang="en-US" sz="1866" dirty="0">
              <a:solidFill>
                <a:srgbClr val="FFFFFF"/>
              </a:solidFill>
              <a:latin typeface="IBM Plex Sans Light"/>
            </a:endParaRPr>
          </a:p>
        </p:txBody>
      </p:sp>
      <p:sp>
        <p:nvSpPr>
          <p:cNvPr id="34" name="TextBox 33">
            <a:extLst>
              <a:ext uri="{FF2B5EF4-FFF2-40B4-BE49-F238E27FC236}">
                <a16:creationId xmlns:a16="http://schemas.microsoft.com/office/drawing/2014/main" id="{A4CD738C-0C62-785A-5F1D-312EE4CE0F08}"/>
              </a:ext>
            </a:extLst>
          </p:cNvPr>
          <p:cNvSpPr txBox="1"/>
          <p:nvPr/>
        </p:nvSpPr>
        <p:spPr>
          <a:xfrm>
            <a:off x="309698" y="5967828"/>
            <a:ext cx="8827591" cy="574260"/>
          </a:xfrm>
          <a:prstGeom prst="rect">
            <a:avLst/>
          </a:prstGeom>
          <a:noFill/>
        </p:spPr>
        <p:txBody>
          <a:bodyPr wrap="square" lIns="0" tIns="0" rIns="0" bIns="0" rtlCol="0">
            <a:spAutoFit/>
          </a:bodyPr>
          <a:lstStyle/>
          <a:p>
            <a:pPr defTabSz="914324">
              <a:spcBef>
                <a:spcPts val="1466"/>
              </a:spcBef>
            </a:pPr>
            <a:r>
              <a:rPr lang="en-US" sz="1866" dirty="0">
                <a:solidFill>
                  <a:srgbClr val="0F62FE"/>
                </a:solidFill>
                <a:latin typeface="IBM Plex Sans Light"/>
                <a:ea typeface="IBM Plex Sans" charset="0"/>
                <a:cs typeface="IBM Plex Sans" charset="0"/>
              </a:rPr>
              <a:t>…all capabilities are </a:t>
            </a:r>
            <a:r>
              <a:rPr lang="en-US" sz="1866" dirty="0">
                <a:solidFill>
                  <a:srgbClr val="0F62FE"/>
                </a:solidFill>
                <a:latin typeface="IBM Plex Sans Medm" panose="020B0603050203000203" pitchFamily="34" charset="0"/>
                <a:ea typeface="IBM Plex Sans" charset="0"/>
                <a:cs typeface="IBM Plex Sans" charset="0"/>
              </a:rPr>
              <a:t>available off-the-shelf </a:t>
            </a:r>
            <a:r>
              <a:rPr lang="en-US" sz="1866" dirty="0">
                <a:solidFill>
                  <a:srgbClr val="0F62FE"/>
                </a:solidFill>
                <a:latin typeface="IBM Plex Sans Light"/>
                <a:ea typeface="IBM Plex Sans" charset="0"/>
                <a:cs typeface="IBM Plex Sans" charset="0"/>
              </a:rPr>
              <a:t>and </a:t>
            </a:r>
            <a:br>
              <a:rPr lang="en-US" sz="1866" dirty="0">
                <a:solidFill>
                  <a:srgbClr val="0F62FE"/>
                </a:solidFill>
                <a:latin typeface="IBM Plex Sans Light"/>
                <a:ea typeface="IBM Plex Sans" charset="0"/>
                <a:cs typeface="IBM Plex Sans" charset="0"/>
              </a:rPr>
            </a:br>
            <a:r>
              <a:rPr lang="en-US" sz="1866" dirty="0">
                <a:solidFill>
                  <a:srgbClr val="0F62FE"/>
                </a:solidFill>
                <a:latin typeface="IBM Plex Sans Light"/>
                <a:ea typeface="IBM Plex Sans" charset="0"/>
                <a:cs typeface="IBM Plex Sans" charset="0"/>
              </a:rPr>
              <a:t>are aligned to business processes through configuration</a:t>
            </a:r>
          </a:p>
        </p:txBody>
      </p:sp>
      <p:sp>
        <p:nvSpPr>
          <p:cNvPr id="2" name="Title 1">
            <a:extLst>
              <a:ext uri="{FF2B5EF4-FFF2-40B4-BE49-F238E27FC236}">
                <a16:creationId xmlns:a16="http://schemas.microsoft.com/office/drawing/2014/main" id="{809B47D6-3C73-41E3-B372-BE735B276DF9}"/>
              </a:ext>
            </a:extLst>
          </p:cNvPr>
          <p:cNvSpPr>
            <a:spLocks noGrp="1"/>
          </p:cNvSpPr>
          <p:nvPr>
            <p:ph type="title"/>
          </p:nvPr>
        </p:nvSpPr>
        <p:spPr>
          <a:xfrm>
            <a:off x="281930" y="269048"/>
            <a:ext cx="11600371" cy="1072616"/>
          </a:xfrm>
        </p:spPr>
        <p:txBody>
          <a:bodyPr/>
          <a:lstStyle/>
          <a:p>
            <a:r>
              <a:rPr lang="en-US" sz="2400" dirty="0"/>
              <a:t>TRIRIGA </a:t>
            </a:r>
            <a:r>
              <a:rPr lang="en-US" sz="2400" dirty="0">
                <a:solidFill>
                  <a:schemeClr val="accent1"/>
                </a:solidFill>
              </a:rPr>
              <a:t>manages real estate </a:t>
            </a:r>
            <a:br>
              <a:rPr lang="en-US" sz="2400" dirty="0">
                <a:solidFill>
                  <a:schemeClr val="accent2"/>
                </a:solidFill>
              </a:rPr>
            </a:br>
            <a:r>
              <a:rPr lang="en-US" sz="2400" dirty="0"/>
              <a:t>throughout its </a:t>
            </a:r>
            <a:r>
              <a:rPr lang="en-US" sz="2400" dirty="0">
                <a:solidFill>
                  <a:schemeClr val="accent1"/>
                </a:solidFill>
              </a:rPr>
              <a:t>lifecycle</a:t>
            </a:r>
          </a:p>
        </p:txBody>
      </p:sp>
      <p:sp>
        <p:nvSpPr>
          <p:cNvPr id="4" name="Slide Number Placeholder 3">
            <a:extLst>
              <a:ext uri="{FF2B5EF4-FFF2-40B4-BE49-F238E27FC236}">
                <a16:creationId xmlns:a16="http://schemas.microsoft.com/office/drawing/2014/main" id="{ADDCBB6A-59CB-4863-B801-143AF37F32E0}"/>
              </a:ext>
            </a:extLst>
          </p:cNvPr>
          <p:cNvSpPr>
            <a:spLocks noGrp="1"/>
          </p:cNvSpPr>
          <p:nvPr>
            <p:ph type="sldNum" sz="quarter" idx="11"/>
          </p:nvPr>
        </p:nvSpPr>
        <p:spPr>
          <a:xfrm>
            <a:off x="11842236" y="6468701"/>
            <a:ext cx="61708" cy="123094"/>
          </a:xfrm>
        </p:spPr>
        <p:txBody>
          <a:bodyPr/>
          <a:lstStyle/>
          <a:p>
            <a:pPr defTabSz="914324"/>
            <a:fld id="{59395FB3-9C97-154F-86B2-7E381B951268}" type="slidenum">
              <a:rPr lang="en-US">
                <a:solidFill>
                  <a:srgbClr val="000000"/>
                </a:solidFill>
              </a:rPr>
              <a:pPr defTabSz="914324"/>
              <a:t>7</a:t>
            </a:fld>
            <a:endParaRPr lang="en-US" dirty="0">
              <a:solidFill>
                <a:srgbClr val="000000"/>
              </a:solidFill>
            </a:endParaRPr>
          </a:p>
        </p:txBody>
      </p:sp>
      <p:sp>
        <p:nvSpPr>
          <p:cNvPr id="6" name="Arrow: Chevron 7">
            <a:extLst>
              <a:ext uri="{FF2B5EF4-FFF2-40B4-BE49-F238E27FC236}">
                <a16:creationId xmlns:a16="http://schemas.microsoft.com/office/drawing/2014/main" id="{3349D388-42FE-447E-9814-99B9FB197EE6}"/>
              </a:ext>
            </a:extLst>
          </p:cNvPr>
          <p:cNvSpPr/>
          <p:nvPr/>
        </p:nvSpPr>
        <p:spPr>
          <a:xfrm>
            <a:off x="188852" y="1557155"/>
            <a:ext cx="5320280" cy="788589"/>
          </a:xfrm>
          <a:prstGeom prst="chevron">
            <a:avLst>
              <a:gd name="adj" fmla="val 30194"/>
            </a:avLst>
          </a:prstGeom>
          <a:solidFill>
            <a:srgbClr val="001D6C"/>
          </a:solidFill>
          <a:ln w="22225">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pPr defTabSz="914324"/>
            <a:endParaRPr lang="en-US" sz="4798">
              <a:solidFill>
                <a:srgbClr val="000000"/>
              </a:solidFill>
              <a:latin typeface="IBM Plex Sans Light"/>
            </a:endParaRPr>
          </a:p>
        </p:txBody>
      </p:sp>
      <p:sp>
        <p:nvSpPr>
          <p:cNvPr id="7" name="Arrow: Chevron 6">
            <a:extLst>
              <a:ext uri="{FF2B5EF4-FFF2-40B4-BE49-F238E27FC236}">
                <a16:creationId xmlns:a16="http://schemas.microsoft.com/office/drawing/2014/main" id="{F4E92DC1-45DD-4079-891E-C554A31468C4}"/>
              </a:ext>
            </a:extLst>
          </p:cNvPr>
          <p:cNvSpPr/>
          <p:nvPr/>
        </p:nvSpPr>
        <p:spPr>
          <a:xfrm>
            <a:off x="5253923" y="1557155"/>
            <a:ext cx="5420703" cy="788589"/>
          </a:xfrm>
          <a:prstGeom prst="chevron">
            <a:avLst>
              <a:gd name="adj" fmla="val 30194"/>
            </a:avLst>
          </a:prstGeom>
          <a:solidFill>
            <a:schemeClr val="accent1">
              <a:lumMod val="75000"/>
            </a:schemeClr>
          </a:solidFill>
          <a:ln w="22225">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pPr defTabSz="914324"/>
            <a:endParaRPr lang="en-US" sz="4798">
              <a:solidFill>
                <a:srgbClr val="000000"/>
              </a:solidFill>
              <a:latin typeface="IBM Plex Sans Light"/>
            </a:endParaRPr>
          </a:p>
        </p:txBody>
      </p:sp>
      <p:sp>
        <p:nvSpPr>
          <p:cNvPr id="8" name="Arrow: Chevron 24">
            <a:extLst>
              <a:ext uri="{FF2B5EF4-FFF2-40B4-BE49-F238E27FC236}">
                <a16:creationId xmlns:a16="http://schemas.microsoft.com/office/drawing/2014/main" id="{C66DDB32-24E7-4448-8A42-C122558DA5BC}"/>
              </a:ext>
            </a:extLst>
          </p:cNvPr>
          <p:cNvSpPr/>
          <p:nvPr/>
        </p:nvSpPr>
        <p:spPr>
          <a:xfrm>
            <a:off x="10356946" y="1557155"/>
            <a:ext cx="1656292" cy="788589"/>
          </a:xfrm>
          <a:prstGeom prst="chevron">
            <a:avLst>
              <a:gd name="adj" fmla="val 30194"/>
            </a:avLst>
          </a:prstGeom>
          <a:solidFill>
            <a:schemeClr val="accent1"/>
          </a:solidFill>
          <a:ln w="22225">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pPr defTabSz="914324"/>
            <a:endParaRPr lang="en-US" sz="4798">
              <a:solidFill>
                <a:srgbClr val="000000"/>
              </a:solidFill>
              <a:latin typeface="IBM Plex Sans Light"/>
            </a:endParaRPr>
          </a:p>
        </p:txBody>
      </p:sp>
      <p:sp>
        <p:nvSpPr>
          <p:cNvPr id="10" name="TextBox 9">
            <a:extLst>
              <a:ext uri="{FF2B5EF4-FFF2-40B4-BE49-F238E27FC236}">
                <a16:creationId xmlns:a16="http://schemas.microsoft.com/office/drawing/2014/main" id="{E991EE3D-6EB3-4A23-BB44-DE5F756F66B9}"/>
              </a:ext>
            </a:extLst>
          </p:cNvPr>
          <p:cNvSpPr txBox="1"/>
          <p:nvPr/>
        </p:nvSpPr>
        <p:spPr>
          <a:xfrm>
            <a:off x="542819" y="1854502"/>
            <a:ext cx="1003243" cy="193899"/>
          </a:xfrm>
          <a:prstGeom prst="rect">
            <a:avLst/>
          </a:prstGeom>
          <a:noFill/>
        </p:spPr>
        <p:txBody>
          <a:bodyPr wrap="square" lIns="0" tIns="0" rIns="0" bIns="0" rtlCol="0" anchor="ctr">
            <a:spAutoFit/>
          </a:bodyPr>
          <a:lstStyle/>
          <a:p>
            <a:pPr algn="ctr" defTabSz="914290">
              <a:lnSpc>
                <a:spcPct val="90000"/>
              </a:lnSpc>
              <a:defRPr/>
            </a:pPr>
            <a:r>
              <a:rPr lang="en-US" sz="1400" b="1" dirty="0">
                <a:ln w="0"/>
                <a:solidFill>
                  <a:srgbClr val="FFFFFF"/>
                </a:solidFill>
                <a:latin typeface="IBM Plex Sans Condensed" panose="020B0506050203000203" pitchFamily="34" charset="77"/>
                <a:cs typeface="Arial"/>
              </a:rPr>
              <a:t>Acquire </a:t>
            </a:r>
          </a:p>
        </p:txBody>
      </p:sp>
      <p:sp>
        <p:nvSpPr>
          <p:cNvPr id="11" name="TextBox 10">
            <a:extLst>
              <a:ext uri="{FF2B5EF4-FFF2-40B4-BE49-F238E27FC236}">
                <a16:creationId xmlns:a16="http://schemas.microsoft.com/office/drawing/2014/main" id="{7072BF69-0104-489A-9A06-2DF65B2231B4}"/>
              </a:ext>
            </a:extLst>
          </p:cNvPr>
          <p:cNvSpPr txBox="1"/>
          <p:nvPr/>
        </p:nvSpPr>
        <p:spPr>
          <a:xfrm>
            <a:off x="2123885" y="1854502"/>
            <a:ext cx="1234094" cy="193899"/>
          </a:xfrm>
          <a:prstGeom prst="rect">
            <a:avLst/>
          </a:prstGeom>
          <a:noFill/>
        </p:spPr>
        <p:txBody>
          <a:bodyPr wrap="square" lIns="0" tIns="0" rIns="0" bIns="0" rtlCol="0" anchor="ctr">
            <a:spAutoFit/>
          </a:bodyPr>
          <a:lstStyle>
            <a:defPPr>
              <a:defRPr lang="en-US"/>
            </a:defPPr>
            <a:lvl1pPr marR="0" lvl="0" indent="0" algn="ctr" fontAlgn="auto">
              <a:lnSpc>
                <a:spcPct val="90000"/>
              </a:lnSpc>
              <a:spcBef>
                <a:spcPts val="0"/>
              </a:spcBef>
              <a:spcAft>
                <a:spcPts val="0"/>
              </a:spcAft>
              <a:buClrTx/>
              <a:buSzTx/>
              <a:buFontTx/>
              <a:buNone/>
              <a:tabLst/>
              <a:defRPr kumimoji="0" sz="1200" b="0" i="0" u="none" strike="noStrike" cap="none" spc="0" normalizeH="0" baseline="0">
                <a:ln w="0"/>
                <a:solidFill>
                  <a:srgbClr val="FFFFFF"/>
                </a:solidFill>
                <a:effectLst/>
                <a:uLnTx/>
                <a:uFillTx/>
                <a:cs typeface="Arial"/>
              </a:defRPr>
            </a:lvl1pPr>
          </a:lstStyle>
          <a:p>
            <a:pPr defTabSz="914324"/>
            <a:r>
              <a:rPr lang="en-US" sz="1400" b="1" dirty="0">
                <a:latin typeface="IBM Plex Sans Condensed" panose="020B0506050203000203" pitchFamily="34" charset="77"/>
              </a:rPr>
              <a:t>Build-out </a:t>
            </a:r>
          </a:p>
        </p:txBody>
      </p:sp>
      <p:sp>
        <p:nvSpPr>
          <p:cNvPr id="13" name="TextBox 12">
            <a:extLst>
              <a:ext uri="{FF2B5EF4-FFF2-40B4-BE49-F238E27FC236}">
                <a16:creationId xmlns:a16="http://schemas.microsoft.com/office/drawing/2014/main" id="{23F395F2-7F13-4E9F-BB48-98F3F7C1C729}"/>
              </a:ext>
            </a:extLst>
          </p:cNvPr>
          <p:cNvSpPr txBox="1"/>
          <p:nvPr/>
        </p:nvSpPr>
        <p:spPr>
          <a:xfrm>
            <a:off x="5564525" y="1757553"/>
            <a:ext cx="1131842" cy="387798"/>
          </a:xfrm>
          <a:prstGeom prst="rect">
            <a:avLst/>
          </a:prstGeom>
          <a:noFill/>
        </p:spPr>
        <p:txBody>
          <a:bodyPr wrap="square" lIns="0" tIns="0" rIns="0" bIns="0" rtlCol="0" anchor="ctr">
            <a:spAutoFit/>
          </a:bodyPr>
          <a:lstStyle/>
          <a:p>
            <a:pPr algn="ctr" defTabSz="914290">
              <a:lnSpc>
                <a:spcPct val="90000"/>
              </a:lnSpc>
              <a:defRPr/>
            </a:pPr>
            <a:r>
              <a:rPr lang="en-US" sz="1400" b="1" dirty="0">
                <a:ln w="0"/>
                <a:solidFill>
                  <a:srgbClr val="FFFFFF"/>
                </a:solidFill>
                <a:latin typeface="IBM Plex Sans Condensed" panose="020B0506050203000203" pitchFamily="34" charset="77"/>
                <a:cs typeface="Arial"/>
              </a:rPr>
              <a:t>Administer Real Estate</a:t>
            </a:r>
          </a:p>
        </p:txBody>
      </p:sp>
      <p:sp>
        <p:nvSpPr>
          <p:cNvPr id="14" name="TextBox 13">
            <a:extLst>
              <a:ext uri="{FF2B5EF4-FFF2-40B4-BE49-F238E27FC236}">
                <a16:creationId xmlns:a16="http://schemas.microsoft.com/office/drawing/2014/main" id="{D8E2AEB7-4E96-448A-B987-64C4BFBDBD32}"/>
              </a:ext>
            </a:extLst>
          </p:cNvPr>
          <p:cNvSpPr txBox="1"/>
          <p:nvPr/>
        </p:nvSpPr>
        <p:spPr>
          <a:xfrm>
            <a:off x="3871827" y="1757553"/>
            <a:ext cx="1105887" cy="387798"/>
          </a:xfrm>
          <a:prstGeom prst="rect">
            <a:avLst/>
          </a:prstGeom>
          <a:noFill/>
        </p:spPr>
        <p:txBody>
          <a:bodyPr wrap="square" lIns="0" tIns="0" rIns="0" bIns="0" rtlCol="0" anchor="ctr">
            <a:spAutoFit/>
          </a:bodyPr>
          <a:lstStyle/>
          <a:p>
            <a:pPr algn="ctr" defTabSz="914290">
              <a:lnSpc>
                <a:spcPct val="90000"/>
              </a:lnSpc>
              <a:defRPr/>
            </a:pPr>
            <a:r>
              <a:rPr lang="en-US" sz="1400" b="1" dirty="0">
                <a:ln w="0"/>
                <a:solidFill>
                  <a:srgbClr val="FFFFFF"/>
                </a:solidFill>
                <a:latin typeface="IBM Plex Sans Condensed" panose="020B0506050203000203" pitchFamily="34" charset="77"/>
                <a:cs typeface="Arial"/>
              </a:rPr>
              <a:t>Populate Portfolio Data</a:t>
            </a:r>
          </a:p>
        </p:txBody>
      </p:sp>
      <p:sp>
        <p:nvSpPr>
          <p:cNvPr id="15" name="TextBox 14">
            <a:extLst>
              <a:ext uri="{FF2B5EF4-FFF2-40B4-BE49-F238E27FC236}">
                <a16:creationId xmlns:a16="http://schemas.microsoft.com/office/drawing/2014/main" id="{24275763-44B8-4716-AB05-404E0F30CAE8}"/>
              </a:ext>
            </a:extLst>
          </p:cNvPr>
          <p:cNvSpPr txBox="1"/>
          <p:nvPr/>
        </p:nvSpPr>
        <p:spPr>
          <a:xfrm>
            <a:off x="7240962" y="1854502"/>
            <a:ext cx="1122190" cy="193899"/>
          </a:xfrm>
          <a:prstGeom prst="rect">
            <a:avLst/>
          </a:prstGeom>
          <a:noFill/>
        </p:spPr>
        <p:txBody>
          <a:bodyPr wrap="square" lIns="0" tIns="0" rIns="0" bIns="0" rtlCol="0" anchor="ctr">
            <a:spAutoFit/>
          </a:bodyPr>
          <a:lstStyle>
            <a:defPPr>
              <a:defRPr lang="en-US"/>
            </a:defPPr>
            <a:lvl1pPr marR="0" lvl="0" indent="0" algn="ctr" fontAlgn="auto">
              <a:lnSpc>
                <a:spcPct val="90000"/>
              </a:lnSpc>
              <a:spcBef>
                <a:spcPts val="0"/>
              </a:spcBef>
              <a:spcAft>
                <a:spcPts val="0"/>
              </a:spcAft>
              <a:buClrTx/>
              <a:buSzTx/>
              <a:buFontTx/>
              <a:buNone/>
              <a:tabLst/>
              <a:defRPr kumimoji="0" sz="1200" b="0" i="0" u="none" strike="noStrike" cap="none" spc="0" normalizeH="0" baseline="0">
                <a:ln w="0"/>
                <a:solidFill>
                  <a:srgbClr val="FFFFFF"/>
                </a:solidFill>
                <a:effectLst/>
                <a:uLnTx/>
                <a:uFillTx/>
                <a:cs typeface="Arial"/>
              </a:defRPr>
            </a:lvl1pPr>
          </a:lstStyle>
          <a:p>
            <a:pPr defTabSz="914324"/>
            <a:r>
              <a:rPr lang="en-US" sz="1400" b="1" dirty="0">
                <a:latin typeface="IBM Plex Sans Condensed" panose="020B0506050203000203" pitchFamily="34" charset="77"/>
              </a:rPr>
              <a:t>Experience </a:t>
            </a:r>
          </a:p>
        </p:txBody>
      </p:sp>
      <p:sp>
        <p:nvSpPr>
          <p:cNvPr id="16" name="TextBox 15">
            <a:extLst>
              <a:ext uri="{FF2B5EF4-FFF2-40B4-BE49-F238E27FC236}">
                <a16:creationId xmlns:a16="http://schemas.microsoft.com/office/drawing/2014/main" id="{E2A1AB92-14C3-4486-802F-18A021486418}"/>
              </a:ext>
            </a:extLst>
          </p:cNvPr>
          <p:cNvSpPr txBox="1"/>
          <p:nvPr/>
        </p:nvSpPr>
        <p:spPr>
          <a:xfrm>
            <a:off x="8790503" y="1854502"/>
            <a:ext cx="1420874" cy="193899"/>
          </a:xfrm>
          <a:prstGeom prst="rect">
            <a:avLst/>
          </a:prstGeom>
          <a:noFill/>
        </p:spPr>
        <p:txBody>
          <a:bodyPr wrap="square" lIns="0" tIns="0" rIns="0" bIns="0" rtlCol="0" anchor="ctr">
            <a:spAutoFit/>
          </a:bodyPr>
          <a:lstStyle>
            <a:defPPr>
              <a:defRPr lang="en-US"/>
            </a:defPPr>
            <a:lvl1pPr marR="0" lvl="0" indent="0" algn="ctr" fontAlgn="auto">
              <a:lnSpc>
                <a:spcPct val="90000"/>
              </a:lnSpc>
              <a:spcBef>
                <a:spcPts val="0"/>
              </a:spcBef>
              <a:spcAft>
                <a:spcPts val="0"/>
              </a:spcAft>
              <a:buClrTx/>
              <a:buSzTx/>
              <a:buFontTx/>
              <a:buNone/>
              <a:tabLst/>
              <a:defRPr kumimoji="0" sz="1200" b="0" i="0" u="none" strike="noStrike" cap="none" spc="0" normalizeH="0" baseline="0">
                <a:ln w="0"/>
                <a:solidFill>
                  <a:srgbClr val="FFFFFF"/>
                </a:solidFill>
                <a:effectLst/>
                <a:uLnTx/>
                <a:uFillTx/>
                <a:cs typeface="Arial"/>
              </a:defRPr>
            </a:lvl1pPr>
          </a:lstStyle>
          <a:p>
            <a:pPr defTabSz="914324"/>
            <a:r>
              <a:rPr lang="en-US" sz="1400" b="1" dirty="0">
                <a:latin typeface="IBM Plex Sans Condensed" panose="020B0506050203000203" pitchFamily="34" charset="77"/>
              </a:rPr>
              <a:t>Maintain </a:t>
            </a:r>
          </a:p>
        </p:txBody>
      </p:sp>
      <p:sp>
        <p:nvSpPr>
          <p:cNvPr id="23" name="Rectangle 22">
            <a:extLst>
              <a:ext uri="{FF2B5EF4-FFF2-40B4-BE49-F238E27FC236}">
                <a16:creationId xmlns:a16="http://schemas.microsoft.com/office/drawing/2014/main" id="{E07476AD-A8BA-416B-AAB3-2A8CA98C6DD5}"/>
              </a:ext>
            </a:extLst>
          </p:cNvPr>
          <p:cNvSpPr/>
          <p:nvPr/>
        </p:nvSpPr>
        <p:spPr>
          <a:xfrm>
            <a:off x="384766" y="1227029"/>
            <a:ext cx="1334630" cy="311069"/>
          </a:xfrm>
          <a:prstGeom prst="rect">
            <a:avLst/>
          </a:prstGeom>
          <a:noFill/>
          <a:ln>
            <a:noFill/>
          </a:ln>
        </p:spPr>
        <p:txBody>
          <a:bodyPr wrap="square" lIns="0" tIns="0" rIns="0" bIns="0" rtlCol="0" anchor="ctr">
            <a:noAutofit/>
          </a:bodyPr>
          <a:lstStyle/>
          <a:p>
            <a:pPr defTabSz="914290">
              <a:defRPr/>
            </a:pPr>
            <a:r>
              <a:rPr lang="en-US" sz="1333" dirty="0">
                <a:ln w="0"/>
                <a:solidFill>
                  <a:srgbClr val="001D6C"/>
                </a:solidFill>
                <a:latin typeface="IBM Plex Sans Light" panose="020B0403050203000203" pitchFamily="34" charset="0"/>
                <a:cs typeface="Arial"/>
              </a:rPr>
              <a:t>On-Boarding</a:t>
            </a:r>
          </a:p>
        </p:txBody>
      </p:sp>
      <p:sp>
        <p:nvSpPr>
          <p:cNvPr id="24" name="Rectangle 23">
            <a:extLst>
              <a:ext uri="{FF2B5EF4-FFF2-40B4-BE49-F238E27FC236}">
                <a16:creationId xmlns:a16="http://schemas.microsoft.com/office/drawing/2014/main" id="{7E4BDEE4-E5F6-451C-9EFB-0E4F62660E0B}"/>
              </a:ext>
            </a:extLst>
          </p:cNvPr>
          <p:cNvSpPr/>
          <p:nvPr/>
        </p:nvSpPr>
        <p:spPr>
          <a:xfrm>
            <a:off x="5466114" y="1227029"/>
            <a:ext cx="1709521" cy="311069"/>
          </a:xfrm>
          <a:prstGeom prst="rect">
            <a:avLst/>
          </a:prstGeom>
          <a:noFill/>
          <a:ln>
            <a:noFill/>
          </a:ln>
        </p:spPr>
        <p:txBody>
          <a:bodyPr wrap="square" lIns="0" tIns="0" rIns="0" bIns="0" rtlCol="0" anchor="ctr">
            <a:noAutofit/>
          </a:bodyPr>
          <a:lstStyle/>
          <a:p>
            <a:pPr defTabSz="914290">
              <a:defRPr/>
            </a:pPr>
            <a:r>
              <a:rPr lang="en-US" sz="1333" dirty="0">
                <a:ln w="0"/>
                <a:solidFill>
                  <a:srgbClr val="0F62FE">
                    <a:lumMod val="75000"/>
                  </a:srgbClr>
                </a:solidFill>
                <a:latin typeface="IBM Plex Sans Light" panose="020B0403050203000203" pitchFamily="34" charset="0"/>
                <a:cs typeface="Arial"/>
              </a:rPr>
              <a:t>Utilize</a:t>
            </a:r>
          </a:p>
        </p:txBody>
      </p:sp>
      <p:cxnSp>
        <p:nvCxnSpPr>
          <p:cNvPr id="25" name="Elbow Connector 92">
            <a:extLst>
              <a:ext uri="{FF2B5EF4-FFF2-40B4-BE49-F238E27FC236}">
                <a16:creationId xmlns:a16="http://schemas.microsoft.com/office/drawing/2014/main" id="{7227EC97-5D65-47D0-A8ED-29F2EB6BBEBE}"/>
              </a:ext>
            </a:extLst>
          </p:cNvPr>
          <p:cNvCxnSpPr>
            <a:cxnSpLocks/>
            <a:stCxn id="49" idx="4"/>
            <a:endCxn id="50" idx="4"/>
          </p:cNvCxnSpPr>
          <p:nvPr/>
        </p:nvCxnSpPr>
        <p:spPr>
          <a:xfrm rot="5400000">
            <a:off x="6111774" y="-1032977"/>
            <a:ext cx="16929" cy="6757447"/>
          </a:xfrm>
          <a:prstGeom prst="bentConnector3">
            <a:avLst>
              <a:gd name="adj1" fmla="val 1466646"/>
            </a:avLst>
          </a:prstGeom>
          <a:ln w="3175">
            <a:gradFill>
              <a:gsLst>
                <a:gs pos="0">
                  <a:schemeClr val="accent2"/>
                </a:gs>
                <a:gs pos="46000">
                  <a:schemeClr val="accent1"/>
                </a:gs>
                <a:gs pos="87000">
                  <a:srgbClr val="001D6C"/>
                </a:gs>
              </a:gsLst>
              <a:lin ang="5400000" scaled="1"/>
            </a:gradFill>
            <a:headEnd w="sm" len="sm"/>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CB8FDE45-302A-460D-9614-9067B1680D0C}"/>
              </a:ext>
            </a:extLst>
          </p:cNvPr>
          <p:cNvSpPr txBox="1"/>
          <p:nvPr/>
        </p:nvSpPr>
        <p:spPr>
          <a:xfrm>
            <a:off x="309697" y="2677522"/>
            <a:ext cx="1633580" cy="1908215"/>
          </a:xfrm>
          <a:prstGeom prst="rect">
            <a:avLst/>
          </a:prstGeom>
          <a:noFill/>
        </p:spPr>
        <p:txBody>
          <a:bodyPr wrap="square" lIns="0" tIns="0" rIns="0" bIns="0" rtlCol="0">
            <a:spAutoFit/>
          </a:bodyPr>
          <a:lstStyle/>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Portfolio assessment</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Identify requirements</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Build transaction plans</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Search and compare potential locations</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Justify lease or purchase decision</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Exercise lease options</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Execute purchases</a:t>
            </a:r>
          </a:p>
        </p:txBody>
      </p:sp>
      <p:sp>
        <p:nvSpPr>
          <p:cNvPr id="27" name="TextBox 26">
            <a:extLst>
              <a:ext uri="{FF2B5EF4-FFF2-40B4-BE49-F238E27FC236}">
                <a16:creationId xmlns:a16="http://schemas.microsoft.com/office/drawing/2014/main" id="{825FCC15-E422-4C2E-90BB-7DA93CA474D3}"/>
              </a:ext>
            </a:extLst>
          </p:cNvPr>
          <p:cNvSpPr txBox="1"/>
          <p:nvPr/>
        </p:nvSpPr>
        <p:spPr>
          <a:xfrm>
            <a:off x="1992431" y="2677522"/>
            <a:ext cx="1633580" cy="2416046"/>
          </a:xfrm>
          <a:prstGeom prst="rect">
            <a:avLst/>
          </a:prstGeom>
          <a:noFill/>
        </p:spPr>
        <p:txBody>
          <a:bodyPr wrap="square" lIns="0" tIns="0" rIns="0" bIns="0" rtlCol="0">
            <a:spAutoFit/>
          </a:bodyPr>
          <a:lstStyle/>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Estimate projects</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Prioritize and execute environmental improvement projects</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Establish and manage schedules</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Manage proposals</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Manage commitments and payments</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Manage project risks, changes and progress</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Project close-out</a:t>
            </a:r>
          </a:p>
        </p:txBody>
      </p:sp>
      <p:sp>
        <p:nvSpPr>
          <p:cNvPr id="28" name="TextBox 27">
            <a:extLst>
              <a:ext uri="{FF2B5EF4-FFF2-40B4-BE49-F238E27FC236}">
                <a16:creationId xmlns:a16="http://schemas.microsoft.com/office/drawing/2014/main" id="{03F53D78-F205-4E45-80A4-67BDBABF89EE}"/>
              </a:ext>
            </a:extLst>
          </p:cNvPr>
          <p:cNvSpPr txBox="1"/>
          <p:nvPr/>
        </p:nvSpPr>
        <p:spPr>
          <a:xfrm>
            <a:off x="5357899" y="2677522"/>
            <a:ext cx="1633580" cy="2246769"/>
          </a:xfrm>
          <a:prstGeom prst="rect">
            <a:avLst/>
          </a:prstGeom>
          <a:noFill/>
        </p:spPr>
        <p:txBody>
          <a:bodyPr wrap="square" lIns="0" tIns="0" rIns="0" bIns="0" rtlCol="0">
            <a:spAutoFit/>
          </a:bodyPr>
          <a:lstStyle/>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Abstract new leases</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Meet lease accounting regulations</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Manage monthly lease financials</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Track critical dates</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Comply with lease terms</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Renegotiate leases</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Property mgt of leased and owned properties</a:t>
            </a:r>
          </a:p>
        </p:txBody>
      </p:sp>
      <p:sp>
        <p:nvSpPr>
          <p:cNvPr id="29" name="TextBox 28">
            <a:extLst>
              <a:ext uri="{FF2B5EF4-FFF2-40B4-BE49-F238E27FC236}">
                <a16:creationId xmlns:a16="http://schemas.microsoft.com/office/drawing/2014/main" id="{AB303C29-F585-401C-918F-857F59C88906}"/>
              </a:ext>
            </a:extLst>
          </p:cNvPr>
          <p:cNvSpPr txBox="1"/>
          <p:nvPr/>
        </p:nvSpPr>
        <p:spPr>
          <a:xfrm>
            <a:off x="3675165" y="2692821"/>
            <a:ext cx="1633580" cy="2480166"/>
          </a:xfrm>
          <a:prstGeom prst="rect">
            <a:avLst/>
          </a:prstGeom>
          <a:noFill/>
        </p:spPr>
        <p:txBody>
          <a:bodyPr wrap="square" lIns="0" tIns="0" rIns="0" bIns="0" rtlCol="0">
            <a:spAutoFit/>
          </a:bodyPr>
          <a:lstStyle/>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Populate location hierarchy</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Load floorplans from CAD/BIM</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Load assets</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Manage space details </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Manage space allocations</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Assign seats</a:t>
            </a:r>
          </a:p>
          <a:p>
            <a:pPr marL="154458" indent="-154458" defTabSz="914324">
              <a:spcAft>
                <a:spcPts val="533"/>
              </a:spcAft>
              <a:buFont typeface="Calibri Light" panose="020F0302020204030204" pitchFamily="34" charset="0"/>
              <a:buChar char="–"/>
            </a:pPr>
            <a:r>
              <a:rPr lang="en-US" sz="1100" dirty="0">
                <a:latin typeface="IBM Plex Sans Light" panose="020B0403050203000203" pitchFamily="34" charset="0"/>
              </a:rPr>
              <a:t>Synthesize utility and BMS data sources</a:t>
            </a:r>
          </a:p>
          <a:p>
            <a:pPr defTabSz="914324">
              <a:spcAft>
                <a:spcPts val="533"/>
              </a:spcAft>
            </a:pPr>
            <a:endParaRPr lang="en-US" sz="1100" dirty="0">
              <a:solidFill>
                <a:srgbClr val="000000"/>
              </a:solidFill>
              <a:latin typeface="IBM Plex Sans Light"/>
              <a:ea typeface="IBM Plex Sans" charset="0"/>
              <a:cs typeface="IBM Plex Sans" charset="0"/>
            </a:endParaRPr>
          </a:p>
        </p:txBody>
      </p:sp>
      <p:sp>
        <p:nvSpPr>
          <p:cNvPr id="30" name="TextBox 29">
            <a:extLst>
              <a:ext uri="{FF2B5EF4-FFF2-40B4-BE49-F238E27FC236}">
                <a16:creationId xmlns:a16="http://schemas.microsoft.com/office/drawing/2014/main" id="{4392EBA1-FCE0-4EB6-9A44-3A357B502D9F}"/>
              </a:ext>
            </a:extLst>
          </p:cNvPr>
          <p:cNvSpPr txBox="1"/>
          <p:nvPr/>
        </p:nvSpPr>
        <p:spPr>
          <a:xfrm>
            <a:off x="7040633" y="2677521"/>
            <a:ext cx="1633580" cy="2246769"/>
          </a:xfrm>
          <a:prstGeom prst="rect">
            <a:avLst/>
          </a:prstGeom>
          <a:noFill/>
        </p:spPr>
        <p:txBody>
          <a:bodyPr wrap="square" lIns="0" tIns="0" rIns="0" bIns="0" rtlCol="0">
            <a:spAutoFit/>
          </a:bodyPr>
          <a:lstStyle/>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Measure real time </a:t>
            </a:r>
            <a:br>
              <a:rPr lang="en-US" sz="1100" dirty="0">
                <a:solidFill>
                  <a:srgbClr val="000000"/>
                </a:solidFill>
                <a:latin typeface="IBM Plex Sans Light"/>
                <a:ea typeface="IBM Plex Sans" charset="0"/>
                <a:cs typeface="IBM Plex Sans" charset="0"/>
              </a:rPr>
            </a:br>
            <a:r>
              <a:rPr lang="en-US" sz="1100" dirty="0">
                <a:solidFill>
                  <a:srgbClr val="000000"/>
                </a:solidFill>
                <a:latin typeface="IBM Plex Sans Light"/>
                <a:ea typeface="IBM Plex Sans" charset="0"/>
                <a:cs typeface="IBM Plex Sans" charset="0"/>
              </a:rPr>
              <a:t>space use</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Validate space use</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Initiate and manage moves</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Employee workplace services portal</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Reserve work and meeting space</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Indoor wayfinding</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Locate colleagues</a:t>
            </a:r>
          </a:p>
        </p:txBody>
      </p:sp>
      <p:sp>
        <p:nvSpPr>
          <p:cNvPr id="31" name="TextBox 30">
            <a:extLst>
              <a:ext uri="{FF2B5EF4-FFF2-40B4-BE49-F238E27FC236}">
                <a16:creationId xmlns:a16="http://schemas.microsoft.com/office/drawing/2014/main" id="{3E19DE47-7891-4D59-B8AA-89433795D5AF}"/>
              </a:ext>
            </a:extLst>
          </p:cNvPr>
          <p:cNvSpPr txBox="1"/>
          <p:nvPr/>
        </p:nvSpPr>
        <p:spPr>
          <a:xfrm>
            <a:off x="8723366" y="2677522"/>
            <a:ext cx="1694016" cy="3221395"/>
          </a:xfrm>
          <a:prstGeom prst="rect">
            <a:avLst/>
          </a:prstGeom>
          <a:noFill/>
        </p:spPr>
        <p:txBody>
          <a:bodyPr wrap="square" lIns="0" tIns="0" rIns="0" bIns="0" rtlCol="0">
            <a:spAutoFit/>
          </a:bodyPr>
          <a:lstStyle/>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Manage work orders </a:t>
            </a:r>
            <a:br>
              <a:rPr lang="en-US" sz="1100" dirty="0">
                <a:solidFill>
                  <a:srgbClr val="000000"/>
                </a:solidFill>
                <a:latin typeface="IBM Plex Sans Light"/>
                <a:ea typeface="IBM Plex Sans" charset="0"/>
                <a:cs typeface="IBM Plex Sans" charset="0"/>
              </a:rPr>
            </a:br>
            <a:r>
              <a:rPr lang="en-US" sz="1100" dirty="0">
                <a:solidFill>
                  <a:srgbClr val="000000"/>
                </a:solidFill>
                <a:latin typeface="IBM Plex Sans Light"/>
                <a:ea typeface="IBM Plex Sans" charset="0"/>
                <a:cs typeface="IBM Plex Sans" charset="0"/>
              </a:rPr>
              <a:t>and service requests</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Manage planned maintenance</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Maintain parts inventory</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Warranty management</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Plan for facility component lifecycle</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Manage facility </a:t>
            </a:r>
            <a:br>
              <a:rPr lang="en-US" sz="1100" dirty="0">
                <a:solidFill>
                  <a:srgbClr val="000000"/>
                </a:solidFill>
                <a:latin typeface="IBM Plex Sans Light"/>
                <a:ea typeface="IBM Plex Sans" charset="0"/>
                <a:cs typeface="IBM Plex Sans" charset="0"/>
              </a:rPr>
            </a:br>
            <a:r>
              <a:rPr lang="en-US" sz="1100" dirty="0">
                <a:solidFill>
                  <a:srgbClr val="000000"/>
                </a:solidFill>
                <a:latin typeface="IBM Plex Sans Light"/>
                <a:ea typeface="IBM Plex Sans" charset="0"/>
                <a:cs typeface="IBM Plex Sans" charset="0"/>
              </a:rPr>
              <a:t>condition index</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Plan and execute local projects</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Identify environmental improvement projects</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Track utility consumption</a:t>
            </a:r>
          </a:p>
        </p:txBody>
      </p:sp>
      <p:sp>
        <p:nvSpPr>
          <p:cNvPr id="33" name="TextBox 32">
            <a:extLst>
              <a:ext uri="{FF2B5EF4-FFF2-40B4-BE49-F238E27FC236}">
                <a16:creationId xmlns:a16="http://schemas.microsoft.com/office/drawing/2014/main" id="{4911FE87-BFF1-49C8-A4F0-930541D94F7D}"/>
              </a:ext>
            </a:extLst>
          </p:cNvPr>
          <p:cNvSpPr txBox="1"/>
          <p:nvPr/>
        </p:nvSpPr>
        <p:spPr>
          <a:xfrm>
            <a:off x="10406095" y="2677523"/>
            <a:ext cx="1633580" cy="2713563"/>
          </a:xfrm>
          <a:prstGeom prst="rect">
            <a:avLst/>
          </a:prstGeom>
          <a:noFill/>
        </p:spPr>
        <p:txBody>
          <a:bodyPr wrap="square" lIns="0" tIns="0" rIns="0" bIns="0" rtlCol="0">
            <a:spAutoFit/>
          </a:bodyPr>
          <a:lstStyle/>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Portfolio assessment</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Identify space and facilities to relinquish</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Model space scenarios</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Implement moves</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Identify excess space for disposal</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Define and compare downsize scenarios</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Decide and execute</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Site remediation</a:t>
            </a:r>
          </a:p>
          <a:p>
            <a:pPr marL="154458" indent="-154458" defTabSz="914324">
              <a:spcAft>
                <a:spcPts val="533"/>
              </a:spcAft>
              <a:buFont typeface="Calibri Light" panose="020F0302020204030204" pitchFamily="34" charset="0"/>
              <a:buChar char="–"/>
            </a:pPr>
            <a:r>
              <a:rPr lang="en-US" sz="1100" dirty="0">
                <a:solidFill>
                  <a:srgbClr val="000000"/>
                </a:solidFill>
                <a:latin typeface="IBM Plex Sans Light"/>
                <a:ea typeface="IBM Plex Sans" charset="0"/>
                <a:cs typeface="IBM Plex Sans" charset="0"/>
              </a:rPr>
              <a:t>Prepare site to sell or return</a:t>
            </a:r>
          </a:p>
        </p:txBody>
      </p:sp>
      <p:sp>
        <p:nvSpPr>
          <p:cNvPr id="12" name="Isosceles Triangle 11">
            <a:extLst>
              <a:ext uri="{FF2B5EF4-FFF2-40B4-BE49-F238E27FC236}">
                <a16:creationId xmlns:a16="http://schemas.microsoft.com/office/drawing/2014/main" id="{34C09E3C-81CC-4A8D-BB72-07B146E3C788}"/>
              </a:ext>
            </a:extLst>
          </p:cNvPr>
          <p:cNvSpPr/>
          <p:nvPr/>
        </p:nvSpPr>
        <p:spPr bwMode="auto">
          <a:xfrm rot="5400000">
            <a:off x="1774446" y="1887302"/>
            <a:ext cx="211418" cy="128294"/>
          </a:xfrm>
          <a:prstGeom prst="triangle">
            <a:avLst/>
          </a:prstGeom>
          <a:solidFill>
            <a:schemeClr val="bg1">
              <a:alpha val="3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7988" tIns="47988" rIns="47988" bIns="47988" numCol="1" rtlCol="0" anchor="ctr" anchorCtr="0" compatLnSpc="1">
            <a:prstTxWarp prst="textNoShape">
              <a:avLst/>
            </a:prstTxWarp>
          </a:bodyPr>
          <a:lstStyle/>
          <a:p>
            <a:pPr defTabSz="1218727" fontAlgn="base">
              <a:lnSpc>
                <a:spcPct val="90000"/>
              </a:lnSpc>
              <a:spcBef>
                <a:spcPct val="0"/>
              </a:spcBef>
              <a:spcAft>
                <a:spcPct val="0"/>
              </a:spcAft>
              <a:defRPr/>
            </a:pPr>
            <a:endParaRPr lang="en-US" sz="1866" dirty="0">
              <a:solidFill>
                <a:srgbClr val="FFFFFF"/>
              </a:solidFill>
              <a:latin typeface="IBM Plex Sans Light"/>
            </a:endParaRPr>
          </a:p>
        </p:txBody>
      </p:sp>
      <p:sp>
        <p:nvSpPr>
          <p:cNvPr id="19" name="Isosceles Triangle 21">
            <a:extLst>
              <a:ext uri="{FF2B5EF4-FFF2-40B4-BE49-F238E27FC236}">
                <a16:creationId xmlns:a16="http://schemas.microsoft.com/office/drawing/2014/main" id="{78B1117D-C205-4520-A2E6-59BB923AD9E5}"/>
              </a:ext>
            </a:extLst>
          </p:cNvPr>
          <p:cNvSpPr/>
          <p:nvPr/>
        </p:nvSpPr>
        <p:spPr bwMode="auto">
          <a:xfrm rot="5400000">
            <a:off x="3462802" y="1887302"/>
            <a:ext cx="211418" cy="128294"/>
          </a:xfrm>
          <a:prstGeom prst="triangle">
            <a:avLst/>
          </a:prstGeom>
          <a:solidFill>
            <a:schemeClr val="bg1">
              <a:alpha val="3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7988" tIns="47988" rIns="47988" bIns="47988" numCol="1" rtlCol="0" anchor="ctr" anchorCtr="0" compatLnSpc="1">
            <a:prstTxWarp prst="textNoShape">
              <a:avLst/>
            </a:prstTxWarp>
          </a:bodyPr>
          <a:lstStyle/>
          <a:p>
            <a:pPr defTabSz="1218727" fontAlgn="base">
              <a:lnSpc>
                <a:spcPct val="90000"/>
              </a:lnSpc>
              <a:spcBef>
                <a:spcPct val="0"/>
              </a:spcBef>
              <a:spcAft>
                <a:spcPct val="0"/>
              </a:spcAft>
              <a:defRPr/>
            </a:pPr>
            <a:endParaRPr lang="en-US" sz="1866" dirty="0">
              <a:solidFill>
                <a:srgbClr val="FFFFFF"/>
              </a:solidFill>
              <a:latin typeface="IBM Plex Sans Light"/>
            </a:endParaRPr>
          </a:p>
        </p:txBody>
      </p:sp>
      <p:sp>
        <p:nvSpPr>
          <p:cNvPr id="20" name="Isosceles Triangle 22">
            <a:extLst>
              <a:ext uri="{FF2B5EF4-FFF2-40B4-BE49-F238E27FC236}">
                <a16:creationId xmlns:a16="http://schemas.microsoft.com/office/drawing/2014/main" id="{A460AD97-C358-438B-9E15-ECB42BD94B3A}"/>
              </a:ext>
            </a:extLst>
          </p:cNvPr>
          <p:cNvSpPr/>
          <p:nvPr/>
        </p:nvSpPr>
        <p:spPr bwMode="auto">
          <a:xfrm rot="5400000">
            <a:off x="6839512" y="1887302"/>
            <a:ext cx="211418" cy="128294"/>
          </a:xfrm>
          <a:prstGeom prst="triangle">
            <a:avLst/>
          </a:prstGeom>
          <a:solidFill>
            <a:schemeClr val="bg1">
              <a:alpha val="3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7988" tIns="47988" rIns="47988" bIns="47988" numCol="1" rtlCol="0" anchor="ctr" anchorCtr="0" compatLnSpc="1">
            <a:prstTxWarp prst="textNoShape">
              <a:avLst/>
            </a:prstTxWarp>
          </a:bodyPr>
          <a:lstStyle/>
          <a:p>
            <a:pPr defTabSz="1218727" fontAlgn="base">
              <a:lnSpc>
                <a:spcPct val="90000"/>
              </a:lnSpc>
              <a:spcBef>
                <a:spcPct val="0"/>
              </a:spcBef>
              <a:spcAft>
                <a:spcPct val="0"/>
              </a:spcAft>
              <a:defRPr/>
            </a:pPr>
            <a:endParaRPr lang="en-US" sz="1866" dirty="0">
              <a:solidFill>
                <a:srgbClr val="FFFFFF"/>
              </a:solidFill>
              <a:latin typeface="IBM Plex Sans Light"/>
            </a:endParaRPr>
          </a:p>
        </p:txBody>
      </p:sp>
      <p:sp>
        <p:nvSpPr>
          <p:cNvPr id="21" name="Isosceles Triangle 23">
            <a:extLst>
              <a:ext uri="{FF2B5EF4-FFF2-40B4-BE49-F238E27FC236}">
                <a16:creationId xmlns:a16="http://schemas.microsoft.com/office/drawing/2014/main" id="{BAF90EC6-5D4C-4791-8FC9-74242ABFCA5F}"/>
              </a:ext>
            </a:extLst>
          </p:cNvPr>
          <p:cNvSpPr/>
          <p:nvPr/>
        </p:nvSpPr>
        <p:spPr bwMode="auto">
          <a:xfrm rot="5400000">
            <a:off x="8527870" y="1887302"/>
            <a:ext cx="211418" cy="128294"/>
          </a:xfrm>
          <a:prstGeom prst="triangle">
            <a:avLst/>
          </a:prstGeom>
          <a:solidFill>
            <a:schemeClr val="bg1">
              <a:alpha val="3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7988" tIns="47988" rIns="47988" bIns="47988" numCol="1" rtlCol="0" anchor="ctr" anchorCtr="0" compatLnSpc="1">
            <a:prstTxWarp prst="textNoShape">
              <a:avLst/>
            </a:prstTxWarp>
          </a:bodyPr>
          <a:lstStyle/>
          <a:p>
            <a:pPr defTabSz="1218727" fontAlgn="base">
              <a:lnSpc>
                <a:spcPct val="90000"/>
              </a:lnSpc>
              <a:spcBef>
                <a:spcPct val="0"/>
              </a:spcBef>
              <a:spcAft>
                <a:spcPct val="0"/>
              </a:spcAft>
              <a:defRPr/>
            </a:pPr>
            <a:endParaRPr lang="en-US" sz="1866" dirty="0">
              <a:solidFill>
                <a:srgbClr val="FFFFFF"/>
              </a:solidFill>
              <a:latin typeface="IBM Plex Sans Light"/>
            </a:endParaRPr>
          </a:p>
        </p:txBody>
      </p:sp>
      <p:sp>
        <p:nvSpPr>
          <p:cNvPr id="22" name="TextBox 21">
            <a:extLst>
              <a:ext uri="{FF2B5EF4-FFF2-40B4-BE49-F238E27FC236}">
                <a16:creationId xmlns:a16="http://schemas.microsoft.com/office/drawing/2014/main" id="{1A095B53-7109-4788-A0C3-B5AB4D35F667}"/>
              </a:ext>
            </a:extLst>
          </p:cNvPr>
          <p:cNvSpPr txBox="1"/>
          <p:nvPr/>
        </p:nvSpPr>
        <p:spPr>
          <a:xfrm>
            <a:off x="10734014" y="1843727"/>
            <a:ext cx="871875" cy="215444"/>
          </a:xfrm>
          <a:prstGeom prst="rect">
            <a:avLst/>
          </a:prstGeom>
          <a:noFill/>
        </p:spPr>
        <p:txBody>
          <a:bodyPr wrap="square" lIns="0" tIns="0" rIns="0" bIns="0" rtlCol="0" anchor="ctr">
            <a:spAutoFit/>
          </a:bodyPr>
          <a:lstStyle/>
          <a:p>
            <a:pPr algn="ctr" defTabSz="914290">
              <a:defRPr/>
            </a:pPr>
            <a:r>
              <a:rPr lang="en-US" sz="1400" b="1" dirty="0">
                <a:ln w="0"/>
                <a:solidFill>
                  <a:srgbClr val="FFFFFF"/>
                </a:solidFill>
                <a:latin typeface="IBM Plex Sans Condensed" panose="020B0506050203000203" pitchFamily="34" charset="77"/>
                <a:cs typeface="Arial"/>
              </a:rPr>
              <a:t>Dispose </a:t>
            </a:r>
          </a:p>
        </p:txBody>
      </p:sp>
      <p:sp>
        <p:nvSpPr>
          <p:cNvPr id="44" name="Rectangle 43">
            <a:extLst>
              <a:ext uri="{FF2B5EF4-FFF2-40B4-BE49-F238E27FC236}">
                <a16:creationId xmlns:a16="http://schemas.microsoft.com/office/drawing/2014/main" id="{18A13340-B78C-B1D6-3AD6-61DA6C760A23}"/>
              </a:ext>
            </a:extLst>
          </p:cNvPr>
          <p:cNvSpPr/>
          <p:nvPr/>
        </p:nvSpPr>
        <p:spPr>
          <a:xfrm>
            <a:off x="10417383" y="1227029"/>
            <a:ext cx="1709521" cy="311069"/>
          </a:xfrm>
          <a:prstGeom prst="rect">
            <a:avLst/>
          </a:prstGeom>
          <a:noFill/>
          <a:ln>
            <a:noFill/>
          </a:ln>
        </p:spPr>
        <p:txBody>
          <a:bodyPr wrap="square" lIns="0" tIns="0" rIns="0" bIns="0" rtlCol="0" anchor="ctr">
            <a:noAutofit/>
          </a:bodyPr>
          <a:lstStyle/>
          <a:p>
            <a:pPr defTabSz="914290">
              <a:defRPr/>
            </a:pPr>
            <a:r>
              <a:rPr lang="en-US" sz="1333" dirty="0">
                <a:ln w="0"/>
                <a:solidFill>
                  <a:srgbClr val="0F62FE"/>
                </a:solidFill>
                <a:latin typeface="IBM Plex Sans Light" panose="020B0403050203000203" pitchFamily="34" charset="0"/>
                <a:cs typeface="Arial"/>
              </a:rPr>
              <a:t>Disposal</a:t>
            </a:r>
          </a:p>
        </p:txBody>
      </p:sp>
      <p:sp>
        <p:nvSpPr>
          <p:cNvPr id="49" name="Oval 48">
            <a:extLst>
              <a:ext uri="{FF2B5EF4-FFF2-40B4-BE49-F238E27FC236}">
                <a16:creationId xmlns:a16="http://schemas.microsoft.com/office/drawing/2014/main" id="{889FD1E3-ED26-B79A-076B-FE76473350D8}"/>
              </a:ext>
            </a:extLst>
          </p:cNvPr>
          <p:cNvSpPr/>
          <p:nvPr/>
        </p:nvSpPr>
        <p:spPr bwMode="auto">
          <a:xfrm>
            <a:off x="9420208" y="2205168"/>
            <a:ext cx="140576" cy="140576"/>
          </a:xfrm>
          <a:prstGeom prst="ellipse">
            <a:avLst/>
          </a:prstGeom>
          <a:no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21888" tIns="121888" rIns="121888" bIns="121888" numCol="1" rtlCol="0" anchor="t" anchorCtr="0" compatLnSpc="1">
            <a:prstTxWarp prst="textNoShape">
              <a:avLst/>
            </a:prstTxWarp>
          </a:bodyPr>
          <a:lstStyle/>
          <a:p>
            <a:pPr defTabSz="1218727" fontAlgn="base">
              <a:spcBef>
                <a:spcPct val="0"/>
              </a:spcBef>
              <a:spcAft>
                <a:spcPct val="0"/>
              </a:spcAft>
            </a:pPr>
            <a:endParaRPr lang="en-US" sz="1866" dirty="0">
              <a:solidFill>
                <a:srgbClr val="FFFFFF"/>
              </a:solidFill>
              <a:latin typeface="IBM Plex Sans Light"/>
            </a:endParaRPr>
          </a:p>
        </p:txBody>
      </p:sp>
      <p:sp>
        <p:nvSpPr>
          <p:cNvPr id="50" name="Oval 49">
            <a:extLst>
              <a:ext uri="{FF2B5EF4-FFF2-40B4-BE49-F238E27FC236}">
                <a16:creationId xmlns:a16="http://schemas.microsoft.com/office/drawing/2014/main" id="{C5B94BDC-46DF-3437-47AE-3B5C17925C8F}"/>
              </a:ext>
            </a:extLst>
          </p:cNvPr>
          <p:cNvSpPr/>
          <p:nvPr/>
        </p:nvSpPr>
        <p:spPr bwMode="auto">
          <a:xfrm>
            <a:off x="2662761" y="2205168"/>
            <a:ext cx="140576" cy="140576"/>
          </a:xfrm>
          <a:prstGeom prst="ellipse">
            <a:avLst/>
          </a:prstGeom>
          <a:no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21888" tIns="121888" rIns="121888" bIns="121888" numCol="1" rtlCol="0" anchor="t" anchorCtr="0" compatLnSpc="1">
            <a:prstTxWarp prst="textNoShape">
              <a:avLst/>
            </a:prstTxWarp>
          </a:bodyPr>
          <a:lstStyle/>
          <a:p>
            <a:pPr defTabSz="1218727" fontAlgn="base">
              <a:spcBef>
                <a:spcPct val="0"/>
              </a:spcBef>
              <a:spcAft>
                <a:spcPct val="0"/>
              </a:spcAft>
            </a:pPr>
            <a:endParaRPr lang="en-US" sz="1866" dirty="0">
              <a:solidFill>
                <a:srgbClr val="FFFFFF"/>
              </a:solidFill>
              <a:latin typeface="IBM Plex Sans Light"/>
            </a:endParaRPr>
          </a:p>
        </p:txBody>
      </p:sp>
    </p:spTree>
    <p:extLst>
      <p:ext uri="{BB962C8B-B14F-4D97-AF65-F5344CB8AC3E}">
        <p14:creationId xmlns:p14="http://schemas.microsoft.com/office/powerpoint/2010/main" val="1287866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5381D57-6F34-2A59-9E22-6FEF721F2B7F}"/>
              </a:ext>
            </a:extLst>
          </p:cNvPr>
          <p:cNvSpPr>
            <a:spLocks noGrp="1"/>
          </p:cNvSpPr>
          <p:nvPr>
            <p:ph type="title"/>
          </p:nvPr>
        </p:nvSpPr>
        <p:spPr>
          <a:xfrm>
            <a:off x="230130" y="18441"/>
            <a:ext cx="7610551" cy="677020"/>
          </a:xfrm>
        </p:spPr>
        <p:txBody>
          <a:bodyPr>
            <a:normAutofit/>
          </a:bodyPr>
          <a:lstStyle/>
          <a:p>
            <a:r>
              <a:rPr lang="en-US" sz="2133">
                <a:latin typeface="IBM Plex Sans Light" panose="020B0403050203000203" pitchFamily="34" charset="0"/>
              </a:rPr>
              <a:t>MAS REF AppPoint consumption tiers</a:t>
            </a:r>
          </a:p>
        </p:txBody>
      </p:sp>
      <p:sp>
        <p:nvSpPr>
          <p:cNvPr id="4" name="Slide Number Placeholder 3">
            <a:extLst>
              <a:ext uri="{FF2B5EF4-FFF2-40B4-BE49-F238E27FC236}">
                <a16:creationId xmlns:a16="http://schemas.microsoft.com/office/drawing/2014/main" id="{4DDCFF6B-1174-41CC-0B2C-67E88F590021}"/>
              </a:ext>
            </a:extLst>
          </p:cNvPr>
          <p:cNvSpPr>
            <a:spLocks noGrp="1"/>
          </p:cNvSpPr>
          <p:nvPr>
            <p:ph type="sldNum" sz="quarter" idx="11"/>
          </p:nvPr>
        </p:nvSpPr>
        <p:spPr>
          <a:xfrm>
            <a:off x="11782116" y="6372378"/>
            <a:ext cx="121828" cy="123111"/>
          </a:xfrm>
          <a:prstGeom prst="rect">
            <a:avLst/>
          </a:prstGeom>
          <a:ln w="12700">
            <a:miter lim="400000"/>
          </a:ln>
        </p:spPr>
        <p:txBody>
          <a:bodyPr vert="horz" wrap="none" lIns="0" tIns="0" rIns="0" bIns="0" rtlCol="0" anchor="b" anchorCtr="0">
            <a:spAutoFit/>
          </a:bodyPr>
          <a:lstStyle>
            <a:defPPr>
              <a:defRPr lang="en-US"/>
            </a:defPPr>
            <a:lvl1pPr marL="0" algn="r" defTabSz="914518" rtl="0" eaLnBrk="1" latinLnBrk="0" hangingPunct="1">
              <a:defRPr sz="800" b="0" i="0" kern="1200">
                <a:solidFill>
                  <a:schemeClr val="tx1"/>
                </a:solidFill>
                <a:latin typeface="IBM Plex Sans" panose="020B0503050203000203" pitchFamily="34" charset="0"/>
                <a:ea typeface="+mn-ea"/>
                <a:cs typeface="+mn-cs"/>
                <a:sym typeface="IBM Plex Sans"/>
              </a:defRPr>
            </a:lvl1pPr>
            <a:lvl2pPr marL="457258" algn="l" defTabSz="914518" rtl="0" eaLnBrk="1" latinLnBrk="0" hangingPunct="1">
              <a:defRPr sz="1800" kern="1200">
                <a:solidFill>
                  <a:schemeClr val="tx1"/>
                </a:solidFill>
                <a:latin typeface="+mn-lt"/>
                <a:ea typeface="+mn-ea"/>
                <a:cs typeface="+mn-cs"/>
              </a:defRPr>
            </a:lvl2pPr>
            <a:lvl3pPr marL="914518" algn="l" defTabSz="914518" rtl="0" eaLnBrk="1" latinLnBrk="0" hangingPunct="1">
              <a:defRPr sz="1800" kern="1200">
                <a:solidFill>
                  <a:schemeClr val="tx1"/>
                </a:solidFill>
                <a:latin typeface="+mn-lt"/>
                <a:ea typeface="+mn-ea"/>
                <a:cs typeface="+mn-cs"/>
              </a:defRPr>
            </a:lvl3pPr>
            <a:lvl4pPr marL="1371778" algn="l" defTabSz="914518" rtl="0" eaLnBrk="1" latinLnBrk="0" hangingPunct="1">
              <a:defRPr sz="1800" kern="1200">
                <a:solidFill>
                  <a:schemeClr val="tx1"/>
                </a:solidFill>
                <a:latin typeface="+mn-lt"/>
                <a:ea typeface="+mn-ea"/>
                <a:cs typeface="+mn-cs"/>
              </a:defRPr>
            </a:lvl4pPr>
            <a:lvl5pPr marL="1829037" algn="l" defTabSz="914518" rtl="0" eaLnBrk="1" latinLnBrk="0" hangingPunct="1">
              <a:defRPr sz="1800" kern="1200">
                <a:solidFill>
                  <a:schemeClr val="tx1"/>
                </a:solidFill>
                <a:latin typeface="+mn-lt"/>
                <a:ea typeface="+mn-ea"/>
                <a:cs typeface="+mn-cs"/>
              </a:defRPr>
            </a:lvl5pPr>
            <a:lvl6pPr marL="2286295" algn="l" defTabSz="914518" rtl="0" eaLnBrk="1" latinLnBrk="0" hangingPunct="1">
              <a:defRPr sz="1800" kern="1200">
                <a:solidFill>
                  <a:schemeClr val="tx1"/>
                </a:solidFill>
                <a:latin typeface="+mn-lt"/>
                <a:ea typeface="+mn-ea"/>
                <a:cs typeface="+mn-cs"/>
              </a:defRPr>
            </a:lvl6pPr>
            <a:lvl7pPr marL="2743555" algn="l" defTabSz="914518" rtl="0" eaLnBrk="1" latinLnBrk="0" hangingPunct="1">
              <a:defRPr sz="1800" kern="1200">
                <a:solidFill>
                  <a:schemeClr val="tx1"/>
                </a:solidFill>
                <a:latin typeface="+mn-lt"/>
                <a:ea typeface="+mn-ea"/>
                <a:cs typeface="+mn-cs"/>
              </a:defRPr>
            </a:lvl7pPr>
            <a:lvl8pPr marL="3200813" algn="l" defTabSz="914518" rtl="0" eaLnBrk="1" latinLnBrk="0" hangingPunct="1">
              <a:defRPr sz="1800" kern="1200">
                <a:solidFill>
                  <a:schemeClr val="tx1"/>
                </a:solidFill>
                <a:latin typeface="+mn-lt"/>
                <a:ea typeface="+mn-ea"/>
                <a:cs typeface="+mn-cs"/>
              </a:defRPr>
            </a:lvl8pPr>
            <a:lvl9pPr marL="3658073" algn="l" defTabSz="914518" rtl="0" eaLnBrk="1" latinLnBrk="0" hangingPunct="1">
              <a:defRPr sz="1800" kern="1200">
                <a:solidFill>
                  <a:schemeClr val="tx1"/>
                </a:solidFill>
                <a:latin typeface="+mn-lt"/>
                <a:ea typeface="+mn-ea"/>
                <a:cs typeface="+mn-cs"/>
              </a:defRPr>
            </a:lvl9pPr>
          </a:lstStyle>
          <a:p>
            <a:pPr>
              <a:defRPr/>
            </a:pPr>
            <a:fld id="{59395FB3-9C97-154F-86B2-7E381B951268}" type="slidenum">
              <a:rPr lang="en-US">
                <a:solidFill>
                  <a:prstClr val="black"/>
                </a:solidFill>
              </a:rPr>
              <a:pPr>
                <a:defRPr/>
              </a:pPr>
              <a:t>8</a:t>
            </a:fld>
            <a:endParaRPr lang="en-US">
              <a:solidFill>
                <a:srgbClr val="5A5A5A"/>
              </a:solidFill>
            </a:endParaRPr>
          </a:p>
        </p:txBody>
      </p:sp>
      <p:graphicFrame>
        <p:nvGraphicFramePr>
          <p:cNvPr id="7" name="Table 8">
            <a:extLst>
              <a:ext uri="{FF2B5EF4-FFF2-40B4-BE49-F238E27FC236}">
                <a16:creationId xmlns:a16="http://schemas.microsoft.com/office/drawing/2014/main" id="{C39D7612-C3D7-D39A-BAD7-1ED4694B3568}"/>
              </a:ext>
            </a:extLst>
          </p:cNvPr>
          <p:cNvGraphicFramePr>
            <a:graphicFrameLocks noGrp="1"/>
          </p:cNvGraphicFramePr>
          <p:nvPr/>
        </p:nvGraphicFramePr>
        <p:xfrm>
          <a:off x="230132" y="631302"/>
          <a:ext cx="11713607" cy="5864080"/>
        </p:xfrm>
        <a:graphic>
          <a:graphicData uri="http://schemas.openxmlformats.org/drawingml/2006/table">
            <a:tbl>
              <a:tblPr firstRow="1" firstCol="1" bandRow="1">
                <a:tableStyleId>{5C22544A-7EE6-4342-B048-85BDC9FD1C3A}</a:tableStyleId>
              </a:tblPr>
              <a:tblGrid>
                <a:gridCol w="2928401">
                  <a:extLst>
                    <a:ext uri="{9D8B030D-6E8A-4147-A177-3AD203B41FA5}">
                      <a16:colId xmlns:a16="http://schemas.microsoft.com/office/drawing/2014/main" val="2998470559"/>
                    </a:ext>
                  </a:extLst>
                </a:gridCol>
                <a:gridCol w="1464201">
                  <a:extLst>
                    <a:ext uri="{9D8B030D-6E8A-4147-A177-3AD203B41FA5}">
                      <a16:colId xmlns:a16="http://schemas.microsoft.com/office/drawing/2014/main" val="2290379812"/>
                    </a:ext>
                  </a:extLst>
                </a:gridCol>
                <a:gridCol w="1464201">
                  <a:extLst>
                    <a:ext uri="{9D8B030D-6E8A-4147-A177-3AD203B41FA5}">
                      <a16:colId xmlns:a16="http://schemas.microsoft.com/office/drawing/2014/main" val="709520179"/>
                    </a:ext>
                  </a:extLst>
                </a:gridCol>
                <a:gridCol w="1464201">
                  <a:extLst>
                    <a:ext uri="{9D8B030D-6E8A-4147-A177-3AD203B41FA5}">
                      <a16:colId xmlns:a16="http://schemas.microsoft.com/office/drawing/2014/main" val="3397383514"/>
                    </a:ext>
                  </a:extLst>
                </a:gridCol>
                <a:gridCol w="1464201">
                  <a:extLst>
                    <a:ext uri="{9D8B030D-6E8A-4147-A177-3AD203B41FA5}">
                      <a16:colId xmlns:a16="http://schemas.microsoft.com/office/drawing/2014/main" val="689724636"/>
                    </a:ext>
                  </a:extLst>
                </a:gridCol>
                <a:gridCol w="1464201">
                  <a:extLst>
                    <a:ext uri="{9D8B030D-6E8A-4147-A177-3AD203B41FA5}">
                      <a16:colId xmlns:a16="http://schemas.microsoft.com/office/drawing/2014/main" val="3552334797"/>
                    </a:ext>
                  </a:extLst>
                </a:gridCol>
                <a:gridCol w="1464201">
                  <a:extLst>
                    <a:ext uri="{9D8B030D-6E8A-4147-A177-3AD203B41FA5}">
                      <a16:colId xmlns:a16="http://schemas.microsoft.com/office/drawing/2014/main" val="4022821865"/>
                    </a:ext>
                  </a:extLst>
                </a:gridCol>
              </a:tblGrid>
              <a:tr h="457130">
                <a:tc>
                  <a:txBody>
                    <a:bodyPr/>
                    <a:lstStyle/>
                    <a:p>
                      <a:pPr marL="0" marR="0" lvl="0" indent="0" algn="l" defTabSz="60957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000000"/>
                          </a:solidFill>
                          <a:effectLst/>
                          <a:uLnTx/>
                          <a:uFillTx/>
                          <a:latin typeface="+mn-lt"/>
                          <a:ea typeface="+mn-ea"/>
                          <a:cs typeface="+mn-cs"/>
                        </a:rPr>
                        <a:t>User has entitlement to use all apps/components in assigned tier </a:t>
                      </a:r>
                    </a:p>
                  </a:txBody>
                  <a:tcPr marL="91416" marR="91416" marT="45709" marB="45709" anchor="ct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095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IBM Plex Sans" charset="0"/>
                          <a:ea typeface="IBM Plex Sans" charset="0"/>
                          <a:cs typeface="IBM Plex Sans" charset="0"/>
                        </a:rPr>
                        <a:t>Acquire / Dispose</a:t>
                      </a:r>
                    </a:p>
                  </a:txBody>
                  <a:tcPr marL="91416" marR="91416" marT="45709" marB="45709" anchor="ct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gradFill flip="none" rotWithShape="1">
                      <a:gsLst>
                        <a:gs pos="0">
                          <a:srgbClr val="002D9C"/>
                        </a:gs>
                        <a:gs pos="38000">
                          <a:srgbClr val="002D9C"/>
                        </a:gs>
                        <a:gs pos="66000">
                          <a:schemeClr val="accent1"/>
                        </a:gs>
                        <a:gs pos="100000">
                          <a:schemeClr val="accent1"/>
                        </a:gs>
                      </a:gsLst>
                      <a:lin ang="0" scaled="1"/>
                      <a:tileRect/>
                    </a:gradFill>
                  </a:tcPr>
                </a:tc>
                <a:tc>
                  <a:txBody>
                    <a:bodyPr/>
                    <a:lstStyle/>
                    <a:p>
                      <a:pPr marL="0" marR="0" lvl="0" indent="0" algn="ctr" defTabSz="6095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IBM Plex Sans" charset="0"/>
                          <a:ea typeface="IBM Plex Sans" charset="0"/>
                          <a:cs typeface="IBM Plex Sans" charset="0"/>
                        </a:rPr>
                        <a:t>Build-out</a:t>
                      </a:r>
                    </a:p>
                  </a:txBody>
                  <a:tcPr marL="91416" marR="91416" marT="45709" marB="45709" anchor="ct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rgbClr val="002D9C"/>
                    </a:solidFill>
                  </a:tcPr>
                </a:tc>
                <a:tc>
                  <a:txBody>
                    <a:bodyPr/>
                    <a:lstStyle/>
                    <a:p>
                      <a:pPr marL="0" marR="0" lvl="0" indent="0" algn="ctr" defTabSz="6095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IBM Plex Sans" charset="0"/>
                          <a:ea typeface="IBM Plex Sans" charset="0"/>
                          <a:cs typeface="IBM Plex Sans" charset="0"/>
                        </a:rPr>
                        <a:t>Populate </a:t>
                      </a:r>
                      <a:br>
                        <a:rPr kumimoji="0" lang="en-US" sz="1200" b="1" i="0" u="none" strike="noStrike" kern="1200" cap="none" spc="0" normalizeH="0" baseline="0" noProof="0">
                          <a:ln>
                            <a:noFill/>
                          </a:ln>
                          <a:solidFill>
                            <a:schemeClr val="bg1"/>
                          </a:solidFill>
                          <a:effectLst/>
                          <a:uLnTx/>
                          <a:uFillTx/>
                          <a:latin typeface="IBM Plex Sans" charset="0"/>
                          <a:ea typeface="IBM Plex Sans" charset="0"/>
                          <a:cs typeface="IBM Plex Sans" charset="0"/>
                        </a:rPr>
                      </a:br>
                      <a:r>
                        <a:rPr kumimoji="0" lang="en-US" sz="1200" b="1" i="0" u="none" strike="noStrike" kern="1200" cap="none" spc="0" normalizeH="0" baseline="0" noProof="0">
                          <a:ln>
                            <a:noFill/>
                          </a:ln>
                          <a:solidFill>
                            <a:schemeClr val="bg1"/>
                          </a:solidFill>
                          <a:effectLst/>
                          <a:uLnTx/>
                          <a:uFillTx/>
                          <a:latin typeface="IBM Plex Sans" charset="0"/>
                          <a:ea typeface="IBM Plex Sans" charset="0"/>
                          <a:cs typeface="IBM Plex Sans" charset="0"/>
                        </a:rPr>
                        <a:t>Portfolio Data</a:t>
                      </a:r>
                    </a:p>
                  </a:txBody>
                  <a:tcPr marL="91416" marR="91416" marT="45709" marB="45709" anchor="ct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rgbClr val="002D9C"/>
                    </a:solidFill>
                  </a:tcPr>
                </a:tc>
                <a:tc>
                  <a:txBody>
                    <a:bodyPr/>
                    <a:lstStyle/>
                    <a:p>
                      <a:pPr marL="0" marR="0" lvl="0" indent="0" algn="ctr" defTabSz="6095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IBM Plex Sans" charset="0"/>
                          <a:ea typeface="IBM Plex Sans" charset="0"/>
                          <a:cs typeface="IBM Plex Sans" charset="0"/>
                        </a:rPr>
                        <a:t>Administer </a:t>
                      </a:r>
                      <a:br>
                        <a:rPr kumimoji="0" lang="en-US" sz="1200" b="1" i="0" u="none" strike="noStrike" kern="1200" cap="none" spc="0" normalizeH="0" baseline="0" noProof="0">
                          <a:ln>
                            <a:noFill/>
                          </a:ln>
                          <a:solidFill>
                            <a:schemeClr val="bg1"/>
                          </a:solidFill>
                          <a:effectLst/>
                          <a:uLnTx/>
                          <a:uFillTx/>
                          <a:latin typeface="IBM Plex Sans" charset="0"/>
                          <a:ea typeface="IBM Plex Sans" charset="0"/>
                          <a:cs typeface="IBM Plex Sans" charset="0"/>
                        </a:rPr>
                      </a:br>
                      <a:r>
                        <a:rPr kumimoji="0" lang="en-US" sz="1200" b="1" i="0" u="none" strike="noStrike" kern="1200" cap="none" spc="0" normalizeH="0" baseline="0" noProof="0">
                          <a:ln>
                            <a:noFill/>
                          </a:ln>
                          <a:solidFill>
                            <a:schemeClr val="bg1"/>
                          </a:solidFill>
                          <a:effectLst/>
                          <a:uLnTx/>
                          <a:uFillTx/>
                          <a:latin typeface="IBM Plex Sans" charset="0"/>
                          <a:ea typeface="IBM Plex Sans" charset="0"/>
                          <a:cs typeface="IBM Plex Sans" charset="0"/>
                        </a:rPr>
                        <a:t>Real Estate</a:t>
                      </a:r>
                    </a:p>
                  </a:txBody>
                  <a:tcPr marL="91416" marR="91416" marT="45709" marB="45709" anchor="ct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marL="0" marR="0" lvl="0" indent="0" algn="ctr" defTabSz="6095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IBM Plex Sans" charset="0"/>
                          <a:ea typeface="IBM Plex Sans" charset="0"/>
                          <a:cs typeface="IBM Plex Sans" charset="0"/>
                        </a:rPr>
                        <a:t>Experience</a:t>
                      </a:r>
                    </a:p>
                  </a:txBody>
                  <a:tcPr marL="91416" marR="91416" marT="45709" marB="45709" anchor="ct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marL="0" marR="0" lvl="0" indent="0" algn="ctr" defTabSz="6095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IBM Plex Sans" charset="0"/>
                          <a:ea typeface="IBM Plex Sans" charset="0"/>
                          <a:cs typeface="IBM Plex Sans" charset="0"/>
                        </a:rPr>
                        <a:t>Maintain</a:t>
                      </a:r>
                    </a:p>
                  </a:txBody>
                  <a:tcPr marL="91416" marR="91416" marT="45709" marB="45709" anchor="ct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2050337548"/>
                  </a:ext>
                </a:extLst>
              </a:tr>
              <a:tr h="685700">
                <a:tc>
                  <a:txBody>
                    <a:bodyPr/>
                    <a:lstStyle/>
                    <a:p>
                      <a:pPr marL="0" marR="0" lvl="0" indent="0" algn="l" defTabSz="914272"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w="0"/>
                          <a:solidFill>
                            <a:schemeClr val="accent1"/>
                          </a:solidFill>
                          <a:effectLst/>
                          <a:uLnTx/>
                          <a:uFillTx/>
                          <a:latin typeface="IBM Plex Sans Condensed" panose="020B0506050203000203" pitchFamily="34" charset="77"/>
                          <a:ea typeface="IBM Plex Sans" charset="0"/>
                          <a:cs typeface="IBM Plex Sans" charset="0"/>
                        </a:rPr>
                        <a:t>Self-Service</a:t>
                      </a:r>
                    </a:p>
                    <a:p>
                      <a:pPr marL="0" marR="0" lvl="0" indent="0" algn="l" defTabSz="914272" rtl="0" eaLnBrk="1" fontAlgn="auto" latinLnBrk="0" hangingPunct="1">
                        <a:lnSpc>
                          <a:spcPct val="100000"/>
                        </a:lnSpc>
                        <a:spcBef>
                          <a:spcPts val="0"/>
                        </a:spcBef>
                        <a:spcAft>
                          <a:spcPts val="0"/>
                        </a:spcAft>
                        <a:buClrTx/>
                        <a:buSzTx/>
                        <a:buFontTx/>
                        <a:buNone/>
                        <a:tabLst/>
                        <a:defRPr/>
                      </a:pPr>
                      <a:br>
                        <a:rPr kumimoji="0" lang="en-US" sz="800" b="0" i="0" u="none" strike="noStrike" kern="1200" cap="none" spc="0" normalizeH="0" baseline="0" noProof="0">
                          <a:ln w="0"/>
                          <a:solidFill>
                            <a:srgbClr val="000000"/>
                          </a:solidFill>
                          <a:effectLst/>
                          <a:uLnTx/>
                          <a:uFillTx/>
                          <a:latin typeface="+mn-lt"/>
                          <a:ea typeface="IBM Plex Sans" charset="0"/>
                          <a:cs typeface="IBM Plex Sans" charset="0"/>
                        </a:rPr>
                      </a:br>
                      <a:r>
                        <a:rPr kumimoji="0" lang="en-US" sz="900" b="0" i="0" u="none" strike="noStrike" kern="1200" cap="none" spc="0" normalizeH="0" baseline="0" noProof="0">
                          <a:ln w="0"/>
                          <a:solidFill>
                            <a:srgbClr val="000000"/>
                          </a:solidFill>
                          <a:effectLst/>
                          <a:uLnTx/>
                          <a:uFillTx/>
                          <a:latin typeface="+mn-lt"/>
                          <a:ea typeface="IBM Plex Sans" charset="0"/>
                          <a:cs typeface="IBM Plex Sans" charset="0"/>
                        </a:rPr>
                        <a:t>authorized user / 0 AppPoints</a:t>
                      </a:r>
                    </a:p>
                    <a:p>
                      <a:pPr marL="0" marR="0" lvl="0" indent="0" algn="l" defTabSz="91427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w="0"/>
                          <a:solidFill>
                            <a:srgbClr val="000000"/>
                          </a:solidFill>
                          <a:effectLst/>
                          <a:uLnTx/>
                          <a:uFillTx/>
                          <a:latin typeface="+mn-lt"/>
                          <a:ea typeface="IBM Plex Sans" charset="0"/>
                          <a:cs typeface="IBM Plex Sans" charset="0"/>
                        </a:rPr>
                        <a:t>concurrent user / 0 AppPoints</a:t>
                      </a:r>
                    </a:p>
                  </a:txBody>
                  <a:tcPr marL="91416" marR="91416" marT="45709" marB="45709" anchor="ctr">
                    <a:lnL w="12700" cap="flat" cmpd="sng" algn="ctr">
                      <a:solidFill>
                        <a:schemeClr val="accent1">
                          <a:lumMod val="20000"/>
                          <a:lumOff val="8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chemeClr val="tx1"/>
                          </a:solidFill>
                          <a:effectLst/>
                          <a:uLnTx/>
                          <a:uFillTx/>
                          <a:latin typeface="IBM Plex Sans Light" panose="020B0403050203000203" pitchFamily="34" charset="0"/>
                          <a:ea typeface="+mn-ea"/>
                          <a:cs typeface="+mn-cs"/>
                        </a:rPr>
                        <a:t>Service Requests</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News </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Real Estate requests</a:t>
                      </a:r>
                      <a:endParaRPr kumimoji="0" lang="en-US" sz="900" b="0" i="0" u="none" strike="noStrike" kern="1200" cap="none" spc="0" normalizeH="0" baseline="0">
                        <a:ln>
                          <a:noFill/>
                        </a:ln>
                        <a:solidFill>
                          <a:srgbClr val="000000"/>
                        </a:solidFill>
                        <a:effectLst/>
                        <a:uLnTx/>
                        <a:uFillTx/>
                        <a:latin typeface="IBM Plex Sans Light" panose="020B0403050203000203" pitchFamily="34" charset="0"/>
                        <a:ea typeface="+mn-ea"/>
                        <a:cs typeface="+mn-cs"/>
                      </a:endParaRPr>
                    </a:p>
                  </a:txBody>
                  <a:tcPr marL="91416" marR="91416" marT="45709" marB="4570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chemeClr val="tx1"/>
                          </a:solidFill>
                          <a:effectLst/>
                          <a:uLnTx/>
                          <a:uFillTx/>
                          <a:latin typeface="IBM Plex Sans Light" panose="020B0403050203000203" pitchFamily="34" charset="0"/>
                          <a:ea typeface="+mn-ea"/>
                          <a:cs typeface="+mn-cs"/>
                        </a:rPr>
                        <a:t>Service Requests</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News </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Project requests</a:t>
                      </a:r>
                    </a:p>
                  </a:txBody>
                  <a:tcPr marL="91416" marR="91416" marT="45709" marB="4570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85750" marR="0" lvl="0" indent="-2857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endPar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endParaRPr>
                    </a:p>
                  </a:txBody>
                  <a:tcPr marL="91416" marR="91416" marT="45709" marB="4570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chemeClr val="tx1"/>
                          </a:solidFill>
                          <a:effectLst/>
                          <a:uLnTx/>
                          <a:uFillTx/>
                          <a:latin typeface="IBM Plex Sans Light" panose="020B0403050203000203" pitchFamily="34" charset="0"/>
                          <a:ea typeface="+mn-ea"/>
                          <a:cs typeface="+mn-cs"/>
                        </a:rPr>
                        <a:t>Service Requests</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News </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Real Estate requests</a:t>
                      </a:r>
                    </a:p>
                  </a:txBody>
                  <a:tcPr marL="91416" marR="91416" marT="45709" marB="4570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chemeClr val="tx1"/>
                          </a:solidFill>
                          <a:effectLst/>
                          <a:uLnTx/>
                          <a:uFillTx/>
                          <a:latin typeface="IBM Plex Sans Light" panose="020B0403050203000203" pitchFamily="34" charset="0"/>
                          <a:ea typeface="+mn-ea"/>
                          <a:cs typeface="+mn-cs"/>
                        </a:rPr>
                        <a:t>Service Requests</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sym typeface="IBM Plex Sans"/>
                        </a:rPr>
                        <a:t>Locate</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News</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Move requests</a:t>
                      </a:r>
                      <a:endParaRPr kumimoji="0" lang="en-US" sz="900" b="0" i="0" u="none" strike="noStrike" kern="1200" cap="none" spc="0" normalizeH="0" baseline="0">
                        <a:ln>
                          <a:noFill/>
                        </a:ln>
                        <a:solidFill>
                          <a:srgbClr val="000000"/>
                        </a:solidFill>
                        <a:effectLst/>
                        <a:uLnTx/>
                        <a:uFillTx/>
                        <a:latin typeface="IBM Plex Sans Light" panose="020B0403050203000203" pitchFamily="34" charset="0"/>
                        <a:ea typeface="+mn-ea"/>
                        <a:cs typeface="+mn-cs"/>
                      </a:endParaRPr>
                    </a:p>
                  </a:txBody>
                  <a:tcPr marL="91416" marR="91416" marT="45709" marB="4570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33350" marR="0" lvl="0" indent="-1333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chemeClr val="tx1"/>
                          </a:solidFill>
                          <a:effectLst/>
                          <a:uLnTx/>
                          <a:uFillTx/>
                          <a:latin typeface="IBM Plex Sans Light" panose="020B0403050203000203" pitchFamily="34" charset="0"/>
                          <a:ea typeface="+mn-ea"/>
                          <a:cs typeface="+mn-cs"/>
                        </a:rPr>
                        <a:t>Service Requests</a:t>
                      </a:r>
                    </a:p>
                    <a:p>
                      <a:pPr marL="122238" marR="0" lvl="0" indent="-122238"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News </a:t>
                      </a:r>
                    </a:p>
                    <a:p>
                      <a:pPr marL="122238" marR="0" lvl="0" indent="-122238"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Product requests</a:t>
                      </a:r>
                    </a:p>
                  </a:txBody>
                  <a:tcPr marL="91416" marR="91416" marT="45709" marB="45709">
                    <a:lnL w="12700" cap="flat" cmpd="sng" algn="ctr">
                      <a:no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35948313"/>
                  </a:ext>
                </a:extLst>
              </a:tr>
              <a:tr h="1104745">
                <a:tc>
                  <a:txBody>
                    <a:bodyPr/>
                    <a:lstStyle/>
                    <a:p>
                      <a:pPr marL="0" marR="0" lvl="0" indent="0" algn="l" defTabSz="914272"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w="0"/>
                          <a:solidFill>
                            <a:schemeClr val="accent1"/>
                          </a:solidFill>
                          <a:effectLst/>
                          <a:uLnTx/>
                          <a:uFillTx/>
                          <a:latin typeface="IBM Plex Sans Condensed" panose="020B0506050203000203" pitchFamily="34" charset="77"/>
                          <a:ea typeface="IBM Plex Sans" charset="0"/>
                          <a:cs typeface="IBM Plex Sans" charset="0"/>
                        </a:rPr>
                        <a:t>Limited</a:t>
                      </a:r>
                      <a:r>
                        <a:rPr kumimoji="0" lang="en-US" sz="900" b="1" i="0" u="none" strike="noStrike" kern="1200" cap="none" spc="0" normalizeH="0" baseline="0" noProof="0">
                          <a:ln w="0"/>
                          <a:solidFill>
                            <a:schemeClr val="accent2"/>
                          </a:solidFill>
                          <a:effectLst/>
                          <a:uLnTx/>
                          <a:uFillTx/>
                          <a:latin typeface="IBM Plex Sans" charset="0"/>
                          <a:ea typeface="IBM Plex Sans" charset="0"/>
                          <a:cs typeface="IBM Plex Sans" charset="0"/>
                        </a:rPr>
                        <a:t> </a:t>
                      </a:r>
                    </a:p>
                    <a:p>
                      <a:pPr marL="0" marR="0" lvl="0" indent="0" algn="l" defTabSz="914272" rtl="0" eaLnBrk="1" fontAlgn="auto" latinLnBrk="0" hangingPunct="1">
                        <a:lnSpc>
                          <a:spcPct val="100000"/>
                        </a:lnSpc>
                        <a:spcBef>
                          <a:spcPts val="0"/>
                        </a:spcBef>
                        <a:spcAft>
                          <a:spcPts val="0"/>
                        </a:spcAft>
                        <a:buClrTx/>
                        <a:buSzTx/>
                        <a:buFontTx/>
                        <a:buNone/>
                        <a:tabLst/>
                        <a:defRPr/>
                      </a:pPr>
                      <a:br>
                        <a:rPr kumimoji="0" lang="en-US" sz="900" b="0" i="0" u="none" strike="noStrike" kern="1200" cap="none" spc="0" normalizeH="0" baseline="0" noProof="0">
                          <a:ln w="0"/>
                          <a:solidFill>
                            <a:schemeClr val="tx1"/>
                          </a:solidFill>
                          <a:effectLst/>
                          <a:uLnTx/>
                          <a:uFillTx/>
                          <a:latin typeface="+mn-lt"/>
                          <a:ea typeface="IBM Plex Sans" charset="0"/>
                          <a:cs typeface="IBM Plex Sans" charset="0"/>
                        </a:rPr>
                      </a:br>
                      <a:r>
                        <a:rPr kumimoji="0" lang="en-US" sz="900" b="0" i="0" u="none" strike="noStrike" kern="1200" cap="none" spc="0" normalizeH="0" baseline="0" noProof="0">
                          <a:ln w="0"/>
                          <a:solidFill>
                            <a:srgbClr val="000000"/>
                          </a:solidFill>
                          <a:effectLst/>
                          <a:uLnTx/>
                          <a:uFillTx/>
                          <a:latin typeface="+mn-lt"/>
                          <a:ea typeface="IBM Plex Sans" charset="0"/>
                          <a:cs typeface="IBM Plex Sans" charset="0"/>
                        </a:rPr>
                        <a:t>authorized user / 2 AppPoints</a:t>
                      </a:r>
                    </a:p>
                    <a:p>
                      <a:pPr marL="0" marR="0" lvl="0" indent="0" algn="l" defTabSz="91427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w="0"/>
                          <a:solidFill>
                            <a:srgbClr val="000000"/>
                          </a:solidFill>
                          <a:effectLst/>
                          <a:uLnTx/>
                          <a:uFillTx/>
                          <a:latin typeface="+mn-lt"/>
                          <a:ea typeface="IBM Plex Sans" charset="0"/>
                          <a:cs typeface="IBM Plex Sans" charset="0"/>
                        </a:rPr>
                        <a:t>concurrent user / 5 AppPoints</a:t>
                      </a:r>
                    </a:p>
                  </a:txBody>
                  <a:tcPr marL="91416" marR="91416" marT="45709" marB="45709" anchor="ctr">
                    <a:lnL w="12700" cap="flat" cmpd="sng" algn="ctr">
                      <a:solidFill>
                        <a:schemeClr val="accent1">
                          <a:lumMod val="20000"/>
                          <a:lumOff val="8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22238" marR="0" lvl="0" indent="-122238"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chemeClr val="accent1"/>
                          </a:solidFill>
                          <a:effectLst/>
                          <a:uLnTx/>
                          <a:uFillTx/>
                          <a:latin typeface="IBM Plex Sans Light" panose="020B0403050203000203" pitchFamily="34" charset="0"/>
                          <a:ea typeface="+mn-ea"/>
                          <a:cs typeface="+mn-cs"/>
                        </a:rPr>
                        <a:t>Self-Service +</a:t>
                      </a:r>
                    </a:p>
                    <a:p>
                      <a:pPr marL="122238" marR="0" lvl="0" indent="-122238"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Reports, metrics</a:t>
                      </a:r>
                    </a:p>
                    <a:p>
                      <a:pPr marL="122238" marR="0" lvl="0" indent="-122238"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Approvals</a:t>
                      </a:r>
                    </a:p>
                    <a:p>
                      <a:pPr marL="122238" marR="0" lvl="0" indent="-122238"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Contract requests</a:t>
                      </a:r>
                    </a:p>
                    <a:p>
                      <a:pPr marL="122238" marR="0" lvl="0" indent="-122238"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Offline forms</a:t>
                      </a:r>
                      <a:endParaRPr kumimoji="0" lang="en-US" sz="900" b="0" i="0" u="none" strike="noStrike" kern="1200" cap="none" spc="0" normalizeH="0" baseline="0">
                        <a:ln>
                          <a:noFill/>
                        </a:ln>
                        <a:solidFill>
                          <a:srgbClr val="000000"/>
                        </a:solidFill>
                        <a:effectLst/>
                        <a:uLnTx/>
                        <a:uFillTx/>
                        <a:latin typeface="IBM Plex Sans Light" panose="020B0403050203000203" pitchFamily="34" charset="0"/>
                        <a:ea typeface="+mn-ea"/>
                        <a:cs typeface="+mn-cs"/>
                      </a:endParaRPr>
                    </a:p>
                  </a:txBody>
                  <a:tcPr marL="91416" marR="91416" marT="45709" marB="4570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chemeClr val="accent1"/>
                          </a:solidFill>
                          <a:effectLst/>
                          <a:uLnTx/>
                          <a:uFillTx/>
                          <a:latin typeface="IBM Plex Sans Light" panose="020B0403050203000203" pitchFamily="34" charset="0"/>
                          <a:ea typeface="+mn-ea"/>
                          <a:cs typeface="+mn-cs"/>
                        </a:rPr>
                        <a:t>Self-Service  +</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Reports, metrics</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Approvals</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Vendor bid resp</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Change requests</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Project tasks</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Offline forms</a:t>
                      </a:r>
                    </a:p>
                  </a:txBody>
                  <a:tcPr marL="91416" marR="91416" marT="45709" marB="4570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chemeClr val="accent1"/>
                          </a:solidFill>
                          <a:effectLst/>
                          <a:uLnTx/>
                          <a:uFillTx/>
                          <a:latin typeface="IBM Plex Sans Light" panose="020B0403050203000203" pitchFamily="34" charset="0"/>
                          <a:ea typeface="+mn-ea"/>
                          <a:cs typeface="+mn-cs"/>
                        </a:rPr>
                        <a:t>Self-Service  +</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Floorplan reports</a:t>
                      </a:r>
                      <a:endParaRPr kumimoji="0" lang="en-US" sz="900" b="0" i="0" u="none" strike="noStrike" kern="1200" cap="none" spc="0" normalizeH="0" baseline="0">
                        <a:ln>
                          <a:noFill/>
                        </a:ln>
                        <a:solidFill>
                          <a:srgbClr val="000000"/>
                        </a:solidFill>
                        <a:effectLst/>
                        <a:uLnTx/>
                        <a:uFillTx/>
                        <a:latin typeface="IBM Plex Sans Light" panose="020B0403050203000203" pitchFamily="34" charset="0"/>
                        <a:ea typeface="+mn-ea"/>
                        <a:cs typeface="+mn-cs"/>
                      </a:endParaRPr>
                    </a:p>
                  </a:txBody>
                  <a:tcPr marL="91416" marR="91416" marT="45709" marB="4570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chemeClr val="accent1"/>
                          </a:solidFill>
                          <a:effectLst/>
                          <a:uLnTx/>
                          <a:uFillTx/>
                          <a:latin typeface="IBM Plex Sans Light" panose="020B0403050203000203" pitchFamily="34" charset="0"/>
                          <a:ea typeface="+mn-ea"/>
                          <a:cs typeface="+mn-cs"/>
                        </a:rPr>
                        <a:t>Self-Service  +</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Reports, metrics</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Approvals</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Contract requests</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Offline forms</a:t>
                      </a:r>
                    </a:p>
                  </a:txBody>
                  <a:tcPr marL="91416" marR="91416" marT="45709" marB="4570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chemeClr val="accent1"/>
                          </a:solidFill>
                          <a:effectLst/>
                          <a:uLnTx/>
                          <a:uFillTx/>
                          <a:latin typeface="IBM Plex Sans Light" panose="020B0403050203000203" pitchFamily="34" charset="0"/>
                          <a:ea typeface="+mn-ea"/>
                          <a:cs typeface="+mn-cs"/>
                        </a:rPr>
                        <a:t>Self-Service  +</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Reports, metrics</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Approvals</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Move/reserve tasks</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Space assessment</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Offline forms</a:t>
                      </a:r>
                    </a:p>
                  </a:txBody>
                  <a:tcPr marL="91416" marR="91416" marT="45709" marB="4570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chemeClr val="accent1"/>
                          </a:solidFill>
                          <a:effectLst/>
                          <a:uLnTx/>
                          <a:uFillTx/>
                          <a:latin typeface="IBM Plex Sans Light" panose="020B0403050203000203" pitchFamily="34" charset="0"/>
                          <a:ea typeface="+mn-ea"/>
                          <a:cs typeface="+mn-cs"/>
                        </a:rPr>
                        <a:t>Self-Service  +</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Reports, metrics</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Approvals</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Work task exec</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Contact center</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Offline forms</a:t>
                      </a:r>
                    </a:p>
                  </a:txBody>
                  <a:tcPr marL="91416" marR="91416" marT="45709" marB="45709">
                    <a:lnL w="12700" cap="flat" cmpd="sng" algn="ctr">
                      <a:no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847745603"/>
                  </a:ext>
                </a:extLst>
              </a:tr>
              <a:tr h="2366961">
                <a:tc>
                  <a:txBody>
                    <a:bodyPr/>
                    <a:lstStyle/>
                    <a:p>
                      <a:pPr marL="0" marR="0" lvl="0" indent="0" algn="l" defTabSz="914272"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w="0"/>
                          <a:solidFill>
                            <a:schemeClr val="accent1"/>
                          </a:solidFill>
                          <a:effectLst/>
                          <a:uLnTx/>
                          <a:uFillTx/>
                          <a:latin typeface="IBM Plex Sans Condensed" panose="020B0506050203000203" pitchFamily="34" charset="77"/>
                          <a:ea typeface="IBM Plex Sans" charset="0"/>
                          <a:cs typeface="IBM Plex Sans" charset="0"/>
                        </a:rPr>
                        <a:t>Base</a:t>
                      </a:r>
                      <a:endParaRPr kumimoji="0" lang="en-US" sz="900" b="1" i="0" u="none" strike="noStrike" kern="1200" cap="none" spc="0" normalizeH="0" baseline="0" noProof="0">
                        <a:ln w="0"/>
                        <a:solidFill>
                          <a:schemeClr val="accent1"/>
                        </a:solidFill>
                        <a:effectLst/>
                        <a:uLnTx/>
                        <a:uFillTx/>
                        <a:latin typeface="IBM Plex Sans Condensed" panose="020B0506050203000203" pitchFamily="34" charset="77"/>
                        <a:ea typeface="IBM Plex Sans" charset="0"/>
                        <a:cs typeface="IBM Plex Sans" charset="0"/>
                      </a:endParaRPr>
                    </a:p>
                    <a:p>
                      <a:pPr marL="0" marR="0" lvl="0" indent="0" algn="l" defTabSz="914272" rtl="0" eaLnBrk="1" fontAlgn="auto" latinLnBrk="0" hangingPunct="1">
                        <a:lnSpc>
                          <a:spcPct val="100000"/>
                        </a:lnSpc>
                        <a:spcBef>
                          <a:spcPts val="0"/>
                        </a:spcBef>
                        <a:spcAft>
                          <a:spcPts val="0"/>
                        </a:spcAft>
                        <a:buClrTx/>
                        <a:buSzTx/>
                        <a:buFontTx/>
                        <a:buNone/>
                        <a:tabLst/>
                        <a:defRPr/>
                      </a:pPr>
                      <a:br>
                        <a:rPr kumimoji="0" lang="en-US" sz="800" b="0" i="0" u="none" strike="noStrike" kern="1200" cap="none" spc="0" normalizeH="0" baseline="0" noProof="0">
                          <a:ln w="0"/>
                          <a:solidFill>
                            <a:schemeClr val="tx1"/>
                          </a:solidFill>
                          <a:effectLst/>
                          <a:uLnTx/>
                          <a:uFillTx/>
                          <a:latin typeface="+mn-lt"/>
                          <a:ea typeface="IBM Plex Sans" charset="0"/>
                          <a:cs typeface="IBM Plex Sans" charset="0"/>
                        </a:rPr>
                      </a:br>
                      <a:r>
                        <a:rPr kumimoji="0" lang="en-US" sz="900" b="0" i="0" u="none" strike="noStrike" kern="1200" cap="none" spc="0" normalizeH="0" baseline="0" noProof="0">
                          <a:ln w="0"/>
                          <a:solidFill>
                            <a:srgbClr val="000000"/>
                          </a:solidFill>
                          <a:effectLst/>
                          <a:uLnTx/>
                          <a:uFillTx/>
                          <a:latin typeface="+mn-lt"/>
                          <a:ea typeface="IBM Plex Sans" charset="0"/>
                          <a:cs typeface="IBM Plex Sans" charset="0"/>
                        </a:rPr>
                        <a:t>authorized user / 3 AppPoints</a:t>
                      </a:r>
                    </a:p>
                    <a:p>
                      <a:pPr marL="0" marR="0" lvl="0" indent="0" algn="l" defTabSz="91427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w="0"/>
                          <a:solidFill>
                            <a:srgbClr val="000000"/>
                          </a:solidFill>
                          <a:effectLst/>
                          <a:uLnTx/>
                          <a:uFillTx/>
                          <a:latin typeface="+mn-lt"/>
                          <a:ea typeface="IBM Plex Sans" charset="0"/>
                          <a:cs typeface="IBM Plex Sans" charset="0"/>
                          <a:sym typeface="IBM Plex Sans"/>
                        </a:rPr>
                        <a:t>concurrent</a:t>
                      </a:r>
                      <a:r>
                        <a:rPr kumimoji="0" lang="en-US" sz="900" b="0" i="0" u="none" strike="noStrike" kern="1200" cap="none" spc="0" normalizeH="0" baseline="0" noProof="0">
                          <a:ln w="0"/>
                          <a:solidFill>
                            <a:srgbClr val="000000"/>
                          </a:solidFill>
                          <a:effectLst/>
                          <a:uLnTx/>
                          <a:uFillTx/>
                          <a:latin typeface="+mn-lt"/>
                          <a:ea typeface="IBM Plex Sans" charset="0"/>
                          <a:cs typeface="IBM Plex Sans" charset="0"/>
                        </a:rPr>
                        <a:t> user / 10 AppPoints</a:t>
                      </a:r>
                    </a:p>
                  </a:txBody>
                  <a:tcPr marL="91416" marR="91416" marT="45709" marB="45709" anchor="ctr">
                    <a:lnL w="12700" cap="flat" cmpd="sng" algn="ctr">
                      <a:solidFill>
                        <a:schemeClr val="accent1">
                          <a:lumMod val="20000"/>
                          <a:lumOff val="8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chemeClr val="accent1"/>
                          </a:solidFill>
                          <a:effectLst/>
                          <a:uLnTx/>
                          <a:uFillTx/>
                          <a:latin typeface="IBM Plex Sans Light" panose="020B0403050203000203" pitchFamily="34" charset="0"/>
                          <a:ea typeface="+mn-ea"/>
                          <a:cs typeface="+mn-cs"/>
                        </a:rPr>
                        <a:t>Limited +</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Advanced scenarios</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Transaction mgt</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Portfolio planning</a:t>
                      </a:r>
                    </a:p>
                  </a:txBody>
                  <a:tcPr marL="91416" marR="91416" marT="45709" marB="4570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chemeClr val="accent1"/>
                          </a:solidFill>
                          <a:effectLst/>
                          <a:uLnTx/>
                          <a:uFillTx/>
                          <a:latin typeface="IBM Plex Sans Light" panose="020B0403050203000203" pitchFamily="34" charset="0"/>
                          <a:ea typeface="+mn-ea"/>
                          <a:cs typeface="+mn-cs"/>
                        </a:rPr>
                        <a:t>Limited +</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Cost mgt</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Schedule mgt</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Purchase order approvals</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Procurement mgt</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Program mgt</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Facility condition assessment</a:t>
                      </a:r>
                    </a:p>
                  </a:txBody>
                  <a:tcPr marL="91416" marR="91416" marT="45709" marB="4570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chemeClr val="accent1"/>
                          </a:solidFill>
                          <a:effectLst/>
                          <a:uLnTx/>
                          <a:uFillTx/>
                          <a:latin typeface="IBM Plex Sans Light" panose="020B0403050203000203" pitchFamily="34" charset="0"/>
                          <a:ea typeface="+mn-ea"/>
                          <a:cs typeface="+mn-cs"/>
                        </a:rPr>
                        <a:t>Limited +</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Drawing/model mgt</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Energy Star benchmarking</a:t>
                      </a:r>
                    </a:p>
                    <a:p>
                      <a:pPr marL="285750" marR="0" lvl="0" indent="-2857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endPar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endParaRPr>
                    </a:p>
                  </a:txBody>
                  <a:tcPr marL="91416" marR="91416" marT="45709" marB="4570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chemeClr val="accent1"/>
                          </a:solidFill>
                          <a:effectLst/>
                          <a:uLnTx/>
                          <a:uFillTx/>
                          <a:latin typeface="IBM Plex Sans Light" panose="020B0403050203000203" pitchFamily="34" charset="0"/>
                          <a:ea typeface="+mn-ea"/>
                          <a:cs typeface="+mn-cs"/>
                        </a:rPr>
                        <a:t>Limited +</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RE lease admin</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AR tenant tracking</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Payment processing</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Generate journal entries</a:t>
                      </a:r>
                    </a:p>
                  </a:txBody>
                  <a:tcPr marL="91416" marR="91416" marT="45709" marB="4570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chemeClr val="accent1"/>
                          </a:solidFill>
                          <a:effectLst/>
                          <a:uLnTx/>
                          <a:uFillTx/>
                          <a:latin typeface="IBM Plex Sans Light" panose="020B0403050203000203" pitchFamily="34" charset="0"/>
                          <a:ea typeface="+mn-ea"/>
                          <a:cs typeface="+mn-cs"/>
                        </a:rPr>
                        <a:t>Limited +</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Space planning</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Move mgt</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Reserve coordination</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Facility project mgt</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Strategic planning</a:t>
                      </a:r>
                    </a:p>
                  </a:txBody>
                  <a:tcPr marL="91416" marR="91416" marT="45709" marB="4570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chemeClr val="accent1"/>
                          </a:solidFill>
                          <a:effectLst/>
                          <a:uLnTx/>
                          <a:uFillTx/>
                          <a:latin typeface="IBM Plex Sans Light" panose="020B0403050203000203" pitchFamily="34" charset="0"/>
                          <a:ea typeface="+mn-ea"/>
                          <a:cs typeface="+mn-cs"/>
                        </a:rPr>
                        <a:t>Limited +</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FCA inspections</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O&amp;M mgt</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Model mgt</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Asset lease admin</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Facility project mgt</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Facility condition assessment</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Opportunity analysis</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Work req from SNMP alerts</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Energy/waste log mgt</a:t>
                      </a:r>
                    </a:p>
                    <a:p>
                      <a:pPr marL="184150" marR="0" lvl="0" indent="-184150" algn="l" defTabSz="1219000" rtl="0" eaLnBrk="1" fontAlgn="auto" latinLnBrk="0" hangingPunct="1">
                        <a:lnSpc>
                          <a:spcPct val="100000"/>
                        </a:lnSpc>
                        <a:spcBef>
                          <a:spcPts val="0"/>
                        </a:spcBef>
                        <a:spcAft>
                          <a:spcPts val="0"/>
                        </a:spcAft>
                        <a:buClrTx/>
                        <a:buSzTx/>
                        <a:buFont typeface="IBM Plex Sans Light" panose="020B0403050203000203" pitchFamily="34" charset="0"/>
                        <a:buChar char="–"/>
                        <a:tabLst/>
                        <a:defRPr/>
                      </a:pPr>
                      <a:r>
                        <a:rPr kumimoji="0" lang="en-US" sz="9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Utility Invoice tracking</a:t>
                      </a:r>
                    </a:p>
                  </a:txBody>
                  <a:tcPr marL="91416" marR="91416" marT="45709" marB="45709">
                    <a:lnL w="12700" cap="flat" cmpd="sng" algn="ctr">
                      <a:no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29775246"/>
                  </a:ext>
                </a:extLst>
              </a:tr>
              <a:tr h="708557">
                <a:tc>
                  <a:txBody>
                    <a:bodyPr/>
                    <a:lstStyle/>
                    <a:p>
                      <a:pPr marL="0" marR="0" lvl="0" indent="0" algn="l" defTabSz="914272"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w="0"/>
                          <a:solidFill>
                            <a:schemeClr val="accent1"/>
                          </a:solidFill>
                          <a:effectLst/>
                          <a:uLnTx/>
                          <a:uFillTx/>
                          <a:latin typeface="IBM Plex Sans Condensed" panose="020B0506050203000203" pitchFamily="34" charset="77"/>
                          <a:ea typeface="IBM Plex Sans" charset="0"/>
                          <a:cs typeface="IBM Plex Sans" charset="0"/>
                        </a:rPr>
                        <a:t>Premium</a:t>
                      </a:r>
                      <a:endParaRPr kumimoji="0" lang="en-US" sz="900" b="1" i="0" u="none" strike="noStrike" kern="1200" cap="none" spc="0" normalizeH="0" baseline="0" noProof="0">
                        <a:ln w="0"/>
                        <a:solidFill>
                          <a:schemeClr val="accent1"/>
                        </a:solidFill>
                        <a:effectLst/>
                        <a:uLnTx/>
                        <a:uFillTx/>
                        <a:latin typeface="IBM Plex Sans Condensed" panose="020B0506050203000203" pitchFamily="34" charset="77"/>
                        <a:ea typeface="IBM Plex Sans" charset="0"/>
                        <a:cs typeface="IBM Plex Sans" charset="0"/>
                      </a:endParaRPr>
                    </a:p>
                    <a:p>
                      <a:pPr marL="0" marR="0" lvl="0" indent="0" algn="l" defTabSz="914272" rtl="0" eaLnBrk="1" fontAlgn="auto" latinLnBrk="0" hangingPunct="1">
                        <a:lnSpc>
                          <a:spcPct val="100000"/>
                        </a:lnSpc>
                        <a:spcBef>
                          <a:spcPts val="0"/>
                        </a:spcBef>
                        <a:spcAft>
                          <a:spcPts val="0"/>
                        </a:spcAft>
                        <a:buClrTx/>
                        <a:buSzTx/>
                        <a:buFontTx/>
                        <a:buNone/>
                        <a:tabLst/>
                        <a:defRPr/>
                      </a:pPr>
                      <a:br>
                        <a:rPr kumimoji="0" lang="en-US" sz="900" b="0" i="0" u="none" strike="noStrike" kern="1200" cap="none" spc="0" normalizeH="0" baseline="0" noProof="0">
                          <a:ln w="0"/>
                          <a:solidFill>
                            <a:schemeClr val="tx1"/>
                          </a:solidFill>
                          <a:effectLst/>
                          <a:uLnTx/>
                          <a:uFillTx/>
                          <a:latin typeface="+mn-lt"/>
                          <a:ea typeface="IBM Plex Sans" charset="0"/>
                          <a:cs typeface="IBM Plex Sans" charset="0"/>
                        </a:rPr>
                      </a:br>
                      <a:r>
                        <a:rPr kumimoji="0" lang="en-US" sz="900" b="0" i="0" u="none" strike="noStrike" kern="1200" cap="none" spc="0" normalizeH="0" baseline="0" noProof="0">
                          <a:ln w="0"/>
                          <a:solidFill>
                            <a:srgbClr val="000000"/>
                          </a:solidFill>
                          <a:effectLst/>
                          <a:uLnTx/>
                          <a:uFillTx/>
                          <a:latin typeface="+mn-lt"/>
                          <a:ea typeface="IBM Plex Sans" charset="0"/>
                          <a:cs typeface="IBM Plex Sans" charset="0"/>
                        </a:rPr>
                        <a:t>authorized user / 5 AppPoints</a:t>
                      </a:r>
                    </a:p>
                    <a:p>
                      <a:pPr marL="0" marR="0" lvl="0" indent="0" algn="l" defTabSz="91427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w="0"/>
                          <a:solidFill>
                            <a:srgbClr val="000000"/>
                          </a:solidFill>
                          <a:effectLst/>
                          <a:uLnTx/>
                          <a:uFillTx/>
                          <a:latin typeface="+mn-lt"/>
                          <a:ea typeface="IBM Plex Sans" charset="0"/>
                          <a:cs typeface="IBM Plex Sans" charset="0"/>
                        </a:rPr>
                        <a:t>concurrent user / 15 AppPoints</a:t>
                      </a:r>
                    </a:p>
                  </a:txBody>
                  <a:tcPr marL="91416" marR="91416" marT="45709" marB="45709" anchor="ctr">
                    <a:lnL w="12700" cap="flat" cmpd="sng" algn="ctr">
                      <a:solidFill>
                        <a:schemeClr val="accent1">
                          <a:lumMod val="20000"/>
                          <a:lumOff val="8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6">
                  <a:txBody>
                    <a:bodyPr/>
                    <a:lstStyle/>
                    <a:p>
                      <a:pPr marL="0" marR="0" lvl="0" indent="0" algn="l" defTabSz="12190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800" b="0" i="0" u="none" strike="noStrike" kern="1200" cap="none" spc="0" normalizeH="0" baseline="0" noProof="0">
                        <a:ln>
                          <a:noFill/>
                        </a:ln>
                        <a:solidFill>
                          <a:srgbClr val="EAEAEA">
                            <a:lumMod val="50000"/>
                          </a:srgbClr>
                        </a:solidFill>
                        <a:effectLst/>
                        <a:uLnTx/>
                        <a:uFillTx/>
                        <a:latin typeface="IBM Plex Sans" charset="0"/>
                      </a:endParaRPr>
                    </a:p>
                  </a:txBody>
                  <a:tcPr marL="91416" marR="91416" marT="45709" marB="45709" anchor="ctr">
                    <a:lnL w="12700" cap="flat" cmpd="sng" algn="ctr">
                      <a:no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US"/>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5989313"/>
                  </a:ext>
                </a:extLst>
              </a:tr>
              <a:tr h="540939">
                <a:tc>
                  <a:txBody>
                    <a:bodyPr/>
                    <a:lstStyle/>
                    <a:p>
                      <a:pPr marL="0" marR="0" lvl="0" indent="0" algn="l" defTabSz="914272"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w="0"/>
                          <a:solidFill>
                            <a:schemeClr val="accent1"/>
                          </a:solidFill>
                          <a:effectLst/>
                          <a:uLnTx/>
                          <a:uFillTx/>
                          <a:latin typeface="IBM Plex Sans Condensed" panose="020B0506050203000203" pitchFamily="34" charset="77"/>
                          <a:ea typeface="IBM Plex Sans" charset="0"/>
                          <a:cs typeface="IBM Plex Sans" charset="0"/>
                        </a:rPr>
                        <a:t>Reserve + Room Panel</a:t>
                      </a:r>
                    </a:p>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en-US" sz="800" b="1" i="0" u="none" strike="noStrike" kern="1200" cap="none" spc="0" normalizeH="0" baseline="0" noProof="0">
                        <a:ln w="0"/>
                        <a:solidFill>
                          <a:schemeClr val="tx1"/>
                        </a:solidFill>
                        <a:effectLst/>
                        <a:uLnTx/>
                        <a:uFillTx/>
                        <a:latin typeface="IBM Plex Sans" charset="0"/>
                        <a:ea typeface="IBM Plex Sans" charset="0"/>
                        <a:cs typeface="IBM Plex Sans" charset="0"/>
                      </a:endParaRPr>
                    </a:p>
                    <a:p>
                      <a:pPr marL="0" marR="0" lvl="0" indent="0" algn="l" defTabSz="91427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w="0"/>
                          <a:solidFill>
                            <a:schemeClr val="tx1"/>
                          </a:solidFill>
                          <a:effectLst/>
                          <a:uLnTx/>
                          <a:uFillTx/>
                          <a:latin typeface="IBM Plex Sans Light" panose="020B0403050203000203" pitchFamily="34" charset="0"/>
                          <a:ea typeface="IBM Plex Sans" charset="0"/>
                          <a:cs typeface="IBM Plex Sans" charset="0"/>
                        </a:rPr>
                        <a:t>install user</a:t>
                      </a:r>
                    </a:p>
                  </a:txBody>
                  <a:tcPr marL="91416" marR="91416" marT="45709" marB="45709" anchor="ctr">
                    <a:lnL w="12700" cap="flat" cmpd="sng" algn="ctr">
                      <a:solidFill>
                        <a:schemeClr val="accent1">
                          <a:lumMod val="20000"/>
                          <a:lumOff val="8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6">
                  <a:txBody>
                    <a:bodyPr/>
                    <a:lstStyle/>
                    <a:p>
                      <a:endParaRPr lang="en-US" sz="1800"/>
                    </a:p>
                  </a:txBody>
                  <a:tcPr marL="91416" marR="91416" marT="45709" marB="45709" anchor="ctr">
                    <a:lnL w="12700" cap="flat" cmpd="sng" algn="ctr">
                      <a:no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6392203"/>
                  </a:ext>
                </a:extLst>
              </a:tr>
            </a:tbl>
          </a:graphicData>
        </a:graphic>
      </p:graphicFrame>
      <p:sp>
        <p:nvSpPr>
          <p:cNvPr id="52" name="Right Brace 51">
            <a:extLst>
              <a:ext uri="{FF2B5EF4-FFF2-40B4-BE49-F238E27FC236}">
                <a16:creationId xmlns:a16="http://schemas.microsoft.com/office/drawing/2014/main" id="{6B66FC27-9B7C-E2B3-BC2D-9923BE906A5A}"/>
              </a:ext>
            </a:extLst>
          </p:cNvPr>
          <p:cNvSpPr/>
          <p:nvPr/>
        </p:nvSpPr>
        <p:spPr>
          <a:xfrm rot="5400000">
            <a:off x="7404792" y="1335999"/>
            <a:ext cx="205977" cy="8608309"/>
          </a:xfrm>
          <a:prstGeom prst="rightBrace">
            <a:avLst>
              <a:gd name="adj1" fmla="val 0"/>
              <a:gd name="adj2" fmla="val 50000"/>
            </a:avLst>
          </a:prstGeom>
          <a:ln w="12700">
            <a:solidFill>
              <a:schemeClr val="accent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defTabSz="914218">
              <a:defRPr/>
            </a:pPr>
            <a:endParaRPr lang="en-US" sz="900">
              <a:solidFill>
                <a:srgbClr val="000000"/>
              </a:solidFill>
              <a:latin typeface="IBM Plex Sans"/>
            </a:endParaRPr>
          </a:p>
        </p:txBody>
      </p:sp>
      <p:sp>
        <p:nvSpPr>
          <p:cNvPr id="53" name="TextBox 52">
            <a:extLst>
              <a:ext uri="{FF2B5EF4-FFF2-40B4-BE49-F238E27FC236}">
                <a16:creationId xmlns:a16="http://schemas.microsoft.com/office/drawing/2014/main" id="{021697BF-F95E-0C4C-102B-989C80459CF0}"/>
              </a:ext>
            </a:extLst>
          </p:cNvPr>
          <p:cNvSpPr txBox="1"/>
          <p:nvPr/>
        </p:nvSpPr>
        <p:spPr>
          <a:xfrm>
            <a:off x="6053882" y="5455875"/>
            <a:ext cx="1603019" cy="393938"/>
          </a:xfrm>
          <a:prstGeom prst="rect">
            <a:avLst/>
          </a:prstGeom>
          <a:solidFill>
            <a:schemeClr val="bg1">
              <a:lumMod val="95000"/>
            </a:schemeClr>
          </a:solidFill>
        </p:spPr>
        <p:txBody>
          <a:bodyPr wrap="square" lIns="143963" tIns="0" rIns="71981" bIns="0" rtlCol="0" anchor="ctr">
            <a:noAutofit/>
          </a:bodyPr>
          <a:lstStyle>
            <a:defPPr>
              <a:defRPr lang="en-US"/>
            </a:defPPr>
            <a:lvl1pPr defTabSz="1219080">
              <a:defRPr sz="1000" b="1" kern="0">
                <a:solidFill>
                  <a:srgbClr val="FFFFFF"/>
                </a:solidFill>
                <a:latin typeface="IBM Plex Sans" charset="0"/>
                <a:ea typeface="IBM Plex Sans" charset="0"/>
                <a:cs typeface="IBM Plex Sans" charset="0"/>
              </a:defRPr>
            </a:lvl1pPr>
          </a:lstStyle>
          <a:p>
            <a:pPr marL="61107" indent="-61107" defTabSz="1625008">
              <a:buFont typeface="IBM Plex Sans Light" panose="020B0403050203000203" pitchFamily="34" charset="0"/>
              <a:buChar char="–"/>
              <a:defRPr/>
            </a:pPr>
            <a:r>
              <a:rPr lang="en-US" sz="900" b="0" kern="1200">
                <a:solidFill>
                  <a:srgbClr val="4472C4"/>
                </a:solidFill>
                <a:latin typeface="IBM Plex Sans Light" panose="020B0403050203000203" pitchFamily="34" charset="0"/>
                <a:ea typeface="+mn-ea"/>
                <a:cs typeface="+mn-cs"/>
              </a:rPr>
              <a:t>Base +</a:t>
            </a:r>
          </a:p>
          <a:p>
            <a:pPr marL="61107" indent="-61107" defTabSz="1625008">
              <a:buFont typeface="IBM Plex Sans Light" panose="020B0403050203000203" pitchFamily="34" charset="0"/>
              <a:buChar char="–"/>
              <a:defRPr/>
            </a:pPr>
            <a:r>
              <a:rPr lang="en-US" sz="900" b="0" kern="1200">
                <a:solidFill>
                  <a:srgbClr val="000000"/>
                </a:solidFill>
                <a:latin typeface="IBM Plex Sans Light" panose="020B0403050203000203" pitchFamily="34" charset="0"/>
                <a:ea typeface="+mn-ea"/>
                <a:cs typeface="+mn-cs"/>
              </a:rPr>
              <a:t>Configuration Tools</a:t>
            </a:r>
          </a:p>
        </p:txBody>
      </p:sp>
      <p:sp>
        <p:nvSpPr>
          <p:cNvPr id="2" name="TextBox 1">
            <a:extLst>
              <a:ext uri="{FF2B5EF4-FFF2-40B4-BE49-F238E27FC236}">
                <a16:creationId xmlns:a16="http://schemas.microsoft.com/office/drawing/2014/main" id="{3E1850E5-2BC4-5DF2-1880-9D4FB54B6051}"/>
              </a:ext>
            </a:extLst>
          </p:cNvPr>
          <p:cNvSpPr txBox="1"/>
          <p:nvPr/>
        </p:nvSpPr>
        <p:spPr>
          <a:xfrm>
            <a:off x="9118304" y="5956925"/>
            <a:ext cx="1107386" cy="415498"/>
          </a:xfrm>
          <a:prstGeom prst="rect">
            <a:avLst/>
          </a:prstGeom>
          <a:noFill/>
        </p:spPr>
        <p:txBody>
          <a:bodyPr wrap="square" lIns="0" tIns="0" rIns="0" bIns="0" rtlCol="0" anchor="ctr">
            <a:spAutoFit/>
          </a:bodyPr>
          <a:lstStyle>
            <a:defPPr>
              <a:defRPr lang="en-US"/>
            </a:defPPr>
            <a:lvl1pPr defTabSz="1219080">
              <a:defRPr sz="1000" b="1" kern="0">
                <a:solidFill>
                  <a:srgbClr val="FFFFFF"/>
                </a:solidFill>
                <a:latin typeface="IBM Plex Sans" charset="0"/>
                <a:ea typeface="IBM Plex Sans" charset="0"/>
                <a:cs typeface="IBM Plex Sans" charset="0"/>
              </a:defRPr>
            </a:lvl1pPr>
          </a:lstStyle>
          <a:p>
            <a:pPr marL="92058" indent="-92058" defTabSz="1218771">
              <a:buFont typeface="IBM Plex Sans Light" panose="020B0403050203000203" pitchFamily="34" charset="0"/>
              <a:buChar char="–"/>
              <a:defRPr/>
            </a:pPr>
            <a:r>
              <a:rPr lang="en-US" sz="900" b="0" kern="1200">
                <a:solidFill>
                  <a:srgbClr val="4472C4"/>
                </a:solidFill>
                <a:latin typeface="IBM Plex Sans Light" panose="020B0403050203000203" pitchFamily="34" charset="0"/>
                <a:ea typeface="+mn-ea"/>
                <a:cs typeface="+mn-cs"/>
              </a:rPr>
              <a:t>Self-Service +</a:t>
            </a:r>
          </a:p>
          <a:p>
            <a:pPr marL="92058" indent="-92058" defTabSz="1218771">
              <a:buFont typeface="IBM Plex Sans Light" panose="020B0403050203000203" pitchFamily="34" charset="0"/>
              <a:buChar char="–"/>
              <a:defRPr/>
            </a:pPr>
            <a:r>
              <a:rPr lang="en-US" sz="900" b="0" kern="1200">
                <a:solidFill>
                  <a:srgbClr val="000000"/>
                </a:solidFill>
                <a:latin typeface="IBM Plex Sans Light" panose="020B0403050203000203" pitchFamily="34" charset="0"/>
                <a:ea typeface="+mn-ea"/>
                <a:cs typeface="+mn-cs"/>
              </a:rPr>
              <a:t>Room / Desk Reservations</a:t>
            </a:r>
          </a:p>
        </p:txBody>
      </p:sp>
      <p:sp>
        <p:nvSpPr>
          <p:cNvPr id="5" name="TextBox 4">
            <a:extLst>
              <a:ext uri="{FF2B5EF4-FFF2-40B4-BE49-F238E27FC236}">
                <a16:creationId xmlns:a16="http://schemas.microsoft.com/office/drawing/2014/main" id="{B05EBCD8-4A3F-B341-D410-9A383B78A2C6}"/>
              </a:ext>
            </a:extLst>
          </p:cNvPr>
          <p:cNvSpPr txBox="1"/>
          <p:nvPr/>
        </p:nvSpPr>
        <p:spPr>
          <a:xfrm>
            <a:off x="2015933" y="5920380"/>
            <a:ext cx="2913335" cy="507831"/>
          </a:xfrm>
          <a:prstGeom prst="rect">
            <a:avLst/>
          </a:prstGeom>
          <a:no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a:spAutoFit/>
          </a:bodyPr>
          <a:lstStyle/>
          <a:p>
            <a:pPr defTabSz="457050">
              <a:defRPr/>
            </a:pPr>
            <a:r>
              <a:rPr lang="en-IE" sz="900">
                <a:ln w="0"/>
                <a:solidFill>
                  <a:prstClr val="black"/>
                </a:solidFill>
                <a:latin typeface="IBM Plex Sans Light" panose="020B0403050203000203" pitchFamily="34" charset="0"/>
                <a:ea typeface="IBM Plex Sans" charset="0"/>
                <a:cs typeface="IBM Plex Sans" charset="0"/>
              </a:rPr>
              <a:t>Tier 1/ 20 AppPoints – &lt; 10K reserve users</a:t>
            </a:r>
          </a:p>
          <a:p>
            <a:pPr defTabSz="457050">
              <a:defRPr/>
            </a:pPr>
            <a:r>
              <a:rPr lang="en-IE" sz="900">
                <a:ln w="0"/>
                <a:solidFill>
                  <a:prstClr val="black"/>
                </a:solidFill>
                <a:latin typeface="IBM Plex Sans Light" panose="020B0403050203000203" pitchFamily="34" charset="0"/>
                <a:ea typeface="IBM Plex Sans" charset="0"/>
                <a:cs typeface="IBM Plex Sans" charset="0"/>
              </a:rPr>
              <a:t>Tier 2/ 120 AppPoints – 10K – 100K reserve users</a:t>
            </a:r>
          </a:p>
          <a:p>
            <a:pPr defTabSz="457050">
              <a:defRPr/>
            </a:pPr>
            <a:r>
              <a:rPr lang="en-IE" sz="900">
                <a:ln w="0"/>
                <a:solidFill>
                  <a:prstClr val="black"/>
                </a:solidFill>
                <a:latin typeface="IBM Plex Sans Light" panose="020B0403050203000203" pitchFamily="34" charset="0"/>
                <a:ea typeface="IBM Plex Sans" charset="0"/>
                <a:cs typeface="IBM Plex Sans" charset="0"/>
              </a:rPr>
              <a:t>Tier 3/ 200 AppPoints – &gt; 100K reserve users</a:t>
            </a:r>
            <a:endParaRPr lang="en-US" sz="900">
              <a:solidFill>
                <a:prstClr val="black"/>
              </a:solidFill>
              <a:latin typeface="IBM Plex Sans Light" panose="020B0403050203000203" pitchFamily="34" charset="0"/>
            </a:endParaRPr>
          </a:p>
        </p:txBody>
      </p:sp>
      <p:sp>
        <p:nvSpPr>
          <p:cNvPr id="3" name="TextBox 2">
            <a:extLst>
              <a:ext uri="{FF2B5EF4-FFF2-40B4-BE49-F238E27FC236}">
                <a16:creationId xmlns:a16="http://schemas.microsoft.com/office/drawing/2014/main" id="{F8F10ABE-2EF6-3A3C-9E60-47A37EEA98EE}"/>
              </a:ext>
            </a:extLst>
          </p:cNvPr>
          <p:cNvSpPr txBox="1"/>
          <p:nvPr/>
        </p:nvSpPr>
        <p:spPr>
          <a:xfrm>
            <a:off x="230131" y="6552096"/>
            <a:ext cx="6740948" cy="235898"/>
          </a:xfrm>
          <a:prstGeom prst="rect">
            <a:avLst/>
          </a:prstGeom>
          <a:noFill/>
        </p:spPr>
        <p:txBody>
          <a:bodyPr wrap="none" rtlCol="0">
            <a:spAutoFit/>
          </a:bodyPr>
          <a:lstStyle/>
          <a:p>
            <a:pPr defTabSz="914473">
              <a:defRPr/>
            </a:pPr>
            <a:r>
              <a:rPr lang="en-US" sz="933">
                <a:solidFill>
                  <a:prstClr val="black"/>
                </a:solidFill>
                <a:latin typeface="Calibri" panose="020F0502020204030204"/>
              </a:rPr>
              <a:t>Note: User licensing is the same in MAS SaaS however, Lease and Reserve usage consumption in SaaS is metered in a different manner.</a:t>
            </a:r>
          </a:p>
        </p:txBody>
      </p:sp>
      <p:sp>
        <p:nvSpPr>
          <p:cNvPr id="8" name="Slide Number Placeholder 2">
            <a:extLst>
              <a:ext uri="{FF2B5EF4-FFF2-40B4-BE49-F238E27FC236}">
                <a16:creationId xmlns:a16="http://schemas.microsoft.com/office/drawing/2014/main" id="{36020347-036C-8579-D608-C7071CB9A7F0}"/>
              </a:ext>
            </a:extLst>
          </p:cNvPr>
          <p:cNvSpPr txBox="1">
            <a:spLocks/>
          </p:cNvSpPr>
          <p:nvPr/>
        </p:nvSpPr>
        <p:spPr>
          <a:xfrm>
            <a:off x="11767172" y="6468987"/>
            <a:ext cx="136773" cy="123094"/>
          </a:xfrm>
          <a:prstGeom prst="rect">
            <a:avLst/>
          </a:prstGeom>
        </p:spPr>
        <p:txBody>
          <a:bodyPr/>
          <a:lstStyle>
            <a:defPPr>
              <a:defRPr lang="en-US"/>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a:lstStyle>
          <a:p>
            <a:pPr algn="r" defTabSz="914473">
              <a:defRPr/>
            </a:pPr>
            <a:fld id="{59395FB3-9C97-154F-86B2-7E381B951268}" type="slidenum">
              <a:rPr lang="en-US" sz="800">
                <a:solidFill>
                  <a:srgbClr val="000000"/>
                </a:solidFill>
                <a:latin typeface="IBM Plex Sans" panose="020B0503050203000203" pitchFamily="34" charset="0"/>
                <a:sym typeface="IBM Plex Sans"/>
              </a:rPr>
              <a:pPr algn="r" defTabSz="914473">
                <a:defRPr/>
              </a:pPr>
              <a:t>8</a:t>
            </a:fld>
            <a:endParaRPr lang="en-US" sz="800">
              <a:solidFill>
                <a:srgbClr val="000000"/>
              </a:solidFill>
              <a:latin typeface="IBM Plex Sans" panose="020B0503050203000203" pitchFamily="34" charset="0"/>
              <a:sym typeface="IBM Plex Sans"/>
            </a:endParaRPr>
          </a:p>
        </p:txBody>
      </p:sp>
    </p:spTree>
    <p:extLst>
      <p:ext uri="{BB962C8B-B14F-4D97-AF65-F5344CB8AC3E}">
        <p14:creationId xmlns:p14="http://schemas.microsoft.com/office/powerpoint/2010/main" val="3773206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6" name="Group 235">
            <a:extLst>
              <a:ext uri="{FF2B5EF4-FFF2-40B4-BE49-F238E27FC236}">
                <a16:creationId xmlns:a16="http://schemas.microsoft.com/office/drawing/2014/main" id="{DD623CE9-ADCA-3AA4-E434-6AD1B85EA6F4}"/>
              </a:ext>
            </a:extLst>
          </p:cNvPr>
          <p:cNvGrpSpPr/>
          <p:nvPr/>
        </p:nvGrpSpPr>
        <p:grpSpPr>
          <a:xfrm>
            <a:off x="0" y="1264491"/>
            <a:ext cx="12186357" cy="5079324"/>
            <a:chOff x="184889" y="1028943"/>
            <a:chExt cx="8763562" cy="3652689"/>
          </a:xfrm>
        </p:grpSpPr>
        <p:grpSp>
          <p:nvGrpSpPr>
            <p:cNvPr id="237" name="Group 236">
              <a:extLst>
                <a:ext uri="{FF2B5EF4-FFF2-40B4-BE49-F238E27FC236}">
                  <a16:creationId xmlns:a16="http://schemas.microsoft.com/office/drawing/2014/main" id="{82D63300-E1C1-27E8-AB90-10BBA9C5D0B0}"/>
                </a:ext>
              </a:extLst>
            </p:cNvPr>
            <p:cNvGrpSpPr/>
            <p:nvPr/>
          </p:nvGrpSpPr>
          <p:grpSpPr>
            <a:xfrm>
              <a:off x="184889" y="1484095"/>
              <a:ext cx="8763562" cy="457200"/>
              <a:chOff x="184889" y="1484095"/>
              <a:chExt cx="8763562" cy="457200"/>
            </a:xfrm>
          </p:grpSpPr>
          <p:sp>
            <p:nvSpPr>
              <p:cNvPr id="378" name="Rectangle 377">
                <a:extLst>
                  <a:ext uri="{FF2B5EF4-FFF2-40B4-BE49-F238E27FC236}">
                    <a16:creationId xmlns:a16="http://schemas.microsoft.com/office/drawing/2014/main" id="{4E2F659E-3ACC-7D21-6F7F-6DA182BDBB20}"/>
                  </a:ext>
                </a:extLst>
              </p:cNvPr>
              <p:cNvSpPr/>
              <p:nvPr/>
            </p:nvSpPr>
            <p:spPr bwMode="auto">
              <a:xfrm>
                <a:off x="1107819" y="1484095"/>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79" name="Rectangle 378">
                <a:extLst>
                  <a:ext uri="{FF2B5EF4-FFF2-40B4-BE49-F238E27FC236}">
                    <a16:creationId xmlns:a16="http://schemas.microsoft.com/office/drawing/2014/main" id="{1E209E9F-E0BC-9E4D-1FD0-2ADBF4C51736}"/>
                  </a:ext>
                </a:extLst>
              </p:cNvPr>
              <p:cNvSpPr/>
              <p:nvPr/>
            </p:nvSpPr>
            <p:spPr bwMode="auto">
              <a:xfrm>
                <a:off x="1569284" y="1484095"/>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80" name="Rectangle 379">
                <a:extLst>
                  <a:ext uri="{FF2B5EF4-FFF2-40B4-BE49-F238E27FC236}">
                    <a16:creationId xmlns:a16="http://schemas.microsoft.com/office/drawing/2014/main" id="{22211667-891E-A1FD-3F5C-F4B9E02942F3}"/>
                  </a:ext>
                </a:extLst>
              </p:cNvPr>
              <p:cNvSpPr/>
              <p:nvPr/>
            </p:nvSpPr>
            <p:spPr bwMode="auto">
              <a:xfrm>
                <a:off x="2030749" y="1484095"/>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81" name="Rectangle 380">
                <a:extLst>
                  <a:ext uri="{FF2B5EF4-FFF2-40B4-BE49-F238E27FC236}">
                    <a16:creationId xmlns:a16="http://schemas.microsoft.com/office/drawing/2014/main" id="{332F5869-E938-F4CA-FDC2-41FD6B460903}"/>
                  </a:ext>
                </a:extLst>
              </p:cNvPr>
              <p:cNvSpPr/>
              <p:nvPr/>
            </p:nvSpPr>
            <p:spPr bwMode="auto">
              <a:xfrm>
                <a:off x="2492214" y="1484095"/>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82" name="Rectangle 381">
                <a:extLst>
                  <a:ext uri="{FF2B5EF4-FFF2-40B4-BE49-F238E27FC236}">
                    <a16:creationId xmlns:a16="http://schemas.microsoft.com/office/drawing/2014/main" id="{49C7E8FD-4756-0C8E-941F-D57069739DF6}"/>
                  </a:ext>
                </a:extLst>
              </p:cNvPr>
              <p:cNvSpPr/>
              <p:nvPr/>
            </p:nvSpPr>
            <p:spPr bwMode="auto">
              <a:xfrm>
                <a:off x="2953679" y="1484095"/>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83" name="Rectangle 382">
                <a:extLst>
                  <a:ext uri="{FF2B5EF4-FFF2-40B4-BE49-F238E27FC236}">
                    <a16:creationId xmlns:a16="http://schemas.microsoft.com/office/drawing/2014/main" id="{4CDE4DA5-661B-1071-809B-B2F0265F09D9}"/>
                  </a:ext>
                </a:extLst>
              </p:cNvPr>
              <p:cNvSpPr/>
              <p:nvPr/>
            </p:nvSpPr>
            <p:spPr bwMode="auto">
              <a:xfrm>
                <a:off x="3415144" y="1484095"/>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84" name="Rectangle 383">
                <a:extLst>
                  <a:ext uri="{FF2B5EF4-FFF2-40B4-BE49-F238E27FC236}">
                    <a16:creationId xmlns:a16="http://schemas.microsoft.com/office/drawing/2014/main" id="{2EB3508B-2B76-ED9A-BD56-1EE52CB7CB4B}"/>
                  </a:ext>
                </a:extLst>
              </p:cNvPr>
              <p:cNvSpPr/>
              <p:nvPr/>
            </p:nvSpPr>
            <p:spPr bwMode="auto">
              <a:xfrm>
                <a:off x="3876609" y="1484095"/>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85" name="Rectangle 384">
                <a:extLst>
                  <a:ext uri="{FF2B5EF4-FFF2-40B4-BE49-F238E27FC236}">
                    <a16:creationId xmlns:a16="http://schemas.microsoft.com/office/drawing/2014/main" id="{0DAE3300-076E-3E66-E5E0-B9845DF5030B}"/>
                  </a:ext>
                </a:extLst>
              </p:cNvPr>
              <p:cNvSpPr/>
              <p:nvPr/>
            </p:nvSpPr>
            <p:spPr bwMode="auto">
              <a:xfrm>
                <a:off x="5261004" y="1484095"/>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86" name="Rectangle 385">
                <a:extLst>
                  <a:ext uri="{FF2B5EF4-FFF2-40B4-BE49-F238E27FC236}">
                    <a16:creationId xmlns:a16="http://schemas.microsoft.com/office/drawing/2014/main" id="{70868EC6-7FAC-3629-7DD6-962BEA4E8CA4}"/>
                  </a:ext>
                </a:extLst>
              </p:cNvPr>
              <p:cNvSpPr/>
              <p:nvPr/>
            </p:nvSpPr>
            <p:spPr bwMode="auto">
              <a:xfrm>
                <a:off x="5722469" y="1484095"/>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87" name="Rectangle 386">
                <a:extLst>
                  <a:ext uri="{FF2B5EF4-FFF2-40B4-BE49-F238E27FC236}">
                    <a16:creationId xmlns:a16="http://schemas.microsoft.com/office/drawing/2014/main" id="{6F5E1A0F-53C9-88A3-5535-0E112290B0D7}"/>
                  </a:ext>
                </a:extLst>
              </p:cNvPr>
              <p:cNvSpPr/>
              <p:nvPr/>
            </p:nvSpPr>
            <p:spPr bwMode="auto">
              <a:xfrm>
                <a:off x="6183934" y="1484095"/>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88" name="Rectangle 387">
                <a:extLst>
                  <a:ext uri="{FF2B5EF4-FFF2-40B4-BE49-F238E27FC236}">
                    <a16:creationId xmlns:a16="http://schemas.microsoft.com/office/drawing/2014/main" id="{D35C3A8E-B209-2DD2-5A23-01BFA2211740}"/>
                  </a:ext>
                </a:extLst>
              </p:cNvPr>
              <p:cNvSpPr/>
              <p:nvPr/>
            </p:nvSpPr>
            <p:spPr bwMode="auto">
              <a:xfrm>
                <a:off x="6645399" y="1484095"/>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89" name="Rectangle 388">
                <a:extLst>
                  <a:ext uri="{FF2B5EF4-FFF2-40B4-BE49-F238E27FC236}">
                    <a16:creationId xmlns:a16="http://schemas.microsoft.com/office/drawing/2014/main" id="{AA2A709E-34D4-B978-98BC-461DFAD49787}"/>
                  </a:ext>
                </a:extLst>
              </p:cNvPr>
              <p:cNvSpPr/>
              <p:nvPr/>
            </p:nvSpPr>
            <p:spPr bwMode="auto">
              <a:xfrm>
                <a:off x="7106864" y="1484095"/>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90" name="Rectangle 389">
                <a:extLst>
                  <a:ext uri="{FF2B5EF4-FFF2-40B4-BE49-F238E27FC236}">
                    <a16:creationId xmlns:a16="http://schemas.microsoft.com/office/drawing/2014/main" id="{F679DAB4-27A8-2EA0-076B-EBE047FD3F77}"/>
                  </a:ext>
                </a:extLst>
              </p:cNvPr>
              <p:cNvSpPr/>
              <p:nvPr/>
            </p:nvSpPr>
            <p:spPr bwMode="auto">
              <a:xfrm>
                <a:off x="7568329" y="1484095"/>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91" name="Rectangle 390">
                <a:extLst>
                  <a:ext uri="{FF2B5EF4-FFF2-40B4-BE49-F238E27FC236}">
                    <a16:creationId xmlns:a16="http://schemas.microsoft.com/office/drawing/2014/main" id="{7CECEBFA-6367-3D0A-404D-C2F013D56C74}"/>
                  </a:ext>
                </a:extLst>
              </p:cNvPr>
              <p:cNvSpPr/>
              <p:nvPr/>
            </p:nvSpPr>
            <p:spPr bwMode="auto">
              <a:xfrm>
                <a:off x="8029794" y="1484095"/>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92" name="Rectangle 391">
                <a:extLst>
                  <a:ext uri="{FF2B5EF4-FFF2-40B4-BE49-F238E27FC236}">
                    <a16:creationId xmlns:a16="http://schemas.microsoft.com/office/drawing/2014/main" id="{AA90B907-59EC-B238-98DD-023F361E6039}"/>
                  </a:ext>
                </a:extLst>
              </p:cNvPr>
              <p:cNvSpPr/>
              <p:nvPr/>
            </p:nvSpPr>
            <p:spPr bwMode="auto">
              <a:xfrm>
                <a:off x="4338074" y="1484095"/>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93" name="Rectangle 392">
                <a:extLst>
                  <a:ext uri="{FF2B5EF4-FFF2-40B4-BE49-F238E27FC236}">
                    <a16:creationId xmlns:a16="http://schemas.microsoft.com/office/drawing/2014/main" id="{FE12B8CA-8CCE-DCD9-7370-34CAD34EB245}"/>
                  </a:ext>
                </a:extLst>
              </p:cNvPr>
              <p:cNvSpPr/>
              <p:nvPr/>
            </p:nvSpPr>
            <p:spPr bwMode="auto">
              <a:xfrm>
                <a:off x="4799539" y="1484095"/>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94" name="Rectangle 393">
                <a:extLst>
                  <a:ext uri="{FF2B5EF4-FFF2-40B4-BE49-F238E27FC236}">
                    <a16:creationId xmlns:a16="http://schemas.microsoft.com/office/drawing/2014/main" id="{55D5F9A0-9C52-F1F7-6DF1-1077281BA45F}"/>
                  </a:ext>
                </a:extLst>
              </p:cNvPr>
              <p:cNvSpPr/>
              <p:nvPr/>
            </p:nvSpPr>
            <p:spPr bwMode="auto">
              <a:xfrm>
                <a:off x="8491251" y="1484095"/>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95" name="Rectangle 394">
                <a:extLst>
                  <a:ext uri="{FF2B5EF4-FFF2-40B4-BE49-F238E27FC236}">
                    <a16:creationId xmlns:a16="http://schemas.microsoft.com/office/drawing/2014/main" id="{FC5F76A8-E142-2C8E-5E11-EA0F91B5650E}"/>
                  </a:ext>
                </a:extLst>
              </p:cNvPr>
              <p:cNvSpPr/>
              <p:nvPr/>
            </p:nvSpPr>
            <p:spPr bwMode="auto">
              <a:xfrm>
                <a:off x="184889" y="1484095"/>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96" name="Rectangle 395">
                <a:extLst>
                  <a:ext uri="{FF2B5EF4-FFF2-40B4-BE49-F238E27FC236}">
                    <a16:creationId xmlns:a16="http://schemas.microsoft.com/office/drawing/2014/main" id="{ACAACE21-BB9E-CB93-A831-2B380A0EEA73}"/>
                  </a:ext>
                </a:extLst>
              </p:cNvPr>
              <p:cNvSpPr/>
              <p:nvPr/>
            </p:nvSpPr>
            <p:spPr bwMode="auto">
              <a:xfrm>
                <a:off x="646354" y="1484095"/>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grpSp>
        <p:grpSp>
          <p:nvGrpSpPr>
            <p:cNvPr id="238" name="Group 237">
              <a:extLst>
                <a:ext uri="{FF2B5EF4-FFF2-40B4-BE49-F238E27FC236}">
                  <a16:creationId xmlns:a16="http://schemas.microsoft.com/office/drawing/2014/main" id="{1B3615EB-3C35-C67F-FA80-34BC76F8DB2E}"/>
                </a:ext>
              </a:extLst>
            </p:cNvPr>
            <p:cNvGrpSpPr/>
            <p:nvPr/>
          </p:nvGrpSpPr>
          <p:grpSpPr>
            <a:xfrm>
              <a:off x="184889" y="1940818"/>
              <a:ext cx="8763562" cy="457200"/>
              <a:chOff x="184889" y="1940818"/>
              <a:chExt cx="8763562" cy="457200"/>
            </a:xfrm>
          </p:grpSpPr>
          <p:sp>
            <p:nvSpPr>
              <p:cNvPr id="359" name="Rectangle 358">
                <a:extLst>
                  <a:ext uri="{FF2B5EF4-FFF2-40B4-BE49-F238E27FC236}">
                    <a16:creationId xmlns:a16="http://schemas.microsoft.com/office/drawing/2014/main" id="{A7FBC476-D265-034B-A0B1-4DD80543015A}"/>
                  </a:ext>
                </a:extLst>
              </p:cNvPr>
              <p:cNvSpPr/>
              <p:nvPr/>
            </p:nvSpPr>
            <p:spPr bwMode="auto">
              <a:xfrm>
                <a:off x="1107819" y="1940818"/>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60" name="Rectangle 359">
                <a:extLst>
                  <a:ext uri="{FF2B5EF4-FFF2-40B4-BE49-F238E27FC236}">
                    <a16:creationId xmlns:a16="http://schemas.microsoft.com/office/drawing/2014/main" id="{75C19209-92FA-1D69-CBE0-845C2C27A13E}"/>
                  </a:ext>
                </a:extLst>
              </p:cNvPr>
              <p:cNvSpPr/>
              <p:nvPr/>
            </p:nvSpPr>
            <p:spPr bwMode="auto">
              <a:xfrm>
                <a:off x="1569284" y="1940818"/>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61" name="Rectangle 360">
                <a:extLst>
                  <a:ext uri="{FF2B5EF4-FFF2-40B4-BE49-F238E27FC236}">
                    <a16:creationId xmlns:a16="http://schemas.microsoft.com/office/drawing/2014/main" id="{373A6F9D-6CBC-7371-BB10-0EA057457197}"/>
                  </a:ext>
                </a:extLst>
              </p:cNvPr>
              <p:cNvSpPr/>
              <p:nvPr/>
            </p:nvSpPr>
            <p:spPr bwMode="auto">
              <a:xfrm>
                <a:off x="2030749" y="1940818"/>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62" name="Rectangle 361">
                <a:extLst>
                  <a:ext uri="{FF2B5EF4-FFF2-40B4-BE49-F238E27FC236}">
                    <a16:creationId xmlns:a16="http://schemas.microsoft.com/office/drawing/2014/main" id="{3CA8EDBD-A05C-446E-55E3-FA2180DC9E4F}"/>
                  </a:ext>
                </a:extLst>
              </p:cNvPr>
              <p:cNvSpPr/>
              <p:nvPr/>
            </p:nvSpPr>
            <p:spPr bwMode="auto">
              <a:xfrm>
                <a:off x="2492214" y="1940818"/>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63" name="Rectangle 362">
                <a:extLst>
                  <a:ext uri="{FF2B5EF4-FFF2-40B4-BE49-F238E27FC236}">
                    <a16:creationId xmlns:a16="http://schemas.microsoft.com/office/drawing/2014/main" id="{70C2E8A8-51FA-2DB2-B51E-529BF5B7C9C7}"/>
                  </a:ext>
                </a:extLst>
              </p:cNvPr>
              <p:cNvSpPr/>
              <p:nvPr/>
            </p:nvSpPr>
            <p:spPr bwMode="auto">
              <a:xfrm>
                <a:off x="2953679" y="1940818"/>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64" name="Rectangle 363">
                <a:extLst>
                  <a:ext uri="{FF2B5EF4-FFF2-40B4-BE49-F238E27FC236}">
                    <a16:creationId xmlns:a16="http://schemas.microsoft.com/office/drawing/2014/main" id="{D33203D7-A7CD-B933-B87B-9746BF181277}"/>
                  </a:ext>
                </a:extLst>
              </p:cNvPr>
              <p:cNvSpPr/>
              <p:nvPr/>
            </p:nvSpPr>
            <p:spPr bwMode="auto">
              <a:xfrm>
                <a:off x="3415144" y="1940818"/>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65" name="Rectangle 364">
                <a:extLst>
                  <a:ext uri="{FF2B5EF4-FFF2-40B4-BE49-F238E27FC236}">
                    <a16:creationId xmlns:a16="http://schemas.microsoft.com/office/drawing/2014/main" id="{C61A6F9A-F80C-FF34-1B2C-5A4DD12D6C25}"/>
                  </a:ext>
                </a:extLst>
              </p:cNvPr>
              <p:cNvSpPr/>
              <p:nvPr/>
            </p:nvSpPr>
            <p:spPr bwMode="auto">
              <a:xfrm>
                <a:off x="3876609" y="1940818"/>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66" name="Rectangle 365">
                <a:extLst>
                  <a:ext uri="{FF2B5EF4-FFF2-40B4-BE49-F238E27FC236}">
                    <a16:creationId xmlns:a16="http://schemas.microsoft.com/office/drawing/2014/main" id="{356C643D-00AF-140A-1A2F-53FC723908C0}"/>
                  </a:ext>
                </a:extLst>
              </p:cNvPr>
              <p:cNvSpPr/>
              <p:nvPr/>
            </p:nvSpPr>
            <p:spPr bwMode="auto">
              <a:xfrm>
                <a:off x="5261004" y="1940818"/>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67" name="Rectangle 366">
                <a:extLst>
                  <a:ext uri="{FF2B5EF4-FFF2-40B4-BE49-F238E27FC236}">
                    <a16:creationId xmlns:a16="http://schemas.microsoft.com/office/drawing/2014/main" id="{1AF3FB77-EC2F-A1CE-A097-C535313646C7}"/>
                  </a:ext>
                </a:extLst>
              </p:cNvPr>
              <p:cNvSpPr/>
              <p:nvPr/>
            </p:nvSpPr>
            <p:spPr bwMode="auto">
              <a:xfrm>
                <a:off x="5722469" y="1940818"/>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68" name="Rectangle 367">
                <a:extLst>
                  <a:ext uri="{FF2B5EF4-FFF2-40B4-BE49-F238E27FC236}">
                    <a16:creationId xmlns:a16="http://schemas.microsoft.com/office/drawing/2014/main" id="{F1B4828C-FA0B-DADA-E7D2-59C82C2F4347}"/>
                  </a:ext>
                </a:extLst>
              </p:cNvPr>
              <p:cNvSpPr/>
              <p:nvPr/>
            </p:nvSpPr>
            <p:spPr bwMode="auto">
              <a:xfrm>
                <a:off x="6183934" y="1940818"/>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69" name="Rectangle 368">
                <a:extLst>
                  <a:ext uri="{FF2B5EF4-FFF2-40B4-BE49-F238E27FC236}">
                    <a16:creationId xmlns:a16="http://schemas.microsoft.com/office/drawing/2014/main" id="{69365FF4-F4A5-8974-E896-F3E31329B062}"/>
                  </a:ext>
                </a:extLst>
              </p:cNvPr>
              <p:cNvSpPr/>
              <p:nvPr/>
            </p:nvSpPr>
            <p:spPr bwMode="auto">
              <a:xfrm>
                <a:off x="6645399" y="1940818"/>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70" name="Rectangle 369">
                <a:extLst>
                  <a:ext uri="{FF2B5EF4-FFF2-40B4-BE49-F238E27FC236}">
                    <a16:creationId xmlns:a16="http://schemas.microsoft.com/office/drawing/2014/main" id="{115FB89C-7971-87C1-9023-EDE9CA90CDF2}"/>
                  </a:ext>
                </a:extLst>
              </p:cNvPr>
              <p:cNvSpPr/>
              <p:nvPr/>
            </p:nvSpPr>
            <p:spPr bwMode="auto">
              <a:xfrm>
                <a:off x="7106864" y="1940818"/>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71" name="Rectangle 370">
                <a:extLst>
                  <a:ext uri="{FF2B5EF4-FFF2-40B4-BE49-F238E27FC236}">
                    <a16:creationId xmlns:a16="http://schemas.microsoft.com/office/drawing/2014/main" id="{361CCA9F-8473-EC2C-FBF3-14BA6609AC72}"/>
                  </a:ext>
                </a:extLst>
              </p:cNvPr>
              <p:cNvSpPr/>
              <p:nvPr/>
            </p:nvSpPr>
            <p:spPr bwMode="auto">
              <a:xfrm>
                <a:off x="7568329" y="1940818"/>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72" name="Rectangle 371">
                <a:extLst>
                  <a:ext uri="{FF2B5EF4-FFF2-40B4-BE49-F238E27FC236}">
                    <a16:creationId xmlns:a16="http://schemas.microsoft.com/office/drawing/2014/main" id="{7B39175A-9EB9-F9F8-45F0-0BBBD1D352B0}"/>
                  </a:ext>
                </a:extLst>
              </p:cNvPr>
              <p:cNvSpPr/>
              <p:nvPr/>
            </p:nvSpPr>
            <p:spPr bwMode="auto">
              <a:xfrm>
                <a:off x="8029794" y="1940818"/>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73" name="Rectangle 372">
                <a:extLst>
                  <a:ext uri="{FF2B5EF4-FFF2-40B4-BE49-F238E27FC236}">
                    <a16:creationId xmlns:a16="http://schemas.microsoft.com/office/drawing/2014/main" id="{5561F147-DA7F-3916-EC62-BBAD4A4A5AF5}"/>
                  </a:ext>
                </a:extLst>
              </p:cNvPr>
              <p:cNvSpPr/>
              <p:nvPr/>
            </p:nvSpPr>
            <p:spPr bwMode="auto">
              <a:xfrm>
                <a:off x="4338074" y="1940818"/>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74" name="Rectangle 373">
                <a:extLst>
                  <a:ext uri="{FF2B5EF4-FFF2-40B4-BE49-F238E27FC236}">
                    <a16:creationId xmlns:a16="http://schemas.microsoft.com/office/drawing/2014/main" id="{964EF77F-DED9-CAAB-9534-395502DAFF46}"/>
                  </a:ext>
                </a:extLst>
              </p:cNvPr>
              <p:cNvSpPr/>
              <p:nvPr/>
            </p:nvSpPr>
            <p:spPr bwMode="auto">
              <a:xfrm>
                <a:off x="4799539" y="1940818"/>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75" name="Rectangle 374">
                <a:extLst>
                  <a:ext uri="{FF2B5EF4-FFF2-40B4-BE49-F238E27FC236}">
                    <a16:creationId xmlns:a16="http://schemas.microsoft.com/office/drawing/2014/main" id="{D4871B33-9238-9B32-6A6D-4DAF9D139EEC}"/>
                  </a:ext>
                </a:extLst>
              </p:cNvPr>
              <p:cNvSpPr/>
              <p:nvPr/>
            </p:nvSpPr>
            <p:spPr bwMode="auto">
              <a:xfrm>
                <a:off x="8491251" y="1940818"/>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76" name="Rectangle 375">
                <a:extLst>
                  <a:ext uri="{FF2B5EF4-FFF2-40B4-BE49-F238E27FC236}">
                    <a16:creationId xmlns:a16="http://schemas.microsoft.com/office/drawing/2014/main" id="{434F0413-6676-BA53-BA8E-AE750B151B0B}"/>
                  </a:ext>
                </a:extLst>
              </p:cNvPr>
              <p:cNvSpPr/>
              <p:nvPr/>
            </p:nvSpPr>
            <p:spPr bwMode="auto">
              <a:xfrm>
                <a:off x="184889" y="1940818"/>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77" name="Rectangle 376">
                <a:extLst>
                  <a:ext uri="{FF2B5EF4-FFF2-40B4-BE49-F238E27FC236}">
                    <a16:creationId xmlns:a16="http://schemas.microsoft.com/office/drawing/2014/main" id="{63062EC4-00B4-060B-FB63-665FFA6A8F49}"/>
                  </a:ext>
                </a:extLst>
              </p:cNvPr>
              <p:cNvSpPr/>
              <p:nvPr/>
            </p:nvSpPr>
            <p:spPr bwMode="auto">
              <a:xfrm>
                <a:off x="646354" y="1940818"/>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grpSp>
        <p:grpSp>
          <p:nvGrpSpPr>
            <p:cNvPr id="239" name="Group 238">
              <a:extLst>
                <a:ext uri="{FF2B5EF4-FFF2-40B4-BE49-F238E27FC236}">
                  <a16:creationId xmlns:a16="http://schemas.microsoft.com/office/drawing/2014/main" id="{AE92EBAE-DE20-8CF9-08F1-DD91402F9F10}"/>
                </a:ext>
              </a:extLst>
            </p:cNvPr>
            <p:cNvGrpSpPr/>
            <p:nvPr/>
          </p:nvGrpSpPr>
          <p:grpSpPr>
            <a:xfrm>
              <a:off x="184889" y="2397541"/>
              <a:ext cx="8763562" cy="457200"/>
              <a:chOff x="184889" y="2397541"/>
              <a:chExt cx="8763562" cy="457200"/>
            </a:xfrm>
          </p:grpSpPr>
          <p:sp>
            <p:nvSpPr>
              <p:cNvPr id="340" name="Rectangle 339">
                <a:extLst>
                  <a:ext uri="{FF2B5EF4-FFF2-40B4-BE49-F238E27FC236}">
                    <a16:creationId xmlns:a16="http://schemas.microsoft.com/office/drawing/2014/main" id="{C36FF341-C7F6-2AB4-119C-4586BDE25B94}"/>
                  </a:ext>
                </a:extLst>
              </p:cNvPr>
              <p:cNvSpPr/>
              <p:nvPr/>
            </p:nvSpPr>
            <p:spPr bwMode="auto">
              <a:xfrm>
                <a:off x="1107819" y="2397541"/>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41" name="Rectangle 340">
                <a:extLst>
                  <a:ext uri="{FF2B5EF4-FFF2-40B4-BE49-F238E27FC236}">
                    <a16:creationId xmlns:a16="http://schemas.microsoft.com/office/drawing/2014/main" id="{0AA9CF53-A815-04C5-2A8C-F7B515C3862C}"/>
                  </a:ext>
                </a:extLst>
              </p:cNvPr>
              <p:cNvSpPr/>
              <p:nvPr/>
            </p:nvSpPr>
            <p:spPr bwMode="auto">
              <a:xfrm>
                <a:off x="1569284" y="2397541"/>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42" name="Rectangle 341">
                <a:extLst>
                  <a:ext uri="{FF2B5EF4-FFF2-40B4-BE49-F238E27FC236}">
                    <a16:creationId xmlns:a16="http://schemas.microsoft.com/office/drawing/2014/main" id="{E2D19E67-8485-5F40-8C0C-C6513371FE3C}"/>
                  </a:ext>
                </a:extLst>
              </p:cNvPr>
              <p:cNvSpPr/>
              <p:nvPr/>
            </p:nvSpPr>
            <p:spPr bwMode="auto">
              <a:xfrm>
                <a:off x="2030749" y="2397541"/>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43" name="Rectangle 342">
                <a:extLst>
                  <a:ext uri="{FF2B5EF4-FFF2-40B4-BE49-F238E27FC236}">
                    <a16:creationId xmlns:a16="http://schemas.microsoft.com/office/drawing/2014/main" id="{9F652449-189B-6E25-D6E6-ED0AA86DA288}"/>
                  </a:ext>
                </a:extLst>
              </p:cNvPr>
              <p:cNvSpPr/>
              <p:nvPr/>
            </p:nvSpPr>
            <p:spPr bwMode="auto">
              <a:xfrm>
                <a:off x="2492214" y="2397541"/>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44" name="Rectangle 343">
                <a:extLst>
                  <a:ext uri="{FF2B5EF4-FFF2-40B4-BE49-F238E27FC236}">
                    <a16:creationId xmlns:a16="http://schemas.microsoft.com/office/drawing/2014/main" id="{393B6DE3-E3C8-F2DD-8672-A5B5518B5B22}"/>
                  </a:ext>
                </a:extLst>
              </p:cNvPr>
              <p:cNvSpPr/>
              <p:nvPr/>
            </p:nvSpPr>
            <p:spPr bwMode="auto">
              <a:xfrm>
                <a:off x="2953679" y="2397541"/>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45" name="Rectangle 344">
                <a:extLst>
                  <a:ext uri="{FF2B5EF4-FFF2-40B4-BE49-F238E27FC236}">
                    <a16:creationId xmlns:a16="http://schemas.microsoft.com/office/drawing/2014/main" id="{3FBA2DEE-D7DE-5158-B270-5B9300B5C5F2}"/>
                  </a:ext>
                </a:extLst>
              </p:cNvPr>
              <p:cNvSpPr/>
              <p:nvPr/>
            </p:nvSpPr>
            <p:spPr bwMode="auto">
              <a:xfrm>
                <a:off x="3415144" y="2397541"/>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46" name="Rectangle 345">
                <a:extLst>
                  <a:ext uri="{FF2B5EF4-FFF2-40B4-BE49-F238E27FC236}">
                    <a16:creationId xmlns:a16="http://schemas.microsoft.com/office/drawing/2014/main" id="{4BC62FC9-3BC8-C83C-C227-327436DACE3F}"/>
                  </a:ext>
                </a:extLst>
              </p:cNvPr>
              <p:cNvSpPr/>
              <p:nvPr/>
            </p:nvSpPr>
            <p:spPr bwMode="auto">
              <a:xfrm>
                <a:off x="3876609" y="2397541"/>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47" name="Rectangle 346">
                <a:extLst>
                  <a:ext uri="{FF2B5EF4-FFF2-40B4-BE49-F238E27FC236}">
                    <a16:creationId xmlns:a16="http://schemas.microsoft.com/office/drawing/2014/main" id="{2003D467-7548-CBF1-D05A-0A30B966BD5B}"/>
                  </a:ext>
                </a:extLst>
              </p:cNvPr>
              <p:cNvSpPr/>
              <p:nvPr/>
            </p:nvSpPr>
            <p:spPr bwMode="auto">
              <a:xfrm>
                <a:off x="5261004" y="2397541"/>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48" name="Rectangle 347">
                <a:extLst>
                  <a:ext uri="{FF2B5EF4-FFF2-40B4-BE49-F238E27FC236}">
                    <a16:creationId xmlns:a16="http://schemas.microsoft.com/office/drawing/2014/main" id="{768118DC-F638-B6AE-5690-44BEC2C45D9D}"/>
                  </a:ext>
                </a:extLst>
              </p:cNvPr>
              <p:cNvSpPr/>
              <p:nvPr/>
            </p:nvSpPr>
            <p:spPr bwMode="auto">
              <a:xfrm>
                <a:off x="5722469" y="2397541"/>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49" name="Rectangle 348">
                <a:extLst>
                  <a:ext uri="{FF2B5EF4-FFF2-40B4-BE49-F238E27FC236}">
                    <a16:creationId xmlns:a16="http://schemas.microsoft.com/office/drawing/2014/main" id="{AF96000B-961B-8CB8-23BC-530DEAFC5B35}"/>
                  </a:ext>
                </a:extLst>
              </p:cNvPr>
              <p:cNvSpPr/>
              <p:nvPr/>
            </p:nvSpPr>
            <p:spPr bwMode="auto">
              <a:xfrm>
                <a:off x="6183934" y="2397541"/>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50" name="Rectangle 349">
                <a:extLst>
                  <a:ext uri="{FF2B5EF4-FFF2-40B4-BE49-F238E27FC236}">
                    <a16:creationId xmlns:a16="http://schemas.microsoft.com/office/drawing/2014/main" id="{E422BB5F-3E8C-AB93-E8AE-2A119600CA65}"/>
                  </a:ext>
                </a:extLst>
              </p:cNvPr>
              <p:cNvSpPr/>
              <p:nvPr/>
            </p:nvSpPr>
            <p:spPr bwMode="auto">
              <a:xfrm>
                <a:off x="6645399" y="2397541"/>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51" name="Rectangle 350">
                <a:extLst>
                  <a:ext uri="{FF2B5EF4-FFF2-40B4-BE49-F238E27FC236}">
                    <a16:creationId xmlns:a16="http://schemas.microsoft.com/office/drawing/2014/main" id="{D0967DDD-2707-5268-192A-EC77B3CFF650}"/>
                  </a:ext>
                </a:extLst>
              </p:cNvPr>
              <p:cNvSpPr/>
              <p:nvPr/>
            </p:nvSpPr>
            <p:spPr bwMode="auto">
              <a:xfrm>
                <a:off x="7106864" y="2397541"/>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52" name="Rectangle 351">
                <a:extLst>
                  <a:ext uri="{FF2B5EF4-FFF2-40B4-BE49-F238E27FC236}">
                    <a16:creationId xmlns:a16="http://schemas.microsoft.com/office/drawing/2014/main" id="{AA2C818D-5323-51CC-A20E-B724C79EACE2}"/>
                  </a:ext>
                </a:extLst>
              </p:cNvPr>
              <p:cNvSpPr/>
              <p:nvPr/>
            </p:nvSpPr>
            <p:spPr bwMode="auto">
              <a:xfrm>
                <a:off x="7568329" y="2397541"/>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53" name="Rectangle 352">
                <a:extLst>
                  <a:ext uri="{FF2B5EF4-FFF2-40B4-BE49-F238E27FC236}">
                    <a16:creationId xmlns:a16="http://schemas.microsoft.com/office/drawing/2014/main" id="{8DDFEFF2-73B5-103A-D6E0-4C3737795B81}"/>
                  </a:ext>
                </a:extLst>
              </p:cNvPr>
              <p:cNvSpPr/>
              <p:nvPr/>
            </p:nvSpPr>
            <p:spPr bwMode="auto">
              <a:xfrm>
                <a:off x="8029794" y="2397541"/>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54" name="Rectangle 353">
                <a:extLst>
                  <a:ext uri="{FF2B5EF4-FFF2-40B4-BE49-F238E27FC236}">
                    <a16:creationId xmlns:a16="http://schemas.microsoft.com/office/drawing/2014/main" id="{6D660067-6665-D394-B284-BC118993FC35}"/>
                  </a:ext>
                </a:extLst>
              </p:cNvPr>
              <p:cNvSpPr/>
              <p:nvPr/>
            </p:nvSpPr>
            <p:spPr bwMode="auto">
              <a:xfrm>
                <a:off x="4338074" y="2397541"/>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55" name="Rectangle 354">
                <a:extLst>
                  <a:ext uri="{FF2B5EF4-FFF2-40B4-BE49-F238E27FC236}">
                    <a16:creationId xmlns:a16="http://schemas.microsoft.com/office/drawing/2014/main" id="{092ED19F-A782-C137-E75D-77AC70408B97}"/>
                  </a:ext>
                </a:extLst>
              </p:cNvPr>
              <p:cNvSpPr/>
              <p:nvPr/>
            </p:nvSpPr>
            <p:spPr bwMode="auto">
              <a:xfrm>
                <a:off x="4799539" y="2397541"/>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56" name="Rectangle 355">
                <a:extLst>
                  <a:ext uri="{FF2B5EF4-FFF2-40B4-BE49-F238E27FC236}">
                    <a16:creationId xmlns:a16="http://schemas.microsoft.com/office/drawing/2014/main" id="{AFE70EA3-3011-E051-14D0-481D815CBAB9}"/>
                  </a:ext>
                </a:extLst>
              </p:cNvPr>
              <p:cNvSpPr/>
              <p:nvPr/>
            </p:nvSpPr>
            <p:spPr bwMode="auto">
              <a:xfrm>
                <a:off x="8491251" y="2397541"/>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57" name="Rectangle 356">
                <a:extLst>
                  <a:ext uri="{FF2B5EF4-FFF2-40B4-BE49-F238E27FC236}">
                    <a16:creationId xmlns:a16="http://schemas.microsoft.com/office/drawing/2014/main" id="{5BEE8DB5-4F5C-CE81-0A56-85AB25836B9B}"/>
                  </a:ext>
                </a:extLst>
              </p:cNvPr>
              <p:cNvSpPr/>
              <p:nvPr/>
            </p:nvSpPr>
            <p:spPr bwMode="auto">
              <a:xfrm>
                <a:off x="184889" y="2397541"/>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58" name="Rectangle 357">
                <a:extLst>
                  <a:ext uri="{FF2B5EF4-FFF2-40B4-BE49-F238E27FC236}">
                    <a16:creationId xmlns:a16="http://schemas.microsoft.com/office/drawing/2014/main" id="{5F081896-1A4E-47B4-2C18-989D6EBD2B27}"/>
                  </a:ext>
                </a:extLst>
              </p:cNvPr>
              <p:cNvSpPr/>
              <p:nvPr/>
            </p:nvSpPr>
            <p:spPr bwMode="auto">
              <a:xfrm>
                <a:off x="646354" y="2397541"/>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grpSp>
        <p:grpSp>
          <p:nvGrpSpPr>
            <p:cNvPr id="240" name="Group 239">
              <a:extLst>
                <a:ext uri="{FF2B5EF4-FFF2-40B4-BE49-F238E27FC236}">
                  <a16:creationId xmlns:a16="http://schemas.microsoft.com/office/drawing/2014/main" id="{28980B64-3F82-9195-8E6C-B640CEE72739}"/>
                </a:ext>
              </a:extLst>
            </p:cNvPr>
            <p:cNvGrpSpPr/>
            <p:nvPr/>
          </p:nvGrpSpPr>
          <p:grpSpPr>
            <a:xfrm>
              <a:off x="184889" y="2854264"/>
              <a:ext cx="8763562" cy="457200"/>
              <a:chOff x="184889" y="2854264"/>
              <a:chExt cx="8763562" cy="457200"/>
            </a:xfrm>
          </p:grpSpPr>
          <p:sp>
            <p:nvSpPr>
              <p:cNvPr id="321" name="Rectangle 320">
                <a:extLst>
                  <a:ext uri="{FF2B5EF4-FFF2-40B4-BE49-F238E27FC236}">
                    <a16:creationId xmlns:a16="http://schemas.microsoft.com/office/drawing/2014/main" id="{C40A0BCC-73BF-1593-7ED8-3A60D5D98D48}"/>
                  </a:ext>
                </a:extLst>
              </p:cNvPr>
              <p:cNvSpPr/>
              <p:nvPr/>
            </p:nvSpPr>
            <p:spPr bwMode="auto">
              <a:xfrm>
                <a:off x="1107819" y="2854264"/>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22" name="Rectangle 321">
                <a:extLst>
                  <a:ext uri="{FF2B5EF4-FFF2-40B4-BE49-F238E27FC236}">
                    <a16:creationId xmlns:a16="http://schemas.microsoft.com/office/drawing/2014/main" id="{53AE8D65-EDDD-6616-8EA9-D141BC0E20B2}"/>
                  </a:ext>
                </a:extLst>
              </p:cNvPr>
              <p:cNvSpPr/>
              <p:nvPr/>
            </p:nvSpPr>
            <p:spPr bwMode="auto">
              <a:xfrm>
                <a:off x="1569284" y="2854264"/>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23" name="Rectangle 322">
                <a:extLst>
                  <a:ext uri="{FF2B5EF4-FFF2-40B4-BE49-F238E27FC236}">
                    <a16:creationId xmlns:a16="http://schemas.microsoft.com/office/drawing/2014/main" id="{1D13ED20-3D9D-1AEE-4147-8431DBC8FC87}"/>
                  </a:ext>
                </a:extLst>
              </p:cNvPr>
              <p:cNvSpPr/>
              <p:nvPr/>
            </p:nvSpPr>
            <p:spPr bwMode="auto">
              <a:xfrm>
                <a:off x="2030749" y="2854264"/>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24" name="Rectangle 323">
                <a:extLst>
                  <a:ext uri="{FF2B5EF4-FFF2-40B4-BE49-F238E27FC236}">
                    <a16:creationId xmlns:a16="http://schemas.microsoft.com/office/drawing/2014/main" id="{6129CC0F-3F68-1410-E688-1D16B076BD9E}"/>
                  </a:ext>
                </a:extLst>
              </p:cNvPr>
              <p:cNvSpPr/>
              <p:nvPr/>
            </p:nvSpPr>
            <p:spPr bwMode="auto">
              <a:xfrm>
                <a:off x="2492214" y="2854264"/>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25" name="Rectangle 324">
                <a:extLst>
                  <a:ext uri="{FF2B5EF4-FFF2-40B4-BE49-F238E27FC236}">
                    <a16:creationId xmlns:a16="http://schemas.microsoft.com/office/drawing/2014/main" id="{ACDAE479-6EAE-2D7A-508B-17D6F8798E95}"/>
                  </a:ext>
                </a:extLst>
              </p:cNvPr>
              <p:cNvSpPr/>
              <p:nvPr/>
            </p:nvSpPr>
            <p:spPr bwMode="auto">
              <a:xfrm>
                <a:off x="2953679" y="2854264"/>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26" name="Rectangle 325">
                <a:extLst>
                  <a:ext uri="{FF2B5EF4-FFF2-40B4-BE49-F238E27FC236}">
                    <a16:creationId xmlns:a16="http://schemas.microsoft.com/office/drawing/2014/main" id="{095592E7-6528-0611-C9C8-189151E18C5D}"/>
                  </a:ext>
                </a:extLst>
              </p:cNvPr>
              <p:cNvSpPr/>
              <p:nvPr/>
            </p:nvSpPr>
            <p:spPr bwMode="auto">
              <a:xfrm>
                <a:off x="3415144" y="2854264"/>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27" name="Rectangle 326">
                <a:extLst>
                  <a:ext uri="{FF2B5EF4-FFF2-40B4-BE49-F238E27FC236}">
                    <a16:creationId xmlns:a16="http://schemas.microsoft.com/office/drawing/2014/main" id="{2C1B12E6-CA2D-47E7-E628-A509949F768B}"/>
                  </a:ext>
                </a:extLst>
              </p:cNvPr>
              <p:cNvSpPr/>
              <p:nvPr/>
            </p:nvSpPr>
            <p:spPr bwMode="auto">
              <a:xfrm>
                <a:off x="3876609" y="2854264"/>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28" name="Rectangle 327">
                <a:extLst>
                  <a:ext uri="{FF2B5EF4-FFF2-40B4-BE49-F238E27FC236}">
                    <a16:creationId xmlns:a16="http://schemas.microsoft.com/office/drawing/2014/main" id="{579456CD-F612-81CD-FCE8-911824A8698C}"/>
                  </a:ext>
                </a:extLst>
              </p:cNvPr>
              <p:cNvSpPr/>
              <p:nvPr/>
            </p:nvSpPr>
            <p:spPr bwMode="auto">
              <a:xfrm>
                <a:off x="5261004" y="2854264"/>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29" name="Rectangle 328">
                <a:extLst>
                  <a:ext uri="{FF2B5EF4-FFF2-40B4-BE49-F238E27FC236}">
                    <a16:creationId xmlns:a16="http://schemas.microsoft.com/office/drawing/2014/main" id="{9904E6B3-8054-0B3E-2003-EE296F2D914F}"/>
                  </a:ext>
                </a:extLst>
              </p:cNvPr>
              <p:cNvSpPr/>
              <p:nvPr/>
            </p:nvSpPr>
            <p:spPr bwMode="auto">
              <a:xfrm>
                <a:off x="5722469" y="2854264"/>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30" name="Rectangle 329">
                <a:extLst>
                  <a:ext uri="{FF2B5EF4-FFF2-40B4-BE49-F238E27FC236}">
                    <a16:creationId xmlns:a16="http://schemas.microsoft.com/office/drawing/2014/main" id="{B7017325-F50F-31A6-6C44-C01AE85219D8}"/>
                  </a:ext>
                </a:extLst>
              </p:cNvPr>
              <p:cNvSpPr/>
              <p:nvPr/>
            </p:nvSpPr>
            <p:spPr bwMode="auto">
              <a:xfrm>
                <a:off x="6183934" y="2854264"/>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31" name="Rectangle 330">
                <a:extLst>
                  <a:ext uri="{FF2B5EF4-FFF2-40B4-BE49-F238E27FC236}">
                    <a16:creationId xmlns:a16="http://schemas.microsoft.com/office/drawing/2014/main" id="{DB83F9D7-63A7-8CA5-4A35-25292EC3D2FB}"/>
                  </a:ext>
                </a:extLst>
              </p:cNvPr>
              <p:cNvSpPr/>
              <p:nvPr/>
            </p:nvSpPr>
            <p:spPr bwMode="auto">
              <a:xfrm>
                <a:off x="6645399" y="2854264"/>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32" name="Rectangle 331">
                <a:extLst>
                  <a:ext uri="{FF2B5EF4-FFF2-40B4-BE49-F238E27FC236}">
                    <a16:creationId xmlns:a16="http://schemas.microsoft.com/office/drawing/2014/main" id="{B7461856-050A-04A6-158B-9A5A37FDD784}"/>
                  </a:ext>
                </a:extLst>
              </p:cNvPr>
              <p:cNvSpPr/>
              <p:nvPr/>
            </p:nvSpPr>
            <p:spPr bwMode="auto">
              <a:xfrm>
                <a:off x="7106864" y="2854264"/>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33" name="Rectangle 332">
                <a:extLst>
                  <a:ext uri="{FF2B5EF4-FFF2-40B4-BE49-F238E27FC236}">
                    <a16:creationId xmlns:a16="http://schemas.microsoft.com/office/drawing/2014/main" id="{47293542-A6B0-E2EA-5503-53E7015B5FB7}"/>
                  </a:ext>
                </a:extLst>
              </p:cNvPr>
              <p:cNvSpPr/>
              <p:nvPr/>
            </p:nvSpPr>
            <p:spPr bwMode="auto">
              <a:xfrm>
                <a:off x="7568329" y="2854264"/>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34" name="Rectangle 333">
                <a:extLst>
                  <a:ext uri="{FF2B5EF4-FFF2-40B4-BE49-F238E27FC236}">
                    <a16:creationId xmlns:a16="http://schemas.microsoft.com/office/drawing/2014/main" id="{C7C1AAAD-3EBF-124A-3A8F-9E5F7FE00BC6}"/>
                  </a:ext>
                </a:extLst>
              </p:cNvPr>
              <p:cNvSpPr/>
              <p:nvPr/>
            </p:nvSpPr>
            <p:spPr bwMode="auto">
              <a:xfrm>
                <a:off x="8029794" y="2854264"/>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35" name="Rectangle 334">
                <a:extLst>
                  <a:ext uri="{FF2B5EF4-FFF2-40B4-BE49-F238E27FC236}">
                    <a16:creationId xmlns:a16="http://schemas.microsoft.com/office/drawing/2014/main" id="{B961AE16-FD09-D132-6F43-1E904A0DE86C}"/>
                  </a:ext>
                </a:extLst>
              </p:cNvPr>
              <p:cNvSpPr/>
              <p:nvPr/>
            </p:nvSpPr>
            <p:spPr bwMode="auto">
              <a:xfrm>
                <a:off x="4338074" y="2854264"/>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36" name="Rectangle 335">
                <a:extLst>
                  <a:ext uri="{FF2B5EF4-FFF2-40B4-BE49-F238E27FC236}">
                    <a16:creationId xmlns:a16="http://schemas.microsoft.com/office/drawing/2014/main" id="{6F730370-948D-845B-B280-56FE8A3B812D}"/>
                  </a:ext>
                </a:extLst>
              </p:cNvPr>
              <p:cNvSpPr/>
              <p:nvPr/>
            </p:nvSpPr>
            <p:spPr bwMode="auto">
              <a:xfrm>
                <a:off x="4799539" y="2854264"/>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37" name="Rectangle 336">
                <a:extLst>
                  <a:ext uri="{FF2B5EF4-FFF2-40B4-BE49-F238E27FC236}">
                    <a16:creationId xmlns:a16="http://schemas.microsoft.com/office/drawing/2014/main" id="{713A9538-E300-D008-891E-68DE35C6CF88}"/>
                  </a:ext>
                </a:extLst>
              </p:cNvPr>
              <p:cNvSpPr/>
              <p:nvPr/>
            </p:nvSpPr>
            <p:spPr bwMode="auto">
              <a:xfrm>
                <a:off x="8491251" y="2854264"/>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38" name="Rectangle 337">
                <a:extLst>
                  <a:ext uri="{FF2B5EF4-FFF2-40B4-BE49-F238E27FC236}">
                    <a16:creationId xmlns:a16="http://schemas.microsoft.com/office/drawing/2014/main" id="{2E8EAD2C-A2FE-421E-BF7A-85C87839986C}"/>
                  </a:ext>
                </a:extLst>
              </p:cNvPr>
              <p:cNvSpPr/>
              <p:nvPr/>
            </p:nvSpPr>
            <p:spPr bwMode="auto">
              <a:xfrm>
                <a:off x="184889" y="2854264"/>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39" name="Rectangle 338">
                <a:extLst>
                  <a:ext uri="{FF2B5EF4-FFF2-40B4-BE49-F238E27FC236}">
                    <a16:creationId xmlns:a16="http://schemas.microsoft.com/office/drawing/2014/main" id="{EB12A5EA-0A6E-5051-9FE7-AE84420100B9}"/>
                  </a:ext>
                </a:extLst>
              </p:cNvPr>
              <p:cNvSpPr/>
              <p:nvPr/>
            </p:nvSpPr>
            <p:spPr bwMode="auto">
              <a:xfrm>
                <a:off x="646354" y="2854264"/>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grpSp>
        <p:grpSp>
          <p:nvGrpSpPr>
            <p:cNvPr id="241" name="Group 240">
              <a:extLst>
                <a:ext uri="{FF2B5EF4-FFF2-40B4-BE49-F238E27FC236}">
                  <a16:creationId xmlns:a16="http://schemas.microsoft.com/office/drawing/2014/main" id="{09723534-7E9C-4BA2-CCD8-BA1F34F7BBB9}"/>
                </a:ext>
              </a:extLst>
            </p:cNvPr>
            <p:cNvGrpSpPr/>
            <p:nvPr/>
          </p:nvGrpSpPr>
          <p:grpSpPr>
            <a:xfrm>
              <a:off x="184889" y="3310987"/>
              <a:ext cx="8763562" cy="457200"/>
              <a:chOff x="184889" y="3310987"/>
              <a:chExt cx="8763562" cy="457200"/>
            </a:xfrm>
          </p:grpSpPr>
          <p:sp>
            <p:nvSpPr>
              <p:cNvPr id="302" name="Rectangle 301">
                <a:extLst>
                  <a:ext uri="{FF2B5EF4-FFF2-40B4-BE49-F238E27FC236}">
                    <a16:creationId xmlns:a16="http://schemas.microsoft.com/office/drawing/2014/main" id="{34582C6D-533A-6334-6D8C-B4705C945FD5}"/>
                  </a:ext>
                </a:extLst>
              </p:cNvPr>
              <p:cNvSpPr/>
              <p:nvPr/>
            </p:nvSpPr>
            <p:spPr bwMode="auto">
              <a:xfrm>
                <a:off x="1107819" y="3310987"/>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03" name="Rectangle 302">
                <a:extLst>
                  <a:ext uri="{FF2B5EF4-FFF2-40B4-BE49-F238E27FC236}">
                    <a16:creationId xmlns:a16="http://schemas.microsoft.com/office/drawing/2014/main" id="{BDA72608-1651-1E51-7520-48FB5BDDE36C}"/>
                  </a:ext>
                </a:extLst>
              </p:cNvPr>
              <p:cNvSpPr/>
              <p:nvPr/>
            </p:nvSpPr>
            <p:spPr bwMode="auto">
              <a:xfrm>
                <a:off x="1569284" y="3310987"/>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04" name="Rectangle 303">
                <a:extLst>
                  <a:ext uri="{FF2B5EF4-FFF2-40B4-BE49-F238E27FC236}">
                    <a16:creationId xmlns:a16="http://schemas.microsoft.com/office/drawing/2014/main" id="{0EC546E2-9658-A4D8-4A6F-E36B38F84E92}"/>
                  </a:ext>
                </a:extLst>
              </p:cNvPr>
              <p:cNvSpPr/>
              <p:nvPr/>
            </p:nvSpPr>
            <p:spPr bwMode="auto">
              <a:xfrm>
                <a:off x="2030749" y="3310987"/>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05" name="Rectangle 304">
                <a:extLst>
                  <a:ext uri="{FF2B5EF4-FFF2-40B4-BE49-F238E27FC236}">
                    <a16:creationId xmlns:a16="http://schemas.microsoft.com/office/drawing/2014/main" id="{481F18B4-211A-6B46-5621-6FF138B6F565}"/>
                  </a:ext>
                </a:extLst>
              </p:cNvPr>
              <p:cNvSpPr/>
              <p:nvPr/>
            </p:nvSpPr>
            <p:spPr bwMode="auto">
              <a:xfrm>
                <a:off x="2492214" y="3310987"/>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06" name="Rectangle 305">
                <a:extLst>
                  <a:ext uri="{FF2B5EF4-FFF2-40B4-BE49-F238E27FC236}">
                    <a16:creationId xmlns:a16="http://schemas.microsoft.com/office/drawing/2014/main" id="{E9B90861-C00A-7539-6A2F-77570597812A}"/>
                  </a:ext>
                </a:extLst>
              </p:cNvPr>
              <p:cNvSpPr/>
              <p:nvPr/>
            </p:nvSpPr>
            <p:spPr bwMode="auto">
              <a:xfrm>
                <a:off x="2953679" y="3310987"/>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07" name="Rectangle 306">
                <a:extLst>
                  <a:ext uri="{FF2B5EF4-FFF2-40B4-BE49-F238E27FC236}">
                    <a16:creationId xmlns:a16="http://schemas.microsoft.com/office/drawing/2014/main" id="{21E8BE32-DED2-507D-7FBF-E037F0E0A2FE}"/>
                  </a:ext>
                </a:extLst>
              </p:cNvPr>
              <p:cNvSpPr/>
              <p:nvPr/>
            </p:nvSpPr>
            <p:spPr bwMode="auto">
              <a:xfrm>
                <a:off x="3415144" y="3310987"/>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08" name="Rectangle 307">
                <a:extLst>
                  <a:ext uri="{FF2B5EF4-FFF2-40B4-BE49-F238E27FC236}">
                    <a16:creationId xmlns:a16="http://schemas.microsoft.com/office/drawing/2014/main" id="{58DF6C61-7AD3-7325-F29C-5CBE3C028AF1}"/>
                  </a:ext>
                </a:extLst>
              </p:cNvPr>
              <p:cNvSpPr/>
              <p:nvPr/>
            </p:nvSpPr>
            <p:spPr bwMode="auto">
              <a:xfrm>
                <a:off x="3876609" y="3310987"/>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09" name="Rectangle 308">
                <a:extLst>
                  <a:ext uri="{FF2B5EF4-FFF2-40B4-BE49-F238E27FC236}">
                    <a16:creationId xmlns:a16="http://schemas.microsoft.com/office/drawing/2014/main" id="{FD1153B9-80BD-F1F0-5757-BE13FFD5DFAB}"/>
                  </a:ext>
                </a:extLst>
              </p:cNvPr>
              <p:cNvSpPr/>
              <p:nvPr/>
            </p:nvSpPr>
            <p:spPr bwMode="auto">
              <a:xfrm>
                <a:off x="5261004" y="3310987"/>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10" name="Rectangle 309">
                <a:extLst>
                  <a:ext uri="{FF2B5EF4-FFF2-40B4-BE49-F238E27FC236}">
                    <a16:creationId xmlns:a16="http://schemas.microsoft.com/office/drawing/2014/main" id="{58B6344C-6A6E-46FD-C9DC-281ECAF30DF2}"/>
                  </a:ext>
                </a:extLst>
              </p:cNvPr>
              <p:cNvSpPr/>
              <p:nvPr/>
            </p:nvSpPr>
            <p:spPr bwMode="auto">
              <a:xfrm>
                <a:off x="5722469" y="3310987"/>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11" name="Rectangle 310">
                <a:extLst>
                  <a:ext uri="{FF2B5EF4-FFF2-40B4-BE49-F238E27FC236}">
                    <a16:creationId xmlns:a16="http://schemas.microsoft.com/office/drawing/2014/main" id="{A15E6E19-6CBE-4451-6FC2-750518C4A9E6}"/>
                  </a:ext>
                </a:extLst>
              </p:cNvPr>
              <p:cNvSpPr/>
              <p:nvPr/>
            </p:nvSpPr>
            <p:spPr bwMode="auto">
              <a:xfrm>
                <a:off x="6183934" y="3310987"/>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12" name="Rectangle 311">
                <a:extLst>
                  <a:ext uri="{FF2B5EF4-FFF2-40B4-BE49-F238E27FC236}">
                    <a16:creationId xmlns:a16="http://schemas.microsoft.com/office/drawing/2014/main" id="{66B2983B-822E-1889-F1BF-10D4B193EFE5}"/>
                  </a:ext>
                </a:extLst>
              </p:cNvPr>
              <p:cNvSpPr/>
              <p:nvPr/>
            </p:nvSpPr>
            <p:spPr bwMode="auto">
              <a:xfrm>
                <a:off x="6645399" y="3310987"/>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13" name="Rectangle 312">
                <a:extLst>
                  <a:ext uri="{FF2B5EF4-FFF2-40B4-BE49-F238E27FC236}">
                    <a16:creationId xmlns:a16="http://schemas.microsoft.com/office/drawing/2014/main" id="{A7FB75A4-B6EB-A7AD-8684-047679F7A56B}"/>
                  </a:ext>
                </a:extLst>
              </p:cNvPr>
              <p:cNvSpPr/>
              <p:nvPr/>
            </p:nvSpPr>
            <p:spPr bwMode="auto">
              <a:xfrm>
                <a:off x="7106864" y="3310987"/>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14" name="Rectangle 313">
                <a:extLst>
                  <a:ext uri="{FF2B5EF4-FFF2-40B4-BE49-F238E27FC236}">
                    <a16:creationId xmlns:a16="http://schemas.microsoft.com/office/drawing/2014/main" id="{AA0111E6-4893-F5A5-1367-EC2A950EE528}"/>
                  </a:ext>
                </a:extLst>
              </p:cNvPr>
              <p:cNvSpPr/>
              <p:nvPr/>
            </p:nvSpPr>
            <p:spPr bwMode="auto">
              <a:xfrm>
                <a:off x="7568329" y="3310987"/>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15" name="Rectangle 314">
                <a:extLst>
                  <a:ext uri="{FF2B5EF4-FFF2-40B4-BE49-F238E27FC236}">
                    <a16:creationId xmlns:a16="http://schemas.microsoft.com/office/drawing/2014/main" id="{D596B99F-3E19-630A-1585-B84985C5DE2A}"/>
                  </a:ext>
                </a:extLst>
              </p:cNvPr>
              <p:cNvSpPr/>
              <p:nvPr/>
            </p:nvSpPr>
            <p:spPr bwMode="auto">
              <a:xfrm>
                <a:off x="8029794" y="3310987"/>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16" name="Rectangle 315">
                <a:extLst>
                  <a:ext uri="{FF2B5EF4-FFF2-40B4-BE49-F238E27FC236}">
                    <a16:creationId xmlns:a16="http://schemas.microsoft.com/office/drawing/2014/main" id="{F8C5B676-5108-A45C-3E53-C6C293FDBC0C}"/>
                  </a:ext>
                </a:extLst>
              </p:cNvPr>
              <p:cNvSpPr/>
              <p:nvPr/>
            </p:nvSpPr>
            <p:spPr bwMode="auto">
              <a:xfrm>
                <a:off x="4338074" y="3310987"/>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17" name="Rectangle 316">
                <a:extLst>
                  <a:ext uri="{FF2B5EF4-FFF2-40B4-BE49-F238E27FC236}">
                    <a16:creationId xmlns:a16="http://schemas.microsoft.com/office/drawing/2014/main" id="{DFD0839E-C0FC-B856-F6C4-2C8D573ED7BC}"/>
                  </a:ext>
                </a:extLst>
              </p:cNvPr>
              <p:cNvSpPr/>
              <p:nvPr/>
            </p:nvSpPr>
            <p:spPr bwMode="auto">
              <a:xfrm>
                <a:off x="4799539" y="3310987"/>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18" name="Rectangle 317">
                <a:extLst>
                  <a:ext uri="{FF2B5EF4-FFF2-40B4-BE49-F238E27FC236}">
                    <a16:creationId xmlns:a16="http://schemas.microsoft.com/office/drawing/2014/main" id="{284AD20D-FEC7-B940-776F-4A207E6E5F73}"/>
                  </a:ext>
                </a:extLst>
              </p:cNvPr>
              <p:cNvSpPr/>
              <p:nvPr/>
            </p:nvSpPr>
            <p:spPr bwMode="auto">
              <a:xfrm>
                <a:off x="8491251" y="3310987"/>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19" name="Rectangle 318">
                <a:extLst>
                  <a:ext uri="{FF2B5EF4-FFF2-40B4-BE49-F238E27FC236}">
                    <a16:creationId xmlns:a16="http://schemas.microsoft.com/office/drawing/2014/main" id="{14413F5C-0819-8787-65DB-3A6AFA76B5CF}"/>
                  </a:ext>
                </a:extLst>
              </p:cNvPr>
              <p:cNvSpPr/>
              <p:nvPr/>
            </p:nvSpPr>
            <p:spPr bwMode="auto">
              <a:xfrm>
                <a:off x="184889" y="3310987"/>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20" name="Rectangle 319">
                <a:extLst>
                  <a:ext uri="{FF2B5EF4-FFF2-40B4-BE49-F238E27FC236}">
                    <a16:creationId xmlns:a16="http://schemas.microsoft.com/office/drawing/2014/main" id="{E4FD03F2-9852-ACF3-E0EE-02829549C557}"/>
                  </a:ext>
                </a:extLst>
              </p:cNvPr>
              <p:cNvSpPr/>
              <p:nvPr/>
            </p:nvSpPr>
            <p:spPr bwMode="auto">
              <a:xfrm>
                <a:off x="646354" y="3310987"/>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grpSp>
        <p:grpSp>
          <p:nvGrpSpPr>
            <p:cNvPr id="242" name="Group 241">
              <a:extLst>
                <a:ext uri="{FF2B5EF4-FFF2-40B4-BE49-F238E27FC236}">
                  <a16:creationId xmlns:a16="http://schemas.microsoft.com/office/drawing/2014/main" id="{F82070BC-2130-EBCF-5A3C-414A0CE27FC4}"/>
                </a:ext>
              </a:extLst>
            </p:cNvPr>
            <p:cNvGrpSpPr/>
            <p:nvPr/>
          </p:nvGrpSpPr>
          <p:grpSpPr>
            <a:xfrm>
              <a:off x="184889" y="3767710"/>
              <a:ext cx="8763562" cy="457200"/>
              <a:chOff x="184889" y="3767710"/>
              <a:chExt cx="8763562" cy="457200"/>
            </a:xfrm>
          </p:grpSpPr>
          <p:sp>
            <p:nvSpPr>
              <p:cNvPr id="283" name="Rectangle 282">
                <a:extLst>
                  <a:ext uri="{FF2B5EF4-FFF2-40B4-BE49-F238E27FC236}">
                    <a16:creationId xmlns:a16="http://schemas.microsoft.com/office/drawing/2014/main" id="{3726BDC5-C08C-DD25-9A64-0632A3F96BEC}"/>
                  </a:ext>
                </a:extLst>
              </p:cNvPr>
              <p:cNvSpPr/>
              <p:nvPr/>
            </p:nvSpPr>
            <p:spPr bwMode="auto">
              <a:xfrm>
                <a:off x="1107819" y="3767710"/>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84" name="Rectangle 283">
                <a:extLst>
                  <a:ext uri="{FF2B5EF4-FFF2-40B4-BE49-F238E27FC236}">
                    <a16:creationId xmlns:a16="http://schemas.microsoft.com/office/drawing/2014/main" id="{9415840D-F4CD-1A73-47DE-F6CA750EBD38}"/>
                  </a:ext>
                </a:extLst>
              </p:cNvPr>
              <p:cNvSpPr/>
              <p:nvPr/>
            </p:nvSpPr>
            <p:spPr bwMode="auto">
              <a:xfrm>
                <a:off x="1569284" y="3767710"/>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85" name="Rectangle 284">
                <a:extLst>
                  <a:ext uri="{FF2B5EF4-FFF2-40B4-BE49-F238E27FC236}">
                    <a16:creationId xmlns:a16="http://schemas.microsoft.com/office/drawing/2014/main" id="{3E24D12A-8317-FAA5-9671-8D3B2BFE0378}"/>
                  </a:ext>
                </a:extLst>
              </p:cNvPr>
              <p:cNvSpPr/>
              <p:nvPr/>
            </p:nvSpPr>
            <p:spPr bwMode="auto">
              <a:xfrm>
                <a:off x="2030749" y="3767710"/>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86" name="Rectangle 285">
                <a:extLst>
                  <a:ext uri="{FF2B5EF4-FFF2-40B4-BE49-F238E27FC236}">
                    <a16:creationId xmlns:a16="http://schemas.microsoft.com/office/drawing/2014/main" id="{0C51FDF8-B0ED-CA7D-5BBC-9DBF2782933D}"/>
                  </a:ext>
                </a:extLst>
              </p:cNvPr>
              <p:cNvSpPr/>
              <p:nvPr/>
            </p:nvSpPr>
            <p:spPr bwMode="auto">
              <a:xfrm>
                <a:off x="2492214" y="3767710"/>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87" name="Rectangle 286">
                <a:extLst>
                  <a:ext uri="{FF2B5EF4-FFF2-40B4-BE49-F238E27FC236}">
                    <a16:creationId xmlns:a16="http://schemas.microsoft.com/office/drawing/2014/main" id="{158A1E92-8B24-FE98-C294-A113AE565486}"/>
                  </a:ext>
                </a:extLst>
              </p:cNvPr>
              <p:cNvSpPr/>
              <p:nvPr/>
            </p:nvSpPr>
            <p:spPr bwMode="auto">
              <a:xfrm>
                <a:off x="2953679" y="3767710"/>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88" name="Rectangle 287">
                <a:extLst>
                  <a:ext uri="{FF2B5EF4-FFF2-40B4-BE49-F238E27FC236}">
                    <a16:creationId xmlns:a16="http://schemas.microsoft.com/office/drawing/2014/main" id="{62042658-63A6-1ACC-088A-D9DFEECC8E16}"/>
                  </a:ext>
                </a:extLst>
              </p:cNvPr>
              <p:cNvSpPr/>
              <p:nvPr/>
            </p:nvSpPr>
            <p:spPr bwMode="auto">
              <a:xfrm>
                <a:off x="3415144" y="3767710"/>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89" name="Rectangle 288">
                <a:extLst>
                  <a:ext uri="{FF2B5EF4-FFF2-40B4-BE49-F238E27FC236}">
                    <a16:creationId xmlns:a16="http://schemas.microsoft.com/office/drawing/2014/main" id="{3328B248-83FC-7537-5F2B-A23C516679AA}"/>
                  </a:ext>
                </a:extLst>
              </p:cNvPr>
              <p:cNvSpPr/>
              <p:nvPr/>
            </p:nvSpPr>
            <p:spPr bwMode="auto">
              <a:xfrm>
                <a:off x="3876609" y="3767710"/>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90" name="Rectangle 289">
                <a:extLst>
                  <a:ext uri="{FF2B5EF4-FFF2-40B4-BE49-F238E27FC236}">
                    <a16:creationId xmlns:a16="http://schemas.microsoft.com/office/drawing/2014/main" id="{CFAA8034-A712-5B66-791D-928A693A1814}"/>
                  </a:ext>
                </a:extLst>
              </p:cNvPr>
              <p:cNvSpPr/>
              <p:nvPr/>
            </p:nvSpPr>
            <p:spPr bwMode="auto">
              <a:xfrm>
                <a:off x="5261004" y="3767710"/>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91" name="Rectangle 290">
                <a:extLst>
                  <a:ext uri="{FF2B5EF4-FFF2-40B4-BE49-F238E27FC236}">
                    <a16:creationId xmlns:a16="http://schemas.microsoft.com/office/drawing/2014/main" id="{59C302CC-51FC-5DAE-81D8-B53A1384F27B}"/>
                  </a:ext>
                </a:extLst>
              </p:cNvPr>
              <p:cNvSpPr/>
              <p:nvPr/>
            </p:nvSpPr>
            <p:spPr bwMode="auto">
              <a:xfrm>
                <a:off x="5722469" y="3767710"/>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92" name="Rectangle 291">
                <a:extLst>
                  <a:ext uri="{FF2B5EF4-FFF2-40B4-BE49-F238E27FC236}">
                    <a16:creationId xmlns:a16="http://schemas.microsoft.com/office/drawing/2014/main" id="{5DB327E0-6D06-C0B0-F850-2E6050242437}"/>
                  </a:ext>
                </a:extLst>
              </p:cNvPr>
              <p:cNvSpPr/>
              <p:nvPr/>
            </p:nvSpPr>
            <p:spPr bwMode="auto">
              <a:xfrm>
                <a:off x="6183934" y="3767710"/>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93" name="Rectangle 292">
                <a:extLst>
                  <a:ext uri="{FF2B5EF4-FFF2-40B4-BE49-F238E27FC236}">
                    <a16:creationId xmlns:a16="http://schemas.microsoft.com/office/drawing/2014/main" id="{C90B0462-5503-9422-DCF5-5BA9CCE87DB2}"/>
                  </a:ext>
                </a:extLst>
              </p:cNvPr>
              <p:cNvSpPr/>
              <p:nvPr/>
            </p:nvSpPr>
            <p:spPr bwMode="auto">
              <a:xfrm>
                <a:off x="6645399" y="3767710"/>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94" name="Rectangle 293">
                <a:extLst>
                  <a:ext uri="{FF2B5EF4-FFF2-40B4-BE49-F238E27FC236}">
                    <a16:creationId xmlns:a16="http://schemas.microsoft.com/office/drawing/2014/main" id="{EB2114C2-4267-68AF-BBD5-FB0F02535956}"/>
                  </a:ext>
                </a:extLst>
              </p:cNvPr>
              <p:cNvSpPr/>
              <p:nvPr/>
            </p:nvSpPr>
            <p:spPr bwMode="auto">
              <a:xfrm>
                <a:off x="7106864" y="3767710"/>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95" name="Rectangle 294">
                <a:extLst>
                  <a:ext uri="{FF2B5EF4-FFF2-40B4-BE49-F238E27FC236}">
                    <a16:creationId xmlns:a16="http://schemas.microsoft.com/office/drawing/2014/main" id="{4494FF20-6173-2F70-E65C-FE6D8A5AB07E}"/>
                  </a:ext>
                </a:extLst>
              </p:cNvPr>
              <p:cNvSpPr/>
              <p:nvPr/>
            </p:nvSpPr>
            <p:spPr bwMode="auto">
              <a:xfrm>
                <a:off x="7568329" y="3767710"/>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96" name="Rectangle 295">
                <a:extLst>
                  <a:ext uri="{FF2B5EF4-FFF2-40B4-BE49-F238E27FC236}">
                    <a16:creationId xmlns:a16="http://schemas.microsoft.com/office/drawing/2014/main" id="{4A53EF3E-27A8-8FEC-A664-4544130C6773}"/>
                  </a:ext>
                </a:extLst>
              </p:cNvPr>
              <p:cNvSpPr/>
              <p:nvPr/>
            </p:nvSpPr>
            <p:spPr bwMode="auto">
              <a:xfrm>
                <a:off x="8029794" y="3767710"/>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97" name="Rectangle 296">
                <a:extLst>
                  <a:ext uri="{FF2B5EF4-FFF2-40B4-BE49-F238E27FC236}">
                    <a16:creationId xmlns:a16="http://schemas.microsoft.com/office/drawing/2014/main" id="{FC6314E9-280D-7D8C-1286-3D9C928BA950}"/>
                  </a:ext>
                </a:extLst>
              </p:cNvPr>
              <p:cNvSpPr/>
              <p:nvPr/>
            </p:nvSpPr>
            <p:spPr bwMode="auto">
              <a:xfrm>
                <a:off x="4338074" y="3767710"/>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98" name="Rectangle 297">
                <a:extLst>
                  <a:ext uri="{FF2B5EF4-FFF2-40B4-BE49-F238E27FC236}">
                    <a16:creationId xmlns:a16="http://schemas.microsoft.com/office/drawing/2014/main" id="{170EA0E9-866D-6334-A798-4EB730CF6799}"/>
                  </a:ext>
                </a:extLst>
              </p:cNvPr>
              <p:cNvSpPr/>
              <p:nvPr/>
            </p:nvSpPr>
            <p:spPr bwMode="auto">
              <a:xfrm>
                <a:off x="4799539" y="3767710"/>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99" name="Rectangle 298">
                <a:extLst>
                  <a:ext uri="{FF2B5EF4-FFF2-40B4-BE49-F238E27FC236}">
                    <a16:creationId xmlns:a16="http://schemas.microsoft.com/office/drawing/2014/main" id="{1FC6D352-B1C0-BA39-553A-6934775E1F5A}"/>
                  </a:ext>
                </a:extLst>
              </p:cNvPr>
              <p:cNvSpPr/>
              <p:nvPr/>
            </p:nvSpPr>
            <p:spPr bwMode="auto">
              <a:xfrm>
                <a:off x="8491251" y="3767710"/>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00" name="Rectangle 299">
                <a:extLst>
                  <a:ext uri="{FF2B5EF4-FFF2-40B4-BE49-F238E27FC236}">
                    <a16:creationId xmlns:a16="http://schemas.microsoft.com/office/drawing/2014/main" id="{FC8B61F5-9C4E-A3DE-9336-279DFB22CE05}"/>
                  </a:ext>
                </a:extLst>
              </p:cNvPr>
              <p:cNvSpPr/>
              <p:nvPr/>
            </p:nvSpPr>
            <p:spPr bwMode="auto">
              <a:xfrm>
                <a:off x="184889" y="3767710"/>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301" name="Rectangle 300">
                <a:extLst>
                  <a:ext uri="{FF2B5EF4-FFF2-40B4-BE49-F238E27FC236}">
                    <a16:creationId xmlns:a16="http://schemas.microsoft.com/office/drawing/2014/main" id="{246B1358-3B85-00A6-1140-873A8C2563FC}"/>
                  </a:ext>
                </a:extLst>
              </p:cNvPr>
              <p:cNvSpPr/>
              <p:nvPr/>
            </p:nvSpPr>
            <p:spPr bwMode="auto">
              <a:xfrm>
                <a:off x="646354" y="3767710"/>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grpSp>
        <p:grpSp>
          <p:nvGrpSpPr>
            <p:cNvPr id="243" name="Group 242">
              <a:extLst>
                <a:ext uri="{FF2B5EF4-FFF2-40B4-BE49-F238E27FC236}">
                  <a16:creationId xmlns:a16="http://schemas.microsoft.com/office/drawing/2014/main" id="{5CACAB48-B4AC-624C-03F5-43BED2CBDC0C}"/>
                </a:ext>
              </a:extLst>
            </p:cNvPr>
            <p:cNvGrpSpPr/>
            <p:nvPr/>
          </p:nvGrpSpPr>
          <p:grpSpPr>
            <a:xfrm>
              <a:off x="184889" y="4224432"/>
              <a:ext cx="8763562" cy="457200"/>
              <a:chOff x="184889" y="4224432"/>
              <a:chExt cx="8763562" cy="457200"/>
            </a:xfrm>
          </p:grpSpPr>
          <p:sp>
            <p:nvSpPr>
              <p:cNvPr id="264" name="Rectangle 263">
                <a:extLst>
                  <a:ext uri="{FF2B5EF4-FFF2-40B4-BE49-F238E27FC236}">
                    <a16:creationId xmlns:a16="http://schemas.microsoft.com/office/drawing/2014/main" id="{3FC5D6E3-0F81-34EF-989E-ECEBF917CC19}"/>
                  </a:ext>
                </a:extLst>
              </p:cNvPr>
              <p:cNvSpPr/>
              <p:nvPr/>
            </p:nvSpPr>
            <p:spPr bwMode="auto">
              <a:xfrm>
                <a:off x="1107819" y="4224432"/>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65" name="Rectangle 264">
                <a:extLst>
                  <a:ext uri="{FF2B5EF4-FFF2-40B4-BE49-F238E27FC236}">
                    <a16:creationId xmlns:a16="http://schemas.microsoft.com/office/drawing/2014/main" id="{AB960EF3-E6B4-B760-C5B8-53F2864A047B}"/>
                  </a:ext>
                </a:extLst>
              </p:cNvPr>
              <p:cNvSpPr/>
              <p:nvPr/>
            </p:nvSpPr>
            <p:spPr bwMode="auto">
              <a:xfrm>
                <a:off x="1569284" y="4224432"/>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66" name="Rectangle 265">
                <a:extLst>
                  <a:ext uri="{FF2B5EF4-FFF2-40B4-BE49-F238E27FC236}">
                    <a16:creationId xmlns:a16="http://schemas.microsoft.com/office/drawing/2014/main" id="{57B01940-FD27-C5D6-D310-699B4C7200B9}"/>
                  </a:ext>
                </a:extLst>
              </p:cNvPr>
              <p:cNvSpPr/>
              <p:nvPr/>
            </p:nvSpPr>
            <p:spPr bwMode="auto">
              <a:xfrm>
                <a:off x="2030749" y="4224432"/>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67" name="Rectangle 266">
                <a:extLst>
                  <a:ext uri="{FF2B5EF4-FFF2-40B4-BE49-F238E27FC236}">
                    <a16:creationId xmlns:a16="http://schemas.microsoft.com/office/drawing/2014/main" id="{4541866E-0313-26B4-944D-14AE0654FA39}"/>
                  </a:ext>
                </a:extLst>
              </p:cNvPr>
              <p:cNvSpPr/>
              <p:nvPr/>
            </p:nvSpPr>
            <p:spPr bwMode="auto">
              <a:xfrm>
                <a:off x="2492214" y="4224432"/>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68" name="Rectangle 267">
                <a:extLst>
                  <a:ext uri="{FF2B5EF4-FFF2-40B4-BE49-F238E27FC236}">
                    <a16:creationId xmlns:a16="http://schemas.microsoft.com/office/drawing/2014/main" id="{A7C524C0-8B72-43BE-62AE-102D6D88E5D4}"/>
                  </a:ext>
                </a:extLst>
              </p:cNvPr>
              <p:cNvSpPr/>
              <p:nvPr/>
            </p:nvSpPr>
            <p:spPr bwMode="auto">
              <a:xfrm>
                <a:off x="2953679" y="4224432"/>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69" name="Rectangle 268">
                <a:extLst>
                  <a:ext uri="{FF2B5EF4-FFF2-40B4-BE49-F238E27FC236}">
                    <a16:creationId xmlns:a16="http://schemas.microsoft.com/office/drawing/2014/main" id="{B26FCFA1-DB1A-E704-D1E9-9731C661B65C}"/>
                  </a:ext>
                </a:extLst>
              </p:cNvPr>
              <p:cNvSpPr/>
              <p:nvPr/>
            </p:nvSpPr>
            <p:spPr bwMode="auto">
              <a:xfrm>
                <a:off x="3415144" y="4224432"/>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70" name="Rectangle 269">
                <a:extLst>
                  <a:ext uri="{FF2B5EF4-FFF2-40B4-BE49-F238E27FC236}">
                    <a16:creationId xmlns:a16="http://schemas.microsoft.com/office/drawing/2014/main" id="{305D2DDD-B9AE-DFB8-46CB-CBFF930874AD}"/>
                  </a:ext>
                </a:extLst>
              </p:cNvPr>
              <p:cNvSpPr/>
              <p:nvPr/>
            </p:nvSpPr>
            <p:spPr bwMode="auto">
              <a:xfrm>
                <a:off x="3876609" y="4224432"/>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71" name="Rectangle 270">
                <a:extLst>
                  <a:ext uri="{FF2B5EF4-FFF2-40B4-BE49-F238E27FC236}">
                    <a16:creationId xmlns:a16="http://schemas.microsoft.com/office/drawing/2014/main" id="{3A8565DE-3AD9-ACAA-5B15-5C5A0A19734A}"/>
                  </a:ext>
                </a:extLst>
              </p:cNvPr>
              <p:cNvSpPr/>
              <p:nvPr/>
            </p:nvSpPr>
            <p:spPr bwMode="auto">
              <a:xfrm>
                <a:off x="5261004" y="4224432"/>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72" name="Rectangle 271">
                <a:extLst>
                  <a:ext uri="{FF2B5EF4-FFF2-40B4-BE49-F238E27FC236}">
                    <a16:creationId xmlns:a16="http://schemas.microsoft.com/office/drawing/2014/main" id="{0B1A3350-AE3C-B046-C19C-93ADCCABE00D}"/>
                  </a:ext>
                </a:extLst>
              </p:cNvPr>
              <p:cNvSpPr/>
              <p:nvPr/>
            </p:nvSpPr>
            <p:spPr bwMode="auto">
              <a:xfrm>
                <a:off x="5722469" y="4224432"/>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73" name="Rectangle 272">
                <a:extLst>
                  <a:ext uri="{FF2B5EF4-FFF2-40B4-BE49-F238E27FC236}">
                    <a16:creationId xmlns:a16="http://schemas.microsoft.com/office/drawing/2014/main" id="{C451E66E-E648-C680-8FD8-3FFD06812D1C}"/>
                  </a:ext>
                </a:extLst>
              </p:cNvPr>
              <p:cNvSpPr/>
              <p:nvPr/>
            </p:nvSpPr>
            <p:spPr bwMode="auto">
              <a:xfrm>
                <a:off x="6183934" y="4224432"/>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74" name="Rectangle 273">
                <a:extLst>
                  <a:ext uri="{FF2B5EF4-FFF2-40B4-BE49-F238E27FC236}">
                    <a16:creationId xmlns:a16="http://schemas.microsoft.com/office/drawing/2014/main" id="{7A33B19B-A829-7CB7-EE4F-E604C6AA47E7}"/>
                  </a:ext>
                </a:extLst>
              </p:cNvPr>
              <p:cNvSpPr/>
              <p:nvPr/>
            </p:nvSpPr>
            <p:spPr bwMode="auto">
              <a:xfrm>
                <a:off x="6645399" y="4224432"/>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75" name="Rectangle 274">
                <a:extLst>
                  <a:ext uri="{FF2B5EF4-FFF2-40B4-BE49-F238E27FC236}">
                    <a16:creationId xmlns:a16="http://schemas.microsoft.com/office/drawing/2014/main" id="{311E738F-C944-C162-520B-8D13A0062CAD}"/>
                  </a:ext>
                </a:extLst>
              </p:cNvPr>
              <p:cNvSpPr/>
              <p:nvPr/>
            </p:nvSpPr>
            <p:spPr bwMode="auto">
              <a:xfrm>
                <a:off x="7106864" y="4224432"/>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76" name="Rectangle 275">
                <a:extLst>
                  <a:ext uri="{FF2B5EF4-FFF2-40B4-BE49-F238E27FC236}">
                    <a16:creationId xmlns:a16="http://schemas.microsoft.com/office/drawing/2014/main" id="{E59EA380-6C8A-EBCF-C4B4-80AA9C072C30}"/>
                  </a:ext>
                </a:extLst>
              </p:cNvPr>
              <p:cNvSpPr/>
              <p:nvPr/>
            </p:nvSpPr>
            <p:spPr bwMode="auto">
              <a:xfrm>
                <a:off x="7568329" y="4224432"/>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77" name="Rectangle 276">
                <a:extLst>
                  <a:ext uri="{FF2B5EF4-FFF2-40B4-BE49-F238E27FC236}">
                    <a16:creationId xmlns:a16="http://schemas.microsoft.com/office/drawing/2014/main" id="{1938C342-49E2-2EF6-9DC1-13FF54A92C12}"/>
                  </a:ext>
                </a:extLst>
              </p:cNvPr>
              <p:cNvSpPr/>
              <p:nvPr/>
            </p:nvSpPr>
            <p:spPr bwMode="auto">
              <a:xfrm>
                <a:off x="8029794" y="4224432"/>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78" name="Rectangle 277">
                <a:extLst>
                  <a:ext uri="{FF2B5EF4-FFF2-40B4-BE49-F238E27FC236}">
                    <a16:creationId xmlns:a16="http://schemas.microsoft.com/office/drawing/2014/main" id="{5A877DF8-5F5D-BBEB-3BE6-0A1D7EAE0A2E}"/>
                  </a:ext>
                </a:extLst>
              </p:cNvPr>
              <p:cNvSpPr/>
              <p:nvPr/>
            </p:nvSpPr>
            <p:spPr bwMode="auto">
              <a:xfrm>
                <a:off x="4338074" y="4224432"/>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79" name="Rectangle 278">
                <a:extLst>
                  <a:ext uri="{FF2B5EF4-FFF2-40B4-BE49-F238E27FC236}">
                    <a16:creationId xmlns:a16="http://schemas.microsoft.com/office/drawing/2014/main" id="{D9DA2BA7-9F77-B316-946D-227197E42F44}"/>
                  </a:ext>
                </a:extLst>
              </p:cNvPr>
              <p:cNvSpPr/>
              <p:nvPr/>
            </p:nvSpPr>
            <p:spPr bwMode="auto">
              <a:xfrm>
                <a:off x="4799539" y="4224432"/>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80" name="Rectangle 279">
                <a:extLst>
                  <a:ext uri="{FF2B5EF4-FFF2-40B4-BE49-F238E27FC236}">
                    <a16:creationId xmlns:a16="http://schemas.microsoft.com/office/drawing/2014/main" id="{E903359D-F1A5-80DD-7EAC-4F1C7D46C237}"/>
                  </a:ext>
                </a:extLst>
              </p:cNvPr>
              <p:cNvSpPr/>
              <p:nvPr/>
            </p:nvSpPr>
            <p:spPr bwMode="auto">
              <a:xfrm>
                <a:off x="8491251" y="4224432"/>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81" name="Rectangle 280">
                <a:extLst>
                  <a:ext uri="{FF2B5EF4-FFF2-40B4-BE49-F238E27FC236}">
                    <a16:creationId xmlns:a16="http://schemas.microsoft.com/office/drawing/2014/main" id="{C4F295C0-5299-157C-95EC-660DBEFD831C}"/>
                  </a:ext>
                </a:extLst>
              </p:cNvPr>
              <p:cNvSpPr/>
              <p:nvPr/>
            </p:nvSpPr>
            <p:spPr bwMode="auto">
              <a:xfrm>
                <a:off x="184889" y="4224432"/>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82" name="Rectangle 281">
                <a:extLst>
                  <a:ext uri="{FF2B5EF4-FFF2-40B4-BE49-F238E27FC236}">
                    <a16:creationId xmlns:a16="http://schemas.microsoft.com/office/drawing/2014/main" id="{1C345F4D-029A-F621-92BA-C0B4F07CEB8E}"/>
                  </a:ext>
                </a:extLst>
              </p:cNvPr>
              <p:cNvSpPr/>
              <p:nvPr/>
            </p:nvSpPr>
            <p:spPr bwMode="auto">
              <a:xfrm>
                <a:off x="646354" y="4224432"/>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grpSp>
        <p:grpSp>
          <p:nvGrpSpPr>
            <p:cNvPr id="244" name="Group 243">
              <a:extLst>
                <a:ext uri="{FF2B5EF4-FFF2-40B4-BE49-F238E27FC236}">
                  <a16:creationId xmlns:a16="http://schemas.microsoft.com/office/drawing/2014/main" id="{072463A5-E564-DD2D-9785-E1A699F55153}"/>
                </a:ext>
              </a:extLst>
            </p:cNvPr>
            <p:cNvGrpSpPr/>
            <p:nvPr/>
          </p:nvGrpSpPr>
          <p:grpSpPr>
            <a:xfrm>
              <a:off x="184889" y="1028943"/>
              <a:ext cx="8763562" cy="457200"/>
              <a:chOff x="184889" y="1028943"/>
              <a:chExt cx="8763562" cy="457200"/>
            </a:xfrm>
          </p:grpSpPr>
          <p:sp>
            <p:nvSpPr>
              <p:cNvPr id="245" name="Rectangle 244">
                <a:extLst>
                  <a:ext uri="{FF2B5EF4-FFF2-40B4-BE49-F238E27FC236}">
                    <a16:creationId xmlns:a16="http://schemas.microsoft.com/office/drawing/2014/main" id="{D87E1913-DB15-98C8-596F-72E33C40905A}"/>
                  </a:ext>
                </a:extLst>
              </p:cNvPr>
              <p:cNvSpPr/>
              <p:nvPr/>
            </p:nvSpPr>
            <p:spPr bwMode="auto">
              <a:xfrm>
                <a:off x="1107819" y="1028943"/>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46" name="Rectangle 245">
                <a:extLst>
                  <a:ext uri="{FF2B5EF4-FFF2-40B4-BE49-F238E27FC236}">
                    <a16:creationId xmlns:a16="http://schemas.microsoft.com/office/drawing/2014/main" id="{A700D0AA-060E-4AB2-20FF-6B676EDDFEA7}"/>
                  </a:ext>
                </a:extLst>
              </p:cNvPr>
              <p:cNvSpPr/>
              <p:nvPr/>
            </p:nvSpPr>
            <p:spPr bwMode="auto">
              <a:xfrm>
                <a:off x="1569284" y="1028943"/>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47" name="Rectangle 246">
                <a:extLst>
                  <a:ext uri="{FF2B5EF4-FFF2-40B4-BE49-F238E27FC236}">
                    <a16:creationId xmlns:a16="http://schemas.microsoft.com/office/drawing/2014/main" id="{C3D0382E-14D5-0D72-FD3B-541D876FB4E8}"/>
                  </a:ext>
                </a:extLst>
              </p:cNvPr>
              <p:cNvSpPr/>
              <p:nvPr/>
            </p:nvSpPr>
            <p:spPr bwMode="auto">
              <a:xfrm>
                <a:off x="2030749" y="1028943"/>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48" name="Rectangle 247">
                <a:extLst>
                  <a:ext uri="{FF2B5EF4-FFF2-40B4-BE49-F238E27FC236}">
                    <a16:creationId xmlns:a16="http://schemas.microsoft.com/office/drawing/2014/main" id="{A91E7801-97B5-EE98-69E0-C3ED170D3522}"/>
                  </a:ext>
                </a:extLst>
              </p:cNvPr>
              <p:cNvSpPr/>
              <p:nvPr/>
            </p:nvSpPr>
            <p:spPr bwMode="auto">
              <a:xfrm>
                <a:off x="2492214" y="1028943"/>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49" name="Rectangle 248">
                <a:extLst>
                  <a:ext uri="{FF2B5EF4-FFF2-40B4-BE49-F238E27FC236}">
                    <a16:creationId xmlns:a16="http://schemas.microsoft.com/office/drawing/2014/main" id="{598A7102-22F5-F93E-5EE1-DD9248EA7A64}"/>
                  </a:ext>
                </a:extLst>
              </p:cNvPr>
              <p:cNvSpPr/>
              <p:nvPr/>
            </p:nvSpPr>
            <p:spPr bwMode="auto">
              <a:xfrm>
                <a:off x="2953679" y="1028943"/>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50" name="Rectangle 249">
                <a:extLst>
                  <a:ext uri="{FF2B5EF4-FFF2-40B4-BE49-F238E27FC236}">
                    <a16:creationId xmlns:a16="http://schemas.microsoft.com/office/drawing/2014/main" id="{C24BDEE7-7108-EB22-C32D-FEA104B0CCEC}"/>
                  </a:ext>
                </a:extLst>
              </p:cNvPr>
              <p:cNvSpPr/>
              <p:nvPr/>
            </p:nvSpPr>
            <p:spPr bwMode="auto">
              <a:xfrm>
                <a:off x="3415144" y="1028943"/>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51" name="Rectangle 250">
                <a:extLst>
                  <a:ext uri="{FF2B5EF4-FFF2-40B4-BE49-F238E27FC236}">
                    <a16:creationId xmlns:a16="http://schemas.microsoft.com/office/drawing/2014/main" id="{DF7643CE-DD82-5E2E-9F6E-D174F8459CE6}"/>
                  </a:ext>
                </a:extLst>
              </p:cNvPr>
              <p:cNvSpPr/>
              <p:nvPr/>
            </p:nvSpPr>
            <p:spPr bwMode="auto">
              <a:xfrm>
                <a:off x="3876609" y="1028943"/>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52" name="Rectangle 251">
                <a:extLst>
                  <a:ext uri="{FF2B5EF4-FFF2-40B4-BE49-F238E27FC236}">
                    <a16:creationId xmlns:a16="http://schemas.microsoft.com/office/drawing/2014/main" id="{1A58DBB8-8F54-3F38-A3F2-049983BA4AFE}"/>
                  </a:ext>
                </a:extLst>
              </p:cNvPr>
              <p:cNvSpPr/>
              <p:nvPr/>
            </p:nvSpPr>
            <p:spPr bwMode="auto">
              <a:xfrm>
                <a:off x="5261004" y="1028943"/>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53" name="Rectangle 252">
                <a:extLst>
                  <a:ext uri="{FF2B5EF4-FFF2-40B4-BE49-F238E27FC236}">
                    <a16:creationId xmlns:a16="http://schemas.microsoft.com/office/drawing/2014/main" id="{82CA9739-78DC-723F-E236-E380C053C10B}"/>
                  </a:ext>
                </a:extLst>
              </p:cNvPr>
              <p:cNvSpPr/>
              <p:nvPr/>
            </p:nvSpPr>
            <p:spPr bwMode="auto">
              <a:xfrm>
                <a:off x="5722469" y="1028943"/>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54" name="Rectangle 253">
                <a:extLst>
                  <a:ext uri="{FF2B5EF4-FFF2-40B4-BE49-F238E27FC236}">
                    <a16:creationId xmlns:a16="http://schemas.microsoft.com/office/drawing/2014/main" id="{DEC4AA06-D4DD-610E-A487-979766A8B271}"/>
                  </a:ext>
                </a:extLst>
              </p:cNvPr>
              <p:cNvSpPr/>
              <p:nvPr/>
            </p:nvSpPr>
            <p:spPr bwMode="auto">
              <a:xfrm>
                <a:off x="6183934" y="1028943"/>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55" name="Rectangle 254">
                <a:extLst>
                  <a:ext uri="{FF2B5EF4-FFF2-40B4-BE49-F238E27FC236}">
                    <a16:creationId xmlns:a16="http://schemas.microsoft.com/office/drawing/2014/main" id="{4B5C420E-E502-7882-0F13-0C6B61ADFEF7}"/>
                  </a:ext>
                </a:extLst>
              </p:cNvPr>
              <p:cNvSpPr/>
              <p:nvPr/>
            </p:nvSpPr>
            <p:spPr bwMode="auto">
              <a:xfrm>
                <a:off x="6645399" y="1028943"/>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56" name="Rectangle 255">
                <a:extLst>
                  <a:ext uri="{FF2B5EF4-FFF2-40B4-BE49-F238E27FC236}">
                    <a16:creationId xmlns:a16="http://schemas.microsoft.com/office/drawing/2014/main" id="{17CC9C04-4700-F58B-BDBD-F1A204643A7B}"/>
                  </a:ext>
                </a:extLst>
              </p:cNvPr>
              <p:cNvSpPr/>
              <p:nvPr/>
            </p:nvSpPr>
            <p:spPr bwMode="auto">
              <a:xfrm>
                <a:off x="7106864" y="1028943"/>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57" name="Rectangle 256">
                <a:extLst>
                  <a:ext uri="{FF2B5EF4-FFF2-40B4-BE49-F238E27FC236}">
                    <a16:creationId xmlns:a16="http://schemas.microsoft.com/office/drawing/2014/main" id="{CC37A1EC-04E8-7EE6-A355-27F29B58AF8B}"/>
                  </a:ext>
                </a:extLst>
              </p:cNvPr>
              <p:cNvSpPr/>
              <p:nvPr/>
            </p:nvSpPr>
            <p:spPr bwMode="auto">
              <a:xfrm>
                <a:off x="7568329" y="1028943"/>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58" name="Rectangle 257">
                <a:extLst>
                  <a:ext uri="{FF2B5EF4-FFF2-40B4-BE49-F238E27FC236}">
                    <a16:creationId xmlns:a16="http://schemas.microsoft.com/office/drawing/2014/main" id="{0EEC6B00-9E5D-44C1-0419-D4211E633B17}"/>
                  </a:ext>
                </a:extLst>
              </p:cNvPr>
              <p:cNvSpPr/>
              <p:nvPr/>
            </p:nvSpPr>
            <p:spPr bwMode="auto">
              <a:xfrm>
                <a:off x="8029794" y="1028943"/>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59" name="Rectangle 258">
                <a:extLst>
                  <a:ext uri="{FF2B5EF4-FFF2-40B4-BE49-F238E27FC236}">
                    <a16:creationId xmlns:a16="http://schemas.microsoft.com/office/drawing/2014/main" id="{07A98E15-F60A-A3D1-7F46-9B96A4A314BC}"/>
                  </a:ext>
                </a:extLst>
              </p:cNvPr>
              <p:cNvSpPr/>
              <p:nvPr/>
            </p:nvSpPr>
            <p:spPr bwMode="auto">
              <a:xfrm>
                <a:off x="4338074" y="1028943"/>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60" name="Rectangle 259">
                <a:extLst>
                  <a:ext uri="{FF2B5EF4-FFF2-40B4-BE49-F238E27FC236}">
                    <a16:creationId xmlns:a16="http://schemas.microsoft.com/office/drawing/2014/main" id="{6DFF52D2-C577-B00D-97D0-9620525D1FE5}"/>
                  </a:ext>
                </a:extLst>
              </p:cNvPr>
              <p:cNvSpPr/>
              <p:nvPr/>
            </p:nvSpPr>
            <p:spPr bwMode="auto">
              <a:xfrm>
                <a:off x="4799539" y="1028943"/>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61" name="Rectangle 260">
                <a:extLst>
                  <a:ext uri="{FF2B5EF4-FFF2-40B4-BE49-F238E27FC236}">
                    <a16:creationId xmlns:a16="http://schemas.microsoft.com/office/drawing/2014/main" id="{5502AC63-0664-22C1-AEA3-1C1F46326D36}"/>
                  </a:ext>
                </a:extLst>
              </p:cNvPr>
              <p:cNvSpPr/>
              <p:nvPr/>
            </p:nvSpPr>
            <p:spPr bwMode="auto">
              <a:xfrm>
                <a:off x="8491251" y="1028943"/>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62" name="Rectangle 261">
                <a:extLst>
                  <a:ext uri="{FF2B5EF4-FFF2-40B4-BE49-F238E27FC236}">
                    <a16:creationId xmlns:a16="http://schemas.microsoft.com/office/drawing/2014/main" id="{D3402AE2-2690-9237-1FBD-F4CC36965827}"/>
                  </a:ext>
                </a:extLst>
              </p:cNvPr>
              <p:cNvSpPr/>
              <p:nvPr/>
            </p:nvSpPr>
            <p:spPr bwMode="auto">
              <a:xfrm>
                <a:off x="184889" y="1028943"/>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263" name="Rectangle 262">
                <a:extLst>
                  <a:ext uri="{FF2B5EF4-FFF2-40B4-BE49-F238E27FC236}">
                    <a16:creationId xmlns:a16="http://schemas.microsoft.com/office/drawing/2014/main" id="{D8A42B1B-3DE3-A360-4DEC-2D8243FF0499}"/>
                  </a:ext>
                </a:extLst>
              </p:cNvPr>
              <p:cNvSpPr/>
              <p:nvPr/>
            </p:nvSpPr>
            <p:spPr bwMode="auto">
              <a:xfrm>
                <a:off x="646354" y="1028943"/>
                <a:ext cx="457200" cy="457200"/>
              </a:xfrm>
              <a:prstGeom prst="rect">
                <a:avLst/>
              </a:prstGeom>
              <a:noFill/>
              <a:ln w="19050">
                <a:solidFill>
                  <a:srgbClr val="F4F4F4"/>
                </a:solid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grpSp>
      </p:grpSp>
      <p:grpSp>
        <p:nvGrpSpPr>
          <p:cNvPr id="397" name="Group 396">
            <a:extLst>
              <a:ext uri="{FF2B5EF4-FFF2-40B4-BE49-F238E27FC236}">
                <a16:creationId xmlns:a16="http://schemas.microsoft.com/office/drawing/2014/main" id="{B2595EC1-37F2-A7C9-3896-62B1F986B0C8}"/>
              </a:ext>
            </a:extLst>
          </p:cNvPr>
          <p:cNvGrpSpPr/>
          <p:nvPr/>
        </p:nvGrpSpPr>
        <p:grpSpPr>
          <a:xfrm>
            <a:off x="1918133" y="2527199"/>
            <a:ext cx="8350102" cy="2553908"/>
            <a:chOff x="3836765" y="5054163"/>
            <a:chExt cx="16702379" cy="5108482"/>
          </a:xfrm>
        </p:grpSpPr>
        <p:cxnSp>
          <p:nvCxnSpPr>
            <p:cNvPr id="398" name="Elbow Connector 397">
              <a:extLst>
                <a:ext uri="{FF2B5EF4-FFF2-40B4-BE49-F238E27FC236}">
                  <a16:creationId xmlns:a16="http://schemas.microsoft.com/office/drawing/2014/main" id="{6DF382D6-455B-4768-03DB-12A70E7AB9D7}"/>
                </a:ext>
              </a:extLst>
            </p:cNvPr>
            <p:cNvCxnSpPr>
              <a:cxnSpLocks/>
            </p:cNvCxnSpPr>
            <p:nvPr/>
          </p:nvCxnSpPr>
          <p:spPr bwMode="auto">
            <a:xfrm rot="16200000" flipH="1">
              <a:off x="12170292" y="-3279364"/>
              <a:ext cx="35325" cy="16702379"/>
            </a:xfrm>
            <a:prstGeom prst="bentConnector3">
              <a:avLst>
                <a:gd name="adj1" fmla="val 1800000"/>
              </a:avLst>
            </a:prstGeom>
            <a:ln w="25400">
              <a:solidFill>
                <a:schemeClr val="accent1"/>
              </a:solidFill>
              <a:beve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99" name="Straight Connector 398">
              <a:extLst>
                <a:ext uri="{FF2B5EF4-FFF2-40B4-BE49-F238E27FC236}">
                  <a16:creationId xmlns:a16="http://schemas.microsoft.com/office/drawing/2014/main" id="{D077D275-46BB-FA79-D2DD-7BF89508983F}"/>
                </a:ext>
              </a:extLst>
            </p:cNvPr>
            <p:cNvCxnSpPr>
              <a:cxnSpLocks/>
            </p:cNvCxnSpPr>
            <p:nvPr/>
          </p:nvCxnSpPr>
          <p:spPr bwMode="auto">
            <a:xfrm>
              <a:off x="6417835" y="5700654"/>
              <a:ext cx="0" cy="3811131"/>
            </a:xfrm>
            <a:prstGeom prst="line">
              <a:avLst/>
            </a:prstGeom>
            <a:ln w="25400">
              <a:solidFill>
                <a:schemeClr val="accent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00" name="Elbow Connector 399">
              <a:extLst>
                <a:ext uri="{FF2B5EF4-FFF2-40B4-BE49-F238E27FC236}">
                  <a16:creationId xmlns:a16="http://schemas.microsoft.com/office/drawing/2014/main" id="{EED2A741-4431-A23C-3BBC-EE072C33EF27}"/>
                </a:ext>
              </a:extLst>
            </p:cNvPr>
            <p:cNvCxnSpPr>
              <a:cxnSpLocks/>
            </p:cNvCxnSpPr>
            <p:nvPr/>
          </p:nvCxnSpPr>
          <p:spPr bwMode="auto">
            <a:xfrm rot="5400000" flipH="1" flipV="1">
              <a:off x="12176202" y="1801797"/>
              <a:ext cx="35325" cy="16686371"/>
            </a:xfrm>
            <a:prstGeom prst="bentConnector3">
              <a:avLst>
                <a:gd name="adj1" fmla="val 1800000"/>
              </a:avLst>
            </a:prstGeom>
            <a:ln w="25400">
              <a:solidFill>
                <a:schemeClr val="accent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01" name="Straight Connector 400">
              <a:extLst>
                <a:ext uri="{FF2B5EF4-FFF2-40B4-BE49-F238E27FC236}">
                  <a16:creationId xmlns:a16="http://schemas.microsoft.com/office/drawing/2014/main" id="{2764D004-0BAA-8954-EA27-B02E18E52161}"/>
                </a:ext>
              </a:extLst>
            </p:cNvPr>
            <p:cNvCxnSpPr>
              <a:cxnSpLocks/>
            </p:cNvCxnSpPr>
            <p:nvPr/>
          </p:nvCxnSpPr>
          <p:spPr bwMode="auto">
            <a:xfrm>
              <a:off x="5122405" y="7606883"/>
              <a:ext cx="1295430" cy="0"/>
            </a:xfrm>
            <a:prstGeom prst="line">
              <a:avLst/>
            </a:prstGeom>
            <a:ln w="25400">
              <a:solidFill>
                <a:schemeClr val="accent1"/>
              </a:solidFill>
              <a:headEnd type="none" w="med" len="med"/>
              <a:tailEnd type="triangle" w="med" len="med"/>
            </a:ln>
            <a:effectLst/>
          </p:spPr>
          <p:style>
            <a:lnRef idx="1">
              <a:schemeClr val="dk1"/>
            </a:lnRef>
            <a:fillRef idx="0">
              <a:schemeClr val="dk1"/>
            </a:fillRef>
            <a:effectRef idx="0">
              <a:schemeClr val="dk1"/>
            </a:effectRef>
            <a:fontRef idx="minor">
              <a:schemeClr val="tx1"/>
            </a:fontRef>
          </p:style>
        </p:cxnSp>
        <p:cxnSp>
          <p:nvCxnSpPr>
            <p:cNvPr id="402" name="Straight Connector 401">
              <a:extLst>
                <a:ext uri="{FF2B5EF4-FFF2-40B4-BE49-F238E27FC236}">
                  <a16:creationId xmlns:a16="http://schemas.microsoft.com/office/drawing/2014/main" id="{5BAEA08D-8C96-7004-99A7-0998EA16356D}"/>
                </a:ext>
              </a:extLst>
            </p:cNvPr>
            <p:cNvCxnSpPr>
              <a:cxnSpLocks/>
            </p:cNvCxnSpPr>
            <p:nvPr/>
          </p:nvCxnSpPr>
          <p:spPr bwMode="auto">
            <a:xfrm flipH="1">
              <a:off x="17987706" y="7606883"/>
              <a:ext cx="1277662" cy="0"/>
            </a:xfrm>
            <a:prstGeom prst="line">
              <a:avLst/>
            </a:prstGeom>
            <a:ln w="25400">
              <a:solidFill>
                <a:schemeClr val="accent1"/>
              </a:solidFill>
              <a:headEnd type="none" w="med" len="med"/>
              <a:tailEnd type="triangle" w="med" len="med"/>
            </a:ln>
            <a:effectLst/>
          </p:spPr>
          <p:style>
            <a:lnRef idx="1">
              <a:schemeClr val="dk1"/>
            </a:lnRef>
            <a:fillRef idx="0">
              <a:schemeClr val="dk1"/>
            </a:fillRef>
            <a:effectRef idx="0">
              <a:schemeClr val="dk1"/>
            </a:effectRef>
            <a:fontRef idx="minor">
              <a:schemeClr val="tx1"/>
            </a:fontRef>
          </p:style>
        </p:cxnSp>
        <p:cxnSp>
          <p:nvCxnSpPr>
            <p:cNvPr id="403" name="Straight Connector 402">
              <a:extLst>
                <a:ext uri="{FF2B5EF4-FFF2-40B4-BE49-F238E27FC236}">
                  <a16:creationId xmlns:a16="http://schemas.microsoft.com/office/drawing/2014/main" id="{B69577DE-2C28-42FA-AF84-A0D9BE0E4860}"/>
                </a:ext>
              </a:extLst>
            </p:cNvPr>
            <p:cNvCxnSpPr>
              <a:cxnSpLocks/>
            </p:cNvCxnSpPr>
            <p:nvPr/>
          </p:nvCxnSpPr>
          <p:spPr bwMode="auto">
            <a:xfrm>
              <a:off x="3850701" y="9511785"/>
              <a:ext cx="2567134" cy="18973"/>
            </a:xfrm>
            <a:prstGeom prst="line">
              <a:avLst/>
            </a:prstGeom>
            <a:ln w="25400">
              <a:solidFill>
                <a:schemeClr val="accent1"/>
              </a:solidFill>
              <a:headEnd type="none" w="med" len="med"/>
              <a:tailEnd type="triangle" w="med" len="med"/>
            </a:ln>
            <a:effectLst/>
          </p:spPr>
          <p:style>
            <a:lnRef idx="1">
              <a:schemeClr val="dk1"/>
            </a:lnRef>
            <a:fillRef idx="0">
              <a:schemeClr val="dk1"/>
            </a:fillRef>
            <a:effectRef idx="0">
              <a:schemeClr val="dk1"/>
            </a:effectRef>
            <a:fontRef idx="minor">
              <a:schemeClr val="tx1"/>
            </a:fontRef>
          </p:style>
        </p:cxnSp>
        <p:cxnSp>
          <p:nvCxnSpPr>
            <p:cNvPr id="404" name="Straight Connector 403">
              <a:extLst>
                <a:ext uri="{FF2B5EF4-FFF2-40B4-BE49-F238E27FC236}">
                  <a16:creationId xmlns:a16="http://schemas.microsoft.com/office/drawing/2014/main" id="{83F7927E-45CE-9AC5-D9AB-7465B28E2FBF}"/>
                </a:ext>
              </a:extLst>
            </p:cNvPr>
            <p:cNvCxnSpPr>
              <a:cxnSpLocks/>
            </p:cNvCxnSpPr>
            <p:nvPr/>
          </p:nvCxnSpPr>
          <p:spPr bwMode="auto">
            <a:xfrm flipV="1">
              <a:off x="3850701" y="5687537"/>
              <a:ext cx="2567134" cy="13118"/>
            </a:xfrm>
            <a:prstGeom prst="line">
              <a:avLst/>
            </a:prstGeom>
            <a:ln w="25400">
              <a:solidFill>
                <a:schemeClr val="accent1"/>
              </a:solidFill>
              <a:bevel/>
              <a:headEnd type="none" w="med" len="med"/>
              <a:tailEnd type="triangle" w="med" len="med"/>
            </a:ln>
            <a:effectLst/>
          </p:spPr>
          <p:style>
            <a:lnRef idx="1">
              <a:schemeClr val="dk1"/>
            </a:lnRef>
            <a:fillRef idx="0">
              <a:schemeClr val="dk1"/>
            </a:fillRef>
            <a:effectRef idx="0">
              <a:schemeClr val="dk1"/>
            </a:effectRef>
            <a:fontRef idx="minor">
              <a:schemeClr val="tx1"/>
            </a:fontRef>
          </p:style>
        </p:cxnSp>
        <p:cxnSp>
          <p:nvCxnSpPr>
            <p:cNvPr id="405" name="Straight Connector 404">
              <a:extLst>
                <a:ext uri="{FF2B5EF4-FFF2-40B4-BE49-F238E27FC236}">
                  <a16:creationId xmlns:a16="http://schemas.microsoft.com/office/drawing/2014/main" id="{E138894A-C8E3-3897-85B2-7F875DF36B45}"/>
                </a:ext>
              </a:extLst>
            </p:cNvPr>
            <p:cNvCxnSpPr>
              <a:cxnSpLocks/>
            </p:cNvCxnSpPr>
            <p:nvPr/>
          </p:nvCxnSpPr>
          <p:spPr bwMode="auto">
            <a:xfrm flipH="1">
              <a:off x="17987706" y="9520616"/>
              <a:ext cx="2549366" cy="21309"/>
            </a:xfrm>
            <a:prstGeom prst="line">
              <a:avLst/>
            </a:prstGeom>
            <a:ln w="25400">
              <a:solidFill>
                <a:schemeClr val="accent1"/>
              </a:solidFill>
              <a:headEnd type="none" w="med" len="med"/>
              <a:tailEnd type="triangle" w="med" len="med"/>
            </a:ln>
            <a:effectLst/>
          </p:spPr>
          <p:style>
            <a:lnRef idx="1">
              <a:schemeClr val="dk1"/>
            </a:lnRef>
            <a:fillRef idx="0">
              <a:schemeClr val="dk1"/>
            </a:fillRef>
            <a:effectRef idx="0">
              <a:schemeClr val="dk1"/>
            </a:effectRef>
            <a:fontRef idx="minor">
              <a:schemeClr val="tx1"/>
            </a:fontRef>
          </p:style>
        </p:cxnSp>
        <p:cxnSp>
          <p:nvCxnSpPr>
            <p:cNvPr id="406" name="Straight Connector 405">
              <a:extLst>
                <a:ext uri="{FF2B5EF4-FFF2-40B4-BE49-F238E27FC236}">
                  <a16:creationId xmlns:a16="http://schemas.microsoft.com/office/drawing/2014/main" id="{26557690-A452-3D12-6C29-275D243F612E}"/>
                </a:ext>
              </a:extLst>
            </p:cNvPr>
            <p:cNvCxnSpPr>
              <a:cxnSpLocks/>
            </p:cNvCxnSpPr>
            <p:nvPr/>
          </p:nvCxnSpPr>
          <p:spPr bwMode="auto">
            <a:xfrm flipH="1" flipV="1">
              <a:off x="17987706" y="5681042"/>
              <a:ext cx="2549366" cy="10781"/>
            </a:xfrm>
            <a:prstGeom prst="line">
              <a:avLst/>
            </a:prstGeom>
            <a:ln w="25400">
              <a:solidFill>
                <a:schemeClr val="accent1"/>
              </a:solidFill>
              <a:bevel/>
              <a:headEnd type="none" w="med" len="med"/>
              <a:tailEnd type="triangle" w="med" len="med"/>
            </a:ln>
            <a:effectLst/>
          </p:spPr>
          <p:style>
            <a:lnRef idx="1">
              <a:schemeClr val="dk1"/>
            </a:lnRef>
            <a:fillRef idx="0">
              <a:schemeClr val="dk1"/>
            </a:fillRef>
            <a:effectRef idx="0">
              <a:schemeClr val="dk1"/>
            </a:effectRef>
            <a:fontRef idx="minor">
              <a:schemeClr val="tx1"/>
            </a:fontRef>
          </p:style>
        </p:cxnSp>
        <p:cxnSp>
          <p:nvCxnSpPr>
            <p:cNvPr id="407" name="Straight Connector 406">
              <a:extLst>
                <a:ext uri="{FF2B5EF4-FFF2-40B4-BE49-F238E27FC236}">
                  <a16:creationId xmlns:a16="http://schemas.microsoft.com/office/drawing/2014/main" id="{5B505DC4-DA9A-1545-38D4-20EDEF2FCFD7}"/>
                </a:ext>
              </a:extLst>
            </p:cNvPr>
            <p:cNvCxnSpPr>
              <a:cxnSpLocks/>
            </p:cNvCxnSpPr>
            <p:nvPr/>
          </p:nvCxnSpPr>
          <p:spPr bwMode="auto">
            <a:xfrm flipV="1">
              <a:off x="8984969" y="9511785"/>
              <a:ext cx="0" cy="633196"/>
            </a:xfrm>
            <a:prstGeom prst="line">
              <a:avLst/>
            </a:prstGeom>
            <a:ln w="25400">
              <a:solidFill>
                <a:schemeClr val="accent1"/>
              </a:solidFill>
              <a:headEnd type="none" w="med" len="med"/>
              <a:tailEnd type="triangle" w="med" len="med"/>
            </a:ln>
            <a:effectLst/>
          </p:spPr>
          <p:style>
            <a:lnRef idx="1">
              <a:schemeClr val="dk1"/>
            </a:lnRef>
            <a:fillRef idx="0">
              <a:schemeClr val="dk1"/>
            </a:fillRef>
            <a:effectRef idx="0">
              <a:schemeClr val="dk1"/>
            </a:effectRef>
            <a:fontRef idx="minor">
              <a:schemeClr val="tx1"/>
            </a:fontRef>
          </p:style>
        </p:cxnSp>
        <p:cxnSp>
          <p:nvCxnSpPr>
            <p:cNvPr id="408" name="Straight Connector 407">
              <a:extLst>
                <a:ext uri="{FF2B5EF4-FFF2-40B4-BE49-F238E27FC236}">
                  <a16:creationId xmlns:a16="http://schemas.microsoft.com/office/drawing/2014/main" id="{002273C7-640A-4A77-D259-08212B9481E2}"/>
                </a:ext>
              </a:extLst>
            </p:cNvPr>
            <p:cNvCxnSpPr>
              <a:cxnSpLocks/>
            </p:cNvCxnSpPr>
            <p:nvPr/>
          </p:nvCxnSpPr>
          <p:spPr bwMode="auto">
            <a:xfrm flipV="1">
              <a:off x="15402804" y="9511785"/>
              <a:ext cx="0" cy="633196"/>
            </a:xfrm>
            <a:prstGeom prst="line">
              <a:avLst/>
            </a:prstGeom>
            <a:ln w="25400">
              <a:solidFill>
                <a:schemeClr val="accent1"/>
              </a:solidFill>
              <a:headEnd type="none" w="med" len="med"/>
              <a:tailEnd type="triangle" w="med" len="med"/>
            </a:ln>
            <a:effectLst/>
          </p:spPr>
          <p:style>
            <a:lnRef idx="1">
              <a:schemeClr val="dk1"/>
            </a:lnRef>
            <a:fillRef idx="0">
              <a:schemeClr val="dk1"/>
            </a:fillRef>
            <a:effectRef idx="0">
              <a:schemeClr val="dk1"/>
            </a:effectRef>
            <a:fontRef idx="minor">
              <a:schemeClr val="tx1"/>
            </a:fontRef>
          </p:style>
        </p:cxnSp>
        <p:cxnSp>
          <p:nvCxnSpPr>
            <p:cNvPr id="409" name="Straight Connector 408">
              <a:extLst>
                <a:ext uri="{FF2B5EF4-FFF2-40B4-BE49-F238E27FC236}">
                  <a16:creationId xmlns:a16="http://schemas.microsoft.com/office/drawing/2014/main" id="{71BBD485-DA1A-DB71-2622-4851A81583C9}"/>
                </a:ext>
              </a:extLst>
            </p:cNvPr>
            <p:cNvCxnSpPr>
              <a:cxnSpLocks/>
            </p:cNvCxnSpPr>
            <p:nvPr/>
          </p:nvCxnSpPr>
          <p:spPr bwMode="auto">
            <a:xfrm>
              <a:off x="8984969" y="5071826"/>
              <a:ext cx="0" cy="628829"/>
            </a:xfrm>
            <a:prstGeom prst="line">
              <a:avLst/>
            </a:prstGeom>
            <a:ln w="25400">
              <a:solidFill>
                <a:schemeClr val="accent1"/>
              </a:solidFill>
              <a:bevel/>
              <a:headEnd type="none" w="med" len="med"/>
              <a:tailEnd type="triangle" w="med" len="med"/>
            </a:ln>
            <a:effectLst/>
          </p:spPr>
          <p:style>
            <a:lnRef idx="1">
              <a:schemeClr val="dk1"/>
            </a:lnRef>
            <a:fillRef idx="0">
              <a:schemeClr val="dk1"/>
            </a:fillRef>
            <a:effectRef idx="0">
              <a:schemeClr val="dk1"/>
            </a:effectRef>
            <a:fontRef idx="minor">
              <a:schemeClr val="tx1"/>
            </a:fontRef>
          </p:style>
        </p:cxnSp>
        <p:cxnSp>
          <p:nvCxnSpPr>
            <p:cNvPr id="410" name="Straight Connector 409">
              <a:extLst>
                <a:ext uri="{FF2B5EF4-FFF2-40B4-BE49-F238E27FC236}">
                  <a16:creationId xmlns:a16="http://schemas.microsoft.com/office/drawing/2014/main" id="{3E7A1CA0-B46D-9928-A03D-DC2BC5EB18E1}"/>
                </a:ext>
              </a:extLst>
            </p:cNvPr>
            <p:cNvCxnSpPr>
              <a:cxnSpLocks/>
            </p:cNvCxnSpPr>
            <p:nvPr/>
          </p:nvCxnSpPr>
          <p:spPr bwMode="auto">
            <a:xfrm>
              <a:off x="15390941" y="5071826"/>
              <a:ext cx="0" cy="628828"/>
            </a:xfrm>
            <a:prstGeom prst="line">
              <a:avLst/>
            </a:prstGeom>
            <a:ln w="25400">
              <a:solidFill>
                <a:schemeClr val="accent1"/>
              </a:solidFill>
              <a:bevel/>
              <a:headEnd type="none" w="med" len="med"/>
              <a:tailEnd type="triangle" w="med" len="med"/>
            </a:ln>
            <a:effectLst/>
          </p:spPr>
          <p:style>
            <a:lnRef idx="1">
              <a:schemeClr val="dk1"/>
            </a:lnRef>
            <a:fillRef idx="0">
              <a:schemeClr val="dk1"/>
            </a:fillRef>
            <a:effectRef idx="0">
              <a:schemeClr val="dk1"/>
            </a:effectRef>
            <a:fontRef idx="minor">
              <a:schemeClr val="tx1"/>
            </a:fontRef>
          </p:style>
        </p:cxnSp>
        <p:cxnSp>
          <p:nvCxnSpPr>
            <p:cNvPr id="411" name="Straight Connector 410">
              <a:extLst>
                <a:ext uri="{FF2B5EF4-FFF2-40B4-BE49-F238E27FC236}">
                  <a16:creationId xmlns:a16="http://schemas.microsoft.com/office/drawing/2014/main" id="{D274A9EF-4E40-EF3C-7D83-F17ACF6FA3D9}"/>
                </a:ext>
              </a:extLst>
            </p:cNvPr>
            <p:cNvCxnSpPr>
              <a:cxnSpLocks/>
            </p:cNvCxnSpPr>
            <p:nvPr/>
          </p:nvCxnSpPr>
          <p:spPr bwMode="auto">
            <a:xfrm>
              <a:off x="11548220" y="5700654"/>
              <a:ext cx="0" cy="628829"/>
            </a:xfrm>
            <a:prstGeom prst="line">
              <a:avLst/>
            </a:prstGeom>
            <a:ln w="25400">
              <a:solidFill>
                <a:schemeClr val="accent1"/>
              </a:solidFill>
              <a:headEnd type="none" w="med" len="med"/>
              <a:tailEnd type="triangle" w="med" len="med"/>
            </a:ln>
            <a:effectLst/>
          </p:spPr>
          <p:style>
            <a:lnRef idx="1">
              <a:schemeClr val="dk1"/>
            </a:lnRef>
            <a:fillRef idx="0">
              <a:schemeClr val="dk1"/>
            </a:fillRef>
            <a:effectRef idx="0">
              <a:schemeClr val="dk1"/>
            </a:effectRef>
            <a:fontRef idx="minor">
              <a:schemeClr val="tx1"/>
            </a:fontRef>
          </p:style>
        </p:cxnSp>
        <p:cxnSp>
          <p:nvCxnSpPr>
            <p:cNvPr id="412" name="Straight Connector 411">
              <a:extLst>
                <a:ext uri="{FF2B5EF4-FFF2-40B4-BE49-F238E27FC236}">
                  <a16:creationId xmlns:a16="http://schemas.microsoft.com/office/drawing/2014/main" id="{4AE8C252-B4EC-1F28-5EDB-C9A45B85AC71}"/>
                </a:ext>
              </a:extLst>
            </p:cNvPr>
            <p:cNvCxnSpPr>
              <a:cxnSpLocks/>
            </p:cNvCxnSpPr>
            <p:nvPr/>
          </p:nvCxnSpPr>
          <p:spPr bwMode="auto">
            <a:xfrm>
              <a:off x="12830235" y="5700654"/>
              <a:ext cx="0" cy="628829"/>
            </a:xfrm>
            <a:prstGeom prst="line">
              <a:avLst/>
            </a:prstGeom>
            <a:ln w="25400">
              <a:solidFill>
                <a:schemeClr val="accent1"/>
              </a:solidFill>
              <a:headEnd type="none" w="med" len="med"/>
              <a:tailEnd type="triangle" w="med" len="med"/>
            </a:ln>
            <a:effectLst/>
          </p:spPr>
          <p:style>
            <a:lnRef idx="1">
              <a:schemeClr val="dk1"/>
            </a:lnRef>
            <a:fillRef idx="0">
              <a:schemeClr val="dk1"/>
            </a:fillRef>
            <a:effectRef idx="0">
              <a:schemeClr val="dk1"/>
            </a:effectRef>
            <a:fontRef idx="minor">
              <a:schemeClr val="tx1"/>
            </a:fontRef>
          </p:style>
        </p:cxnSp>
        <p:cxnSp>
          <p:nvCxnSpPr>
            <p:cNvPr id="413" name="Straight Connector 412">
              <a:extLst>
                <a:ext uri="{FF2B5EF4-FFF2-40B4-BE49-F238E27FC236}">
                  <a16:creationId xmlns:a16="http://schemas.microsoft.com/office/drawing/2014/main" id="{867847DA-B248-1E89-D520-9ABA9B9F9963}"/>
                </a:ext>
              </a:extLst>
            </p:cNvPr>
            <p:cNvCxnSpPr>
              <a:cxnSpLocks/>
            </p:cNvCxnSpPr>
            <p:nvPr/>
          </p:nvCxnSpPr>
          <p:spPr bwMode="auto">
            <a:xfrm flipV="1">
              <a:off x="11548220" y="8887423"/>
              <a:ext cx="0" cy="633196"/>
            </a:xfrm>
            <a:prstGeom prst="line">
              <a:avLst/>
            </a:prstGeom>
            <a:ln w="25400">
              <a:solidFill>
                <a:schemeClr val="accent1"/>
              </a:solidFill>
              <a:headEnd type="none" w="med" len="med"/>
              <a:tailEnd type="triangle" w="med" len="med"/>
            </a:ln>
            <a:effectLst/>
          </p:spPr>
          <p:style>
            <a:lnRef idx="1">
              <a:schemeClr val="dk1"/>
            </a:lnRef>
            <a:fillRef idx="0">
              <a:schemeClr val="dk1"/>
            </a:fillRef>
            <a:effectRef idx="0">
              <a:schemeClr val="dk1"/>
            </a:effectRef>
            <a:fontRef idx="minor">
              <a:schemeClr val="tx1"/>
            </a:fontRef>
          </p:style>
        </p:cxnSp>
        <p:cxnSp>
          <p:nvCxnSpPr>
            <p:cNvPr id="414" name="Straight Connector 413">
              <a:extLst>
                <a:ext uri="{FF2B5EF4-FFF2-40B4-BE49-F238E27FC236}">
                  <a16:creationId xmlns:a16="http://schemas.microsoft.com/office/drawing/2014/main" id="{042AD196-1925-AF59-3191-EB7BB425CAF0}"/>
                </a:ext>
              </a:extLst>
            </p:cNvPr>
            <p:cNvCxnSpPr>
              <a:cxnSpLocks/>
            </p:cNvCxnSpPr>
            <p:nvPr/>
          </p:nvCxnSpPr>
          <p:spPr bwMode="auto">
            <a:xfrm flipV="1">
              <a:off x="12830235" y="8887420"/>
              <a:ext cx="0" cy="633196"/>
            </a:xfrm>
            <a:prstGeom prst="line">
              <a:avLst/>
            </a:prstGeom>
            <a:ln w="25400">
              <a:solidFill>
                <a:schemeClr val="accent1"/>
              </a:solidFill>
              <a:headEnd type="none" w="med" len="med"/>
              <a:tailEnd type="triangle" w="med" len="med"/>
            </a:ln>
            <a:effectLst/>
          </p:spPr>
          <p:style>
            <a:lnRef idx="1">
              <a:schemeClr val="dk1"/>
            </a:lnRef>
            <a:fillRef idx="0">
              <a:schemeClr val="dk1"/>
            </a:fillRef>
            <a:effectRef idx="0">
              <a:schemeClr val="dk1"/>
            </a:effectRef>
            <a:fontRef idx="minor">
              <a:schemeClr val="tx1"/>
            </a:fontRef>
          </p:style>
        </p:cxnSp>
        <p:cxnSp>
          <p:nvCxnSpPr>
            <p:cNvPr id="415" name="Straight Connector 414">
              <a:extLst>
                <a:ext uri="{FF2B5EF4-FFF2-40B4-BE49-F238E27FC236}">
                  <a16:creationId xmlns:a16="http://schemas.microsoft.com/office/drawing/2014/main" id="{CE012790-7E0F-5BF1-F8B4-DA3DCFC2F4FB}"/>
                </a:ext>
              </a:extLst>
            </p:cNvPr>
            <p:cNvCxnSpPr>
              <a:cxnSpLocks/>
            </p:cNvCxnSpPr>
            <p:nvPr/>
          </p:nvCxnSpPr>
          <p:spPr bwMode="auto">
            <a:xfrm flipV="1">
              <a:off x="17969938" y="5700654"/>
              <a:ext cx="0" cy="3811131"/>
            </a:xfrm>
            <a:prstGeom prst="line">
              <a:avLst/>
            </a:prstGeom>
            <a:ln w="25400">
              <a:solidFill>
                <a:schemeClr val="accent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grpSp>
      <p:sp>
        <p:nvSpPr>
          <p:cNvPr id="2" name="Title 1">
            <a:extLst>
              <a:ext uri="{FF2B5EF4-FFF2-40B4-BE49-F238E27FC236}">
                <a16:creationId xmlns:a16="http://schemas.microsoft.com/office/drawing/2014/main" id="{FFC00323-CBCF-6240-4267-FA9644795729}"/>
              </a:ext>
            </a:extLst>
          </p:cNvPr>
          <p:cNvSpPr>
            <a:spLocks noGrp="1"/>
          </p:cNvSpPr>
          <p:nvPr>
            <p:ph type="title"/>
          </p:nvPr>
        </p:nvSpPr>
        <p:spPr>
          <a:xfrm>
            <a:off x="287300" y="285365"/>
            <a:ext cx="8859743" cy="762695"/>
          </a:xfrm>
        </p:spPr>
        <p:txBody>
          <a:bodyPr>
            <a:normAutofit fontScale="90000"/>
          </a:bodyPr>
          <a:lstStyle/>
          <a:p>
            <a:r>
              <a:rPr lang="en-US" sz="2200" dirty="0"/>
              <a:t>These embedded building blocks provide powerful capabilities to </a:t>
            </a:r>
            <a:r>
              <a:rPr lang="en-US" sz="2200" dirty="0">
                <a:solidFill>
                  <a:schemeClr val="accent1"/>
                </a:solidFill>
              </a:rPr>
              <a:t>enhance out-of-box use cases </a:t>
            </a:r>
            <a:r>
              <a:rPr lang="en-US" sz="2200" dirty="0"/>
              <a:t>and enable complex business processes</a:t>
            </a:r>
            <a:endParaRPr lang="en-US" sz="2200" dirty="0">
              <a:solidFill>
                <a:schemeClr val="accent1"/>
              </a:solidFill>
            </a:endParaRPr>
          </a:p>
        </p:txBody>
      </p:sp>
      <p:grpSp>
        <p:nvGrpSpPr>
          <p:cNvPr id="5" name="Graphic 23">
            <a:extLst>
              <a:ext uri="{FF2B5EF4-FFF2-40B4-BE49-F238E27FC236}">
                <a16:creationId xmlns:a16="http://schemas.microsoft.com/office/drawing/2014/main" id="{7A758F37-EF97-73B2-EE46-401CC60F5ABB}"/>
              </a:ext>
            </a:extLst>
          </p:cNvPr>
          <p:cNvGrpSpPr/>
          <p:nvPr/>
        </p:nvGrpSpPr>
        <p:grpSpPr>
          <a:xfrm>
            <a:off x="5855444" y="3318596"/>
            <a:ext cx="553130" cy="553130"/>
            <a:chOff x="4013013" y="1793501"/>
            <a:chExt cx="576126" cy="576126"/>
          </a:xfrm>
          <a:solidFill>
            <a:schemeClr val="bg1"/>
          </a:solidFill>
        </p:grpSpPr>
        <p:sp>
          <p:nvSpPr>
            <p:cNvPr id="6" name="Freeform: Shape 25">
              <a:extLst>
                <a:ext uri="{FF2B5EF4-FFF2-40B4-BE49-F238E27FC236}">
                  <a16:creationId xmlns:a16="http://schemas.microsoft.com/office/drawing/2014/main" id="{FD1869B4-D4CF-AEB2-805F-00FF78FB309F}"/>
                </a:ext>
              </a:extLst>
            </p:cNvPr>
            <p:cNvSpPr/>
            <p:nvPr/>
          </p:nvSpPr>
          <p:spPr>
            <a:xfrm>
              <a:off x="4186295" y="2014176"/>
              <a:ext cx="7405" cy="7405"/>
            </a:xfrm>
            <a:custGeom>
              <a:avLst/>
              <a:gdLst>
                <a:gd name="connsiteX0" fmla="*/ 0 w 7405"/>
                <a:gd name="connsiteY0" fmla="*/ 0 h 7405"/>
                <a:gd name="connsiteX1" fmla="*/ 0 w 7405"/>
                <a:gd name="connsiteY1" fmla="*/ 0 h 7405"/>
                <a:gd name="connsiteX2" fmla="*/ 0 w 7405"/>
                <a:gd name="connsiteY2" fmla="*/ 0 h 7405"/>
              </a:gdLst>
              <a:ahLst/>
              <a:cxnLst>
                <a:cxn ang="0">
                  <a:pos x="connsiteX0" y="connsiteY0"/>
                </a:cxn>
                <a:cxn ang="0">
                  <a:pos x="connsiteX1" y="connsiteY1"/>
                </a:cxn>
                <a:cxn ang="0">
                  <a:pos x="connsiteX2" y="connsiteY2"/>
                </a:cxn>
              </a:cxnLst>
              <a:rect l="l" t="t" r="r" b="b"/>
              <a:pathLst>
                <a:path w="7405" h="7405">
                  <a:moveTo>
                    <a:pt x="0" y="0"/>
                  </a:moveTo>
                  <a:lnTo>
                    <a:pt x="0" y="0"/>
                  </a:lnTo>
                  <a:lnTo>
                    <a:pt x="0" y="0"/>
                  </a:lnTo>
                  <a:close/>
                </a:path>
              </a:pathLst>
            </a:custGeom>
            <a:grpFill/>
            <a:ln w="7327" cap="flat">
              <a:noFill/>
              <a:prstDash val="solid"/>
              <a:miter/>
            </a:ln>
          </p:spPr>
          <p:txBody>
            <a:bodyPr rtlCol="0" anchor="ctr"/>
            <a:lstStyle/>
            <a:p>
              <a:pPr defTabSz="342923">
                <a:defRPr/>
              </a:pPr>
              <a:endParaRPr lang="en-US" sz="1000" dirty="0">
                <a:solidFill>
                  <a:srgbClr val="FFFFFF"/>
                </a:solidFill>
                <a:latin typeface="+mj-lt"/>
              </a:endParaRPr>
            </a:p>
          </p:txBody>
        </p:sp>
        <p:sp>
          <p:nvSpPr>
            <p:cNvPr id="7" name="Freeform: Shape 26">
              <a:extLst>
                <a:ext uri="{FF2B5EF4-FFF2-40B4-BE49-F238E27FC236}">
                  <a16:creationId xmlns:a16="http://schemas.microsoft.com/office/drawing/2014/main" id="{30C3070F-06D5-55A9-BC8D-904B1CE9EC02}"/>
                </a:ext>
              </a:extLst>
            </p:cNvPr>
            <p:cNvSpPr/>
            <p:nvPr/>
          </p:nvSpPr>
          <p:spPr>
            <a:xfrm>
              <a:off x="4013013" y="1793501"/>
              <a:ext cx="576126" cy="576126"/>
            </a:xfrm>
            <a:custGeom>
              <a:avLst/>
              <a:gdLst>
                <a:gd name="connsiteX0" fmla="*/ 570203 w 576126"/>
                <a:gd name="connsiteY0" fmla="*/ 311760 h 576126"/>
                <a:gd name="connsiteX1" fmla="*/ 308058 w 576126"/>
                <a:gd name="connsiteY1" fmla="*/ 311760 h 576126"/>
                <a:gd name="connsiteX2" fmla="*/ 302133 w 576126"/>
                <a:gd name="connsiteY2" fmla="*/ 317684 h 576126"/>
                <a:gd name="connsiteX3" fmla="*/ 302133 w 576126"/>
                <a:gd name="connsiteY3" fmla="*/ 380629 h 576126"/>
                <a:gd name="connsiteX4" fmla="*/ 300652 w 576126"/>
                <a:gd name="connsiteY4" fmla="*/ 383591 h 576126"/>
                <a:gd name="connsiteX5" fmla="*/ 296950 w 576126"/>
                <a:gd name="connsiteY5" fmla="*/ 383591 h 576126"/>
                <a:gd name="connsiteX6" fmla="*/ 259183 w 576126"/>
                <a:gd name="connsiteY6" fmla="*/ 389515 h 576126"/>
                <a:gd name="connsiteX7" fmla="*/ 214011 w 576126"/>
                <a:gd name="connsiteY7" fmla="*/ 434687 h 576126"/>
                <a:gd name="connsiteX8" fmla="*/ 210309 w 576126"/>
                <a:gd name="connsiteY8" fmla="*/ 435428 h 576126"/>
                <a:gd name="connsiteX9" fmla="*/ 208087 w 576126"/>
                <a:gd name="connsiteY9" fmla="*/ 431725 h 576126"/>
                <a:gd name="connsiteX10" fmla="*/ 208087 w 576126"/>
                <a:gd name="connsiteY10" fmla="*/ 268810 h 576126"/>
                <a:gd name="connsiteX11" fmla="*/ 211790 w 576126"/>
                <a:gd name="connsiteY11" fmla="*/ 265107 h 576126"/>
                <a:gd name="connsiteX12" fmla="*/ 270291 w 576126"/>
                <a:gd name="connsiteY12" fmla="*/ 265107 h 576126"/>
                <a:gd name="connsiteX13" fmla="*/ 276215 w 576126"/>
                <a:gd name="connsiteY13" fmla="*/ 259183 h 576126"/>
                <a:gd name="connsiteX14" fmla="*/ 276215 w 576126"/>
                <a:gd name="connsiteY14" fmla="*/ 5924 h 576126"/>
                <a:gd name="connsiteX15" fmla="*/ 270291 w 576126"/>
                <a:gd name="connsiteY15" fmla="*/ 0 h 576126"/>
                <a:gd name="connsiteX16" fmla="*/ 5924 w 576126"/>
                <a:gd name="connsiteY16" fmla="*/ 0 h 576126"/>
                <a:gd name="connsiteX17" fmla="*/ 0 w 576126"/>
                <a:gd name="connsiteY17" fmla="*/ 5924 h 576126"/>
                <a:gd name="connsiteX18" fmla="*/ 0 w 576126"/>
                <a:gd name="connsiteY18" fmla="*/ 259183 h 576126"/>
                <a:gd name="connsiteX19" fmla="*/ 5924 w 576126"/>
                <a:gd name="connsiteY19" fmla="*/ 265107 h 576126"/>
                <a:gd name="connsiteX20" fmla="*/ 142180 w 576126"/>
                <a:gd name="connsiteY20" fmla="*/ 265107 h 576126"/>
                <a:gd name="connsiteX21" fmla="*/ 145883 w 576126"/>
                <a:gd name="connsiteY21" fmla="*/ 268810 h 576126"/>
                <a:gd name="connsiteX22" fmla="*/ 145883 w 576126"/>
                <a:gd name="connsiteY22" fmla="*/ 291766 h 576126"/>
                <a:gd name="connsiteX23" fmla="*/ 144402 w 576126"/>
                <a:gd name="connsiteY23" fmla="*/ 294728 h 576126"/>
                <a:gd name="connsiteX24" fmla="*/ 140699 w 576126"/>
                <a:gd name="connsiteY24" fmla="*/ 294728 h 576126"/>
                <a:gd name="connsiteX25" fmla="*/ 117743 w 576126"/>
                <a:gd name="connsiteY25" fmla="*/ 293247 h 576126"/>
                <a:gd name="connsiteX26" fmla="*/ 100711 w 576126"/>
                <a:gd name="connsiteY26" fmla="*/ 308798 h 576126"/>
                <a:gd name="connsiteX27" fmla="*/ 99230 w 576126"/>
                <a:gd name="connsiteY27" fmla="*/ 313241 h 576126"/>
                <a:gd name="connsiteX28" fmla="*/ 97009 w 576126"/>
                <a:gd name="connsiteY28" fmla="*/ 315463 h 576126"/>
                <a:gd name="connsiteX29" fmla="*/ 94046 w 576126"/>
                <a:gd name="connsiteY29" fmla="*/ 315463 h 576126"/>
                <a:gd name="connsiteX30" fmla="*/ 71090 w 576126"/>
                <a:gd name="connsiteY30" fmla="*/ 312501 h 576126"/>
                <a:gd name="connsiteX31" fmla="*/ 53318 w 576126"/>
                <a:gd name="connsiteY31" fmla="*/ 326571 h 576126"/>
                <a:gd name="connsiteX32" fmla="*/ 51096 w 576126"/>
                <a:gd name="connsiteY32" fmla="*/ 332495 h 576126"/>
                <a:gd name="connsiteX33" fmla="*/ 48875 w 576126"/>
                <a:gd name="connsiteY33" fmla="*/ 334716 h 576126"/>
                <a:gd name="connsiteX34" fmla="*/ 45912 w 576126"/>
                <a:gd name="connsiteY34" fmla="*/ 334716 h 576126"/>
                <a:gd name="connsiteX35" fmla="*/ 28140 w 576126"/>
                <a:gd name="connsiteY35" fmla="*/ 331014 h 576126"/>
                <a:gd name="connsiteX36" fmla="*/ 0 w 576126"/>
                <a:gd name="connsiteY36" fmla="*/ 362856 h 576126"/>
                <a:gd name="connsiteX37" fmla="*/ 0 w 576126"/>
                <a:gd name="connsiteY37" fmla="*/ 570203 h 576126"/>
                <a:gd name="connsiteX38" fmla="*/ 5924 w 576126"/>
                <a:gd name="connsiteY38" fmla="*/ 576127 h 576126"/>
                <a:gd name="connsiteX39" fmla="*/ 200682 w 576126"/>
                <a:gd name="connsiteY39" fmla="*/ 576127 h 576126"/>
                <a:gd name="connsiteX40" fmla="*/ 206606 w 576126"/>
                <a:gd name="connsiteY40" fmla="*/ 570203 h 576126"/>
                <a:gd name="connsiteX41" fmla="*/ 206606 w 576126"/>
                <a:gd name="connsiteY41" fmla="*/ 525771 h 576126"/>
                <a:gd name="connsiteX42" fmla="*/ 208087 w 576126"/>
                <a:gd name="connsiteY42" fmla="*/ 522809 h 576126"/>
                <a:gd name="connsiteX43" fmla="*/ 295469 w 576126"/>
                <a:gd name="connsiteY43" fmla="*/ 438390 h 576126"/>
                <a:gd name="connsiteX44" fmla="*/ 297690 w 576126"/>
                <a:gd name="connsiteY44" fmla="*/ 437649 h 576126"/>
                <a:gd name="connsiteX45" fmla="*/ 299171 w 576126"/>
                <a:gd name="connsiteY45" fmla="*/ 437649 h 576126"/>
                <a:gd name="connsiteX46" fmla="*/ 301393 w 576126"/>
                <a:gd name="connsiteY46" fmla="*/ 441352 h 576126"/>
                <a:gd name="connsiteX47" fmla="*/ 301393 w 576126"/>
                <a:gd name="connsiteY47" fmla="*/ 570203 h 576126"/>
                <a:gd name="connsiteX48" fmla="*/ 307317 w 576126"/>
                <a:gd name="connsiteY48" fmla="*/ 576127 h 576126"/>
                <a:gd name="connsiteX49" fmla="*/ 570203 w 576126"/>
                <a:gd name="connsiteY49" fmla="*/ 576127 h 576126"/>
                <a:gd name="connsiteX50" fmla="*/ 576127 w 576126"/>
                <a:gd name="connsiteY50" fmla="*/ 570203 h 576126"/>
                <a:gd name="connsiteX51" fmla="*/ 576127 w 576126"/>
                <a:gd name="connsiteY51" fmla="*/ 317684 h 576126"/>
                <a:gd name="connsiteX52" fmla="*/ 570203 w 576126"/>
                <a:gd name="connsiteY52" fmla="*/ 311760 h 576126"/>
                <a:gd name="connsiteX53" fmla="*/ 142180 w 576126"/>
                <a:gd name="connsiteY53" fmla="*/ 253259 h 576126"/>
                <a:gd name="connsiteX54" fmla="*/ 15551 w 576126"/>
                <a:gd name="connsiteY54" fmla="*/ 253259 h 576126"/>
                <a:gd name="connsiteX55" fmla="*/ 11848 w 576126"/>
                <a:gd name="connsiteY55" fmla="*/ 249556 h 576126"/>
                <a:gd name="connsiteX56" fmla="*/ 11848 w 576126"/>
                <a:gd name="connsiteY56" fmla="*/ 15551 h 576126"/>
                <a:gd name="connsiteX57" fmla="*/ 15551 w 576126"/>
                <a:gd name="connsiteY57" fmla="*/ 11848 h 576126"/>
                <a:gd name="connsiteX58" fmla="*/ 259183 w 576126"/>
                <a:gd name="connsiteY58" fmla="*/ 11848 h 576126"/>
                <a:gd name="connsiteX59" fmla="*/ 262886 w 576126"/>
                <a:gd name="connsiteY59" fmla="*/ 15551 h 576126"/>
                <a:gd name="connsiteX60" fmla="*/ 262886 w 576126"/>
                <a:gd name="connsiteY60" fmla="*/ 248816 h 576126"/>
                <a:gd name="connsiteX61" fmla="*/ 259183 w 576126"/>
                <a:gd name="connsiteY61" fmla="*/ 252518 h 576126"/>
                <a:gd name="connsiteX62" fmla="*/ 210309 w 576126"/>
                <a:gd name="connsiteY62" fmla="*/ 252518 h 576126"/>
                <a:gd name="connsiteX63" fmla="*/ 206606 w 576126"/>
                <a:gd name="connsiteY63" fmla="*/ 248816 h 576126"/>
                <a:gd name="connsiteX64" fmla="*/ 206606 w 576126"/>
                <a:gd name="connsiteY64" fmla="*/ 236227 h 576126"/>
                <a:gd name="connsiteX65" fmla="*/ 205865 w 576126"/>
                <a:gd name="connsiteY65" fmla="*/ 230303 h 576126"/>
                <a:gd name="connsiteX66" fmla="*/ 206606 w 576126"/>
                <a:gd name="connsiteY66" fmla="*/ 227341 h 576126"/>
                <a:gd name="connsiteX67" fmla="*/ 209568 w 576126"/>
                <a:gd name="connsiteY67" fmla="*/ 225860 h 576126"/>
                <a:gd name="connsiteX68" fmla="*/ 216233 w 576126"/>
                <a:gd name="connsiteY68" fmla="*/ 219935 h 576126"/>
                <a:gd name="connsiteX69" fmla="*/ 216233 w 576126"/>
                <a:gd name="connsiteY69" fmla="*/ 45172 h 576126"/>
                <a:gd name="connsiteX70" fmla="*/ 210309 w 576126"/>
                <a:gd name="connsiteY70" fmla="*/ 39248 h 576126"/>
                <a:gd name="connsiteX71" fmla="*/ 64426 w 576126"/>
                <a:gd name="connsiteY71" fmla="*/ 39248 h 576126"/>
                <a:gd name="connsiteX72" fmla="*/ 58501 w 576126"/>
                <a:gd name="connsiteY72" fmla="*/ 45172 h 576126"/>
                <a:gd name="connsiteX73" fmla="*/ 58501 w 576126"/>
                <a:gd name="connsiteY73" fmla="*/ 220676 h 576126"/>
                <a:gd name="connsiteX74" fmla="*/ 64426 w 576126"/>
                <a:gd name="connsiteY74" fmla="*/ 226600 h 576126"/>
                <a:gd name="connsiteX75" fmla="*/ 142921 w 576126"/>
                <a:gd name="connsiteY75" fmla="*/ 226600 h 576126"/>
                <a:gd name="connsiteX76" fmla="*/ 145883 w 576126"/>
                <a:gd name="connsiteY76" fmla="*/ 228081 h 576126"/>
                <a:gd name="connsiteX77" fmla="*/ 146624 w 576126"/>
                <a:gd name="connsiteY77" fmla="*/ 231043 h 576126"/>
                <a:gd name="connsiteX78" fmla="*/ 145883 w 576126"/>
                <a:gd name="connsiteY78" fmla="*/ 235486 h 576126"/>
                <a:gd name="connsiteX79" fmla="*/ 145883 w 576126"/>
                <a:gd name="connsiteY79" fmla="*/ 250297 h 576126"/>
                <a:gd name="connsiteX80" fmla="*/ 142180 w 576126"/>
                <a:gd name="connsiteY80" fmla="*/ 253259 h 576126"/>
                <a:gd name="connsiteX81" fmla="*/ 204384 w 576126"/>
                <a:gd name="connsiteY81" fmla="*/ 54799 h 576126"/>
                <a:gd name="connsiteX82" fmla="*/ 204384 w 576126"/>
                <a:gd name="connsiteY82" fmla="*/ 210309 h 576126"/>
                <a:gd name="connsiteX83" fmla="*/ 200682 w 576126"/>
                <a:gd name="connsiteY83" fmla="*/ 214011 h 576126"/>
                <a:gd name="connsiteX84" fmla="*/ 199941 w 576126"/>
                <a:gd name="connsiteY84" fmla="*/ 214011 h 576126"/>
                <a:gd name="connsiteX85" fmla="*/ 196979 w 576126"/>
                <a:gd name="connsiteY85" fmla="*/ 213271 h 576126"/>
                <a:gd name="connsiteX86" fmla="*/ 196239 w 576126"/>
                <a:gd name="connsiteY86" fmla="*/ 212530 h 576126"/>
                <a:gd name="connsiteX87" fmla="*/ 194017 w 576126"/>
                <a:gd name="connsiteY87" fmla="*/ 210309 h 576126"/>
                <a:gd name="connsiteX88" fmla="*/ 191795 w 576126"/>
                <a:gd name="connsiteY88" fmla="*/ 208828 h 576126"/>
                <a:gd name="connsiteX89" fmla="*/ 189574 w 576126"/>
                <a:gd name="connsiteY89" fmla="*/ 207346 h 576126"/>
                <a:gd name="connsiteX90" fmla="*/ 186612 w 576126"/>
                <a:gd name="connsiteY90" fmla="*/ 205865 h 576126"/>
                <a:gd name="connsiteX91" fmla="*/ 185871 w 576126"/>
                <a:gd name="connsiteY91" fmla="*/ 205865 h 576126"/>
                <a:gd name="connsiteX92" fmla="*/ 185131 w 576126"/>
                <a:gd name="connsiteY92" fmla="*/ 205865 h 576126"/>
                <a:gd name="connsiteX93" fmla="*/ 179947 w 576126"/>
                <a:gd name="connsiteY93" fmla="*/ 205125 h 576126"/>
                <a:gd name="connsiteX94" fmla="*/ 173282 w 576126"/>
                <a:gd name="connsiteY94" fmla="*/ 205125 h 576126"/>
                <a:gd name="connsiteX95" fmla="*/ 168839 w 576126"/>
                <a:gd name="connsiteY95" fmla="*/ 205865 h 576126"/>
                <a:gd name="connsiteX96" fmla="*/ 167358 w 576126"/>
                <a:gd name="connsiteY96" fmla="*/ 205865 h 576126"/>
                <a:gd name="connsiteX97" fmla="*/ 163656 w 576126"/>
                <a:gd name="connsiteY97" fmla="*/ 207346 h 576126"/>
                <a:gd name="connsiteX98" fmla="*/ 160694 w 576126"/>
                <a:gd name="connsiteY98" fmla="*/ 208828 h 576126"/>
                <a:gd name="connsiteX99" fmla="*/ 159953 w 576126"/>
                <a:gd name="connsiteY99" fmla="*/ 209568 h 576126"/>
                <a:gd name="connsiteX100" fmla="*/ 159212 w 576126"/>
                <a:gd name="connsiteY100" fmla="*/ 210309 h 576126"/>
                <a:gd name="connsiteX101" fmla="*/ 156250 w 576126"/>
                <a:gd name="connsiteY101" fmla="*/ 212530 h 576126"/>
                <a:gd name="connsiteX102" fmla="*/ 155510 w 576126"/>
                <a:gd name="connsiteY102" fmla="*/ 213271 h 576126"/>
                <a:gd name="connsiteX103" fmla="*/ 154769 w 576126"/>
                <a:gd name="connsiteY103" fmla="*/ 214011 h 576126"/>
                <a:gd name="connsiteX104" fmla="*/ 153288 w 576126"/>
                <a:gd name="connsiteY104" fmla="*/ 214752 h 576126"/>
                <a:gd name="connsiteX105" fmla="*/ 153288 w 576126"/>
                <a:gd name="connsiteY105" fmla="*/ 214752 h 576126"/>
                <a:gd name="connsiteX106" fmla="*/ 74052 w 576126"/>
                <a:gd name="connsiteY106" fmla="*/ 214752 h 576126"/>
                <a:gd name="connsiteX107" fmla="*/ 70350 w 576126"/>
                <a:gd name="connsiteY107" fmla="*/ 211049 h 576126"/>
                <a:gd name="connsiteX108" fmla="*/ 70350 w 576126"/>
                <a:gd name="connsiteY108" fmla="*/ 55539 h 576126"/>
                <a:gd name="connsiteX109" fmla="*/ 74052 w 576126"/>
                <a:gd name="connsiteY109" fmla="*/ 51837 h 576126"/>
                <a:gd name="connsiteX110" fmla="*/ 200682 w 576126"/>
                <a:gd name="connsiteY110" fmla="*/ 51837 h 576126"/>
                <a:gd name="connsiteX111" fmla="*/ 204384 w 576126"/>
                <a:gd name="connsiteY111" fmla="*/ 54799 h 576126"/>
                <a:gd name="connsiteX112" fmla="*/ 194758 w 576126"/>
                <a:gd name="connsiteY112" fmla="*/ 560576 h 576126"/>
                <a:gd name="connsiteX113" fmla="*/ 191055 w 576126"/>
                <a:gd name="connsiteY113" fmla="*/ 564279 h 576126"/>
                <a:gd name="connsiteX114" fmla="*/ 15551 w 576126"/>
                <a:gd name="connsiteY114" fmla="*/ 564279 h 576126"/>
                <a:gd name="connsiteX115" fmla="*/ 11848 w 576126"/>
                <a:gd name="connsiteY115" fmla="*/ 560576 h 576126"/>
                <a:gd name="connsiteX116" fmla="*/ 11848 w 576126"/>
                <a:gd name="connsiteY116" fmla="*/ 531696 h 576126"/>
                <a:gd name="connsiteX117" fmla="*/ 15551 w 576126"/>
                <a:gd name="connsiteY117" fmla="*/ 527993 h 576126"/>
                <a:gd name="connsiteX118" fmla="*/ 191055 w 576126"/>
                <a:gd name="connsiteY118" fmla="*/ 527993 h 576126"/>
                <a:gd name="connsiteX119" fmla="*/ 194758 w 576126"/>
                <a:gd name="connsiteY119" fmla="*/ 531696 h 576126"/>
                <a:gd name="connsiteX120" fmla="*/ 194758 w 576126"/>
                <a:gd name="connsiteY120" fmla="*/ 560576 h 576126"/>
                <a:gd name="connsiteX121" fmla="*/ 294728 w 576126"/>
                <a:gd name="connsiteY121" fmla="*/ 422839 h 576126"/>
                <a:gd name="connsiteX122" fmla="*/ 294728 w 576126"/>
                <a:gd name="connsiteY122" fmla="*/ 422839 h 576126"/>
                <a:gd name="connsiteX123" fmla="*/ 199201 w 576126"/>
                <a:gd name="connsiteY123" fmla="*/ 514664 h 576126"/>
                <a:gd name="connsiteX124" fmla="*/ 196979 w 576126"/>
                <a:gd name="connsiteY124" fmla="*/ 515404 h 576126"/>
                <a:gd name="connsiteX125" fmla="*/ 15551 w 576126"/>
                <a:gd name="connsiteY125" fmla="*/ 515404 h 576126"/>
                <a:gd name="connsiteX126" fmla="*/ 11848 w 576126"/>
                <a:gd name="connsiteY126" fmla="*/ 511701 h 576126"/>
                <a:gd name="connsiteX127" fmla="*/ 11848 w 576126"/>
                <a:gd name="connsiteY127" fmla="*/ 362856 h 576126"/>
                <a:gd name="connsiteX128" fmla="*/ 28140 w 576126"/>
                <a:gd name="connsiteY128" fmla="*/ 342862 h 576126"/>
                <a:gd name="connsiteX129" fmla="*/ 48134 w 576126"/>
                <a:gd name="connsiteY129" fmla="*/ 359154 h 576126"/>
                <a:gd name="connsiteX130" fmla="*/ 48134 w 576126"/>
                <a:gd name="connsiteY130" fmla="*/ 360635 h 576126"/>
                <a:gd name="connsiteX131" fmla="*/ 48134 w 576126"/>
                <a:gd name="connsiteY131" fmla="*/ 390996 h 576126"/>
                <a:gd name="connsiteX132" fmla="*/ 59982 w 576126"/>
                <a:gd name="connsiteY132" fmla="*/ 390996 h 576126"/>
                <a:gd name="connsiteX133" fmla="*/ 59982 w 576126"/>
                <a:gd name="connsiteY133" fmla="*/ 342862 h 576126"/>
                <a:gd name="connsiteX134" fmla="*/ 76274 w 576126"/>
                <a:gd name="connsiteY134" fmla="*/ 322868 h 576126"/>
                <a:gd name="connsiteX135" fmla="*/ 96268 w 576126"/>
                <a:gd name="connsiteY135" fmla="*/ 339160 h 576126"/>
                <a:gd name="connsiteX136" fmla="*/ 96268 w 576126"/>
                <a:gd name="connsiteY136" fmla="*/ 340641 h 576126"/>
                <a:gd name="connsiteX137" fmla="*/ 96268 w 576126"/>
                <a:gd name="connsiteY137" fmla="*/ 380629 h 576126"/>
                <a:gd name="connsiteX138" fmla="*/ 108116 w 576126"/>
                <a:gd name="connsiteY138" fmla="*/ 380629 h 576126"/>
                <a:gd name="connsiteX139" fmla="*/ 108116 w 576126"/>
                <a:gd name="connsiteY139" fmla="*/ 322868 h 576126"/>
                <a:gd name="connsiteX140" fmla="*/ 124408 w 576126"/>
                <a:gd name="connsiteY140" fmla="*/ 302874 h 576126"/>
                <a:gd name="connsiteX141" fmla="*/ 144402 w 576126"/>
                <a:gd name="connsiteY141" fmla="*/ 316944 h 576126"/>
                <a:gd name="connsiteX142" fmla="*/ 144402 w 576126"/>
                <a:gd name="connsiteY142" fmla="*/ 317684 h 576126"/>
                <a:gd name="connsiteX143" fmla="*/ 144402 w 576126"/>
                <a:gd name="connsiteY143" fmla="*/ 319165 h 576126"/>
                <a:gd name="connsiteX144" fmla="*/ 144402 w 576126"/>
                <a:gd name="connsiteY144" fmla="*/ 362116 h 576126"/>
                <a:gd name="connsiteX145" fmla="*/ 156250 w 576126"/>
                <a:gd name="connsiteY145" fmla="*/ 362116 h 576126"/>
                <a:gd name="connsiteX146" fmla="*/ 156250 w 576126"/>
                <a:gd name="connsiteY146" fmla="*/ 318425 h 576126"/>
                <a:gd name="connsiteX147" fmla="*/ 156250 w 576126"/>
                <a:gd name="connsiteY147" fmla="*/ 316203 h 576126"/>
                <a:gd name="connsiteX148" fmla="*/ 156250 w 576126"/>
                <a:gd name="connsiteY148" fmla="*/ 315463 h 576126"/>
                <a:gd name="connsiteX149" fmla="*/ 156250 w 576126"/>
                <a:gd name="connsiteY149" fmla="*/ 234746 h 576126"/>
                <a:gd name="connsiteX150" fmla="*/ 159953 w 576126"/>
                <a:gd name="connsiteY150" fmla="*/ 223638 h 576126"/>
                <a:gd name="connsiteX151" fmla="*/ 160694 w 576126"/>
                <a:gd name="connsiteY151" fmla="*/ 222897 h 576126"/>
                <a:gd name="connsiteX152" fmla="*/ 163656 w 576126"/>
                <a:gd name="connsiteY152" fmla="*/ 219935 h 576126"/>
                <a:gd name="connsiteX153" fmla="*/ 164396 w 576126"/>
                <a:gd name="connsiteY153" fmla="*/ 219195 h 576126"/>
                <a:gd name="connsiteX154" fmla="*/ 167358 w 576126"/>
                <a:gd name="connsiteY154" fmla="*/ 217714 h 576126"/>
                <a:gd name="connsiteX155" fmla="*/ 168099 w 576126"/>
                <a:gd name="connsiteY155" fmla="*/ 216973 h 576126"/>
                <a:gd name="connsiteX156" fmla="*/ 171061 w 576126"/>
                <a:gd name="connsiteY156" fmla="*/ 216233 h 576126"/>
                <a:gd name="connsiteX157" fmla="*/ 172542 w 576126"/>
                <a:gd name="connsiteY157" fmla="*/ 216233 h 576126"/>
                <a:gd name="connsiteX158" fmla="*/ 176985 w 576126"/>
                <a:gd name="connsiteY158" fmla="*/ 216233 h 576126"/>
                <a:gd name="connsiteX159" fmla="*/ 181428 w 576126"/>
                <a:gd name="connsiteY159" fmla="*/ 216973 h 576126"/>
                <a:gd name="connsiteX160" fmla="*/ 182169 w 576126"/>
                <a:gd name="connsiteY160" fmla="*/ 216973 h 576126"/>
                <a:gd name="connsiteX161" fmla="*/ 185131 w 576126"/>
                <a:gd name="connsiteY161" fmla="*/ 218454 h 576126"/>
                <a:gd name="connsiteX162" fmla="*/ 185871 w 576126"/>
                <a:gd name="connsiteY162" fmla="*/ 219195 h 576126"/>
                <a:gd name="connsiteX163" fmla="*/ 188093 w 576126"/>
                <a:gd name="connsiteY163" fmla="*/ 221416 h 576126"/>
                <a:gd name="connsiteX164" fmla="*/ 189574 w 576126"/>
                <a:gd name="connsiteY164" fmla="*/ 223638 h 576126"/>
                <a:gd name="connsiteX165" fmla="*/ 194017 w 576126"/>
                <a:gd name="connsiteY165" fmla="*/ 236227 h 576126"/>
                <a:gd name="connsiteX166" fmla="*/ 194017 w 576126"/>
                <a:gd name="connsiteY166" fmla="*/ 454681 h 576126"/>
                <a:gd name="connsiteX167" fmla="*/ 196239 w 576126"/>
                <a:gd name="connsiteY167" fmla="*/ 459124 h 576126"/>
                <a:gd name="connsiteX168" fmla="*/ 200682 w 576126"/>
                <a:gd name="connsiteY168" fmla="*/ 461346 h 576126"/>
                <a:gd name="connsiteX169" fmla="*/ 200682 w 576126"/>
                <a:gd name="connsiteY169" fmla="*/ 461346 h 576126"/>
                <a:gd name="connsiteX170" fmla="*/ 205125 w 576126"/>
                <a:gd name="connsiteY170" fmla="*/ 459124 h 576126"/>
                <a:gd name="connsiteX171" fmla="*/ 266588 w 576126"/>
                <a:gd name="connsiteY171" fmla="*/ 397661 h 576126"/>
                <a:gd name="connsiteX172" fmla="*/ 292507 w 576126"/>
                <a:gd name="connsiteY172" fmla="*/ 395439 h 576126"/>
                <a:gd name="connsiteX173" fmla="*/ 299171 w 576126"/>
                <a:gd name="connsiteY173" fmla="*/ 408769 h 576126"/>
                <a:gd name="connsiteX174" fmla="*/ 294728 w 576126"/>
                <a:gd name="connsiteY174" fmla="*/ 422839 h 576126"/>
                <a:gd name="connsiteX175" fmla="*/ 564279 w 576126"/>
                <a:gd name="connsiteY175" fmla="*/ 560576 h 576126"/>
                <a:gd name="connsiteX176" fmla="*/ 560576 w 576126"/>
                <a:gd name="connsiteY176" fmla="*/ 564279 h 576126"/>
                <a:gd name="connsiteX177" fmla="*/ 317684 w 576126"/>
                <a:gd name="connsiteY177" fmla="*/ 564279 h 576126"/>
                <a:gd name="connsiteX178" fmla="*/ 313982 w 576126"/>
                <a:gd name="connsiteY178" fmla="*/ 560576 h 576126"/>
                <a:gd name="connsiteX179" fmla="*/ 313982 w 576126"/>
                <a:gd name="connsiteY179" fmla="*/ 327311 h 576126"/>
                <a:gd name="connsiteX180" fmla="*/ 317684 w 576126"/>
                <a:gd name="connsiteY180" fmla="*/ 323609 h 576126"/>
                <a:gd name="connsiteX181" fmla="*/ 561317 w 576126"/>
                <a:gd name="connsiteY181" fmla="*/ 323609 h 576126"/>
                <a:gd name="connsiteX182" fmla="*/ 565019 w 576126"/>
                <a:gd name="connsiteY182" fmla="*/ 327311 h 576126"/>
                <a:gd name="connsiteX183" fmla="*/ 565019 w 576126"/>
                <a:gd name="connsiteY183" fmla="*/ 560576 h 576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Lst>
              <a:rect l="l" t="t" r="r" b="b"/>
              <a:pathLst>
                <a:path w="576126" h="576126">
                  <a:moveTo>
                    <a:pt x="570203" y="311760"/>
                  </a:moveTo>
                  <a:lnTo>
                    <a:pt x="308058" y="311760"/>
                  </a:lnTo>
                  <a:cubicBezTo>
                    <a:pt x="305096" y="311760"/>
                    <a:pt x="302133" y="314722"/>
                    <a:pt x="302133" y="317684"/>
                  </a:cubicBezTo>
                  <a:lnTo>
                    <a:pt x="302133" y="380629"/>
                  </a:lnTo>
                  <a:cubicBezTo>
                    <a:pt x="302133" y="382110"/>
                    <a:pt x="301393" y="382850"/>
                    <a:pt x="300652" y="383591"/>
                  </a:cubicBezTo>
                  <a:cubicBezTo>
                    <a:pt x="299912" y="384332"/>
                    <a:pt x="298431" y="384332"/>
                    <a:pt x="296950" y="383591"/>
                  </a:cubicBezTo>
                  <a:cubicBezTo>
                    <a:pt x="284361" y="376926"/>
                    <a:pt x="268810" y="379888"/>
                    <a:pt x="259183" y="389515"/>
                  </a:cubicBezTo>
                  <a:lnTo>
                    <a:pt x="214011" y="434687"/>
                  </a:lnTo>
                  <a:cubicBezTo>
                    <a:pt x="213271" y="435428"/>
                    <a:pt x="211049" y="436168"/>
                    <a:pt x="210309" y="435428"/>
                  </a:cubicBezTo>
                  <a:cubicBezTo>
                    <a:pt x="208828" y="434687"/>
                    <a:pt x="208087" y="433206"/>
                    <a:pt x="208087" y="431725"/>
                  </a:cubicBezTo>
                  <a:lnTo>
                    <a:pt x="208087" y="268810"/>
                  </a:lnTo>
                  <a:cubicBezTo>
                    <a:pt x="208087" y="266588"/>
                    <a:pt x="209568" y="265107"/>
                    <a:pt x="211790" y="265107"/>
                  </a:cubicBezTo>
                  <a:lnTo>
                    <a:pt x="270291" y="265107"/>
                  </a:lnTo>
                  <a:cubicBezTo>
                    <a:pt x="273253" y="265107"/>
                    <a:pt x="276215" y="262145"/>
                    <a:pt x="276215" y="259183"/>
                  </a:cubicBezTo>
                  <a:lnTo>
                    <a:pt x="276215" y="5924"/>
                  </a:lnTo>
                  <a:cubicBezTo>
                    <a:pt x="276215" y="2962"/>
                    <a:pt x="273253" y="0"/>
                    <a:pt x="270291" y="0"/>
                  </a:cubicBezTo>
                  <a:lnTo>
                    <a:pt x="5924" y="0"/>
                  </a:lnTo>
                  <a:cubicBezTo>
                    <a:pt x="2962" y="0"/>
                    <a:pt x="0" y="2962"/>
                    <a:pt x="0" y="5924"/>
                  </a:cubicBezTo>
                  <a:lnTo>
                    <a:pt x="0" y="259183"/>
                  </a:lnTo>
                  <a:cubicBezTo>
                    <a:pt x="0" y="262145"/>
                    <a:pt x="2962" y="265107"/>
                    <a:pt x="5924" y="265107"/>
                  </a:cubicBezTo>
                  <a:lnTo>
                    <a:pt x="142180" y="265107"/>
                  </a:lnTo>
                  <a:cubicBezTo>
                    <a:pt x="144402" y="265107"/>
                    <a:pt x="145883" y="266588"/>
                    <a:pt x="145883" y="268810"/>
                  </a:cubicBezTo>
                  <a:lnTo>
                    <a:pt x="145883" y="291766"/>
                  </a:lnTo>
                  <a:cubicBezTo>
                    <a:pt x="145883" y="293247"/>
                    <a:pt x="145143" y="293988"/>
                    <a:pt x="144402" y="294728"/>
                  </a:cubicBezTo>
                  <a:cubicBezTo>
                    <a:pt x="143661" y="295469"/>
                    <a:pt x="142180" y="295469"/>
                    <a:pt x="140699" y="294728"/>
                  </a:cubicBezTo>
                  <a:cubicBezTo>
                    <a:pt x="133294" y="291026"/>
                    <a:pt x="125148" y="291026"/>
                    <a:pt x="117743" y="293247"/>
                  </a:cubicBezTo>
                  <a:cubicBezTo>
                    <a:pt x="110338" y="296209"/>
                    <a:pt x="104414" y="301393"/>
                    <a:pt x="100711" y="308798"/>
                  </a:cubicBezTo>
                  <a:cubicBezTo>
                    <a:pt x="99971" y="310279"/>
                    <a:pt x="99230" y="311760"/>
                    <a:pt x="99230" y="313241"/>
                  </a:cubicBezTo>
                  <a:cubicBezTo>
                    <a:pt x="99230" y="313982"/>
                    <a:pt x="97749" y="315463"/>
                    <a:pt x="97009" y="315463"/>
                  </a:cubicBezTo>
                  <a:cubicBezTo>
                    <a:pt x="96268" y="316203"/>
                    <a:pt x="94787" y="315463"/>
                    <a:pt x="94046" y="315463"/>
                  </a:cubicBezTo>
                  <a:cubicBezTo>
                    <a:pt x="87382" y="311760"/>
                    <a:pt x="79236" y="310279"/>
                    <a:pt x="71090" y="312501"/>
                  </a:cubicBezTo>
                  <a:cubicBezTo>
                    <a:pt x="63685" y="314722"/>
                    <a:pt x="57020" y="319906"/>
                    <a:pt x="53318" y="326571"/>
                  </a:cubicBezTo>
                  <a:cubicBezTo>
                    <a:pt x="52577" y="328792"/>
                    <a:pt x="51096" y="330273"/>
                    <a:pt x="51096" y="332495"/>
                  </a:cubicBezTo>
                  <a:cubicBezTo>
                    <a:pt x="51096" y="333235"/>
                    <a:pt x="49615" y="334716"/>
                    <a:pt x="48875" y="334716"/>
                  </a:cubicBezTo>
                  <a:cubicBezTo>
                    <a:pt x="48134" y="335457"/>
                    <a:pt x="46653" y="334716"/>
                    <a:pt x="45912" y="334716"/>
                  </a:cubicBezTo>
                  <a:cubicBezTo>
                    <a:pt x="40729" y="331754"/>
                    <a:pt x="34805" y="330273"/>
                    <a:pt x="28140" y="331014"/>
                  </a:cubicBezTo>
                  <a:cubicBezTo>
                    <a:pt x="11848" y="333235"/>
                    <a:pt x="0" y="346565"/>
                    <a:pt x="0" y="362856"/>
                  </a:cubicBezTo>
                  <a:lnTo>
                    <a:pt x="0" y="570203"/>
                  </a:lnTo>
                  <a:cubicBezTo>
                    <a:pt x="0" y="573165"/>
                    <a:pt x="2962" y="576127"/>
                    <a:pt x="5924" y="576127"/>
                  </a:cubicBezTo>
                  <a:lnTo>
                    <a:pt x="200682" y="576127"/>
                  </a:lnTo>
                  <a:cubicBezTo>
                    <a:pt x="203644" y="576127"/>
                    <a:pt x="206606" y="573165"/>
                    <a:pt x="206606" y="570203"/>
                  </a:cubicBezTo>
                  <a:lnTo>
                    <a:pt x="206606" y="525771"/>
                  </a:lnTo>
                  <a:cubicBezTo>
                    <a:pt x="206606" y="525031"/>
                    <a:pt x="207346" y="523550"/>
                    <a:pt x="208087" y="522809"/>
                  </a:cubicBezTo>
                  <a:lnTo>
                    <a:pt x="295469" y="438390"/>
                  </a:lnTo>
                  <a:cubicBezTo>
                    <a:pt x="296209" y="437649"/>
                    <a:pt x="296950" y="437649"/>
                    <a:pt x="297690" y="437649"/>
                  </a:cubicBezTo>
                  <a:cubicBezTo>
                    <a:pt x="298431" y="437649"/>
                    <a:pt x="298431" y="437649"/>
                    <a:pt x="299171" y="437649"/>
                  </a:cubicBezTo>
                  <a:cubicBezTo>
                    <a:pt x="300652" y="438390"/>
                    <a:pt x="301393" y="439871"/>
                    <a:pt x="301393" y="441352"/>
                  </a:cubicBezTo>
                  <a:lnTo>
                    <a:pt x="301393" y="570203"/>
                  </a:lnTo>
                  <a:cubicBezTo>
                    <a:pt x="301393" y="573165"/>
                    <a:pt x="304355" y="576127"/>
                    <a:pt x="307317" y="576127"/>
                  </a:cubicBezTo>
                  <a:lnTo>
                    <a:pt x="570203" y="576127"/>
                  </a:lnTo>
                  <a:cubicBezTo>
                    <a:pt x="573165" y="576127"/>
                    <a:pt x="576127" y="573165"/>
                    <a:pt x="576127" y="570203"/>
                  </a:cubicBezTo>
                  <a:lnTo>
                    <a:pt x="576127" y="317684"/>
                  </a:lnTo>
                  <a:cubicBezTo>
                    <a:pt x="576127" y="313982"/>
                    <a:pt x="573905" y="311760"/>
                    <a:pt x="570203" y="311760"/>
                  </a:cubicBezTo>
                  <a:close/>
                  <a:moveTo>
                    <a:pt x="142180" y="253259"/>
                  </a:moveTo>
                  <a:lnTo>
                    <a:pt x="15551" y="253259"/>
                  </a:lnTo>
                  <a:cubicBezTo>
                    <a:pt x="13329" y="253259"/>
                    <a:pt x="11848" y="251778"/>
                    <a:pt x="11848" y="249556"/>
                  </a:cubicBezTo>
                  <a:lnTo>
                    <a:pt x="11848" y="15551"/>
                  </a:lnTo>
                  <a:cubicBezTo>
                    <a:pt x="11848" y="13329"/>
                    <a:pt x="13329" y="11848"/>
                    <a:pt x="15551" y="11848"/>
                  </a:cubicBezTo>
                  <a:lnTo>
                    <a:pt x="259183" y="11848"/>
                  </a:lnTo>
                  <a:cubicBezTo>
                    <a:pt x="261405" y="11848"/>
                    <a:pt x="262886" y="13329"/>
                    <a:pt x="262886" y="15551"/>
                  </a:cubicBezTo>
                  <a:lnTo>
                    <a:pt x="262886" y="248816"/>
                  </a:lnTo>
                  <a:cubicBezTo>
                    <a:pt x="262886" y="251037"/>
                    <a:pt x="261405" y="252518"/>
                    <a:pt x="259183" y="252518"/>
                  </a:cubicBezTo>
                  <a:lnTo>
                    <a:pt x="210309" y="252518"/>
                  </a:lnTo>
                  <a:cubicBezTo>
                    <a:pt x="208087" y="252518"/>
                    <a:pt x="206606" y="251037"/>
                    <a:pt x="206606" y="248816"/>
                  </a:cubicBezTo>
                  <a:lnTo>
                    <a:pt x="206606" y="236227"/>
                  </a:lnTo>
                  <a:cubicBezTo>
                    <a:pt x="206606" y="234005"/>
                    <a:pt x="206606" y="232524"/>
                    <a:pt x="205865" y="230303"/>
                  </a:cubicBezTo>
                  <a:cubicBezTo>
                    <a:pt x="205865" y="229562"/>
                    <a:pt x="205865" y="228081"/>
                    <a:pt x="206606" y="227341"/>
                  </a:cubicBezTo>
                  <a:cubicBezTo>
                    <a:pt x="207346" y="226600"/>
                    <a:pt x="208087" y="225860"/>
                    <a:pt x="209568" y="225860"/>
                  </a:cubicBezTo>
                  <a:cubicBezTo>
                    <a:pt x="213271" y="225860"/>
                    <a:pt x="216233" y="222897"/>
                    <a:pt x="216233" y="219935"/>
                  </a:cubicBezTo>
                  <a:lnTo>
                    <a:pt x="216233" y="45172"/>
                  </a:lnTo>
                  <a:cubicBezTo>
                    <a:pt x="216233" y="42210"/>
                    <a:pt x="213271" y="39248"/>
                    <a:pt x="210309" y="39248"/>
                  </a:cubicBezTo>
                  <a:lnTo>
                    <a:pt x="64426" y="39248"/>
                  </a:lnTo>
                  <a:cubicBezTo>
                    <a:pt x="61463" y="39248"/>
                    <a:pt x="58501" y="42210"/>
                    <a:pt x="58501" y="45172"/>
                  </a:cubicBezTo>
                  <a:lnTo>
                    <a:pt x="58501" y="220676"/>
                  </a:lnTo>
                  <a:cubicBezTo>
                    <a:pt x="58501" y="223638"/>
                    <a:pt x="61463" y="226600"/>
                    <a:pt x="64426" y="226600"/>
                  </a:cubicBezTo>
                  <a:lnTo>
                    <a:pt x="142921" y="226600"/>
                  </a:lnTo>
                  <a:cubicBezTo>
                    <a:pt x="143661" y="226600"/>
                    <a:pt x="145143" y="227341"/>
                    <a:pt x="145883" y="228081"/>
                  </a:cubicBezTo>
                  <a:cubicBezTo>
                    <a:pt x="146624" y="228822"/>
                    <a:pt x="146624" y="230303"/>
                    <a:pt x="146624" y="231043"/>
                  </a:cubicBezTo>
                  <a:cubicBezTo>
                    <a:pt x="146624" y="232524"/>
                    <a:pt x="145883" y="234005"/>
                    <a:pt x="145883" y="235486"/>
                  </a:cubicBezTo>
                  <a:lnTo>
                    <a:pt x="145883" y="250297"/>
                  </a:lnTo>
                  <a:cubicBezTo>
                    <a:pt x="145883" y="251037"/>
                    <a:pt x="144402" y="253259"/>
                    <a:pt x="142180" y="253259"/>
                  </a:cubicBezTo>
                  <a:close/>
                  <a:moveTo>
                    <a:pt x="204384" y="54799"/>
                  </a:moveTo>
                  <a:lnTo>
                    <a:pt x="204384" y="210309"/>
                  </a:lnTo>
                  <a:cubicBezTo>
                    <a:pt x="204384" y="212530"/>
                    <a:pt x="202903" y="214011"/>
                    <a:pt x="200682" y="214011"/>
                  </a:cubicBezTo>
                  <a:lnTo>
                    <a:pt x="199941" y="214011"/>
                  </a:lnTo>
                  <a:cubicBezTo>
                    <a:pt x="199201" y="214011"/>
                    <a:pt x="197720" y="213271"/>
                    <a:pt x="196979" y="213271"/>
                  </a:cubicBezTo>
                  <a:cubicBezTo>
                    <a:pt x="196979" y="213271"/>
                    <a:pt x="196239" y="212530"/>
                    <a:pt x="196239" y="212530"/>
                  </a:cubicBezTo>
                  <a:cubicBezTo>
                    <a:pt x="195498" y="211790"/>
                    <a:pt x="194758" y="211049"/>
                    <a:pt x="194017" y="210309"/>
                  </a:cubicBezTo>
                  <a:cubicBezTo>
                    <a:pt x="193277" y="209568"/>
                    <a:pt x="192536" y="209568"/>
                    <a:pt x="191795" y="208828"/>
                  </a:cubicBezTo>
                  <a:cubicBezTo>
                    <a:pt x="191055" y="208087"/>
                    <a:pt x="190314" y="208087"/>
                    <a:pt x="189574" y="207346"/>
                  </a:cubicBezTo>
                  <a:cubicBezTo>
                    <a:pt x="188833" y="206606"/>
                    <a:pt x="187352" y="206606"/>
                    <a:pt x="186612" y="205865"/>
                  </a:cubicBezTo>
                  <a:lnTo>
                    <a:pt x="185871" y="205865"/>
                  </a:lnTo>
                  <a:cubicBezTo>
                    <a:pt x="185871" y="205865"/>
                    <a:pt x="185131" y="205865"/>
                    <a:pt x="185131" y="205865"/>
                  </a:cubicBezTo>
                  <a:cubicBezTo>
                    <a:pt x="183650" y="205125"/>
                    <a:pt x="181428" y="205125"/>
                    <a:pt x="179947" y="205125"/>
                  </a:cubicBezTo>
                  <a:cubicBezTo>
                    <a:pt x="177726" y="205125"/>
                    <a:pt x="175504" y="205125"/>
                    <a:pt x="173282" y="205125"/>
                  </a:cubicBezTo>
                  <a:cubicBezTo>
                    <a:pt x="171801" y="205125"/>
                    <a:pt x="170320" y="205865"/>
                    <a:pt x="168839" y="205865"/>
                  </a:cubicBezTo>
                  <a:cubicBezTo>
                    <a:pt x="168099" y="205865"/>
                    <a:pt x="168099" y="205865"/>
                    <a:pt x="167358" y="205865"/>
                  </a:cubicBezTo>
                  <a:cubicBezTo>
                    <a:pt x="165877" y="206606"/>
                    <a:pt x="165137" y="206606"/>
                    <a:pt x="163656" y="207346"/>
                  </a:cubicBezTo>
                  <a:cubicBezTo>
                    <a:pt x="162175" y="208087"/>
                    <a:pt x="161434" y="208087"/>
                    <a:pt x="160694" y="208828"/>
                  </a:cubicBezTo>
                  <a:cubicBezTo>
                    <a:pt x="160694" y="208828"/>
                    <a:pt x="159953" y="209568"/>
                    <a:pt x="159953" y="209568"/>
                  </a:cubicBezTo>
                  <a:lnTo>
                    <a:pt x="159212" y="210309"/>
                  </a:lnTo>
                  <a:cubicBezTo>
                    <a:pt x="157731" y="211049"/>
                    <a:pt x="156991" y="211790"/>
                    <a:pt x="156250" y="212530"/>
                  </a:cubicBezTo>
                  <a:cubicBezTo>
                    <a:pt x="156250" y="212530"/>
                    <a:pt x="156250" y="212530"/>
                    <a:pt x="155510" y="213271"/>
                  </a:cubicBezTo>
                  <a:cubicBezTo>
                    <a:pt x="155510" y="213271"/>
                    <a:pt x="154769" y="214011"/>
                    <a:pt x="154769" y="214011"/>
                  </a:cubicBezTo>
                  <a:cubicBezTo>
                    <a:pt x="154029" y="214752"/>
                    <a:pt x="154029" y="214752"/>
                    <a:pt x="153288" y="214752"/>
                  </a:cubicBezTo>
                  <a:cubicBezTo>
                    <a:pt x="153288" y="214752"/>
                    <a:pt x="153288" y="214752"/>
                    <a:pt x="153288" y="214752"/>
                  </a:cubicBezTo>
                  <a:lnTo>
                    <a:pt x="74052" y="214752"/>
                  </a:lnTo>
                  <a:cubicBezTo>
                    <a:pt x="71831" y="214752"/>
                    <a:pt x="70350" y="213271"/>
                    <a:pt x="70350" y="211049"/>
                  </a:cubicBezTo>
                  <a:lnTo>
                    <a:pt x="70350" y="55539"/>
                  </a:lnTo>
                  <a:cubicBezTo>
                    <a:pt x="70350" y="53318"/>
                    <a:pt x="71831" y="51837"/>
                    <a:pt x="74052" y="51837"/>
                  </a:cubicBezTo>
                  <a:lnTo>
                    <a:pt x="200682" y="51837"/>
                  </a:lnTo>
                  <a:cubicBezTo>
                    <a:pt x="202903" y="51096"/>
                    <a:pt x="204384" y="52577"/>
                    <a:pt x="204384" y="54799"/>
                  </a:cubicBezTo>
                  <a:close/>
                  <a:moveTo>
                    <a:pt x="194758" y="560576"/>
                  </a:moveTo>
                  <a:cubicBezTo>
                    <a:pt x="194758" y="562798"/>
                    <a:pt x="193277" y="564279"/>
                    <a:pt x="191055" y="564279"/>
                  </a:cubicBezTo>
                  <a:lnTo>
                    <a:pt x="15551" y="564279"/>
                  </a:lnTo>
                  <a:cubicBezTo>
                    <a:pt x="13329" y="564279"/>
                    <a:pt x="11848" y="562798"/>
                    <a:pt x="11848" y="560576"/>
                  </a:cubicBezTo>
                  <a:lnTo>
                    <a:pt x="11848" y="531696"/>
                  </a:lnTo>
                  <a:cubicBezTo>
                    <a:pt x="11848" y="529474"/>
                    <a:pt x="13329" y="527993"/>
                    <a:pt x="15551" y="527993"/>
                  </a:cubicBezTo>
                  <a:lnTo>
                    <a:pt x="191055" y="527993"/>
                  </a:lnTo>
                  <a:cubicBezTo>
                    <a:pt x="193277" y="527993"/>
                    <a:pt x="194758" y="529474"/>
                    <a:pt x="194758" y="531696"/>
                  </a:cubicBezTo>
                  <a:lnTo>
                    <a:pt x="194758" y="560576"/>
                  </a:lnTo>
                  <a:close/>
                  <a:moveTo>
                    <a:pt x="294728" y="422839"/>
                  </a:moveTo>
                  <a:cubicBezTo>
                    <a:pt x="294728" y="423579"/>
                    <a:pt x="294728" y="423579"/>
                    <a:pt x="294728" y="422839"/>
                  </a:cubicBezTo>
                  <a:lnTo>
                    <a:pt x="199201" y="514664"/>
                  </a:lnTo>
                  <a:cubicBezTo>
                    <a:pt x="198460" y="515404"/>
                    <a:pt x="197720" y="515404"/>
                    <a:pt x="196979" y="515404"/>
                  </a:cubicBezTo>
                  <a:lnTo>
                    <a:pt x="15551" y="515404"/>
                  </a:lnTo>
                  <a:cubicBezTo>
                    <a:pt x="13329" y="515404"/>
                    <a:pt x="11848" y="513923"/>
                    <a:pt x="11848" y="511701"/>
                  </a:cubicBezTo>
                  <a:lnTo>
                    <a:pt x="11848" y="362856"/>
                  </a:lnTo>
                  <a:cubicBezTo>
                    <a:pt x="11848" y="353230"/>
                    <a:pt x="18513" y="344343"/>
                    <a:pt x="28140" y="342862"/>
                  </a:cubicBezTo>
                  <a:cubicBezTo>
                    <a:pt x="38507" y="342122"/>
                    <a:pt x="47393" y="349527"/>
                    <a:pt x="48134" y="359154"/>
                  </a:cubicBezTo>
                  <a:cubicBezTo>
                    <a:pt x="48134" y="359894"/>
                    <a:pt x="48134" y="360635"/>
                    <a:pt x="48134" y="360635"/>
                  </a:cubicBezTo>
                  <a:lnTo>
                    <a:pt x="48134" y="390996"/>
                  </a:lnTo>
                  <a:lnTo>
                    <a:pt x="59982" y="390996"/>
                  </a:lnTo>
                  <a:lnTo>
                    <a:pt x="59982" y="342862"/>
                  </a:lnTo>
                  <a:cubicBezTo>
                    <a:pt x="59982" y="333235"/>
                    <a:pt x="66647" y="324349"/>
                    <a:pt x="76274" y="322868"/>
                  </a:cubicBezTo>
                  <a:cubicBezTo>
                    <a:pt x="86641" y="322128"/>
                    <a:pt x="95527" y="329533"/>
                    <a:pt x="96268" y="339160"/>
                  </a:cubicBezTo>
                  <a:cubicBezTo>
                    <a:pt x="96268" y="339900"/>
                    <a:pt x="96268" y="340641"/>
                    <a:pt x="96268" y="340641"/>
                  </a:cubicBezTo>
                  <a:lnTo>
                    <a:pt x="96268" y="380629"/>
                  </a:lnTo>
                  <a:lnTo>
                    <a:pt x="108116" y="380629"/>
                  </a:lnTo>
                  <a:lnTo>
                    <a:pt x="108116" y="322868"/>
                  </a:lnTo>
                  <a:cubicBezTo>
                    <a:pt x="108116" y="313241"/>
                    <a:pt x="114781" y="304355"/>
                    <a:pt x="124408" y="302874"/>
                  </a:cubicBezTo>
                  <a:cubicBezTo>
                    <a:pt x="134035" y="302133"/>
                    <a:pt x="142180" y="308058"/>
                    <a:pt x="144402" y="316944"/>
                  </a:cubicBezTo>
                  <a:cubicBezTo>
                    <a:pt x="144402" y="316944"/>
                    <a:pt x="144402" y="316944"/>
                    <a:pt x="144402" y="317684"/>
                  </a:cubicBezTo>
                  <a:cubicBezTo>
                    <a:pt x="144402" y="318425"/>
                    <a:pt x="144402" y="318425"/>
                    <a:pt x="144402" y="319165"/>
                  </a:cubicBezTo>
                  <a:lnTo>
                    <a:pt x="144402" y="362116"/>
                  </a:lnTo>
                  <a:lnTo>
                    <a:pt x="156250" y="362116"/>
                  </a:lnTo>
                  <a:lnTo>
                    <a:pt x="156250" y="318425"/>
                  </a:lnTo>
                  <a:cubicBezTo>
                    <a:pt x="156250" y="317684"/>
                    <a:pt x="156250" y="316944"/>
                    <a:pt x="156250" y="316203"/>
                  </a:cubicBezTo>
                  <a:cubicBezTo>
                    <a:pt x="156250" y="316203"/>
                    <a:pt x="156250" y="315463"/>
                    <a:pt x="156250" y="315463"/>
                  </a:cubicBezTo>
                  <a:lnTo>
                    <a:pt x="156250" y="234746"/>
                  </a:lnTo>
                  <a:cubicBezTo>
                    <a:pt x="156250" y="231043"/>
                    <a:pt x="157731" y="227341"/>
                    <a:pt x="159953" y="223638"/>
                  </a:cubicBezTo>
                  <a:cubicBezTo>
                    <a:pt x="159953" y="223638"/>
                    <a:pt x="159953" y="223638"/>
                    <a:pt x="160694" y="222897"/>
                  </a:cubicBezTo>
                  <a:cubicBezTo>
                    <a:pt x="161434" y="222157"/>
                    <a:pt x="162175" y="220676"/>
                    <a:pt x="163656" y="219935"/>
                  </a:cubicBezTo>
                  <a:cubicBezTo>
                    <a:pt x="163656" y="219935"/>
                    <a:pt x="164396" y="219195"/>
                    <a:pt x="164396" y="219195"/>
                  </a:cubicBezTo>
                  <a:cubicBezTo>
                    <a:pt x="165137" y="218454"/>
                    <a:pt x="166618" y="217714"/>
                    <a:pt x="167358" y="217714"/>
                  </a:cubicBezTo>
                  <a:cubicBezTo>
                    <a:pt x="167358" y="217714"/>
                    <a:pt x="168099" y="217714"/>
                    <a:pt x="168099" y="216973"/>
                  </a:cubicBezTo>
                  <a:cubicBezTo>
                    <a:pt x="168839" y="216233"/>
                    <a:pt x="170320" y="216233"/>
                    <a:pt x="171061" y="216233"/>
                  </a:cubicBezTo>
                  <a:cubicBezTo>
                    <a:pt x="171801" y="216233"/>
                    <a:pt x="171801" y="216233"/>
                    <a:pt x="172542" y="216233"/>
                  </a:cubicBezTo>
                  <a:cubicBezTo>
                    <a:pt x="174023" y="216233"/>
                    <a:pt x="175504" y="216233"/>
                    <a:pt x="176985" y="216233"/>
                  </a:cubicBezTo>
                  <a:cubicBezTo>
                    <a:pt x="178466" y="216233"/>
                    <a:pt x="179947" y="216973"/>
                    <a:pt x="181428" y="216973"/>
                  </a:cubicBezTo>
                  <a:cubicBezTo>
                    <a:pt x="181428" y="216973"/>
                    <a:pt x="182169" y="216973"/>
                    <a:pt x="182169" y="216973"/>
                  </a:cubicBezTo>
                  <a:cubicBezTo>
                    <a:pt x="183650" y="217714"/>
                    <a:pt x="184390" y="217714"/>
                    <a:pt x="185131" y="218454"/>
                  </a:cubicBezTo>
                  <a:cubicBezTo>
                    <a:pt x="185131" y="218454"/>
                    <a:pt x="185871" y="219195"/>
                    <a:pt x="185871" y="219195"/>
                  </a:cubicBezTo>
                  <a:cubicBezTo>
                    <a:pt x="186612" y="219935"/>
                    <a:pt x="187352" y="220676"/>
                    <a:pt x="188093" y="221416"/>
                  </a:cubicBezTo>
                  <a:cubicBezTo>
                    <a:pt x="188833" y="222157"/>
                    <a:pt x="189574" y="222897"/>
                    <a:pt x="189574" y="223638"/>
                  </a:cubicBezTo>
                  <a:cubicBezTo>
                    <a:pt x="192536" y="227341"/>
                    <a:pt x="194017" y="231784"/>
                    <a:pt x="194017" y="236227"/>
                  </a:cubicBezTo>
                  <a:lnTo>
                    <a:pt x="194017" y="454681"/>
                  </a:lnTo>
                  <a:cubicBezTo>
                    <a:pt x="194017" y="456162"/>
                    <a:pt x="194758" y="457643"/>
                    <a:pt x="196239" y="459124"/>
                  </a:cubicBezTo>
                  <a:cubicBezTo>
                    <a:pt x="197720" y="460605"/>
                    <a:pt x="199201" y="461346"/>
                    <a:pt x="200682" y="461346"/>
                  </a:cubicBezTo>
                  <a:cubicBezTo>
                    <a:pt x="200682" y="461346"/>
                    <a:pt x="200682" y="461346"/>
                    <a:pt x="200682" y="461346"/>
                  </a:cubicBezTo>
                  <a:cubicBezTo>
                    <a:pt x="202163" y="461346"/>
                    <a:pt x="204384" y="460605"/>
                    <a:pt x="205125" y="459124"/>
                  </a:cubicBezTo>
                  <a:lnTo>
                    <a:pt x="266588" y="397661"/>
                  </a:lnTo>
                  <a:cubicBezTo>
                    <a:pt x="273253" y="390256"/>
                    <a:pt x="284361" y="389515"/>
                    <a:pt x="292507" y="395439"/>
                  </a:cubicBezTo>
                  <a:cubicBezTo>
                    <a:pt x="296950" y="399142"/>
                    <a:pt x="299171" y="403585"/>
                    <a:pt x="299171" y="408769"/>
                  </a:cubicBezTo>
                  <a:cubicBezTo>
                    <a:pt x="299912" y="414693"/>
                    <a:pt x="298431" y="419877"/>
                    <a:pt x="294728" y="422839"/>
                  </a:cubicBezTo>
                  <a:close/>
                  <a:moveTo>
                    <a:pt x="564279" y="560576"/>
                  </a:moveTo>
                  <a:cubicBezTo>
                    <a:pt x="564279" y="562798"/>
                    <a:pt x="562798" y="564279"/>
                    <a:pt x="560576" y="564279"/>
                  </a:cubicBezTo>
                  <a:lnTo>
                    <a:pt x="317684" y="564279"/>
                  </a:lnTo>
                  <a:cubicBezTo>
                    <a:pt x="315463" y="564279"/>
                    <a:pt x="313982" y="562798"/>
                    <a:pt x="313982" y="560576"/>
                  </a:cubicBezTo>
                  <a:lnTo>
                    <a:pt x="313982" y="327311"/>
                  </a:lnTo>
                  <a:cubicBezTo>
                    <a:pt x="313982" y="325090"/>
                    <a:pt x="315463" y="323609"/>
                    <a:pt x="317684" y="323609"/>
                  </a:cubicBezTo>
                  <a:lnTo>
                    <a:pt x="561317" y="323609"/>
                  </a:lnTo>
                  <a:cubicBezTo>
                    <a:pt x="563538" y="323609"/>
                    <a:pt x="565019" y="325090"/>
                    <a:pt x="565019" y="327311"/>
                  </a:cubicBezTo>
                  <a:lnTo>
                    <a:pt x="565019" y="560576"/>
                  </a:lnTo>
                  <a:close/>
                </a:path>
              </a:pathLst>
            </a:custGeom>
            <a:grpFill/>
            <a:ln w="7327" cap="flat">
              <a:noFill/>
              <a:prstDash val="solid"/>
              <a:miter/>
            </a:ln>
          </p:spPr>
          <p:txBody>
            <a:bodyPr rtlCol="0" anchor="ctr"/>
            <a:lstStyle/>
            <a:p>
              <a:pPr defTabSz="342923">
                <a:defRPr/>
              </a:pPr>
              <a:endParaRPr lang="en-US" sz="1000" dirty="0">
                <a:solidFill>
                  <a:srgbClr val="FFFFFF"/>
                </a:solidFill>
                <a:latin typeface="+mj-lt"/>
              </a:endParaRPr>
            </a:p>
          </p:txBody>
        </p:sp>
        <p:sp>
          <p:nvSpPr>
            <p:cNvPr id="8" name="Freeform: Shape 27">
              <a:extLst>
                <a:ext uri="{FF2B5EF4-FFF2-40B4-BE49-F238E27FC236}">
                  <a16:creationId xmlns:a16="http://schemas.microsoft.com/office/drawing/2014/main" id="{4B945599-48B0-F00B-2C5D-C489765E2662}"/>
                </a:ext>
              </a:extLst>
            </p:cNvPr>
            <p:cNvSpPr/>
            <p:nvPr/>
          </p:nvSpPr>
          <p:spPr>
            <a:xfrm>
              <a:off x="4193700" y="2014176"/>
              <a:ext cx="7405" cy="7405"/>
            </a:xfrm>
            <a:custGeom>
              <a:avLst/>
              <a:gdLst>
                <a:gd name="connsiteX0" fmla="*/ 0 w 7405"/>
                <a:gd name="connsiteY0" fmla="*/ 0 h 7405"/>
                <a:gd name="connsiteX1" fmla="*/ 0 w 7405"/>
                <a:gd name="connsiteY1" fmla="*/ 0 h 7405"/>
                <a:gd name="connsiteX2" fmla="*/ 0 w 7405"/>
                <a:gd name="connsiteY2" fmla="*/ 0 h 7405"/>
              </a:gdLst>
              <a:ahLst/>
              <a:cxnLst>
                <a:cxn ang="0">
                  <a:pos x="connsiteX0" y="connsiteY0"/>
                </a:cxn>
                <a:cxn ang="0">
                  <a:pos x="connsiteX1" y="connsiteY1"/>
                </a:cxn>
                <a:cxn ang="0">
                  <a:pos x="connsiteX2" y="connsiteY2"/>
                </a:cxn>
              </a:cxnLst>
              <a:rect l="l" t="t" r="r" b="b"/>
              <a:pathLst>
                <a:path w="7405" h="7405">
                  <a:moveTo>
                    <a:pt x="0" y="0"/>
                  </a:moveTo>
                  <a:lnTo>
                    <a:pt x="0" y="0"/>
                  </a:lnTo>
                  <a:lnTo>
                    <a:pt x="0" y="0"/>
                  </a:lnTo>
                  <a:close/>
                </a:path>
              </a:pathLst>
            </a:custGeom>
            <a:grpFill/>
            <a:ln w="7327" cap="flat">
              <a:noFill/>
              <a:prstDash val="solid"/>
              <a:miter/>
            </a:ln>
          </p:spPr>
          <p:txBody>
            <a:bodyPr rtlCol="0" anchor="ctr"/>
            <a:lstStyle/>
            <a:p>
              <a:pPr defTabSz="342923">
                <a:defRPr/>
              </a:pPr>
              <a:endParaRPr lang="en-US" sz="1000" dirty="0">
                <a:solidFill>
                  <a:srgbClr val="FFFFFF"/>
                </a:solidFill>
                <a:latin typeface="+mj-lt"/>
              </a:endParaRPr>
            </a:p>
          </p:txBody>
        </p:sp>
        <p:sp>
          <p:nvSpPr>
            <p:cNvPr id="9" name="Freeform: Shape 28">
              <a:extLst>
                <a:ext uri="{FF2B5EF4-FFF2-40B4-BE49-F238E27FC236}">
                  <a16:creationId xmlns:a16="http://schemas.microsoft.com/office/drawing/2014/main" id="{0D85097D-0211-AFE4-20E9-47A410DE3E56}"/>
                </a:ext>
              </a:extLst>
            </p:cNvPr>
            <p:cNvSpPr/>
            <p:nvPr/>
          </p:nvSpPr>
          <p:spPr>
            <a:xfrm>
              <a:off x="4315146" y="1793501"/>
              <a:ext cx="273993" cy="265107"/>
            </a:xfrm>
            <a:custGeom>
              <a:avLst/>
              <a:gdLst>
                <a:gd name="connsiteX0" fmla="*/ 268069 w 273993"/>
                <a:gd name="connsiteY0" fmla="*/ 0 h 265107"/>
                <a:gd name="connsiteX1" fmla="*/ 5924 w 273993"/>
                <a:gd name="connsiteY1" fmla="*/ 0 h 265107"/>
                <a:gd name="connsiteX2" fmla="*/ 0 w 273993"/>
                <a:gd name="connsiteY2" fmla="*/ 5924 h 265107"/>
                <a:gd name="connsiteX3" fmla="*/ 0 w 273993"/>
                <a:gd name="connsiteY3" fmla="*/ 259183 h 265107"/>
                <a:gd name="connsiteX4" fmla="*/ 5924 w 273993"/>
                <a:gd name="connsiteY4" fmla="*/ 265107 h 265107"/>
                <a:gd name="connsiteX5" fmla="*/ 268069 w 273993"/>
                <a:gd name="connsiteY5" fmla="*/ 265107 h 265107"/>
                <a:gd name="connsiteX6" fmla="*/ 273994 w 273993"/>
                <a:gd name="connsiteY6" fmla="*/ 259183 h 265107"/>
                <a:gd name="connsiteX7" fmla="*/ 273994 w 273993"/>
                <a:gd name="connsiteY7" fmla="*/ 5924 h 265107"/>
                <a:gd name="connsiteX8" fmla="*/ 268069 w 273993"/>
                <a:gd name="connsiteY8" fmla="*/ 0 h 265107"/>
                <a:gd name="connsiteX9" fmla="*/ 262145 w 273993"/>
                <a:gd name="connsiteY9" fmla="*/ 249556 h 265107"/>
                <a:gd name="connsiteX10" fmla="*/ 258443 w 273993"/>
                <a:gd name="connsiteY10" fmla="*/ 253259 h 265107"/>
                <a:gd name="connsiteX11" fmla="*/ 15551 w 273993"/>
                <a:gd name="connsiteY11" fmla="*/ 253259 h 265107"/>
                <a:gd name="connsiteX12" fmla="*/ 11848 w 273993"/>
                <a:gd name="connsiteY12" fmla="*/ 249556 h 265107"/>
                <a:gd name="connsiteX13" fmla="*/ 11848 w 273993"/>
                <a:gd name="connsiteY13" fmla="*/ 15551 h 265107"/>
                <a:gd name="connsiteX14" fmla="*/ 15551 w 273993"/>
                <a:gd name="connsiteY14" fmla="*/ 11848 h 265107"/>
                <a:gd name="connsiteX15" fmla="*/ 258443 w 273993"/>
                <a:gd name="connsiteY15" fmla="*/ 11848 h 265107"/>
                <a:gd name="connsiteX16" fmla="*/ 262145 w 273993"/>
                <a:gd name="connsiteY16" fmla="*/ 15551 h 265107"/>
                <a:gd name="connsiteX17" fmla="*/ 262145 w 273993"/>
                <a:gd name="connsiteY17" fmla="*/ 249556 h 265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3993" h="265107">
                  <a:moveTo>
                    <a:pt x="268069" y="0"/>
                  </a:moveTo>
                  <a:lnTo>
                    <a:pt x="5924" y="0"/>
                  </a:lnTo>
                  <a:cubicBezTo>
                    <a:pt x="2962" y="0"/>
                    <a:pt x="0" y="2962"/>
                    <a:pt x="0" y="5924"/>
                  </a:cubicBezTo>
                  <a:lnTo>
                    <a:pt x="0" y="259183"/>
                  </a:lnTo>
                  <a:cubicBezTo>
                    <a:pt x="0" y="262145"/>
                    <a:pt x="2962" y="265107"/>
                    <a:pt x="5924" y="265107"/>
                  </a:cubicBezTo>
                  <a:lnTo>
                    <a:pt x="268069" y="265107"/>
                  </a:lnTo>
                  <a:cubicBezTo>
                    <a:pt x="271031" y="265107"/>
                    <a:pt x="273994" y="262145"/>
                    <a:pt x="273994" y="259183"/>
                  </a:cubicBezTo>
                  <a:lnTo>
                    <a:pt x="273994" y="5924"/>
                  </a:lnTo>
                  <a:cubicBezTo>
                    <a:pt x="273994" y="2962"/>
                    <a:pt x="271772" y="0"/>
                    <a:pt x="268069" y="0"/>
                  </a:cubicBezTo>
                  <a:close/>
                  <a:moveTo>
                    <a:pt x="262145" y="249556"/>
                  </a:moveTo>
                  <a:cubicBezTo>
                    <a:pt x="262145" y="251778"/>
                    <a:pt x="260664" y="253259"/>
                    <a:pt x="258443" y="253259"/>
                  </a:cubicBezTo>
                  <a:lnTo>
                    <a:pt x="15551" y="253259"/>
                  </a:lnTo>
                  <a:cubicBezTo>
                    <a:pt x="13329" y="253259"/>
                    <a:pt x="11848" y="251778"/>
                    <a:pt x="11848" y="249556"/>
                  </a:cubicBezTo>
                  <a:lnTo>
                    <a:pt x="11848" y="15551"/>
                  </a:lnTo>
                  <a:cubicBezTo>
                    <a:pt x="11848" y="13329"/>
                    <a:pt x="13329" y="11848"/>
                    <a:pt x="15551" y="11848"/>
                  </a:cubicBezTo>
                  <a:lnTo>
                    <a:pt x="258443" y="11848"/>
                  </a:lnTo>
                  <a:cubicBezTo>
                    <a:pt x="260664" y="11848"/>
                    <a:pt x="262145" y="13329"/>
                    <a:pt x="262145" y="15551"/>
                  </a:cubicBezTo>
                  <a:lnTo>
                    <a:pt x="262145" y="249556"/>
                  </a:lnTo>
                  <a:close/>
                </a:path>
              </a:pathLst>
            </a:custGeom>
            <a:grpFill/>
            <a:ln w="7327" cap="flat">
              <a:noFill/>
              <a:prstDash val="solid"/>
              <a:miter/>
            </a:ln>
          </p:spPr>
          <p:txBody>
            <a:bodyPr rtlCol="0" anchor="ctr"/>
            <a:lstStyle/>
            <a:p>
              <a:pPr defTabSz="342923">
                <a:defRPr/>
              </a:pPr>
              <a:endParaRPr lang="en-US" sz="1000" dirty="0">
                <a:solidFill>
                  <a:srgbClr val="FFFFFF"/>
                </a:solidFill>
                <a:latin typeface="+mj-lt"/>
              </a:endParaRPr>
            </a:p>
          </p:txBody>
        </p:sp>
        <p:sp>
          <p:nvSpPr>
            <p:cNvPr id="10" name="Freeform: Shape 29">
              <a:extLst>
                <a:ext uri="{FF2B5EF4-FFF2-40B4-BE49-F238E27FC236}">
                  <a16:creationId xmlns:a16="http://schemas.microsoft.com/office/drawing/2014/main" id="{685730FB-839B-A20A-E467-B91B64F7506A}"/>
                </a:ext>
              </a:extLst>
            </p:cNvPr>
            <p:cNvSpPr/>
            <p:nvPr/>
          </p:nvSpPr>
          <p:spPr>
            <a:xfrm>
              <a:off x="4109281" y="1880882"/>
              <a:ext cx="81457" cy="12588"/>
            </a:xfrm>
            <a:custGeom>
              <a:avLst/>
              <a:gdLst>
                <a:gd name="connsiteX0" fmla="*/ 0 w 81457"/>
                <a:gd name="connsiteY0" fmla="*/ 0 h 12588"/>
                <a:gd name="connsiteX1" fmla="*/ 81458 w 81457"/>
                <a:gd name="connsiteY1" fmla="*/ 0 h 12588"/>
                <a:gd name="connsiteX2" fmla="*/ 81458 w 81457"/>
                <a:gd name="connsiteY2" fmla="*/ 12589 h 12588"/>
                <a:gd name="connsiteX3" fmla="*/ 0 w 81457"/>
                <a:gd name="connsiteY3" fmla="*/ 12589 h 12588"/>
              </a:gdLst>
              <a:ahLst/>
              <a:cxnLst>
                <a:cxn ang="0">
                  <a:pos x="connsiteX0" y="connsiteY0"/>
                </a:cxn>
                <a:cxn ang="0">
                  <a:pos x="connsiteX1" y="connsiteY1"/>
                </a:cxn>
                <a:cxn ang="0">
                  <a:pos x="connsiteX2" y="connsiteY2"/>
                </a:cxn>
                <a:cxn ang="0">
                  <a:pos x="connsiteX3" y="connsiteY3"/>
                </a:cxn>
              </a:cxnLst>
              <a:rect l="l" t="t" r="r" b="b"/>
              <a:pathLst>
                <a:path w="81457" h="12588">
                  <a:moveTo>
                    <a:pt x="0" y="0"/>
                  </a:moveTo>
                  <a:lnTo>
                    <a:pt x="81458" y="0"/>
                  </a:lnTo>
                  <a:lnTo>
                    <a:pt x="81458" y="12589"/>
                  </a:lnTo>
                  <a:lnTo>
                    <a:pt x="0" y="12589"/>
                  </a:lnTo>
                  <a:close/>
                </a:path>
              </a:pathLst>
            </a:custGeom>
            <a:grpFill/>
            <a:ln w="7327" cap="flat">
              <a:noFill/>
              <a:prstDash val="solid"/>
              <a:miter/>
            </a:ln>
          </p:spPr>
          <p:txBody>
            <a:bodyPr rtlCol="0" anchor="ctr"/>
            <a:lstStyle/>
            <a:p>
              <a:pPr defTabSz="342923">
                <a:defRPr/>
              </a:pPr>
              <a:endParaRPr lang="en-US" sz="1000" dirty="0">
                <a:solidFill>
                  <a:srgbClr val="FFFFFF"/>
                </a:solidFill>
                <a:latin typeface="+mj-lt"/>
              </a:endParaRPr>
            </a:p>
          </p:txBody>
        </p:sp>
        <p:sp>
          <p:nvSpPr>
            <p:cNvPr id="11" name="Freeform: Shape 30">
              <a:extLst>
                <a:ext uri="{FF2B5EF4-FFF2-40B4-BE49-F238E27FC236}">
                  <a16:creationId xmlns:a16="http://schemas.microsoft.com/office/drawing/2014/main" id="{F5C0EEFE-F601-B5C7-B447-8B0C22B788CC}"/>
                </a:ext>
              </a:extLst>
            </p:cNvPr>
            <p:cNvSpPr/>
            <p:nvPr/>
          </p:nvSpPr>
          <p:spPr>
            <a:xfrm>
              <a:off x="4109281" y="1919389"/>
              <a:ext cx="81457" cy="12588"/>
            </a:xfrm>
            <a:custGeom>
              <a:avLst/>
              <a:gdLst>
                <a:gd name="connsiteX0" fmla="*/ 0 w 81457"/>
                <a:gd name="connsiteY0" fmla="*/ 0 h 12588"/>
                <a:gd name="connsiteX1" fmla="*/ 81458 w 81457"/>
                <a:gd name="connsiteY1" fmla="*/ 0 h 12588"/>
                <a:gd name="connsiteX2" fmla="*/ 81458 w 81457"/>
                <a:gd name="connsiteY2" fmla="*/ 12589 h 12588"/>
                <a:gd name="connsiteX3" fmla="*/ 0 w 81457"/>
                <a:gd name="connsiteY3" fmla="*/ 12589 h 12588"/>
              </a:gdLst>
              <a:ahLst/>
              <a:cxnLst>
                <a:cxn ang="0">
                  <a:pos x="connsiteX0" y="connsiteY0"/>
                </a:cxn>
                <a:cxn ang="0">
                  <a:pos x="connsiteX1" y="connsiteY1"/>
                </a:cxn>
                <a:cxn ang="0">
                  <a:pos x="connsiteX2" y="connsiteY2"/>
                </a:cxn>
                <a:cxn ang="0">
                  <a:pos x="connsiteX3" y="connsiteY3"/>
                </a:cxn>
              </a:cxnLst>
              <a:rect l="l" t="t" r="r" b="b"/>
              <a:pathLst>
                <a:path w="81457" h="12588">
                  <a:moveTo>
                    <a:pt x="0" y="0"/>
                  </a:moveTo>
                  <a:lnTo>
                    <a:pt x="81458" y="0"/>
                  </a:lnTo>
                  <a:lnTo>
                    <a:pt x="81458" y="12589"/>
                  </a:lnTo>
                  <a:lnTo>
                    <a:pt x="0" y="12589"/>
                  </a:lnTo>
                  <a:close/>
                </a:path>
              </a:pathLst>
            </a:custGeom>
            <a:grpFill/>
            <a:ln w="7327" cap="flat">
              <a:noFill/>
              <a:prstDash val="solid"/>
              <a:miter/>
            </a:ln>
          </p:spPr>
          <p:txBody>
            <a:bodyPr rtlCol="0" anchor="ctr"/>
            <a:lstStyle/>
            <a:p>
              <a:pPr defTabSz="342923">
                <a:defRPr/>
              </a:pPr>
              <a:endParaRPr lang="en-US" sz="1000" dirty="0">
                <a:solidFill>
                  <a:srgbClr val="FFFFFF"/>
                </a:solidFill>
                <a:latin typeface="+mj-lt"/>
              </a:endParaRPr>
            </a:p>
          </p:txBody>
        </p:sp>
        <p:sp>
          <p:nvSpPr>
            <p:cNvPr id="12" name="Freeform: Shape 31">
              <a:extLst>
                <a:ext uri="{FF2B5EF4-FFF2-40B4-BE49-F238E27FC236}">
                  <a16:creationId xmlns:a16="http://schemas.microsoft.com/office/drawing/2014/main" id="{59401E55-0379-AF99-3ECC-7EF6D8477918}"/>
                </a:ext>
              </a:extLst>
            </p:cNvPr>
            <p:cNvSpPr/>
            <p:nvPr/>
          </p:nvSpPr>
          <p:spPr>
            <a:xfrm>
              <a:off x="4109281" y="1958637"/>
              <a:ext cx="81457" cy="12588"/>
            </a:xfrm>
            <a:custGeom>
              <a:avLst/>
              <a:gdLst>
                <a:gd name="connsiteX0" fmla="*/ 0 w 81457"/>
                <a:gd name="connsiteY0" fmla="*/ 0 h 12588"/>
                <a:gd name="connsiteX1" fmla="*/ 81458 w 81457"/>
                <a:gd name="connsiteY1" fmla="*/ 0 h 12588"/>
                <a:gd name="connsiteX2" fmla="*/ 81458 w 81457"/>
                <a:gd name="connsiteY2" fmla="*/ 12589 h 12588"/>
                <a:gd name="connsiteX3" fmla="*/ 0 w 81457"/>
                <a:gd name="connsiteY3" fmla="*/ 12589 h 12588"/>
              </a:gdLst>
              <a:ahLst/>
              <a:cxnLst>
                <a:cxn ang="0">
                  <a:pos x="connsiteX0" y="connsiteY0"/>
                </a:cxn>
                <a:cxn ang="0">
                  <a:pos x="connsiteX1" y="connsiteY1"/>
                </a:cxn>
                <a:cxn ang="0">
                  <a:pos x="connsiteX2" y="connsiteY2"/>
                </a:cxn>
                <a:cxn ang="0">
                  <a:pos x="connsiteX3" y="connsiteY3"/>
                </a:cxn>
              </a:cxnLst>
              <a:rect l="l" t="t" r="r" b="b"/>
              <a:pathLst>
                <a:path w="81457" h="12588">
                  <a:moveTo>
                    <a:pt x="0" y="0"/>
                  </a:moveTo>
                  <a:lnTo>
                    <a:pt x="81458" y="0"/>
                  </a:lnTo>
                  <a:lnTo>
                    <a:pt x="81458" y="12589"/>
                  </a:lnTo>
                  <a:lnTo>
                    <a:pt x="0" y="12589"/>
                  </a:lnTo>
                  <a:close/>
                </a:path>
              </a:pathLst>
            </a:custGeom>
            <a:grpFill/>
            <a:ln w="7327" cap="flat">
              <a:noFill/>
              <a:prstDash val="solid"/>
              <a:miter/>
            </a:ln>
          </p:spPr>
          <p:txBody>
            <a:bodyPr rtlCol="0" anchor="ctr"/>
            <a:lstStyle/>
            <a:p>
              <a:pPr defTabSz="342923">
                <a:defRPr/>
              </a:pPr>
              <a:endParaRPr lang="en-US" sz="1000" dirty="0">
                <a:solidFill>
                  <a:srgbClr val="FFFFFF"/>
                </a:solidFill>
                <a:latin typeface="+mj-lt"/>
              </a:endParaRPr>
            </a:p>
          </p:txBody>
        </p:sp>
        <p:sp>
          <p:nvSpPr>
            <p:cNvPr id="13" name="Freeform: Shape 32">
              <a:extLst>
                <a:ext uri="{FF2B5EF4-FFF2-40B4-BE49-F238E27FC236}">
                  <a16:creationId xmlns:a16="http://schemas.microsoft.com/office/drawing/2014/main" id="{C09D26E0-CB7F-106C-84C3-C6770D59034A}"/>
                </a:ext>
              </a:extLst>
            </p:cNvPr>
            <p:cNvSpPr/>
            <p:nvPr/>
          </p:nvSpPr>
          <p:spPr>
            <a:xfrm>
              <a:off x="4401047" y="1832748"/>
              <a:ext cx="108996" cy="188092"/>
            </a:xfrm>
            <a:custGeom>
              <a:avLst/>
              <a:gdLst>
                <a:gd name="connsiteX0" fmla="*/ 82198 w 108996"/>
                <a:gd name="connsiteY0" fmla="*/ 65166 h 188092"/>
                <a:gd name="connsiteX1" fmla="*/ 79976 w 108996"/>
                <a:gd name="connsiteY1" fmla="*/ 62204 h 188092"/>
                <a:gd name="connsiteX2" fmla="*/ 80717 w 108996"/>
                <a:gd name="connsiteY2" fmla="*/ 59242 h 188092"/>
                <a:gd name="connsiteX3" fmla="*/ 90344 w 108996"/>
                <a:gd name="connsiteY3" fmla="*/ 34064 h 188092"/>
                <a:gd name="connsiteX4" fmla="*/ 79236 w 108996"/>
                <a:gd name="connsiteY4" fmla="*/ 9627 h 188092"/>
                <a:gd name="connsiteX5" fmla="*/ 54799 w 108996"/>
                <a:gd name="connsiteY5" fmla="*/ 0 h 188092"/>
                <a:gd name="connsiteX6" fmla="*/ 29621 w 108996"/>
                <a:gd name="connsiteY6" fmla="*/ 11108 h 188092"/>
                <a:gd name="connsiteX7" fmla="*/ 29621 w 108996"/>
                <a:gd name="connsiteY7" fmla="*/ 59982 h 188092"/>
                <a:gd name="connsiteX8" fmla="*/ 30361 w 108996"/>
                <a:gd name="connsiteY8" fmla="*/ 62944 h 188092"/>
                <a:gd name="connsiteX9" fmla="*/ 28140 w 108996"/>
                <a:gd name="connsiteY9" fmla="*/ 65907 h 188092"/>
                <a:gd name="connsiteX10" fmla="*/ 0 w 108996"/>
                <a:gd name="connsiteY10" fmla="*/ 114041 h 188092"/>
                <a:gd name="connsiteX11" fmla="*/ 0 w 108996"/>
                <a:gd name="connsiteY11" fmla="*/ 182169 h 188092"/>
                <a:gd name="connsiteX12" fmla="*/ 5924 w 108996"/>
                <a:gd name="connsiteY12" fmla="*/ 188093 h 188092"/>
                <a:gd name="connsiteX13" fmla="*/ 102933 w 108996"/>
                <a:gd name="connsiteY13" fmla="*/ 188093 h 188092"/>
                <a:gd name="connsiteX14" fmla="*/ 108857 w 108996"/>
                <a:gd name="connsiteY14" fmla="*/ 182169 h 188092"/>
                <a:gd name="connsiteX15" fmla="*/ 108857 w 108996"/>
                <a:gd name="connsiteY15" fmla="*/ 114041 h 188092"/>
                <a:gd name="connsiteX16" fmla="*/ 82198 w 108996"/>
                <a:gd name="connsiteY16" fmla="*/ 65166 h 188092"/>
                <a:gd name="connsiteX17" fmla="*/ 55539 w 108996"/>
                <a:gd name="connsiteY17" fmla="*/ 11848 h 188092"/>
                <a:gd name="connsiteX18" fmla="*/ 78495 w 108996"/>
                <a:gd name="connsiteY18" fmla="*/ 34805 h 188092"/>
                <a:gd name="connsiteX19" fmla="*/ 55539 w 108996"/>
                <a:gd name="connsiteY19" fmla="*/ 57761 h 188092"/>
                <a:gd name="connsiteX20" fmla="*/ 32583 w 108996"/>
                <a:gd name="connsiteY20" fmla="*/ 34805 h 188092"/>
                <a:gd name="connsiteX21" fmla="*/ 55539 w 108996"/>
                <a:gd name="connsiteY21" fmla="*/ 11848 h 188092"/>
                <a:gd name="connsiteX22" fmla="*/ 98490 w 108996"/>
                <a:gd name="connsiteY22" fmla="*/ 171061 h 188092"/>
                <a:gd name="connsiteX23" fmla="*/ 94787 w 108996"/>
                <a:gd name="connsiteY23" fmla="*/ 174763 h 188092"/>
                <a:gd name="connsiteX24" fmla="*/ 17032 w 108996"/>
                <a:gd name="connsiteY24" fmla="*/ 174763 h 188092"/>
                <a:gd name="connsiteX25" fmla="*/ 13329 w 108996"/>
                <a:gd name="connsiteY25" fmla="*/ 171061 h 188092"/>
                <a:gd name="connsiteX26" fmla="*/ 13329 w 108996"/>
                <a:gd name="connsiteY26" fmla="*/ 112560 h 188092"/>
                <a:gd name="connsiteX27" fmla="*/ 56280 w 108996"/>
                <a:gd name="connsiteY27" fmla="*/ 69609 h 188092"/>
                <a:gd name="connsiteX28" fmla="*/ 99230 w 108996"/>
                <a:gd name="connsiteY28" fmla="*/ 112560 h 188092"/>
                <a:gd name="connsiteX29" fmla="*/ 99230 w 108996"/>
                <a:gd name="connsiteY29" fmla="*/ 171061 h 188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8996" h="188092">
                  <a:moveTo>
                    <a:pt x="82198" y="65166"/>
                  </a:moveTo>
                  <a:cubicBezTo>
                    <a:pt x="81458" y="64426"/>
                    <a:pt x="80717" y="63685"/>
                    <a:pt x="79976" y="62204"/>
                  </a:cubicBezTo>
                  <a:cubicBezTo>
                    <a:pt x="79976" y="60723"/>
                    <a:pt x="79976" y="59982"/>
                    <a:pt x="80717" y="59242"/>
                  </a:cubicBezTo>
                  <a:cubicBezTo>
                    <a:pt x="87382" y="52577"/>
                    <a:pt x="90344" y="43691"/>
                    <a:pt x="90344" y="34064"/>
                  </a:cubicBezTo>
                  <a:cubicBezTo>
                    <a:pt x="90344" y="24437"/>
                    <a:pt x="85901" y="15551"/>
                    <a:pt x="79236" y="9627"/>
                  </a:cubicBezTo>
                  <a:cubicBezTo>
                    <a:pt x="72571" y="2962"/>
                    <a:pt x="63685" y="0"/>
                    <a:pt x="54799" y="0"/>
                  </a:cubicBezTo>
                  <a:cubicBezTo>
                    <a:pt x="45172" y="0"/>
                    <a:pt x="36286" y="3703"/>
                    <a:pt x="29621" y="11108"/>
                  </a:cubicBezTo>
                  <a:cubicBezTo>
                    <a:pt x="16291" y="24437"/>
                    <a:pt x="16291" y="45912"/>
                    <a:pt x="29621" y="59982"/>
                  </a:cubicBezTo>
                  <a:cubicBezTo>
                    <a:pt x="30361" y="60723"/>
                    <a:pt x="31102" y="62204"/>
                    <a:pt x="30361" y="62944"/>
                  </a:cubicBezTo>
                  <a:cubicBezTo>
                    <a:pt x="30361" y="64426"/>
                    <a:pt x="29621" y="65166"/>
                    <a:pt x="28140" y="65907"/>
                  </a:cubicBezTo>
                  <a:cubicBezTo>
                    <a:pt x="10367" y="75533"/>
                    <a:pt x="0" y="94046"/>
                    <a:pt x="0" y="114041"/>
                  </a:cubicBezTo>
                  <a:lnTo>
                    <a:pt x="0" y="182169"/>
                  </a:lnTo>
                  <a:cubicBezTo>
                    <a:pt x="0" y="185131"/>
                    <a:pt x="2962" y="188093"/>
                    <a:pt x="5924" y="188093"/>
                  </a:cubicBezTo>
                  <a:lnTo>
                    <a:pt x="102933" y="188093"/>
                  </a:lnTo>
                  <a:cubicBezTo>
                    <a:pt x="105895" y="188093"/>
                    <a:pt x="108857" y="185131"/>
                    <a:pt x="108857" y="182169"/>
                  </a:cubicBezTo>
                  <a:lnTo>
                    <a:pt x="108857" y="114041"/>
                  </a:lnTo>
                  <a:cubicBezTo>
                    <a:pt x="110338" y="92565"/>
                    <a:pt x="99971" y="74793"/>
                    <a:pt x="82198" y="65166"/>
                  </a:cubicBezTo>
                  <a:close/>
                  <a:moveTo>
                    <a:pt x="55539" y="11848"/>
                  </a:moveTo>
                  <a:cubicBezTo>
                    <a:pt x="68128" y="11848"/>
                    <a:pt x="78495" y="22216"/>
                    <a:pt x="78495" y="34805"/>
                  </a:cubicBezTo>
                  <a:cubicBezTo>
                    <a:pt x="78495" y="47393"/>
                    <a:pt x="68128" y="57761"/>
                    <a:pt x="55539" y="57761"/>
                  </a:cubicBezTo>
                  <a:cubicBezTo>
                    <a:pt x="42950" y="57761"/>
                    <a:pt x="32583" y="47393"/>
                    <a:pt x="32583" y="34805"/>
                  </a:cubicBezTo>
                  <a:cubicBezTo>
                    <a:pt x="32583" y="22216"/>
                    <a:pt x="42950" y="11848"/>
                    <a:pt x="55539" y="11848"/>
                  </a:cubicBezTo>
                  <a:close/>
                  <a:moveTo>
                    <a:pt x="98490" y="171061"/>
                  </a:moveTo>
                  <a:cubicBezTo>
                    <a:pt x="98490" y="173282"/>
                    <a:pt x="97009" y="174763"/>
                    <a:pt x="94787" y="174763"/>
                  </a:cubicBezTo>
                  <a:lnTo>
                    <a:pt x="17032" y="174763"/>
                  </a:lnTo>
                  <a:cubicBezTo>
                    <a:pt x="14810" y="174763"/>
                    <a:pt x="13329" y="173282"/>
                    <a:pt x="13329" y="171061"/>
                  </a:cubicBezTo>
                  <a:lnTo>
                    <a:pt x="13329" y="112560"/>
                  </a:lnTo>
                  <a:cubicBezTo>
                    <a:pt x="13329" y="88863"/>
                    <a:pt x="32583" y="69609"/>
                    <a:pt x="56280" y="69609"/>
                  </a:cubicBezTo>
                  <a:cubicBezTo>
                    <a:pt x="79976" y="69609"/>
                    <a:pt x="99230" y="88863"/>
                    <a:pt x="99230" y="112560"/>
                  </a:cubicBezTo>
                  <a:lnTo>
                    <a:pt x="99230" y="171061"/>
                  </a:lnTo>
                  <a:close/>
                </a:path>
              </a:pathLst>
            </a:custGeom>
            <a:grpFill/>
            <a:ln w="7327" cap="flat">
              <a:noFill/>
              <a:prstDash val="solid"/>
              <a:miter/>
            </a:ln>
          </p:spPr>
          <p:txBody>
            <a:bodyPr rtlCol="0" anchor="ctr"/>
            <a:lstStyle/>
            <a:p>
              <a:pPr defTabSz="342923">
                <a:defRPr/>
              </a:pPr>
              <a:endParaRPr lang="en-US" sz="1000" dirty="0">
                <a:solidFill>
                  <a:srgbClr val="FFFFFF"/>
                </a:solidFill>
                <a:latin typeface="+mj-lt"/>
              </a:endParaRPr>
            </a:p>
          </p:txBody>
        </p:sp>
        <p:sp>
          <p:nvSpPr>
            <p:cNvPr id="14" name="Freeform: Shape 33">
              <a:extLst>
                <a:ext uri="{FF2B5EF4-FFF2-40B4-BE49-F238E27FC236}">
                  <a16:creationId xmlns:a16="http://schemas.microsoft.com/office/drawing/2014/main" id="{E4919784-3EBF-BA48-B787-4CB6FE5F192A}"/>
                </a:ext>
              </a:extLst>
            </p:cNvPr>
            <p:cNvSpPr/>
            <p:nvPr/>
          </p:nvSpPr>
          <p:spPr>
            <a:xfrm>
              <a:off x="4372166" y="2153395"/>
              <a:ext cx="168839" cy="168839"/>
            </a:xfrm>
            <a:custGeom>
              <a:avLst/>
              <a:gdLst>
                <a:gd name="connsiteX0" fmla="*/ 84420 w 168839"/>
                <a:gd name="connsiteY0" fmla="*/ 0 h 168839"/>
                <a:gd name="connsiteX1" fmla="*/ 0 w 168839"/>
                <a:gd name="connsiteY1" fmla="*/ 84420 h 168839"/>
                <a:gd name="connsiteX2" fmla="*/ 84420 w 168839"/>
                <a:gd name="connsiteY2" fmla="*/ 168839 h 168839"/>
                <a:gd name="connsiteX3" fmla="*/ 168839 w 168839"/>
                <a:gd name="connsiteY3" fmla="*/ 84420 h 168839"/>
                <a:gd name="connsiteX4" fmla="*/ 84420 w 168839"/>
                <a:gd name="connsiteY4" fmla="*/ 0 h 168839"/>
                <a:gd name="connsiteX5" fmla="*/ 34805 w 168839"/>
                <a:gd name="connsiteY5" fmla="*/ 32583 h 168839"/>
                <a:gd name="connsiteX6" fmla="*/ 85160 w 168839"/>
                <a:gd name="connsiteY6" fmla="*/ 11848 h 168839"/>
                <a:gd name="connsiteX7" fmla="*/ 135516 w 168839"/>
                <a:gd name="connsiteY7" fmla="*/ 32583 h 168839"/>
                <a:gd name="connsiteX8" fmla="*/ 136256 w 168839"/>
                <a:gd name="connsiteY8" fmla="*/ 36286 h 168839"/>
                <a:gd name="connsiteX9" fmla="*/ 132554 w 168839"/>
                <a:gd name="connsiteY9" fmla="*/ 38507 h 168839"/>
                <a:gd name="connsiteX10" fmla="*/ 37026 w 168839"/>
                <a:gd name="connsiteY10" fmla="*/ 38507 h 168839"/>
                <a:gd name="connsiteX11" fmla="*/ 33324 w 168839"/>
                <a:gd name="connsiteY11" fmla="*/ 36286 h 168839"/>
                <a:gd name="connsiteX12" fmla="*/ 34805 w 168839"/>
                <a:gd name="connsiteY12" fmla="*/ 32583 h 168839"/>
                <a:gd name="connsiteX13" fmla="*/ 134775 w 168839"/>
                <a:gd name="connsiteY13" fmla="*/ 135516 h 168839"/>
                <a:gd name="connsiteX14" fmla="*/ 84420 w 168839"/>
                <a:gd name="connsiteY14" fmla="*/ 156250 h 168839"/>
                <a:gd name="connsiteX15" fmla="*/ 34064 w 168839"/>
                <a:gd name="connsiteY15" fmla="*/ 135516 h 168839"/>
                <a:gd name="connsiteX16" fmla="*/ 33324 w 168839"/>
                <a:gd name="connsiteY16" fmla="*/ 131813 h 168839"/>
                <a:gd name="connsiteX17" fmla="*/ 37026 w 168839"/>
                <a:gd name="connsiteY17" fmla="*/ 129592 h 168839"/>
                <a:gd name="connsiteX18" fmla="*/ 132554 w 168839"/>
                <a:gd name="connsiteY18" fmla="*/ 129592 h 168839"/>
                <a:gd name="connsiteX19" fmla="*/ 136256 w 168839"/>
                <a:gd name="connsiteY19" fmla="*/ 131813 h 168839"/>
                <a:gd name="connsiteX20" fmla="*/ 134775 w 168839"/>
                <a:gd name="connsiteY20" fmla="*/ 135516 h 168839"/>
                <a:gd name="connsiteX21" fmla="*/ 149586 w 168839"/>
                <a:gd name="connsiteY21" fmla="*/ 114781 h 168839"/>
                <a:gd name="connsiteX22" fmla="*/ 145883 w 168839"/>
                <a:gd name="connsiteY22" fmla="*/ 117003 h 168839"/>
                <a:gd name="connsiteX23" fmla="*/ 22956 w 168839"/>
                <a:gd name="connsiteY23" fmla="*/ 117003 h 168839"/>
                <a:gd name="connsiteX24" fmla="*/ 19254 w 168839"/>
                <a:gd name="connsiteY24" fmla="*/ 114781 h 168839"/>
                <a:gd name="connsiteX25" fmla="*/ 12589 w 168839"/>
                <a:gd name="connsiteY25" fmla="*/ 94046 h 168839"/>
                <a:gd name="connsiteX26" fmla="*/ 13329 w 168839"/>
                <a:gd name="connsiteY26" fmla="*/ 91084 h 168839"/>
                <a:gd name="connsiteX27" fmla="*/ 16292 w 168839"/>
                <a:gd name="connsiteY27" fmla="*/ 89603 h 168839"/>
                <a:gd name="connsiteX28" fmla="*/ 151807 w 168839"/>
                <a:gd name="connsiteY28" fmla="*/ 89603 h 168839"/>
                <a:gd name="connsiteX29" fmla="*/ 154769 w 168839"/>
                <a:gd name="connsiteY29" fmla="*/ 91084 h 168839"/>
                <a:gd name="connsiteX30" fmla="*/ 155510 w 168839"/>
                <a:gd name="connsiteY30" fmla="*/ 94046 h 168839"/>
                <a:gd name="connsiteX31" fmla="*/ 149586 w 168839"/>
                <a:gd name="connsiteY31" fmla="*/ 114781 h 168839"/>
                <a:gd name="connsiteX32" fmla="*/ 149586 w 168839"/>
                <a:gd name="connsiteY32" fmla="*/ 53318 h 168839"/>
                <a:gd name="connsiteX33" fmla="*/ 156250 w 168839"/>
                <a:gd name="connsiteY33" fmla="*/ 74052 h 168839"/>
                <a:gd name="connsiteX34" fmla="*/ 155510 w 168839"/>
                <a:gd name="connsiteY34" fmla="*/ 77014 h 168839"/>
                <a:gd name="connsiteX35" fmla="*/ 152548 w 168839"/>
                <a:gd name="connsiteY35" fmla="*/ 78495 h 168839"/>
                <a:gd name="connsiteX36" fmla="*/ 17032 w 168839"/>
                <a:gd name="connsiteY36" fmla="*/ 78495 h 168839"/>
                <a:gd name="connsiteX37" fmla="*/ 14070 w 168839"/>
                <a:gd name="connsiteY37" fmla="*/ 77014 h 168839"/>
                <a:gd name="connsiteX38" fmla="*/ 13329 w 168839"/>
                <a:gd name="connsiteY38" fmla="*/ 74052 h 168839"/>
                <a:gd name="connsiteX39" fmla="*/ 19994 w 168839"/>
                <a:gd name="connsiteY39" fmla="*/ 53318 h 168839"/>
                <a:gd name="connsiteX40" fmla="*/ 23697 w 168839"/>
                <a:gd name="connsiteY40" fmla="*/ 51096 h 168839"/>
                <a:gd name="connsiteX41" fmla="*/ 147364 w 168839"/>
                <a:gd name="connsiteY41" fmla="*/ 51096 h 168839"/>
                <a:gd name="connsiteX42" fmla="*/ 149586 w 168839"/>
                <a:gd name="connsiteY42" fmla="*/ 53318 h 168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68839" h="168839">
                  <a:moveTo>
                    <a:pt x="84420" y="0"/>
                  </a:moveTo>
                  <a:cubicBezTo>
                    <a:pt x="37767" y="0"/>
                    <a:pt x="0" y="37767"/>
                    <a:pt x="0" y="84420"/>
                  </a:cubicBezTo>
                  <a:cubicBezTo>
                    <a:pt x="0" y="131073"/>
                    <a:pt x="37767" y="168839"/>
                    <a:pt x="84420" y="168839"/>
                  </a:cubicBezTo>
                  <a:cubicBezTo>
                    <a:pt x="131073" y="168839"/>
                    <a:pt x="168839" y="131073"/>
                    <a:pt x="168839" y="84420"/>
                  </a:cubicBezTo>
                  <a:cubicBezTo>
                    <a:pt x="168839" y="37767"/>
                    <a:pt x="131073" y="0"/>
                    <a:pt x="84420" y="0"/>
                  </a:cubicBezTo>
                  <a:close/>
                  <a:moveTo>
                    <a:pt x="34805" y="32583"/>
                  </a:moveTo>
                  <a:cubicBezTo>
                    <a:pt x="48134" y="19254"/>
                    <a:pt x="65907" y="11848"/>
                    <a:pt x="85160" y="11848"/>
                  </a:cubicBezTo>
                  <a:cubicBezTo>
                    <a:pt x="104414" y="11848"/>
                    <a:pt x="122186" y="19254"/>
                    <a:pt x="135516" y="32583"/>
                  </a:cubicBezTo>
                  <a:cubicBezTo>
                    <a:pt x="136256" y="33324"/>
                    <a:pt x="136997" y="35545"/>
                    <a:pt x="136256" y="36286"/>
                  </a:cubicBezTo>
                  <a:cubicBezTo>
                    <a:pt x="135516" y="37767"/>
                    <a:pt x="134035" y="38507"/>
                    <a:pt x="132554" y="38507"/>
                  </a:cubicBezTo>
                  <a:lnTo>
                    <a:pt x="37026" y="38507"/>
                  </a:lnTo>
                  <a:cubicBezTo>
                    <a:pt x="35545" y="38507"/>
                    <a:pt x="34064" y="37767"/>
                    <a:pt x="33324" y="36286"/>
                  </a:cubicBezTo>
                  <a:cubicBezTo>
                    <a:pt x="33324" y="35545"/>
                    <a:pt x="33324" y="33324"/>
                    <a:pt x="34805" y="32583"/>
                  </a:cubicBezTo>
                  <a:close/>
                  <a:moveTo>
                    <a:pt x="134775" y="135516"/>
                  </a:moveTo>
                  <a:cubicBezTo>
                    <a:pt x="121446" y="148845"/>
                    <a:pt x="103673" y="156250"/>
                    <a:pt x="84420" y="156250"/>
                  </a:cubicBezTo>
                  <a:cubicBezTo>
                    <a:pt x="65166" y="156250"/>
                    <a:pt x="47393" y="148845"/>
                    <a:pt x="34064" y="135516"/>
                  </a:cubicBezTo>
                  <a:cubicBezTo>
                    <a:pt x="33324" y="134775"/>
                    <a:pt x="33324" y="132554"/>
                    <a:pt x="33324" y="131813"/>
                  </a:cubicBezTo>
                  <a:cubicBezTo>
                    <a:pt x="34064" y="130332"/>
                    <a:pt x="35545" y="129592"/>
                    <a:pt x="37026" y="129592"/>
                  </a:cubicBezTo>
                  <a:lnTo>
                    <a:pt x="132554" y="129592"/>
                  </a:lnTo>
                  <a:cubicBezTo>
                    <a:pt x="134035" y="129592"/>
                    <a:pt x="135516" y="130332"/>
                    <a:pt x="136256" y="131813"/>
                  </a:cubicBezTo>
                  <a:cubicBezTo>
                    <a:pt x="136256" y="132554"/>
                    <a:pt x="136256" y="134775"/>
                    <a:pt x="134775" y="135516"/>
                  </a:cubicBezTo>
                  <a:close/>
                  <a:moveTo>
                    <a:pt x="149586" y="114781"/>
                  </a:moveTo>
                  <a:cubicBezTo>
                    <a:pt x="148845" y="116262"/>
                    <a:pt x="147364" y="117003"/>
                    <a:pt x="145883" y="117003"/>
                  </a:cubicBezTo>
                  <a:lnTo>
                    <a:pt x="22956" y="117003"/>
                  </a:lnTo>
                  <a:cubicBezTo>
                    <a:pt x="21475" y="117003"/>
                    <a:pt x="19994" y="116262"/>
                    <a:pt x="19254" y="114781"/>
                  </a:cubicBezTo>
                  <a:cubicBezTo>
                    <a:pt x="16292" y="108116"/>
                    <a:pt x="14070" y="101452"/>
                    <a:pt x="12589" y="94046"/>
                  </a:cubicBezTo>
                  <a:cubicBezTo>
                    <a:pt x="12589" y="93306"/>
                    <a:pt x="12589" y="91825"/>
                    <a:pt x="13329" y="91084"/>
                  </a:cubicBezTo>
                  <a:cubicBezTo>
                    <a:pt x="14070" y="90344"/>
                    <a:pt x="14810" y="89603"/>
                    <a:pt x="16292" y="89603"/>
                  </a:cubicBezTo>
                  <a:lnTo>
                    <a:pt x="151807" y="89603"/>
                  </a:lnTo>
                  <a:cubicBezTo>
                    <a:pt x="152548" y="89603"/>
                    <a:pt x="154029" y="90344"/>
                    <a:pt x="154769" y="91084"/>
                  </a:cubicBezTo>
                  <a:cubicBezTo>
                    <a:pt x="155510" y="91825"/>
                    <a:pt x="155510" y="93306"/>
                    <a:pt x="155510" y="94046"/>
                  </a:cubicBezTo>
                  <a:cubicBezTo>
                    <a:pt x="154769" y="101452"/>
                    <a:pt x="153288" y="108116"/>
                    <a:pt x="149586" y="114781"/>
                  </a:cubicBezTo>
                  <a:close/>
                  <a:moveTo>
                    <a:pt x="149586" y="53318"/>
                  </a:moveTo>
                  <a:cubicBezTo>
                    <a:pt x="152548" y="59982"/>
                    <a:pt x="154769" y="66647"/>
                    <a:pt x="156250" y="74052"/>
                  </a:cubicBezTo>
                  <a:cubicBezTo>
                    <a:pt x="156250" y="74793"/>
                    <a:pt x="156250" y="76274"/>
                    <a:pt x="155510" y="77014"/>
                  </a:cubicBezTo>
                  <a:cubicBezTo>
                    <a:pt x="154769" y="77755"/>
                    <a:pt x="154029" y="78495"/>
                    <a:pt x="152548" y="78495"/>
                  </a:cubicBezTo>
                  <a:lnTo>
                    <a:pt x="17032" y="78495"/>
                  </a:lnTo>
                  <a:cubicBezTo>
                    <a:pt x="16292" y="78495"/>
                    <a:pt x="14810" y="77755"/>
                    <a:pt x="14070" y="77014"/>
                  </a:cubicBezTo>
                  <a:cubicBezTo>
                    <a:pt x="13329" y="76274"/>
                    <a:pt x="13329" y="74793"/>
                    <a:pt x="13329" y="74052"/>
                  </a:cubicBezTo>
                  <a:cubicBezTo>
                    <a:pt x="14070" y="66647"/>
                    <a:pt x="16292" y="59982"/>
                    <a:pt x="19994" y="53318"/>
                  </a:cubicBezTo>
                  <a:cubicBezTo>
                    <a:pt x="20735" y="51837"/>
                    <a:pt x="22216" y="51096"/>
                    <a:pt x="23697" y="51096"/>
                  </a:cubicBezTo>
                  <a:lnTo>
                    <a:pt x="147364" y="51096"/>
                  </a:lnTo>
                  <a:cubicBezTo>
                    <a:pt x="148105" y="51096"/>
                    <a:pt x="149586" y="51837"/>
                    <a:pt x="149586" y="53318"/>
                  </a:cubicBezTo>
                  <a:close/>
                </a:path>
              </a:pathLst>
            </a:custGeom>
            <a:grpFill/>
            <a:ln w="7327" cap="flat">
              <a:noFill/>
              <a:prstDash val="solid"/>
              <a:miter/>
            </a:ln>
          </p:spPr>
          <p:txBody>
            <a:bodyPr rtlCol="0" anchor="ctr"/>
            <a:lstStyle/>
            <a:p>
              <a:pPr defTabSz="342923">
                <a:defRPr/>
              </a:pPr>
              <a:endParaRPr lang="en-US" sz="1000" dirty="0">
                <a:solidFill>
                  <a:srgbClr val="FFFFFF"/>
                </a:solidFill>
                <a:latin typeface="+mj-lt"/>
              </a:endParaRPr>
            </a:p>
          </p:txBody>
        </p:sp>
      </p:grpSp>
      <p:sp>
        <p:nvSpPr>
          <p:cNvPr id="176" name="Rectangle 175">
            <a:extLst>
              <a:ext uri="{FF2B5EF4-FFF2-40B4-BE49-F238E27FC236}">
                <a16:creationId xmlns:a16="http://schemas.microsoft.com/office/drawing/2014/main" id="{37C85074-B576-B90E-A924-4E45A26C6F97}"/>
              </a:ext>
            </a:extLst>
          </p:cNvPr>
          <p:cNvSpPr/>
          <p:nvPr/>
        </p:nvSpPr>
        <p:spPr bwMode="auto">
          <a:xfrm>
            <a:off x="5491650" y="3168635"/>
            <a:ext cx="1271538" cy="1271538"/>
          </a:xfrm>
          <a:prstGeom prst="rect">
            <a:avLst/>
          </a:prstGeom>
          <a:solidFill>
            <a:schemeClr val="accent1"/>
          </a:solidFill>
          <a:ln w="9525">
            <a:no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a typeface="IBM Plex Sans" charset="0"/>
              <a:cs typeface="Arial" panose="020B0604020202020204" pitchFamily="34" charset="0"/>
            </a:endParaRPr>
          </a:p>
        </p:txBody>
      </p:sp>
      <p:sp>
        <p:nvSpPr>
          <p:cNvPr id="177" name="Rectangle 176">
            <a:extLst>
              <a:ext uri="{FF2B5EF4-FFF2-40B4-BE49-F238E27FC236}">
                <a16:creationId xmlns:a16="http://schemas.microsoft.com/office/drawing/2014/main" id="{44C8BF33-850E-21F6-AA7E-4D85B54FB9A2}"/>
              </a:ext>
            </a:extLst>
          </p:cNvPr>
          <p:cNvSpPr/>
          <p:nvPr/>
        </p:nvSpPr>
        <p:spPr bwMode="auto">
          <a:xfrm>
            <a:off x="1283400" y="1264491"/>
            <a:ext cx="1271538" cy="1271538"/>
          </a:xfrm>
          <a:prstGeom prst="rect">
            <a:avLst/>
          </a:prstGeom>
          <a:solidFill>
            <a:schemeClr val="accent1"/>
          </a:solidFill>
          <a:ln w="19050">
            <a:no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ndParaRPr>
          </a:p>
        </p:txBody>
      </p:sp>
      <p:sp>
        <p:nvSpPr>
          <p:cNvPr id="178" name="Rectangle 177">
            <a:extLst>
              <a:ext uri="{FF2B5EF4-FFF2-40B4-BE49-F238E27FC236}">
                <a16:creationId xmlns:a16="http://schemas.microsoft.com/office/drawing/2014/main" id="{C7F37BFE-45B6-E5C8-70A2-DDD6B7284A44}"/>
              </a:ext>
            </a:extLst>
          </p:cNvPr>
          <p:cNvSpPr/>
          <p:nvPr/>
        </p:nvSpPr>
        <p:spPr bwMode="auto">
          <a:xfrm>
            <a:off x="3850403" y="1264491"/>
            <a:ext cx="1271538" cy="1271538"/>
          </a:xfrm>
          <a:prstGeom prst="rect">
            <a:avLst/>
          </a:prstGeom>
          <a:solidFill>
            <a:schemeClr val="accent1"/>
          </a:solidFill>
          <a:ln w="19050">
            <a:no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ndParaRPr>
          </a:p>
        </p:txBody>
      </p:sp>
      <p:sp>
        <p:nvSpPr>
          <p:cNvPr id="179" name="Rectangle 178">
            <a:extLst>
              <a:ext uri="{FF2B5EF4-FFF2-40B4-BE49-F238E27FC236}">
                <a16:creationId xmlns:a16="http://schemas.microsoft.com/office/drawing/2014/main" id="{46D87F46-1F1C-0707-A71C-A7BF813F0E5F}"/>
              </a:ext>
            </a:extLst>
          </p:cNvPr>
          <p:cNvSpPr/>
          <p:nvPr/>
        </p:nvSpPr>
        <p:spPr bwMode="auto">
          <a:xfrm>
            <a:off x="7058903" y="1264491"/>
            <a:ext cx="1271538" cy="1271538"/>
          </a:xfrm>
          <a:prstGeom prst="rect">
            <a:avLst/>
          </a:prstGeom>
          <a:solidFill>
            <a:schemeClr val="accent1"/>
          </a:solidFill>
          <a:ln w="19050">
            <a:no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ndParaRPr>
          </a:p>
        </p:txBody>
      </p:sp>
      <p:sp>
        <p:nvSpPr>
          <p:cNvPr id="180" name="Rectangle 179">
            <a:extLst>
              <a:ext uri="{FF2B5EF4-FFF2-40B4-BE49-F238E27FC236}">
                <a16:creationId xmlns:a16="http://schemas.microsoft.com/office/drawing/2014/main" id="{971AF061-2FF2-DCB3-7529-929B6E99B68B}"/>
              </a:ext>
            </a:extLst>
          </p:cNvPr>
          <p:cNvSpPr/>
          <p:nvPr/>
        </p:nvSpPr>
        <p:spPr bwMode="auto">
          <a:xfrm>
            <a:off x="9625703" y="1264491"/>
            <a:ext cx="1271538" cy="1271538"/>
          </a:xfrm>
          <a:prstGeom prst="rect">
            <a:avLst/>
          </a:prstGeom>
          <a:solidFill>
            <a:schemeClr val="accent1"/>
          </a:solidFill>
          <a:ln w="19050">
            <a:no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ndParaRPr>
          </a:p>
        </p:txBody>
      </p:sp>
      <p:sp>
        <p:nvSpPr>
          <p:cNvPr id="181" name="Rectangle 180">
            <a:extLst>
              <a:ext uri="{FF2B5EF4-FFF2-40B4-BE49-F238E27FC236}">
                <a16:creationId xmlns:a16="http://schemas.microsoft.com/office/drawing/2014/main" id="{3A38298E-100F-04E8-B158-C22F8DCAB7AA}"/>
              </a:ext>
            </a:extLst>
          </p:cNvPr>
          <p:cNvSpPr/>
          <p:nvPr/>
        </p:nvSpPr>
        <p:spPr bwMode="auto">
          <a:xfrm>
            <a:off x="1289331" y="3167624"/>
            <a:ext cx="1271538" cy="1271538"/>
          </a:xfrm>
          <a:prstGeom prst="rect">
            <a:avLst/>
          </a:prstGeom>
          <a:solidFill>
            <a:schemeClr val="accent1"/>
          </a:solidFill>
          <a:ln w="19050">
            <a:no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chemeClr val="accent1"/>
              </a:solidFill>
              <a:latin typeface="+mj-lt"/>
            </a:endParaRPr>
          </a:p>
        </p:txBody>
      </p:sp>
      <p:sp>
        <p:nvSpPr>
          <p:cNvPr id="182" name="Rectangle 181">
            <a:extLst>
              <a:ext uri="{FF2B5EF4-FFF2-40B4-BE49-F238E27FC236}">
                <a16:creationId xmlns:a16="http://schemas.microsoft.com/office/drawing/2014/main" id="{829EE513-F134-CCAD-05AD-D6535268C7AF}"/>
              </a:ext>
            </a:extLst>
          </p:cNvPr>
          <p:cNvSpPr/>
          <p:nvPr/>
        </p:nvSpPr>
        <p:spPr bwMode="auto">
          <a:xfrm>
            <a:off x="9625703" y="3167624"/>
            <a:ext cx="1271538" cy="1271538"/>
          </a:xfrm>
          <a:prstGeom prst="rect">
            <a:avLst/>
          </a:prstGeom>
          <a:solidFill>
            <a:schemeClr val="accent1"/>
          </a:solidFill>
          <a:ln w="19050">
            <a:no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ndParaRPr>
          </a:p>
        </p:txBody>
      </p:sp>
      <p:sp>
        <p:nvSpPr>
          <p:cNvPr id="183" name="Rectangle 182">
            <a:extLst>
              <a:ext uri="{FF2B5EF4-FFF2-40B4-BE49-F238E27FC236}">
                <a16:creationId xmlns:a16="http://schemas.microsoft.com/office/drawing/2014/main" id="{336BB7CE-7A41-E6B6-D876-7E92412582F0}"/>
              </a:ext>
            </a:extLst>
          </p:cNvPr>
          <p:cNvSpPr/>
          <p:nvPr/>
        </p:nvSpPr>
        <p:spPr bwMode="auto">
          <a:xfrm>
            <a:off x="1289331" y="5072277"/>
            <a:ext cx="1271538" cy="1271538"/>
          </a:xfrm>
          <a:prstGeom prst="rect">
            <a:avLst/>
          </a:prstGeom>
          <a:solidFill>
            <a:schemeClr val="accent1"/>
          </a:solidFill>
          <a:ln w="19050">
            <a:no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ndParaRPr>
          </a:p>
        </p:txBody>
      </p:sp>
      <p:sp>
        <p:nvSpPr>
          <p:cNvPr id="184" name="Rectangle 183">
            <a:extLst>
              <a:ext uri="{FF2B5EF4-FFF2-40B4-BE49-F238E27FC236}">
                <a16:creationId xmlns:a16="http://schemas.microsoft.com/office/drawing/2014/main" id="{B9F8B12B-BE44-C051-8071-621B5000043C}"/>
              </a:ext>
            </a:extLst>
          </p:cNvPr>
          <p:cNvSpPr/>
          <p:nvPr/>
        </p:nvSpPr>
        <p:spPr bwMode="auto">
          <a:xfrm>
            <a:off x="3850403" y="5072277"/>
            <a:ext cx="1271538" cy="1271538"/>
          </a:xfrm>
          <a:prstGeom prst="rect">
            <a:avLst/>
          </a:prstGeom>
          <a:solidFill>
            <a:schemeClr val="accent1"/>
          </a:solidFill>
          <a:ln w="19050">
            <a:no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ndParaRPr>
          </a:p>
        </p:txBody>
      </p:sp>
      <p:sp>
        <p:nvSpPr>
          <p:cNvPr id="185" name="Rectangle 184">
            <a:extLst>
              <a:ext uri="{FF2B5EF4-FFF2-40B4-BE49-F238E27FC236}">
                <a16:creationId xmlns:a16="http://schemas.microsoft.com/office/drawing/2014/main" id="{751559D5-18CF-E9EE-0029-4EC4A6971E7D}"/>
              </a:ext>
            </a:extLst>
          </p:cNvPr>
          <p:cNvSpPr/>
          <p:nvPr/>
        </p:nvSpPr>
        <p:spPr bwMode="auto">
          <a:xfrm>
            <a:off x="7058903" y="5072277"/>
            <a:ext cx="1271538" cy="1271538"/>
          </a:xfrm>
          <a:prstGeom prst="rect">
            <a:avLst/>
          </a:prstGeom>
          <a:solidFill>
            <a:schemeClr val="accent1"/>
          </a:solidFill>
          <a:ln w="19050">
            <a:no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ndParaRPr>
          </a:p>
        </p:txBody>
      </p:sp>
      <p:sp>
        <p:nvSpPr>
          <p:cNvPr id="186" name="Rectangle 185">
            <a:extLst>
              <a:ext uri="{FF2B5EF4-FFF2-40B4-BE49-F238E27FC236}">
                <a16:creationId xmlns:a16="http://schemas.microsoft.com/office/drawing/2014/main" id="{B667F81D-4AF0-024F-1879-BDFE94A55176}"/>
              </a:ext>
            </a:extLst>
          </p:cNvPr>
          <p:cNvSpPr/>
          <p:nvPr/>
        </p:nvSpPr>
        <p:spPr bwMode="auto">
          <a:xfrm>
            <a:off x="9630144" y="5072277"/>
            <a:ext cx="1271538" cy="1271538"/>
          </a:xfrm>
          <a:prstGeom prst="rect">
            <a:avLst/>
          </a:prstGeom>
          <a:solidFill>
            <a:schemeClr val="accent1"/>
          </a:solidFill>
          <a:ln w="19050">
            <a:noFill/>
            <a:prstDash val="solid"/>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7998" tIns="17998" rIns="17998" bIns="17998" numCol="1" rtlCol="0" anchor="t" anchorCtr="0" compatLnSpc="1">
            <a:prstTxWarp prst="textNoShape">
              <a:avLst/>
            </a:prstTxWarp>
          </a:bodyPr>
          <a:lstStyle/>
          <a:p>
            <a:pPr defTabSz="342923">
              <a:defRPr/>
            </a:pPr>
            <a:endParaRPr lang="en-US" sz="1000" dirty="0">
              <a:solidFill>
                <a:srgbClr val="000000"/>
              </a:solidFill>
              <a:latin typeface="+mj-lt"/>
            </a:endParaRPr>
          </a:p>
        </p:txBody>
      </p:sp>
      <p:sp>
        <p:nvSpPr>
          <p:cNvPr id="187" name="Freeform: Shape 324">
            <a:extLst>
              <a:ext uri="{FF2B5EF4-FFF2-40B4-BE49-F238E27FC236}">
                <a16:creationId xmlns:a16="http://schemas.microsoft.com/office/drawing/2014/main" id="{99171592-917A-1FA2-E65E-423E50E6F692}"/>
              </a:ext>
            </a:extLst>
          </p:cNvPr>
          <p:cNvSpPr>
            <a:spLocks noChangeAspect="1"/>
          </p:cNvSpPr>
          <p:nvPr/>
        </p:nvSpPr>
        <p:spPr>
          <a:xfrm>
            <a:off x="10083276" y="1435131"/>
            <a:ext cx="356392" cy="508615"/>
          </a:xfrm>
          <a:custGeom>
            <a:avLst/>
            <a:gdLst>
              <a:gd name="connsiteX0" fmla="*/ 140973 w 288328"/>
              <a:gd name="connsiteY0" fmla="*/ -882 h 407951"/>
              <a:gd name="connsiteX1" fmla="*/ 112720 w 288328"/>
              <a:gd name="connsiteY1" fmla="*/ 30561 h 407951"/>
              <a:gd name="connsiteX2" fmla="*/ 113734 w 288328"/>
              <a:gd name="connsiteY2" fmla="*/ 39109 h 407951"/>
              <a:gd name="connsiteX3" fmla="*/ 59693 w 288328"/>
              <a:gd name="connsiteY3" fmla="*/ 39109 h 407951"/>
              <a:gd name="connsiteX4" fmla="*/ 54622 w 288328"/>
              <a:gd name="connsiteY4" fmla="*/ 44180 h 407951"/>
              <a:gd name="connsiteX5" fmla="*/ 54622 w 288328"/>
              <a:gd name="connsiteY5" fmla="*/ 63158 h 407951"/>
              <a:gd name="connsiteX6" fmla="*/ 5073 w 288328"/>
              <a:gd name="connsiteY6" fmla="*/ 63158 h 407951"/>
              <a:gd name="connsiteX7" fmla="*/ 0 w 288328"/>
              <a:gd name="connsiteY7" fmla="*/ 68285 h 407951"/>
              <a:gd name="connsiteX8" fmla="*/ 1 w 288328"/>
              <a:gd name="connsiteY8" fmla="*/ 68373 h 407951"/>
              <a:gd name="connsiteX9" fmla="*/ 1 w 288328"/>
              <a:gd name="connsiteY9" fmla="*/ 401900 h 407951"/>
              <a:gd name="connsiteX10" fmla="*/ 5073 w 288328"/>
              <a:gd name="connsiteY10" fmla="*/ 406999 h 407951"/>
              <a:gd name="connsiteX11" fmla="*/ 283256 w 288328"/>
              <a:gd name="connsiteY11" fmla="*/ 406999 h 407951"/>
              <a:gd name="connsiteX12" fmla="*/ 288327 w 288328"/>
              <a:gd name="connsiteY12" fmla="*/ 401900 h 407951"/>
              <a:gd name="connsiteX13" fmla="*/ 288327 w 288328"/>
              <a:gd name="connsiteY13" fmla="*/ 68373 h 407951"/>
              <a:gd name="connsiteX14" fmla="*/ 283344 w 288328"/>
              <a:gd name="connsiteY14" fmla="*/ 63158 h 407951"/>
              <a:gd name="connsiteX15" fmla="*/ 283256 w 288328"/>
              <a:gd name="connsiteY15" fmla="*/ 63158 h 407951"/>
              <a:gd name="connsiteX16" fmla="*/ 233707 w 288328"/>
              <a:gd name="connsiteY16" fmla="*/ 62722 h 407951"/>
              <a:gd name="connsiteX17" fmla="*/ 233707 w 288328"/>
              <a:gd name="connsiteY17" fmla="*/ 44180 h 407951"/>
              <a:gd name="connsiteX18" fmla="*/ 228636 w 288328"/>
              <a:gd name="connsiteY18" fmla="*/ 39109 h 407951"/>
              <a:gd name="connsiteX19" fmla="*/ 174594 w 288328"/>
              <a:gd name="connsiteY19" fmla="*/ 39109 h 407951"/>
              <a:gd name="connsiteX20" fmla="*/ 175753 w 288328"/>
              <a:gd name="connsiteY20" fmla="*/ 30561 h 407951"/>
              <a:gd name="connsiteX21" fmla="*/ 144168 w 288328"/>
              <a:gd name="connsiteY21" fmla="*/ -882 h 407951"/>
              <a:gd name="connsiteX22" fmla="*/ 140980 w 288328"/>
              <a:gd name="connsiteY22" fmla="*/ -882 h 407951"/>
              <a:gd name="connsiteX23" fmla="*/ 141988 w 288328"/>
              <a:gd name="connsiteY23" fmla="*/ 9260 h 407951"/>
              <a:gd name="connsiteX24" fmla="*/ 144161 w 288328"/>
              <a:gd name="connsiteY24" fmla="*/ 9260 h 407951"/>
              <a:gd name="connsiteX25" fmla="*/ 165604 w 288328"/>
              <a:gd name="connsiteY25" fmla="*/ 30561 h 407951"/>
              <a:gd name="connsiteX26" fmla="*/ 162416 w 288328"/>
              <a:gd name="connsiteY26" fmla="*/ 41570 h 407951"/>
              <a:gd name="connsiteX27" fmla="*/ 164238 w 288328"/>
              <a:gd name="connsiteY27" fmla="*/ 48551 h 407951"/>
              <a:gd name="connsiteX28" fmla="*/ 166763 w 288328"/>
              <a:gd name="connsiteY28" fmla="*/ 49247 h 407951"/>
              <a:gd name="connsiteX29" fmla="*/ 223414 w 288328"/>
              <a:gd name="connsiteY29" fmla="*/ 49251 h 407951"/>
              <a:gd name="connsiteX30" fmla="*/ 223414 w 288328"/>
              <a:gd name="connsiteY30" fmla="*/ 87355 h 407951"/>
              <a:gd name="connsiteX31" fmla="*/ 64763 w 288328"/>
              <a:gd name="connsiteY31" fmla="*/ 87355 h 407951"/>
              <a:gd name="connsiteX32" fmla="*/ 64763 w 288328"/>
              <a:gd name="connsiteY32" fmla="*/ 49251 h 407951"/>
              <a:gd name="connsiteX33" fmla="*/ 121414 w 288328"/>
              <a:gd name="connsiteY33" fmla="*/ 49251 h 407951"/>
              <a:gd name="connsiteX34" fmla="*/ 126605 w 288328"/>
              <a:gd name="connsiteY34" fmla="*/ 44240 h 407951"/>
              <a:gd name="connsiteX35" fmla="*/ 125905 w 288328"/>
              <a:gd name="connsiteY35" fmla="*/ 41570 h 407951"/>
              <a:gd name="connsiteX36" fmla="*/ 122862 w 288328"/>
              <a:gd name="connsiteY36" fmla="*/ 30561 h 407951"/>
              <a:gd name="connsiteX37" fmla="*/ 141988 w 288328"/>
              <a:gd name="connsiteY37" fmla="*/ 9260 h 407951"/>
              <a:gd name="connsiteX38" fmla="*/ 233702 w 288328"/>
              <a:gd name="connsiteY38" fmla="*/ 73013 h 407951"/>
              <a:gd name="connsiteX39" fmla="*/ 278182 w 288328"/>
              <a:gd name="connsiteY39" fmla="*/ 73449 h 407951"/>
              <a:gd name="connsiteX40" fmla="*/ 278182 w 288328"/>
              <a:gd name="connsiteY40" fmla="*/ 396848 h 407951"/>
              <a:gd name="connsiteX41" fmla="*/ 10141 w 288328"/>
              <a:gd name="connsiteY41" fmla="*/ 396848 h 407951"/>
              <a:gd name="connsiteX42" fmla="*/ 10141 w 288328"/>
              <a:gd name="connsiteY42" fmla="*/ 73449 h 407951"/>
              <a:gd name="connsiteX43" fmla="*/ 54622 w 288328"/>
              <a:gd name="connsiteY43" fmla="*/ 73449 h 407951"/>
              <a:gd name="connsiteX44" fmla="*/ 54622 w 288328"/>
              <a:gd name="connsiteY44" fmla="*/ 92427 h 407951"/>
              <a:gd name="connsiteX45" fmla="*/ 59693 w 288328"/>
              <a:gd name="connsiteY45" fmla="*/ 97498 h 407951"/>
              <a:gd name="connsiteX46" fmla="*/ 228630 w 288328"/>
              <a:gd name="connsiteY46" fmla="*/ 97498 h 407951"/>
              <a:gd name="connsiteX47" fmla="*/ 233702 w 288328"/>
              <a:gd name="connsiteY47" fmla="*/ 92427 h 407951"/>
              <a:gd name="connsiteX48" fmla="*/ 233702 w 288328"/>
              <a:gd name="connsiteY48" fmla="*/ 73013 h 407951"/>
              <a:gd name="connsiteX49" fmla="*/ 53750 w 288328"/>
              <a:gd name="connsiteY49" fmla="*/ 147645 h 407951"/>
              <a:gd name="connsiteX50" fmla="*/ 49411 w 288328"/>
              <a:gd name="connsiteY50" fmla="*/ 153407 h 407951"/>
              <a:gd name="connsiteX51" fmla="*/ 54764 w 288328"/>
              <a:gd name="connsiteY51" fmla="*/ 157788 h 407951"/>
              <a:gd name="connsiteX52" fmla="*/ 233557 w 288328"/>
              <a:gd name="connsiteY52" fmla="*/ 157788 h 407951"/>
              <a:gd name="connsiteX53" fmla="*/ 239175 w 288328"/>
              <a:gd name="connsiteY53" fmla="*/ 153263 h 407951"/>
              <a:gd name="connsiteX54" fmla="*/ 234652 w 288328"/>
              <a:gd name="connsiteY54" fmla="*/ 147645 h 407951"/>
              <a:gd name="connsiteX55" fmla="*/ 233557 w 288328"/>
              <a:gd name="connsiteY55" fmla="*/ 147645 h 407951"/>
              <a:gd name="connsiteX56" fmla="*/ 54764 w 288328"/>
              <a:gd name="connsiteY56" fmla="*/ 147645 h 407951"/>
              <a:gd name="connsiteX57" fmla="*/ 53750 w 288328"/>
              <a:gd name="connsiteY57" fmla="*/ 147645 h 407951"/>
              <a:gd name="connsiteX58" fmla="*/ 54330 w 288328"/>
              <a:gd name="connsiteY58" fmla="*/ 197194 h 407951"/>
              <a:gd name="connsiteX59" fmla="*/ 49348 w 288328"/>
              <a:gd name="connsiteY59" fmla="*/ 202525 h 407951"/>
              <a:gd name="connsiteX60" fmla="*/ 54657 w 288328"/>
              <a:gd name="connsiteY60" fmla="*/ 207485 h 407951"/>
              <a:gd name="connsiteX61" fmla="*/ 54764 w 288328"/>
              <a:gd name="connsiteY61" fmla="*/ 207485 h 407951"/>
              <a:gd name="connsiteX62" fmla="*/ 233557 w 288328"/>
              <a:gd name="connsiteY62" fmla="*/ 207485 h 407951"/>
              <a:gd name="connsiteX63" fmla="*/ 238652 w 288328"/>
              <a:gd name="connsiteY63" fmla="*/ 202294 h 407951"/>
              <a:gd name="connsiteX64" fmla="*/ 233557 w 288328"/>
              <a:gd name="connsiteY64" fmla="*/ 197194 h 407951"/>
              <a:gd name="connsiteX65" fmla="*/ 54764 w 288328"/>
              <a:gd name="connsiteY65" fmla="*/ 197194 h 407951"/>
              <a:gd name="connsiteX66" fmla="*/ 54330 w 288328"/>
              <a:gd name="connsiteY66" fmla="*/ 197194 h 407951"/>
              <a:gd name="connsiteX67" fmla="*/ 53750 w 288328"/>
              <a:gd name="connsiteY67" fmla="*/ 246888 h 407951"/>
              <a:gd name="connsiteX68" fmla="*/ 49404 w 288328"/>
              <a:gd name="connsiteY68" fmla="*/ 252636 h 407951"/>
              <a:gd name="connsiteX69" fmla="*/ 54764 w 288328"/>
              <a:gd name="connsiteY69" fmla="*/ 257039 h 407951"/>
              <a:gd name="connsiteX70" fmla="*/ 233557 w 288328"/>
              <a:gd name="connsiteY70" fmla="*/ 257039 h 407951"/>
              <a:gd name="connsiteX71" fmla="*/ 239174 w 288328"/>
              <a:gd name="connsiteY71" fmla="*/ 252497 h 407951"/>
              <a:gd name="connsiteX72" fmla="*/ 234647 w 288328"/>
              <a:gd name="connsiteY72" fmla="*/ 246888 h 407951"/>
              <a:gd name="connsiteX73" fmla="*/ 233557 w 288328"/>
              <a:gd name="connsiteY73" fmla="*/ 246888 h 407951"/>
              <a:gd name="connsiteX74" fmla="*/ 54764 w 288328"/>
              <a:gd name="connsiteY74" fmla="*/ 246888 h 407951"/>
              <a:gd name="connsiteX75" fmla="*/ 53750 w 288328"/>
              <a:gd name="connsiteY75" fmla="*/ 246888 h 407951"/>
              <a:gd name="connsiteX76" fmla="*/ 245147 w 288328"/>
              <a:gd name="connsiteY76" fmla="*/ 275025 h 407951"/>
              <a:gd name="connsiteX77" fmla="*/ 241670 w 288328"/>
              <a:gd name="connsiteY77" fmla="*/ 277482 h 407951"/>
              <a:gd name="connsiteX78" fmla="*/ 191105 w 288328"/>
              <a:gd name="connsiteY78" fmla="*/ 360180 h 407951"/>
              <a:gd name="connsiteX79" fmla="*/ 170676 w 288328"/>
              <a:gd name="connsiteY79" fmla="*/ 331811 h 407951"/>
              <a:gd name="connsiteX80" fmla="*/ 163833 w 288328"/>
              <a:gd name="connsiteY80" fmla="*/ 329539 h 407951"/>
              <a:gd name="connsiteX81" fmla="*/ 161552 w 288328"/>
              <a:gd name="connsiteY81" fmla="*/ 336354 h 407951"/>
              <a:gd name="connsiteX82" fmla="*/ 162417 w 288328"/>
              <a:gd name="connsiteY82" fmla="*/ 337605 h 407951"/>
              <a:gd name="connsiteX83" fmla="*/ 187192 w 288328"/>
              <a:gd name="connsiteY83" fmla="*/ 372372 h 407951"/>
              <a:gd name="connsiteX84" fmla="*/ 194295 w 288328"/>
              <a:gd name="connsiteY84" fmla="*/ 373623 h 407951"/>
              <a:gd name="connsiteX85" fmla="*/ 195741 w 288328"/>
              <a:gd name="connsiteY85" fmla="*/ 372093 h 407951"/>
              <a:gd name="connsiteX86" fmla="*/ 250362 w 288328"/>
              <a:gd name="connsiteY86" fmla="*/ 282813 h 407951"/>
              <a:gd name="connsiteX87" fmla="*/ 248923 w 288328"/>
              <a:gd name="connsiteY87" fmla="*/ 275767 h 407951"/>
              <a:gd name="connsiteX88" fmla="*/ 245146 w 288328"/>
              <a:gd name="connsiteY88" fmla="*/ 275025 h 407951"/>
              <a:gd name="connsiteX89" fmla="*/ 54765 w 288328"/>
              <a:gd name="connsiteY89" fmla="*/ 296442 h 407951"/>
              <a:gd name="connsiteX90" fmla="*/ 49622 w 288328"/>
              <a:gd name="connsiteY90" fmla="*/ 301587 h 407951"/>
              <a:gd name="connsiteX91" fmla="*/ 54765 w 288328"/>
              <a:gd name="connsiteY91" fmla="*/ 306732 h 407951"/>
              <a:gd name="connsiteX92" fmla="*/ 152566 w 288328"/>
              <a:gd name="connsiteY92" fmla="*/ 306732 h 407951"/>
              <a:gd name="connsiteX93" fmla="*/ 157710 w 288328"/>
              <a:gd name="connsiteY93" fmla="*/ 301587 h 407951"/>
              <a:gd name="connsiteX94" fmla="*/ 152566 w 288328"/>
              <a:gd name="connsiteY94" fmla="*/ 296442 h 407951"/>
              <a:gd name="connsiteX95" fmla="*/ 54765 w 288328"/>
              <a:gd name="connsiteY95" fmla="*/ 296442 h 407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288328" h="407951">
                <a:moveTo>
                  <a:pt x="140973" y="-882"/>
                </a:moveTo>
                <a:cubicBezTo>
                  <a:pt x="125057" y="731"/>
                  <a:pt x="112720" y="14285"/>
                  <a:pt x="112720" y="30561"/>
                </a:cubicBezTo>
                <a:cubicBezTo>
                  <a:pt x="112720" y="33504"/>
                  <a:pt x="112982" y="36369"/>
                  <a:pt x="113734" y="39109"/>
                </a:cubicBezTo>
                <a:lnTo>
                  <a:pt x="59693" y="39109"/>
                </a:lnTo>
                <a:cubicBezTo>
                  <a:pt x="56899" y="39122"/>
                  <a:pt x="54638" y="41384"/>
                  <a:pt x="54622" y="44180"/>
                </a:cubicBezTo>
                <a:lnTo>
                  <a:pt x="54622" y="63158"/>
                </a:lnTo>
                <a:lnTo>
                  <a:pt x="5073" y="63158"/>
                </a:lnTo>
                <a:cubicBezTo>
                  <a:pt x="2256" y="63172"/>
                  <a:pt x="-15" y="65471"/>
                  <a:pt x="0" y="68285"/>
                </a:cubicBezTo>
                <a:cubicBezTo>
                  <a:pt x="1" y="68317"/>
                  <a:pt x="1" y="68345"/>
                  <a:pt x="1" y="68373"/>
                </a:cubicBezTo>
                <a:lnTo>
                  <a:pt x="1" y="401900"/>
                </a:lnTo>
                <a:cubicBezTo>
                  <a:pt x="17" y="404681"/>
                  <a:pt x="2278" y="406953"/>
                  <a:pt x="5073" y="406999"/>
                </a:cubicBezTo>
                <a:lnTo>
                  <a:pt x="283256" y="406999"/>
                </a:lnTo>
                <a:cubicBezTo>
                  <a:pt x="286050" y="406953"/>
                  <a:pt x="288312" y="404681"/>
                  <a:pt x="288327" y="401900"/>
                </a:cubicBezTo>
                <a:lnTo>
                  <a:pt x="288327" y="68373"/>
                </a:lnTo>
                <a:cubicBezTo>
                  <a:pt x="288391" y="65559"/>
                  <a:pt x="286160" y="63223"/>
                  <a:pt x="283344" y="63158"/>
                </a:cubicBezTo>
                <a:cubicBezTo>
                  <a:pt x="283315" y="63158"/>
                  <a:pt x="283285" y="63158"/>
                  <a:pt x="283256" y="63158"/>
                </a:cubicBezTo>
                <a:lnTo>
                  <a:pt x="233707" y="62722"/>
                </a:lnTo>
                <a:lnTo>
                  <a:pt x="233707" y="44180"/>
                </a:lnTo>
                <a:cubicBezTo>
                  <a:pt x="233691" y="41384"/>
                  <a:pt x="231430" y="39122"/>
                  <a:pt x="228636" y="39109"/>
                </a:cubicBezTo>
                <a:lnTo>
                  <a:pt x="174594" y="39109"/>
                </a:lnTo>
                <a:cubicBezTo>
                  <a:pt x="175391" y="36373"/>
                  <a:pt x="175753" y="33560"/>
                  <a:pt x="175753" y="30561"/>
                </a:cubicBezTo>
                <a:cubicBezTo>
                  <a:pt x="175753" y="13182"/>
                  <a:pt x="161516" y="-882"/>
                  <a:pt x="144168" y="-882"/>
                </a:cubicBezTo>
                <a:cubicBezTo>
                  <a:pt x="143591" y="-882"/>
                  <a:pt x="142530" y="-1040"/>
                  <a:pt x="140980" y="-882"/>
                </a:cubicBezTo>
                <a:close/>
                <a:moveTo>
                  <a:pt x="141988" y="9260"/>
                </a:moveTo>
                <a:cubicBezTo>
                  <a:pt x="142216" y="9237"/>
                  <a:pt x="142911" y="9260"/>
                  <a:pt x="144161" y="9260"/>
                </a:cubicBezTo>
                <a:cubicBezTo>
                  <a:pt x="156031" y="9260"/>
                  <a:pt x="165604" y="18740"/>
                  <a:pt x="165604" y="30561"/>
                </a:cubicBezTo>
                <a:cubicBezTo>
                  <a:pt x="165604" y="34594"/>
                  <a:pt x="164406" y="38297"/>
                  <a:pt x="162416" y="41570"/>
                </a:cubicBezTo>
                <a:cubicBezTo>
                  <a:pt x="160992" y="43999"/>
                  <a:pt x="161807" y="47123"/>
                  <a:pt x="164238" y="48551"/>
                </a:cubicBezTo>
                <a:cubicBezTo>
                  <a:pt x="165004" y="48996"/>
                  <a:pt x="165875" y="49237"/>
                  <a:pt x="166763" y="49247"/>
                </a:cubicBezTo>
                <a:lnTo>
                  <a:pt x="223414" y="49251"/>
                </a:lnTo>
                <a:lnTo>
                  <a:pt x="223414" y="87355"/>
                </a:lnTo>
                <a:lnTo>
                  <a:pt x="64763" y="87355"/>
                </a:lnTo>
                <a:lnTo>
                  <a:pt x="64763" y="49251"/>
                </a:lnTo>
                <a:lnTo>
                  <a:pt x="121414" y="49251"/>
                </a:lnTo>
                <a:cubicBezTo>
                  <a:pt x="124230" y="49298"/>
                  <a:pt x="126554" y="47058"/>
                  <a:pt x="126605" y="44240"/>
                </a:cubicBezTo>
                <a:cubicBezTo>
                  <a:pt x="126621" y="43304"/>
                  <a:pt x="126379" y="42377"/>
                  <a:pt x="125905" y="41570"/>
                </a:cubicBezTo>
                <a:cubicBezTo>
                  <a:pt x="123977" y="38385"/>
                  <a:pt x="122862" y="34672"/>
                  <a:pt x="122862" y="30561"/>
                </a:cubicBezTo>
                <a:cubicBezTo>
                  <a:pt x="122862" y="19458"/>
                  <a:pt x="131227" y="10354"/>
                  <a:pt x="141988" y="9260"/>
                </a:cubicBezTo>
                <a:close/>
                <a:moveTo>
                  <a:pt x="233702" y="73013"/>
                </a:moveTo>
                <a:lnTo>
                  <a:pt x="278182" y="73449"/>
                </a:lnTo>
                <a:lnTo>
                  <a:pt x="278182" y="396848"/>
                </a:lnTo>
                <a:lnTo>
                  <a:pt x="10141" y="396848"/>
                </a:lnTo>
                <a:lnTo>
                  <a:pt x="10141" y="73449"/>
                </a:lnTo>
                <a:lnTo>
                  <a:pt x="54622" y="73449"/>
                </a:lnTo>
                <a:lnTo>
                  <a:pt x="54622" y="92427"/>
                </a:lnTo>
                <a:cubicBezTo>
                  <a:pt x="54637" y="95222"/>
                  <a:pt x="56899" y="97484"/>
                  <a:pt x="59693" y="97498"/>
                </a:cubicBezTo>
                <a:lnTo>
                  <a:pt x="228630" y="97498"/>
                </a:lnTo>
                <a:cubicBezTo>
                  <a:pt x="231425" y="97484"/>
                  <a:pt x="233686" y="95222"/>
                  <a:pt x="233702" y="92427"/>
                </a:cubicBezTo>
                <a:lnTo>
                  <a:pt x="233702" y="73013"/>
                </a:lnTo>
                <a:close/>
                <a:moveTo>
                  <a:pt x="53750" y="147645"/>
                </a:moveTo>
                <a:cubicBezTo>
                  <a:pt x="50961" y="148039"/>
                  <a:pt x="49018" y="150617"/>
                  <a:pt x="49411" y="153407"/>
                </a:cubicBezTo>
                <a:cubicBezTo>
                  <a:pt x="49782" y="156040"/>
                  <a:pt x="52111" y="157945"/>
                  <a:pt x="54764" y="157788"/>
                </a:cubicBezTo>
                <a:lnTo>
                  <a:pt x="233557" y="157788"/>
                </a:lnTo>
                <a:cubicBezTo>
                  <a:pt x="236357" y="158089"/>
                  <a:pt x="238873" y="156063"/>
                  <a:pt x="239175" y="153263"/>
                </a:cubicBezTo>
                <a:cubicBezTo>
                  <a:pt x="239478" y="150464"/>
                  <a:pt x="237452" y="147947"/>
                  <a:pt x="234652" y="147645"/>
                </a:cubicBezTo>
                <a:cubicBezTo>
                  <a:pt x="234288" y="147603"/>
                  <a:pt x="233921" y="147603"/>
                  <a:pt x="233557" y="147645"/>
                </a:cubicBezTo>
                <a:lnTo>
                  <a:pt x="54764" y="147645"/>
                </a:lnTo>
                <a:cubicBezTo>
                  <a:pt x="54427" y="147613"/>
                  <a:pt x="54087" y="147613"/>
                  <a:pt x="53750" y="147645"/>
                </a:cubicBezTo>
                <a:close/>
                <a:moveTo>
                  <a:pt x="54330" y="197194"/>
                </a:moveTo>
                <a:cubicBezTo>
                  <a:pt x="51488" y="197287"/>
                  <a:pt x="49257" y="199651"/>
                  <a:pt x="49348" y="202525"/>
                </a:cubicBezTo>
                <a:cubicBezTo>
                  <a:pt x="49439" y="205353"/>
                  <a:pt x="51816" y="207578"/>
                  <a:pt x="54657" y="207485"/>
                </a:cubicBezTo>
                <a:cubicBezTo>
                  <a:pt x="54693" y="207485"/>
                  <a:pt x="54729" y="207485"/>
                  <a:pt x="54764" y="207485"/>
                </a:cubicBezTo>
                <a:lnTo>
                  <a:pt x="233557" y="207485"/>
                </a:lnTo>
                <a:cubicBezTo>
                  <a:pt x="236398" y="207439"/>
                  <a:pt x="238678" y="205121"/>
                  <a:pt x="238652" y="202294"/>
                </a:cubicBezTo>
                <a:cubicBezTo>
                  <a:pt x="238625" y="199512"/>
                  <a:pt x="236360" y="197241"/>
                  <a:pt x="233557" y="197194"/>
                </a:cubicBezTo>
                <a:lnTo>
                  <a:pt x="54764" y="197194"/>
                </a:lnTo>
                <a:cubicBezTo>
                  <a:pt x="54619" y="197194"/>
                  <a:pt x="54475" y="197194"/>
                  <a:pt x="54330" y="197194"/>
                </a:cubicBezTo>
                <a:close/>
                <a:moveTo>
                  <a:pt x="53750" y="246888"/>
                </a:moveTo>
                <a:cubicBezTo>
                  <a:pt x="50960" y="247305"/>
                  <a:pt x="49015" y="249854"/>
                  <a:pt x="49404" y="252636"/>
                </a:cubicBezTo>
                <a:cubicBezTo>
                  <a:pt x="49773" y="255278"/>
                  <a:pt x="52107" y="257178"/>
                  <a:pt x="54764" y="257039"/>
                </a:cubicBezTo>
                <a:lnTo>
                  <a:pt x="233557" y="257039"/>
                </a:lnTo>
                <a:cubicBezTo>
                  <a:pt x="236358" y="257318"/>
                  <a:pt x="238872" y="255324"/>
                  <a:pt x="239174" y="252497"/>
                </a:cubicBezTo>
                <a:cubicBezTo>
                  <a:pt x="239474" y="249715"/>
                  <a:pt x="237448" y="247212"/>
                  <a:pt x="234647" y="246888"/>
                </a:cubicBezTo>
                <a:cubicBezTo>
                  <a:pt x="234285" y="246841"/>
                  <a:pt x="233919" y="246841"/>
                  <a:pt x="233557" y="246888"/>
                </a:cubicBezTo>
                <a:lnTo>
                  <a:pt x="54764" y="246888"/>
                </a:lnTo>
                <a:cubicBezTo>
                  <a:pt x="54427" y="246841"/>
                  <a:pt x="54087" y="246841"/>
                  <a:pt x="53750" y="246888"/>
                </a:cubicBezTo>
                <a:close/>
                <a:moveTo>
                  <a:pt x="245147" y="275025"/>
                </a:moveTo>
                <a:cubicBezTo>
                  <a:pt x="243684" y="275257"/>
                  <a:pt x="242414" y="276184"/>
                  <a:pt x="241670" y="277482"/>
                </a:cubicBezTo>
                <a:lnTo>
                  <a:pt x="191105" y="360180"/>
                </a:lnTo>
                <a:lnTo>
                  <a:pt x="170676" y="331811"/>
                </a:lnTo>
                <a:cubicBezTo>
                  <a:pt x="169416" y="329261"/>
                  <a:pt x="166352" y="328241"/>
                  <a:pt x="163833" y="329539"/>
                </a:cubicBezTo>
                <a:cubicBezTo>
                  <a:pt x="161313" y="330791"/>
                  <a:pt x="160292" y="333850"/>
                  <a:pt x="161552" y="336354"/>
                </a:cubicBezTo>
                <a:cubicBezTo>
                  <a:pt x="161778" y="336817"/>
                  <a:pt x="162069" y="337235"/>
                  <a:pt x="162417" y="337605"/>
                </a:cubicBezTo>
                <a:lnTo>
                  <a:pt x="187192" y="372372"/>
                </a:lnTo>
                <a:cubicBezTo>
                  <a:pt x="188806" y="374690"/>
                  <a:pt x="191986" y="375246"/>
                  <a:pt x="194295" y="373623"/>
                </a:cubicBezTo>
                <a:cubicBezTo>
                  <a:pt x="194880" y="373206"/>
                  <a:pt x="195373" y="372696"/>
                  <a:pt x="195741" y="372093"/>
                </a:cubicBezTo>
                <a:lnTo>
                  <a:pt x="250362" y="282813"/>
                </a:lnTo>
                <a:cubicBezTo>
                  <a:pt x="251916" y="280495"/>
                  <a:pt x="251272" y="277297"/>
                  <a:pt x="248923" y="275767"/>
                </a:cubicBezTo>
                <a:cubicBezTo>
                  <a:pt x="247811" y="275025"/>
                  <a:pt x="246456" y="274747"/>
                  <a:pt x="245146" y="275025"/>
                </a:cubicBezTo>
                <a:close/>
                <a:moveTo>
                  <a:pt x="54765" y="296442"/>
                </a:moveTo>
                <a:cubicBezTo>
                  <a:pt x="51925" y="296442"/>
                  <a:pt x="49622" y="298759"/>
                  <a:pt x="49622" y="301587"/>
                </a:cubicBezTo>
                <a:cubicBezTo>
                  <a:pt x="49622" y="304415"/>
                  <a:pt x="51925" y="306732"/>
                  <a:pt x="54765" y="306732"/>
                </a:cubicBezTo>
                <a:lnTo>
                  <a:pt x="152566" y="306732"/>
                </a:lnTo>
                <a:cubicBezTo>
                  <a:pt x="155407" y="306732"/>
                  <a:pt x="157710" y="304415"/>
                  <a:pt x="157710" y="301587"/>
                </a:cubicBezTo>
                <a:cubicBezTo>
                  <a:pt x="157710" y="298759"/>
                  <a:pt x="155407" y="296442"/>
                  <a:pt x="152566" y="296442"/>
                </a:cubicBezTo>
                <a:lnTo>
                  <a:pt x="54765" y="296442"/>
                </a:lnTo>
                <a:close/>
              </a:path>
            </a:pathLst>
          </a:custGeom>
          <a:solidFill>
            <a:schemeClr val="bg1"/>
          </a:solidFill>
          <a:ln w="4572" cap="flat">
            <a:noFill/>
            <a:prstDash val="solid"/>
            <a:miter/>
          </a:ln>
        </p:spPr>
        <p:txBody>
          <a:bodyPr rtlCol="0" anchor="ctr"/>
          <a:lstStyle/>
          <a:p>
            <a:pPr defTabSz="342914">
              <a:defRPr/>
            </a:pPr>
            <a:endParaRPr lang="en-US" sz="1000" dirty="0">
              <a:solidFill>
                <a:schemeClr val="accent1"/>
              </a:solidFill>
              <a:latin typeface="+mj-lt"/>
            </a:endParaRPr>
          </a:p>
        </p:txBody>
      </p:sp>
      <p:sp>
        <p:nvSpPr>
          <p:cNvPr id="188" name="Freeform 98">
            <a:extLst>
              <a:ext uri="{FF2B5EF4-FFF2-40B4-BE49-F238E27FC236}">
                <a16:creationId xmlns:a16="http://schemas.microsoft.com/office/drawing/2014/main" id="{810AF615-E0A2-C2A3-1E19-9DDD85219697}"/>
              </a:ext>
            </a:extLst>
          </p:cNvPr>
          <p:cNvSpPr>
            <a:spLocks noEditPoints="1"/>
          </p:cNvSpPr>
          <p:nvPr/>
        </p:nvSpPr>
        <p:spPr bwMode="auto">
          <a:xfrm>
            <a:off x="10007164" y="3340853"/>
            <a:ext cx="508615" cy="508615"/>
          </a:xfrm>
          <a:custGeom>
            <a:avLst/>
            <a:gdLst>
              <a:gd name="T0" fmla="*/ 1576 w 1614"/>
              <a:gd name="T1" fmla="*/ 1595 h 1595"/>
              <a:gd name="T2" fmla="*/ 1437 w 1614"/>
              <a:gd name="T3" fmla="*/ 1386 h 1595"/>
              <a:gd name="T4" fmla="*/ 1432 w 1614"/>
              <a:gd name="T5" fmla="*/ 1352 h 1595"/>
              <a:gd name="T6" fmla="*/ 1385 w 1614"/>
              <a:gd name="T7" fmla="*/ 1194 h 1595"/>
              <a:gd name="T8" fmla="*/ 1338 w 1614"/>
              <a:gd name="T9" fmla="*/ 1352 h 1595"/>
              <a:gd name="T10" fmla="*/ 1333 w 1614"/>
              <a:gd name="T11" fmla="*/ 1386 h 1595"/>
              <a:gd name="T12" fmla="*/ 1194 w 1614"/>
              <a:gd name="T13" fmla="*/ 1595 h 1595"/>
              <a:gd name="T14" fmla="*/ 1156 w 1614"/>
              <a:gd name="T15" fmla="*/ 1569 h 1595"/>
              <a:gd name="T16" fmla="*/ 1261 w 1614"/>
              <a:gd name="T17" fmla="*/ 1280 h 1595"/>
              <a:gd name="T18" fmla="*/ 1509 w 1614"/>
              <a:gd name="T19" fmla="*/ 1280 h 1595"/>
              <a:gd name="T20" fmla="*/ 1614 w 1614"/>
              <a:gd name="T21" fmla="*/ 1569 h 1595"/>
              <a:gd name="T22" fmla="*/ 1070 w 1614"/>
              <a:gd name="T23" fmla="*/ 1404 h 1595"/>
              <a:gd name="T24" fmla="*/ 0 w 1614"/>
              <a:gd name="T25" fmla="*/ 1096 h 1595"/>
              <a:gd name="T26" fmla="*/ 544 w 1614"/>
              <a:gd name="T27" fmla="*/ 788 h 1595"/>
              <a:gd name="T28" fmla="*/ 308 w 1614"/>
              <a:gd name="T29" fmla="*/ 826 h 1595"/>
              <a:gd name="T30" fmla="*/ 308 w 1614"/>
              <a:gd name="T31" fmla="*/ 1366 h 1595"/>
              <a:gd name="T32" fmla="*/ 1070 w 1614"/>
              <a:gd name="T33" fmla="*/ 1404 h 1595"/>
              <a:gd name="T34" fmla="*/ 649 w 1614"/>
              <a:gd name="T35" fmla="*/ 983 h 1595"/>
              <a:gd name="T36" fmla="*/ 631 w 1614"/>
              <a:gd name="T37" fmla="*/ 649 h 1595"/>
              <a:gd name="T38" fmla="*/ 965 w 1614"/>
              <a:gd name="T39" fmla="*/ 630 h 1595"/>
              <a:gd name="T40" fmla="*/ 984 w 1614"/>
              <a:gd name="T41" fmla="*/ 965 h 1595"/>
              <a:gd name="T42" fmla="*/ 668 w 1614"/>
              <a:gd name="T43" fmla="*/ 946 h 1595"/>
              <a:gd name="T44" fmla="*/ 946 w 1614"/>
              <a:gd name="T45" fmla="*/ 668 h 1595"/>
              <a:gd name="T46" fmla="*/ 668 w 1614"/>
              <a:gd name="T47" fmla="*/ 946 h 1595"/>
              <a:gd name="T48" fmla="*/ 1070 w 1614"/>
              <a:gd name="T49" fmla="*/ 826 h 1595"/>
              <a:gd name="T50" fmla="*/ 1306 w 1614"/>
              <a:gd name="T51" fmla="*/ 788 h 1595"/>
              <a:gd name="T52" fmla="*/ 1306 w 1614"/>
              <a:gd name="T53" fmla="*/ 248 h 1595"/>
              <a:gd name="T54" fmla="*/ 544 w 1614"/>
              <a:gd name="T55" fmla="*/ 210 h 1595"/>
              <a:gd name="T56" fmla="*/ 1614 w 1614"/>
              <a:gd name="T57" fmla="*/ 518 h 1595"/>
              <a:gd name="T58" fmla="*/ 458 w 1614"/>
              <a:gd name="T59" fmla="*/ 439 h 1595"/>
              <a:gd name="T60" fmla="*/ 420 w 1614"/>
              <a:gd name="T61" fmla="*/ 413 h 1595"/>
              <a:gd name="T62" fmla="*/ 268 w 1614"/>
              <a:gd name="T63" fmla="*/ 215 h 1595"/>
              <a:gd name="T64" fmla="*/ 315 w 1614"/>
              <a:gd name="T65" fmla="*/ 124 h 1595"/>
              <a:gd name="T66" fmla="*/ 143 w 1614"/>
              <a:gd name="T67" fmla="*/ 124 h 1595"/>
              <a:gd name="T68" fmla="*/ 190 w 1614"/>
              <a:gd name="T69" fmla="*/ 215 h 1595"/>
              <a:gd name="T70" fmla="*/ 38 w 1614"/>
              <a:gd name="T71" fmla="*/ 413 h 1595"/>
              <a:gd name="T72" fmla="*/ 0 w 1614"/>
              <a:gd name="T73" fmla="*/ 439 h 1595"/>
              <a:gd name="T74" fmla="*/ 135 w 1614"/>
              <a:gd name="T75" fmla="*/ 205 h 1595"/>
              <a:gd name="T76" fmla="*/ 229 w 1614"/>
              <a:gd name="T77" fmla="*/ 0 h 1595"/>
              <a:gd name="T78" fmla="*/ 323 w 1614"/>
              <a:gd name="T79" fmla="*/ 205 h 1595"/>
              <a:gd name="T80" fmla="*/ 458 w 1614"/>
              <a:gd name="T81" fmla="*/ 439 h 1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614" h="1595">
                <a:moveTo>
                  <a:pt x="1614" y="1595"/>
                </a:moveTo>
                <a:cubicBezTo>
                  <a:pt x="1576" y="1595"/>
                  <a:pt x="1576" y="1595"/>
                  <a:pt x="1576" y="1595"/>
                </a:cubicBezTo>
                <a:cubicBezTo>
                  <a:pt x="1576" y="1569"/>
                  <a:pt x="1576" y="1569"/>
                  <a:pt x="1576" y="1569"/>
                </a:cubicBezTo>
                <a:cubicBezTo>
                  <a:pt x="1576" y="1484"/>
                  <a:pt x="1519" y="1409"/>
                  <a:pt x="1437" y="1386"/>
                </a:cubicBezTo>
                <a:cubicBezTo>
                  <a:pt x="1430" y="1384"/>
                  <a:pt x="1425" y="1378"/>
                  <a:pt x="1424" y="1370"/>
                </a:cubicBezTo>
                <a:cubicBezTo>
                  <a:pt x="1423" y="1363"/>
                  <a:pt x="1426" y="1356"/>
                  <a:pt x="1432" y="1352"/>
                </a:cubicBezTo>
                <a:cubicBezTo>
                  <a:pt x="1457" y="1336"/>
                  <a:pt x="1471" y="1309"/>
                  <a:pt x="1471" y="1280"/>
                </a:cubicBezTo>
                <a:cubicBezTo>
                  <a:pt x="1471" y="1232"/>
                  <a:pt x="1433" y="1194"/>
                  <a:pt x="1385" y="1194"/>
                </a:cubicBezTo>
                <a:cubicBezTo>
                  <a:pt x="1338" y="1194"/>
                  <a:pt x="1299" y="1232"/>
                  <a:pt x="1299" y="1280"/>
                </a:cubicBezTo>
                <a:cubicBezTo>
                  <a:pt x="1299" y="1309"/>
                  <a:pt x="1313" y="1336"/>
                  <a:pt x="1338" y="1352"/>
                </a:cubicBezTo>
                <a:cubicBezTo>
                  <a:pt x="1344" y="1356"/>
                  <a:pt x="1347" y="1363"/>
                  <a:pt x="1346" y="1370"/>
                </a:cubicBezTo>
                <a:cubicBezTo>
                  <a:pt x="1345" y="1378"/>
                  <a:pt x="1340" y="1384"/>
                  <a:pt x="1333" y="1386"/>
                </a:cubicBezTo>
                <a:cubicBezTo>
                  <a:pt x="1251" y="1409"/>
                  <a:pt x="1194" y="1484"/>
                  <a:pt x="1194" y="1569"/>
                </a:cubicBezTo>
                <a:cubicBezTo>
                  <a:pt x="1194" y="1595"/>
                  <a:pt x="1194" y="1595"/>
                  <a:pt x="1194" y="1595"/>
                </a:cubicBezTo>
                <a:cubicBezTo>
                  <a:pt x="1156" y="1595"/>
                  <a:pt x="1156" y="1595"/>
                  <a:pt x="1156" y="1595"/>
                </a:cubicBezTo>
                <a:cubicBezTo>
                  <a:pt x="1156" y="1569"/>
                  <a:pt x="1156" y="1569"/>
                  <a:pt x="1156" y="1569"/>
                </a:cubicBezTo>
                <a:cubicBezTo>
                  <a:pt x="1156" y="1479"/>
                  <a:pt x="1210" y="1397"/>
                  <a:pt x="1291" y="1361"/>
                </a:cubicBezTo>
                <a:cubicBezTo>
                  <a:pt x="1272" y="1338"/>
                  <a:pt x="1261" y="1310"/>
                  <a:pt x="1261" y="1280"/>
                </a:cubicBezTo>
                <a:cubicBezTo>
                  <a:pt x="1261" y="1211"/>
                  <a:pt x="1317" y="1156"/>
                  <a:pt x="1385" y="1156"/>
                </a:cubicBezTo>
                <a:cubicBezTo>
                  <a:pt x="1453" y="1156"/>
                  <a:pt x="1509" y="1211"/>
                  <a:pt x="1509" y="1280"/>
                </a:cubicBezTo>
                <a:cubicBezTo>
                  <a:pt x="1509" y="1310"/>
                  <a:pt x="1498" y="1338"/>
                  <a:pt x="1479" y="1361"/>
                </a:cubicBezTo>
                <a:cubicBezTo>
                  <a:pt x="1560" y="1397"/>
                  <a:pt x="1614" y="1479"/>
                  <a:pt x="1614" y="1569"/>
                </a:cubicBezTo>
                <a:lnTo>
                  <a:pt x="1614" y="1595"/>
                </a:lnTo>
                <a:close/>
                <a:moveTo>
                  <a:pt x="1070" y="1404"/>
                </a:moveTo>
                <a:cubicBezTo>
                  <a:pt x="308" y="1404"/>
                  <a:pt x="308" y="1404"/>
                  <a:pt x="308" y="1404"/>
                </a:cubicBezTo>
                <a:cubicBezTo>
                  <a:pt x="138" y="1404"/>
                  <a:pt x="0" y="1266"/>
                  <a:pt x="0" y="1096"/>
                </a:cubicBezTo>
                <a:cubicBezTo>
                  <a:pt x="0" y="926"/>
                  <a:pt x="138" y="788"/>
                  <a:pt x="308" y="788"/>
                </a:cubicBezTo>
                <a:cubicBezTo>
                  <a:pt x="544" y="788"/>
                  <a:pt x="544" y="788"/>
                  <a:pt x="544" y="788"/>
                </a:cubicBezTo>
                <a:cubicBezTo>
                  <a:pt x="544" y="826"/>
                  <a:pt x="544" y="826"/>
                  <a:pt x="544" y="826"/>
                </a:cubicBezTo>
                <a:cubicBezTo>
                  <a:pt x="308" y="826"/>
                  <a:pt x="308" y="826"/>
                  <a:pt x="308" y="826"/>
                </a:cubicBezTo>
                <a:cubicBezTo>
                  <a:pt x="159" y="826"/>
                  <a:pt x="38" y="947"/>
                  <a:pt x="38" y="1096"/>
                </a:cubicBezTo>
                <a:cubicBezTo>
                  <a:pt x="38" y="1245"/>
                  <a:pt x="159" y="1366"/>
                  <a:pt x="308" y="1366"/>
                </a:cubicBezTo>
                <a:cubicBezTo>
                  <a:pt x="1070" y="1366"/>
                  <a:pt x="1070" y="1366"/>
                  <a:pt x="1070" y="1366"/>
                </a:cubicBezTo>
                <a:lnTo>
                  <a:pt x="1070" y="1404"/>
                </a:lnTo>
                <a:close/>
                <a:moveTo>
                  <a:pt x="965" y="983"/>
                </a:moveTo>
                <a:cubicBezTo>
                  <a:pt x="649" y="983"/>
                  <a:pt x="649" y="983"/>
                  <a:pt x="649" y="983"/>
                </a:cubicBezTo>
                <a:cubicBezTo>
                  <a:pt x="639" y="983"/>
                  <a:pt x="631" y="975"/>
                  <a:pt x="631" y="965"/>
                </a:cubicBezTo>
                <a:cubicBezTo>
                  <a:pt x="631" y="649"/>
                  <a:pt x="631" y="649"/>
                  <a:pt x="631" y="649"/>
                </a:cubicBezTo>
                <a:cubicBezTo>
                  <a:pt x="631" y="639"/>
                  <a:pt x="639" y="630"/>
                  <a:pt x="649" y="630"/>
                </a:cubicBezTo>
                <a:cubicBezTo>
                  <a:pt x="965" y="630"/>
                  <a:pt x="965" y="630"/>
                  <a:pt x="965" y="630"/>
                </a:cubicBezTo>
                <a:cubicBezTo>
                  <a:pt x="975" y="630"/>
                  <a:pt x="984" y="639"/>
                  <a:pt x="984" y="649"/>
                </a:cubicBezTo>
                <a:cubicBezTo>
                  <a:pt x="984" y="965"/>
                  <a:pt x="984" y="965"/>
                  <a:pt x="984" y="965"/>
                </a:cubicBezTo>
                <a:cubicBezTo>
                  <a:pt x="984" y="975"/>
                  <a:pt x="975" y="983"/>
                  <a:pt x="965" y="983"/>
                </a:cubicBezTo>
                <a:close/>
                <a:moveTo>
                  <a:pt x="668" y="946"/>
                </a:moveTo>
                <a:cubicBezTo>
                  <a:pt x="946" y="946"/>
                  <a:pt x="946" y="946"/>
                  <a:pt x="946" y="946"/>
                </a:cubicBezTo>
                <a:cubicBezTo>
                  <a:pt x="946" y="668"/>
                  <a:pt x="946" y="668"/>
                  <a:pt x="946" y="668"/>
                </a:cubicBezTo>
                <a:cubicBezTo>
                  <a:pt x="668" y="668"/>
                  <a:pt x="668" y="668"/>
                  <a:pt x="668" y="668"/>
                </a:cubicBezTo>
                <a:lnTo>
                  <a:pt x="668" y="946"/>
                </a:lnTo>
                <a:close/>
                <a:moveTo>
                  <a:pt x="1306" y="826"/>
                </a:moveTo>
                <a:cubicBezTo>
                  <a:pt x="1070" y="826"/>
                  <a:pt x="1070" y="826"/>
                  <a:pt x="1070" y="826"/>
                </a:cubicBezTo>
                <a:cubicBezTo>
                  <a:pt x="1070" y="788"/>
                  <a:pt x="1070" y="788"/>
                  <a:pt x="1070" y="788"/>
                </a:cubicBezTo>
                <a:cubicBezTo>
                  <a:pt x="1306" y="788"/>
                  <a:pt x="1306" y="788"/>
                  <a:pt x="1306" y="788"/>
                </a:cubicBezTo>
                <a:cubicBezTo>
                  <a:pt x="1455" y="788"/>
                  <a:pt x="1576" y="667"/>
                  <a:pt x="1576" y="518"/>
                </a:cubicBezTo>
                <a:cubicBezTo>
                  <a:pt x="1576" y="369"/>
                  <a:pt x="1455" y="248"/>
                  <a:pt x="1306" y="248"/>
                </a:cubicBezTo>
                <a:cubicBezTo>
                  <a:pt x="544" y="248"/>
                  <a:pt x="544" y="248"/>
                  <a:pt x="544" y="248"/>
                </a:cubicBezTo>
                <a:cubicBezTo>
                  <a:pt x="544" y="210"/>
                  <a:pt x="544" y="210"/>
                  <a:pt x="544" y="210"/>
                </a:cubicBezTo>
                <a:cubicBezTo>
                  <a:pt x="1306" y="210"/>
                  <a:pt x="1306" y="210"/>
                  <a:pt x="1306" y="210"/>
                </a:cubicBezTo>
                <a:cubicBezTo>
                  <a:pt x="1476" y="210"/>
                  <a:pt x="1614" y="348"/>
                  <a:pt x="1614" y="518"/>
                </a:cubicBezTo>
                <a:cubicBezTo>
                  <a:pt x="1614" y="688"/>
                  <a:pt x="1476" y="826"/>
                  <a:pt x="1306" y="826"/>
                </a:cubicBezTo>
                <a:close/>
                <a:moveTo>
                  <a:pt x="458" y="439"/>
                </a:moveTo>
                <a:cubicBezTo>
                  <a:pt x="420" y="439"/>
                  <a:pt x="420" y="439"/>
                  <a:pt x="420" y="439"/>
                </a:cubicBezTo>
                <a:cubicBezTo>
                  <a:pt x="420" y="413"/>
                  <a:pt x="420" y="413"/>
                  <a:pt x="420" y="413"/>
                </a:cubicBezTo>
                <a:cubicBezTo>
                  <a:pt x="420" y="329"/>
                  <a:pt x="363" y="253"/>
                  <a:pt x="282" y="230"/>
                </a:cubicBezTo>
                <a:cubicBezTo>
                  <a:pt x="274" y="228"/>
                  <a:pt x="269" y="222"/>
                  <a:pt x="268" y="215"/>
                </a:cubicBezTo>
                <a:cubicBezTo>
                  <a:pt x="267" y="207"/>
                  <a:pt x="270" y="200"/>
                  <a:pt x="276" y="196"/>
                </a:cubicBezTo>
                <a:cubicBezTo>
                  <a:pt x="301" y="180"/>
                  <a:pt x="315" y="153"/>
                  <a:pt x="315" y="124"/>
                </a:cubicBezTo>
                <a:cubicBezTo>
                  <a:pt x="315" y="76"/>
                  <a:pt x="277" y="38"/>
                  <a:pt x="229" y="38"/>
                </a:cubicBezTo>
                <a:cubicBezTo>
                  <a:pt x="182" y="38"/>
                  <a:pt x="143" y="76"/>
                  <a:pt x="143" y="124"/>
                </a:cubicBezTo>
                <a:cubicBezTo>
                  <a:pt x="143" y="153"/>
                  <a:pt x="158" y="180"/>
                  <a:pt x="182" y="196"/>
                </a:cubicBezTo>
                <a:cubicBezTo>
                  <a:pt x="188" y="200"/>
                  <a:pt x="191" y="207"/>
                  <a:pt x="190" y="215"/>
                </a:cubicBezTo>
                <a:cubicBezTo>
                  <a:pt x="189" y="222"/>
                  <a:pt x="184" y="228"/>
                  <a:pt x="177" y="230"/>
                </a:cubicBezTo>
                <a:cubicBezTo>
                  <a:pt x="95" y="253"/>
                  <a:pt x="38" y="329"/>
                  <a:pt x="38" y="413"/>
                </a:cubicBezTo>
                <a:cubicBezTo>
                  <a:pt x="38" y="439"/>
                  <a:pt x="38" y="439"/>
                  <a:pt x="38" y="439"/>
                </a:cubicBezTo>
                <a:cubicBezTo>
                  <a:pt x="0" y="439"/>
                  <a:pt x="0" y="439"/>
                  <a:pt x="0" y="439"/>
                </a:cubicBezTo>
                <a:cubicBezTo>
                  <a:pt x="0" y="413"/>
                  <a:pt x="0" y="413"/>
                  <a:pt x="0" y="413"/>
                </a:cubicBezTo>
                <a:cubicBezTo>
                  <a:pt x="0" y="323"/>
                  <a:pt x="54" y="241"/>
                  <a:pt x="135" y="205"/>
                </a:cubicBezTo>
                <a:cubicBezTo>
                  <a:pt x="116" y="183"/>
                  <a:pt x="105" y="154"/>
                  <a:pt x="105" y="124"/>
                </a:cubicBezTo>
                <a:cubicBezTo>
                  <a:pt x="105" y="56"/>
                  <a:pt x="161" y="0"/>
                  <a:pt x="229" y="0"/>
                </a:cubicBezTo>
                <a:cubicBezTo>
                  <a:pt x="298" y="0"/>
                  <a:pt x="353" y="56"/>
                  <a:pt x="353" y="124"/>
                </a:cubicBezTo>
                <a:cubicBezTo>
                  <a:pt x="353" y="154"/>
                  <a:pt x="342" y="183"/>
                  <a:pt x="323" y="205"/>
                </a:cubicBezTo>
                <a:cubicBezTo>
                  <a:pt x="404" y="241"/>
                  <a:pt x="458" y="323"/>
                  <a:pt x="458" y="413"/>
                </a:cubicBezTo>
                <a:lnTo>
                  <a:pt x="458" y="439"/>
                </a:lnTo>
                <a:close/>
              </a:path>
            </a:pathLst>
          </a:custGeom>
          <a:solidFill>
            <a:schemeClr val="bg1"/>
          </a:solidFill>
          <a:ln>
            <a:noFill/>
          </a:ln>
        </p:spPr>
        <p:txBody>
          <a:bodyPr vert="horz" wrap="square" lIns="45714" tIns="22857" rIns="45714" bIns="22857" numCol="1" anchor="t" anchorCtr="0" compatLnSpc="1">
            <a:prstTxWarp prst="textNoShape">
              <a:avLst/>
            </a:prstTxWarp>
          </a:bodyPr>
          <a:lstStyle/>
          <a:p>
            <a:pPr defTabSz="342914">
              <a:defRPr/>
            </a:pPr>
            <a:endParaRPr lang="uk-UA" sz="1000">
              <a:solidFill>
                <a:schemeClr val="accent1"/>
              </a:solidFill>
              <a:latin typeface="+mj-lt"/>
            </a:endParaRPr>
          </a:p>
        </p:txBody>
      </p:sp>
      <p:sp>
        <p:nvSpPr>
          <p:cNvPr id="189" name="Freeform 128">
            <a:extLst>
              <a:ext uri="{FF2B5EF4-FFF2-40B4-BE49-F238E27FC236}">
                <a16:creationId xmlns:a16="http://schemas.microsoft.com/office/drawing/2014/main" id="{CB6C7FEA-C9A9-64E6-C4B4-2F83E6BD48DE}"/>
              </a:ext>
            </a:extLst>
          </p:cNvPr>
          <p:cNvSpPr>
            <a:spLocks noEditPoints="1"/>
          </p:cNvSpPr>
          <p:nvPr/>
        </p:nvSpPr>
        <p:spPr bwMode="auto">
          <a:xfrm>
            <a:off x="4229581" y="1435131"/>
            <a:ext cx="513182" cy="508615"/>
          </a:xfrm>
          <a:custGeom>
            <a:avLst/>
            <a:gdLst>
              <a:gd name="T0" fmla="*/ 609 w 1646"/>
              <a:gd name="T1" fmla="*/ 1325 h 1325"/>
              <a:gd name="T2" fmla="*/ 589 w 1646"/>
              <a:gd name="T3" fmla="*/ 1091 h 1325"/>
              <a:gd name="T4" fmla="*/ 1627 w 1646"/>
              <a:gd name="T5" fmla="*/ 1072 h 1325"/>
              <a:gd name="T6" fmla="*/ 1646 w 1646"/>
              <a:gd name="T7" fmla="*/ 1305 h 1325"/>
              <a:gd name="T8" fmla="*/ 628 w 1646"/>
              <a:gd name="T9" fmla="*/ 1286 h 1325"/>
              <a:gd name="T10" fmla="*/ 1607 w 1646"/>
              <a:gd name="T11" fmla="*/ 1110 h 1325"/>
              <a:gd name="T12" fmla="*/ 628 w 1646"/>
              <a:gd name="T13" fmla="*/ 1286 h 1325"/>
              <a:gd name="T14" fmla="*/ 19 w 1646"/>
              <a:gd name="T15" fmla="*/ 1325 h 1325"/>
              <a:gd name="T16" fmla="*/ 0 w 1646"/>
              <a:gd name="T17" fmla="*/ 1091 h 1325"/>
              <a:gd name="T18" fmla="*/ 394 w 1646"/>
              <a:gd name="T19" fmla="*/ 1072 h 1325"/>
              <a:gd name="T20" fmla="*/ 414 w 1646"/>
              <a:gd name="T21" fmla="*/ 1305 h 1325"/>
              <a:gd name="T22" fmla="*/ 38 w 1646"/>
              <a:gd name="T23" fmla="*/ 1286 h 1325"/>
              <a:gd name="T24" fmla="*/ 375 w 1646"/>
              <a:gd name="T25" fmla="*/ 1110 h 1325"/>
              <a:gd name="T26" fmla="*/ 38 w 1646"/>
              <a:gd name="T27" fmla="*/ 1286 h 1325"/>
              <a:gd name="T28" fmla="*/ 1252 w 1646"/>
              <a:gd name="T29" fmla="*/ 789 h 1325"/>
              <a:gd name="T30" fmla="*/ 1232 w 1646"/>
              <a:gd name="T31" fmla="*/ 555 h 1325"/>
              <a:gd name="T32" fmla="*/ 1627 w 1646"/>
              <a:gd name="T33" fmla="*/ 536 h 1325"/>
              <a:gd name="T34" fmla="*/ 1646 w 1646"/>
              <a:gd name="T35" fmla="*/ 769 h 1325"/>
              <a:gd name="T36" fmla="*/ 1271 w 1646"/>
              <a:gd name="T37" fmla="*/ 750 h 1325"/>
              <a:gd name="T38" fmla="*/ 1607 w 1646"/>
              <a:gd name="T39" fmla="*/ 574 h 1325"/>
              <a:gd name="T40" fmla="*/ 1271 w 1646"/>
              <a:gd name="T41" fmla="*/ 750 h 1325"/>
              <a:gd name="T42" fmla="*/ 19 w 1646"/>
              <a:gd name="T43" fmla="*/ 789 h 1325"/>
              <a:gd name="T44" fmla="*/ 0 w 1646"/>
              <a:gd name="T45" fmla="*/ 555 h 1325"/>
              <a:gd name="T46" fmla="*/ 1037 w 1646"/>
              <a:gd name="T47" fmla="*/ 536 h 1325"/>
              <a:gd name="T48" fmla="*/ 1057 w 1646"/>
              <a:gd name="T49" fmla="*/ 769 h 1325"/>
              <a:gd name="T50" fmla="*/ 38 w 1646"/>
              <a:gd name="T51" fmla="*/ 750 h 1325"/>
              <a:gd name="T52" fmla="*/ 1018 w 1646"/>
              <a:gd name="T53" fmla="*/ 574 h 1325"/>
              <a:gd name="T54" fmla="*/ 38 w 1646"/>
              <a:gd name="T55" fmla="*/ 750 h 1325"/>
              <a:gd name="T56" fmla="*/ 609 w 1646"/>
              <a:gd name="T57" fmla="*/ 253 h 1325"/>
              <a:gd name="T58" fmla="*/ 589 w 1646"/>
              <a:gd name="T59" fmla="*/ 19 h 1325"/>
              <a:gd name="T60" fmla="*/ 1627 w 1646"/>
              <a:gd name="T61" fmla="*/ 0 h 1325"/>
              <a:gd name="T62" fmla="*/ 1646 w 1646"/>
              <a:gd name="T63" fmla="*/ 234 h 1325"/>
              <a:gd name="T64" fmla="*/ 628 w 1646"/>
              <a:gd name="T65" fmla="*/ 214 h 1325"/>
              <a:gd name="T66" fmla="*/ 1607 w 1646"/>
              <a:gd name="T67" fmla="*/ 38 h 1325"/>
              <a:gd name="T68" fmla="*/ 628 w 1646"/>
              <a:gd name="T69" fmla="*/ 214 h 1325"/>
              <a:gd name="T70" fmla="*/ 19 w 1646"/>
              <a:gd name="T71" fmla="*/ 253 h 1325"/>
              <a:gd name="T72" fmla="*/ 0 w 1646"/>
              <a:gd name="T73" fmla="*/ 19 h 1325"/>
              <a:gd name="T74" fmla="*/ 394 w 1646"/>
              <a:gd name="T75" fmla="*/ 0 h 1325"/>
              <a:gd name="T76" fmla="*/ 414 w 1646"/>
              <a:gd name="T77" fmla="*/ 234 h 1325"/>
              <a:gd name="T78" fmla="*/ 38 w 1646"/>
              <a:gd name="T79" fmla="*/ 214 h 1325"/>
              <a:gd name="T80" fmla="*/ 375 w 1646"/>
              <a:gd name="T81" fmla="*/ 38 h 1325"/>
              <a:gd name="T82" fmla="*/ 38 w 1646"/>
              <a:gd name="T83" fmla="*/ 214 h 1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646" h="1325">
                <a:moveTo>
                  <a:pt x="1627" y="1325"/>
                </a:moveTo>
                <a:cubicBezTo>
                  <a:pt x="609" y="1325"/>
                  <a:pt x="609" y="1325"/>
                  <a:pt x="609" y="1325"/>
                </a:cubicBezTo>
                <a:cubicBezTo>
                  <a:pt x="598" y="1325"/>
                  <a:pt x="589" y="1316"/>
                  <a:pt x="589" y="1305"/>
                </a:cubicBezTo>
                <a:cubicBezTo>
                  <a:pt x="589" y="1091"/>
                  <a:pt x="589" y="1091"/>
                  <a:pt x="589" y="1091"/>
                </a:cubicBezTo>
                <a:cubicBezTo>
                  <a:pt x="589" y="1080"/>
                  <a:pt x="598" y="1072"/>
                  <a:pt x="609" y="1072"/>
                </a:cubicBezTo>
                <a:cubicBezTo>
                  <a:pt x="1627" y="1072"/>
                  <a:pt x="1627" y="1072"/>
                  <a:pt x="1627" y="1072"/>
                </a:cubicBezTo>
                <a:cubicBezTo>
                  <a:pt x="1637" y="1072"/>
                  <a:pt x="1646" y="1080"/>
                  <a:pt x="1646" y="1091"/>
                </a:cubicBezTo>
                <a:cubicBezTo>
                  <a:pt x="1646" y="1305"/>
                  <a:pt x="1646" y="1305"/>
                  <a:pt x="1646" y="1305"/>
                </a:cubicBezTo>
                <a:cubicBezTo>
                  <a:pt x="1646" y="1316"/>
                  <a:pt x="1637" y="1325"/>
                  <a:pt x="1627" y="1325"/>
                </a:cubicBezTo>
                <a:close/>
                <a:moveTo>
                  <a:pt x="628" y="1286"/>
                </a:moveTo>
                <a:cubicBezTo>
                  <a:pt x="1607" y="1286"/>
                  <a:pt x="1607" y="1286"/>
                  <a:pt x="1607" y="1286"/>
                </a:cubicBezTo>
                <a:cubicBezTo>
                  <a:pt x="1607" y="1110"/>
                  <a:pt x="1607" y="1110"/>
                  <a:pt x="1607" y="1110"/>
                </a:cubicBezTo>
                <a:cubicBezTo>
                  <a:pt x="628" y="1110"/>
                  <a:pt x="628" y="1110"/>
                  <a:pt x="628" y="1110"/>
                </a:cubicBezTo>
                <a:lnTo>
                  <a:pt x="628" y="1286"/>
                </a:lnTo>
                <a:close/>
                <a:moveTo>
                  <a:pt x="394" y="1325"/>
                </a:moveTo>
                <a:cubicBezTo>
                  <a:pt x="19" y="1325"/>
                  <a:pt x="19" y="1325"/>
                  <a:pt x="19" y="1325"/>
                </a:cubicBezTo>
                <a:cubicBezTo>
                  <a:pt x="8" y="1325"/>
                  <a:pt x="0" y="1316"/>
                  <a:pt x="0" y="1305"/>
                </a:cubicBezTo>
                <a:cubicBezTo>
                  <a:pt x="0" y="1091"/>
                  <a:pt x="0" y="1091"/>
                  <a:pt x="0" y="1091"/>
                </a:cubicBezTo>
                <a:cubicBezTo>
                  <a:pt x="0" y="1080"/>
                  <a:pt x="8" y="1072"/>
                  <a:pt x="19" y="1072"/>
                </a:cubicBezTo>
                <a:cubicBezTo>
                  <a:pt x="394" y="1072"/>
                  <a:pt x="394" y="1072"/>
                  <a:pt x="394" y="1072"/>
                </a:cubicBezTo>
                <a:cubicBezTo>
                  <a:pt x="405" y="1072"/>
                  <a:pt x="414" y="1080"/>
                  <a:pt x="414" y="1091"/>
                </a:cubicBezTo>
                <a:cubicBezTo>
                  <a:pt x="414" y="1305"/>
                  <a:pt x="414" y="1305"/>
                  <a:pt x="414" y="1305"/>
                </a:cubicBezTo>
                <a:cubicBezTo>
                  <a:pt x="414" y="1316"/>
                  <a:pt x="405" y="1325"/>
                  <a:pt x="394" y="1325"/>
                </a:cubicBezTo>
                <a:close/>
                <a:moveTo>
                  <a:pt x="38" y="1286"/>
                </a:moveTo>
                <a:cubicBezTo>
                  <a:pt x="375" y="1286"/>
                  <a:pt x="375" y="1286"/>
                  <a:pt x="375" y="1286"/>
                </a:cubicBezTo>
                <a:cubicBezTo>
                  <a:pt x="375" y="1110"/>
                  <a:pt x="375" y="1110"/>
                  <a:pt x="375" y="1110"/>
                </a:cubicBezTo>
                <a:cubicBezTo>
                  <a:pt x="38" y="1110"/>
                  <a:pt x="38" y="1110"/>
                  <a:pt x="38" y="1110"/>
                </a:cubicBezTo>
                <a:lnTo>
                  <a:pt x="38" y="1286"/>
                </a:lnTo>
                <a:close/>
                <a:moveTo>
                  <a:pt x="1627" y="789"/>
                </a:moveTo>
                <a:cubicBezTo>
                  <a:pt x="1252" y="789"/>
                  <a:pt x="1252" y="789"/>
                  <a:pt x="1252" y="789"/>
                </a:cubicBezTo>
                <a:cubicBezTo>
                  <a:pt x="1241" y="789"/>
                  <a:pt x="1232" y="780"/>
                  <a:pt x="1232" y="769"/>
                </a:cubicBezTo>
                <a:cubicBezTo>
                  <a:pt x="1232" y="555"/>
                  <a:pt x="1232" y="555"/>
                  <a:pt x="1232" y="555"/>
                </a:cubicBezTo>
                <a:cubicBezTo>
                  <a:pt x="1232" y="544"/>
                  <a:pt x="1241" y="536"/>
                  <a:pt x="1252" y="536"/>
                </a:cubicBezTo>
                <a:cubicBezTo>
                  <a:pt x="1627" y="536"/>
                  <a:pt x="1627" y="536"/>
                  <a:pt x="1627" y="536"/>
                </a:cubicBezTo>
                <a:cubicBezTo>
                  <a:pt x="1637" y="536"/>
                  <a:pt x="1646" y="544"/>
                  <a:pt x="1646" y="555"/>
                </a:cubicBezTo>
                <a:cubicBezTo>
                  <a:pt x="1646" y="769"/>
                  <a:pt x="1646" y="769"/>
                  <a:pt x="1646" y="769"/>
                </a:cubicBezTo>
                <a:cubicBezTo>
                  <a:pt x="1646" y="780"/>
                  <a:pt x="1637" y="789"/>
                  <a:pt x="1627" y="789"/>
                </a:cubicBezTo>
                <a:close/>
                <a:moveTo>
                  <a:pt x="1271" y="750"/>
                </a:moveTo>
                <a:cubicBezTo>
                  <a:pt x="1607" y="750"/>
                  <a:pt x="1607" y="750"/>
                  <a:pt x="1607" y="750"/>
                </a:cubicBezTo>
                <a:cubicBezTo>
                  <a:pt x="1607" y="574"/>
                  <a:pt x="1607" y="574"/>
                  <a:pt x="1607" y="574"/>
                </a:cubicBezTo>
                <a:cubicBezTo>
                  <a:pt x="1271" y="574"/>
                  <a:pt x="1271" y="574"/>
                  <a:pt x="1271" y="574"/>
                </a:cubicBezTo>
                <a:lnTo>
                  <a:pt x="1271" y="750"/>
                </a:lnTo>
                <a:close/>
                <a:moveTo>
                  <a:pt x="1037" y="789"/>
                </a:moveTo>
                <a:cubicBezTo>
                  <a:pt x="19" y="789"/>
                  <a:pt x="19" y="789"/>
                  <a:pt x="19" y="789"/>
                </a:cubicBezTo>
                <a:cubicBezTo>
                  <a:pt x="8" y="789"/>
                  <a:pt x="0" y="780"/>
                  <a:pt x="0" y="769"/>
                </a:cubicBezTo>
                <a:cubicBezTo>
                  <a:pt x="0" y="555"/>
                  <a:pt x="0" y="555"/>
                  <a:pt x="0" y="555"/>
                </a:cubicBezTo>
                <a:cubicBezTo>
                  <a:pt x="0" y="544"/>
                  <a:pt x="8" y="536"/>
                  <a:pt x="19" y="536"/>
                </a:cubicBezTo>
                <a:cubicBezTo>
                  <a:pt x="1037" y="536"/>
                  <a:pt x="1037" y="536"/>
                  <a:pt x="1037" y="536"/>
                </a:cubicBezTo>
                <a:cubicBezTo>
                  <a:pt x="1048" y="536"/>
                  <a:pt x="1057" y="544"/>
                  <a:pt x="1057" y="555"/>
                </a:cubicBezTo>
                <a:cubicBezTo>
                  <a:pt x="1057" y="769"/>
                  <a:pt x="1057" y="769"/>
                  <a:pt x="1057" y="769"/>
                </a:cubicBezTo>
                <a:cubicBezTo>
                  <a:pt x="1057" y="780"/>
                  <a:pt x="1048" y="789"/>
                  <a:pt x="1037" y="789"/>
                </a:cubicBezTo>
                <a:close/>
                <a:moveTo>
                  <a:pt x="38" y="750"/>
                </a:moveTo>
                <a:cubicBezTo>
                  <a:pt x="1018" y="750"/>
                  <a:pt x="1018" y="750"/>
                  <a:pt x="1018" y="750"/>
                </a:cubicBezTo>
                <a:cubicBezTo>
                  <a:pt x="1018" y="574"/>
                  <a:pt x="1018" y="574"/>
                  <a:pt x="1018" y="574"/>
                </a:cubicBezTo>
                <a:cubicBezTo>
                  <a:pt x="38" y="574"/>
                  <a:pt x="38" y="574"/>
                  <a:pt x="38" y="574"/>
                </a:cubicBezTo>
                <a:lnTo>
                  <a:pt x="38" y="750"/>
                </a:lnTo>
                <a:close/>
                <a:moveTo>
                  <a:pt x="1627" y="253"/>
                </a:moveTo>
                <a:cubicBezTo>
                  <a:pt x="609" y="253"/>
                  <a:pt x="609" y="253"/>
                  <a:pt x="609" y="253"/>
                </a:cubicBezTo>
                <a:cubicBezTo>
                  <a:pt x="598" y="253"/>
                  <a:pt x="589" y="244"/>
                  <a:pt x="589" y="234"/>
                </a:cubicBezTo>
                <a:cubicBezTo>
                  <a:pt x="589" y="19"/>
                  <a:pt x="589" y="19"/>
                  <a:pt x="589" y="19"/>
                </a:cubicBezTo>
                <a:cubicBezTo>
                  <a:pt x="589" y="9"/>
                  <a:pt x="598" y="0"/>
                  <a:pt x="609" y="0"/>
                </a:cubicBezTo>
                <a:cubicBezTo>
                  <a:pt x="1627" y="0"/>
                  <a:pt x="1627" y="0"/>
                  <a:pt x="1627" y="0"/>
                </a:cubicBezTo>
                <a:cubicBezTo>
                  <a:pt x="1637" y="0"/>
                  <a:pt x="1646" y="9"/>
                  <a:pt x="1646" y="19"/>
                </a:cubicBezTo>
                <a:cubicBezTo>
                  <a:pt x="1646" y="234"/>
                  <a:pt x="1646" y="234"/>
                  <a:pt x="1646" y="234"/>
                </a:cubicBezTo>
                <a:cubicBezTo>
                  <a:pt x="1646" y="244"/>
                  <a:pt x="1637" y="253"/>
                  <a:pt x="1627" y="253"/>
                </a:cubicBezTo>
                <a:close/>
                <a:moveTo>
                  <a:pt x="628" y="214"/>
                </a:moveTo>
                <a:cubicBezTo>
                  <a:pt x="1607" y="214"/>
                  <a:pt x="1607" y="214"/>
                  <a:pt x="1607" y="214"/>
                </a:cubicBezTo>
                <a:cubicBezTo>
                  <a:pt x="1607" y="38"/>
                  <a:pt x="1607" y="38"/>
                  <a:pt x="1607" y="38"/>
                </a:cubicBezTo>
                <a:cubicBezTo>
                  <a:pt x="628" y="38"/>
                  <a:pt x="628" y="38"/>
                  <a:pt x="628" y="38"/>
                </a:cubicBezTo>
                <a:lnTo>
                  <a:pt x="628" y="214"/>
                </a:lnTo>
                <a:close/>
                <a:moveTo>
                  <a:pt x="394" y="253"/>
                </a:moveTo>
                <a:cubicBezTo>
                  <a:pt x="19" y="253"/>
                  <a:pt x="19" y="253"/>
                  <a:pt x="19" y="253"/>
                </a:cubicBezTo>
                <a:cubicBezTo>
                  <a:pt x="8" y="253"/>
                  <a:pt x="0" y="244"/>
                  <a:pt x="0" y="234"/>
                </a:cubicBezTo>
                <a:cubicBezTo>
                  <a:pt x="0" y="19"/>
                  <a:pt x="0" y="19"/>
                  <a:pt x="0" y="19"/>
                </a:cubicBezTo>
                <a:cubicBezTo>
                  <a:pt x="0" y="9"/>
                  <a:pt x="8" y="0"/>
                  <a:pt x="19" y="0"/>
                </a:cubicBezTo>
                <a:cubicBezTo>
                  <a:pt x="394" y="0"/>
                  <a:pt x="394" y="0"/>
                  <a:pt x="394" y="0"/>
                </a:cubicBezTo>
                <a:cubicBezTo>
                  <a:pt x="405" y="0"/>
                  <a:pt x="414" y="9"/>
                  <a:pt x="414" y="19"/>
                </a:cubicBezTo>
                <a:cubicBezTo>
                  <a:pt x="414" y="234"/>
                  <a:pt x="414" y="234"/>
                  <a:pt x="414" y="234"/>
                </a:cubicBezTo>
                <a:cubicBezTo>
                  <a:pt x="414" y="244"/>
                  <a:pt x="405" y="253"/>
                  <a:pt x="394" y="253"/>
                </a:cubicBezTo>
                <a:close/>
                <a:moveTo>
                  <a:pt x="38" y="214"/>
                </a:moveTo>
                <a:cubicBezTo>
                  <a:pt x="375" y="214"/>
                  <a:pt x="375" y="214"/>
                  <a:pt x="375" y="214"/>
                </a:cubicBezTo>
                <a:cubicBezTo>
                  <a:pt x="375" y="38"/>
                  <a:pt x="375" y="38"/>
                  <a:pt x="375" y="38"/>
                </a:cubicBezTo>
                <a:cubicBezTo>
                  <a:pt x="38" y="38"/>
                  <a:pt x="38" y="38"/>
                  <a:pt x="38" y="38"/>
                </a:cubicBezTo>
                <a:lnTo>
                  <a:pt x="38" y="214"/>
                </a:lnTo>
                <a:close/>
              </a:path>
            </a:pathLst>
          </a:custGeom>
          <a:solidFill>
            <a:schemeClr val="bg1"/>
          </a:solidFill>
          <a:ln>
            <a:noFill/>
          </a:ln>
        </p:spPr>
        <p:txBody>
          <a:bodyPr vert="horz" wrap="square" lIns="45714" tIns="22857" rIns="45714" bIns="22857" numCol="1" anchor="t" anchorCtr="0" compatLnSpc="1">
            <a:prstTxWarp prst="textNoShape">
              <a:avLst/>
            </a:prstTxWarp>
          </a:bodyPr>
          <a:lstStyle/>
          <a:p>
            <a:pPr defTabSz="342914">
              <a:defRPr/>
            </a:pPr>
            <a:endParaRPr lang="uk-UA" sz="1000">
              <a:solidFill>
                <a:schemeClr val="accent1"/>
              </a:solidFill>
              <a:latin typeface="+mj-lt"/>
            </a:endParaRPr>
          </a:p>
        </p:txBody>
      </p:sp>
      <p:sp>
        <p:nvSpPr>
          <p:cNvPr id="190" name="Graphic 64">
            <a:extLst>
              <a:ext uri="{FF2B5EF4-FFF2-40B4-BE49-F238E27FC236}">
                <a16:creationId xmlns:a16="http://schemas.microsoft.com/office/drawing/2014/main" id="{B87AD1DD-A47F-1754-E6B9-67D9B4325A3B}"/>
              </a:ext>
            </a:extLst>
          </p:cNvPr>
          <p:cNvSpPr>
            <a:spLocks noChangeAspect="1"/>
          </p:cNvSpPr>
          <p:nvPr/>
        </p:nvSpPr>
        <p:spPr>
          <a:xfrm>
            <a:off x="7440089" y="5241383"/>
            <a:ext cx="509167" cy="508615"/>
          </a:xfrm>
          <a:custGeom>
            <a:avLst/>
            <a:gdLst>
              <a:gd name="connsiteX0" fmla="*/ 352044 w 358267"/>
              <a:gd name="connsiteY0" fmla="*/ 169604 h 357879"/>
              <a:gd name="connsiteX1" fmla="*/ 332205 w 358267"/>
              <a:gd name="connsiteY1" fmla="*/ 97639 h 357879"/>
              <a:gd name="connsiteX2" fmla="*/ 332205 w 358267"/>
              <a:gd name="connsiteY2" fmla="*/ 60295 h 357879"/>
              <a:gd name="connsiteX3" fmla="*/ 305364 w 358267"/>
              <a:gd name="connsiteY3" fmla="*/ 60295 h 357879"/>
              <a:gd name="connsiteX4" fmla="*/ 188664 w 358267"/>
              <a:gd name="connsiteY4" fmla="*/ 5835 h 357879"/>
              <a:gd name="connsiteX5" fmla="*/ 178940 w 358267"/>
              <a:gd name="connsiteY5" fmla="*/ 0 h 357879"/>
              <a:gd name="connsiteX6" fmla="*/ 168437 w 358267"/>
              <a:gd name="connsiteY6" fmla="*/ 10503 h 357879"/>
              <a:gd name="connsiteX7" fmla="*/ 178940 w 358267"/>
              <a:gd name="connsiteY7" fmla="*/ 21006 h 357879"/>
              <a:gd name="connsiteX8" fmla="*/ 187886 w 358267"/>
              <a:gd name="connsiteY8" fmla="*/ 15560 h 357879"/>
              <a:gd name="connsiteX9" fmla="*/ 291749 w 358267"/>
              <a:gd name="connsiteY9" fmla="*/ 60295 h 357879"/>
              <a:gd name="connsiteX10" fmla="*/ 262574 w 358267"/>
              <a:gd name="connsiteY10" fmla="*/ 60295 h 357879"/>
              <a:gd name="connsiteX11" fmla="*/ 262574 w 358267"/>
              <a:gd name="connsiteY11" fmla="*/ 129926 h 357879"/>
              <a:gd name="connsiteX12" fmla="*/ 332205 w 358267"/>
              <a:gd name="connsiteY12" fmla="*/ 129926 h 357879"/>
              <a:gd name="connsiteX13" fmla="*/ 332205 w 358267"/>
              <a:gd name="connsiteY13" fmla="*/ 121368 h 357879"/>
              <a:gd name="connsiteX14" fmla="*/ 342319 w 358267"/>
              <a:gd name="connsiteY14" fmla="*/ 169604 h 357879"/>
              <a:gd name="connsiteX15" fmla="*/ 336873 w 358267"/>
              <a:gd name="connsiteY15" fmla="*/ 178551 h 357879"/>
              <a:gd name="connsiteX16" fmla="*/ 342319 w 358267"/>
              <a:gd name="connsiteY16" fmla="*/ 187497 h 357879"/>
              <a:gd name="connsiteX17" fmla="*/ 325981 w 358267"/>
              <a:gd name="connsiteY17" fmla="*/ 250904 h 357879"/>
              <a:gd name="connsiteX18" fmla="*/ 262574 w 358267"/>
              <a:gd name="connsiteY18" fmla="*/ 250904 h 357879"/>
              <a:gd name="connsiteX19" fmla="*/ 262574 w 358267"/>
              <a:gd name="connsiteY19" fmla="*/ 319368 h 357879"/>
              <a:gd name="connsiteX20" fmla="*/ 187886 w 358267"/>
              <a:gd name="connsiteY20" fmla="*/ 341930 h 357879"/>
              <a:gd name="connsiteX21" fmla="*/ 178940 w 358267"/>
              <a:gd name="connsiteY21" fmla="*/ 336484 h 357879"/>
              <a:gd name="connsiteX22" fmla="*/ 169993 w 358267"/>
              <a:gd name="connsiteY22" fmla="*/ 341930 h 357879"/>
              <a:gd name="connsiteX23" fmla="*/ 92193 w 358267"/>
              <a:gd name="connsiteY23" fmla="*/ 317423 h 357879"/>
              <a:gd name="connsiteX24" fmla="*/ 92193 w 358267"/>
              <a:gd name="connsiteY24" fmla="*/ 251293 h 357879"/>
              <a:gd name="connsiteX25" fmla="*/ 31898 w 358267"/>
              <a:gd name="connsiteY25" fmla="*/ 251293 h 357879"/>
              <a:gd name="connsiteX26" fmla="*/ 15171 w 358267"/>
              <a:gd name="connsiteY26" fmla="*/ 187886 h 357879"/>
              <a:gd name="connsiteX27" fmla="*/ 20617 w 358267"/>
              <a:gd name="connsiteY27" fmla="*/ 178940 h 357879"/>
              <a:gd name="connsiteX28" fmla="*/ 15171 w 358267"/>
              <a:gd name="connsiteY28" fmla="*/ 169993 h 357879"/>
              <a:gd name="connsiteX29" fmla="*/ 22562 w 358267"/>
              <a:gd name="connsiteY29" fmla="*/ 129537 h 357879"/>
              <a:gd name="connsiteX30" fmla="*/ 22562 w 358267"/>
              <a:gd name="connsiteY30" fmla="*/ 129926 h 357879"/>
              <a:gd name="connsiteX31" fmla="*/ 92193 w 358267"/>
              <a:gd name="connsiteY31" fmla="*/ 129926 h 357879"/>
              <a:gd name="connsiteX32" fmla="*/ 92193 w 358267"/>
              <a:gd name="connsiteY32" fmla="*/ 60295 h 357879"/>
              <a:gd name="connsiteX33" fmla="*/ 66130 w 358267"/>
              <a:gd name="connsiteY33" fmla="*/ 60295 h 357879"/>
              <a:gd name="connsiteX34" fmla="*/ 100362 w 358267"/>
              <a:gd name="connsiteY34" fmla="*/ 35399 h 357879"/>
              <a:gd name="connsiteX35" fmla="*/ 105808 w 358267"/>
              <a:gd name="connsiteY35" fmla="*/ 48236 h 357879"/>
              <a:gd name="connsiteX36" fmla="*/ 126814 w 358267"/>
              <a:gd name="connsiteY36" fmla="*/ 17894 h 357879"/>
              <a:gd name="connsiteX37" fmla="*/ 90248 w 358267"/>
              <a:gd name="connsiteY37" fmla="*/ 13226 h 357879"/>
              <a:gd name="connsiteX38" fmla="*/ 96472 w 358267"/>
              <a:gd name="connsiteY38" fmla="*/ 26841 h 357879"/>
              <a:gd name="connsiteX39" fmla="*/ 52904 w 358267"/>
              <a:gd name="connsiteY39" fmla="*/ 60684 h 357879"/>
              <a:gd name="connsiteX40" fmla="*/ 22562 w 358267"/>
              <a:gd name="connsiteY40" fmla="*/ 60684 h 357879"/>
              <a:gd name="connsiteX41" fmla="*/ 22562 w 358267"/>
              <a:gd name="connsiteY41" fmla="*/ 104641 h 357879"/>
              <a:gd name="connsiteX42" fmla="*/ 5835 w 358267"/>
              <a:gd name="connsiteY42" fmla="*/ 169604 h 357879"/>
              <a:gd name="connsiteX43" fmla="*/ 0 w 358267"/>
              <a:gd name="connsiteY43" fmla="*/ 178940 h 357879"/>
              <a:gd name="connsiteX44" fmla="*/ 5835 w 358267"/>
              <a:gd name="connsiteY44" fmla="*/ 188275 h 357879"/>
              <a:gd name="connsiteX45" fmla="*/ 22562 w 358267"/>
              <a:gd name="connsiteY45" fmla="*/ 254016 h 357879"/>
              <a:gd name="connsiteX46" fmla="*/ 22562 w 358267"/>
              <a:gd name="connsiteY46" fmla="*/ 320924 h 357879"/>
              <a:gd name="connsiteX47" fmla="*/ 79745 w 358267"/>
              <a:gd name="connsiteY47" fmla="*/ 320924 h 357879"/>
              <a:gd name="connsiteX48" fmla="*/ 169993 w 358267"/>
              <a:gd name="connsiteY48" fmla="*/ 352044 h 357879"/>
              <a:gd name="connsiteX49" fmla="*/ 179329 w 358267"/>
              <a:gd name="connsiteY49" fmla="*/ 357879 h 357879"/>
              <a:gd name="connsiteX50" fmla="*/ 188664 w 358267"/>
              <a:gd name="connsiteY50" fmla="*/ 352044 h 357879"/>
              <a:gd name="connsiteX51" fmla="*/ 278912 w 358267"/>
              <a:gd name="connsiteY51" fmla="*/ 320924 h 357879"/>
              <a:gd name="connsiteX52" fmla="*/ 332205 w 358267"/>
              <a:gd name="connsiteY52" fmla="*/ 320924 h 357879"/>
              <a:gd name="connsiteX53" fmla="*/ 332205 w 358267"/>
              <a:gd name="connsiteY53" fmla="*/ 260240 h 357879"/>
              <a:gd name="connsiteX54" fmla="*/ 352433 w 358267"/>
              <a:gd name="connsiteY54" fmla="*/ 187886 h 357879"/>
              <a:gd name="connsiteX55" fmla="*/ 358268 w 358267"/>
              <a:gd name="connsiteY55" fmla="*/ 178162 h 357879"/>
              <a:gd name="connsiteX56" fmla="*/ 352044 w 358267"/>
              <a:gd name="connsiteY56" fmla="*/ 169604 h 357879"/>
              <a:gd name="connsiteX57" fmla="*/ 272299 w 358267"/>
              <a:gd name="connsiteY57" fmla="*/ 120201 h 357879"/>
              <a:gd name="connsiteX58" fmla="*/ 272299 w 358267"/>
              <a:gd name="connsiteY58" fmla="*/ 70020 h 357879"/>
              <a:gd name="connsiteX59" fmla="*/ 322480 w 358267"/>
              <a:gd name="connsiteY59" fmla="*/ 70020 h 357879"/>
              <a:gd name="connsiteX60" fmla="*/ 322480 w 358267"/>
              <a:gd name="connsiteY60" fmla="*/ 120201 h 357879"/>
              <a:gd name="connsiteX61" fmla="*/ 272299 w 358267"/>
              <a:gd name="connsiteY61" fmla="*/ 120201 h 357879"/>
              <a:gd name="connsiteX62" fmla="*/ 322480 w 358267"/>
              <a:gd name="connsiteY62" fmla="*/ 261018 h 357879"/>
              <a:gd name="connsiteX63" fmla="*/ 322480 w 358267"/>
              <a:gd name="connsiteY63" fmla="*/ 311199 h 357879"/>
              <a:gd name="connsiteX64" fmla="*/ 272299 w 358267"/>
              <a:gd name="connsiteY64" fmla="*/ 311199 h 357879"/>
              <a:gd name="connsiteX65" fmla="*/ 272299 w 358267"/>
              <a:gd name="connsiteY65" fmla="*/ 261018 h 357879"/>
              <a:gd name="connsiteX66" fmla="*/ 322480 w 358267"/>
              <a:gd name="connsiteY66" fmla="*/ 261018 h 357879"/>
              <a:gd name="connsiteX67" fmla="*/ 32287 w 358267"/>
              <a:gd name="connsiteY67" fmla="*/ 120201 h 357879"/>
              <a:gd name="connsiteX68" fmla="*/ 32287 w 358267"/>
              <a:gd name="connsiteY68" fmla="*/ 70020 h 357879"/>
              <a:gd name="connsiteX69" fmla="*/ 82468 w 358267"/>
              <a:gd name="connsiteY69" fmla="*/ 70020 h 357879"/>
              <a:gd name="connsiteX70" fmla="*/ 82468 w 358267"/>
              <a:gd name="connsiteY70" fmla="*/ 120201 h 357879"/>
              <a:gd name="connsiteX71" fmla="*/ 32287 w 358267"/>
              <a:gd name="connsiteY71" fmla="*/ 120201 h 357879"/>
              <a:gd name="connsiteX72" fmla="*/ 82468 w 358267"/>
              <a:gd name="connsiteY72" fmla="*/ 261018 h 357879"/>
              <a:gd name="connsiteX73" fmla="*/ 82468 w 358267"/>
              <a:gd name="connsiteY73" fmla="*/ 311199 h 357879"/>
              <a:gd name="connsiteX74" fmla="*/ 32287 w 358267"/>
              <a:gd name="connsiteY74" fmla="*/ 311199 h 357879"/>
              <a:gd name="connsiteX75" fmla="*/ 32287 w 358267"/>
              <a:gd name="connsiteY75" fmla="*/ 261018 h 357879"/>
              <a:gd name="connsiteX76" fmla="*/ 82468 w 358267"/>
              <a:gd name="connsiteY76" fmla="*/ 261018 h 357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358267" h="357879">
                <a:moveTo>
                  <a:pt x="352044" y="169604"/>
                </a:moveTo>
                <a:cubicBezTo>
                  <a:pt x="350877" y="144319"/>
                  <a:pt x="343875" y="120201"/>
                  <a:pt x="332205" y="97639"/>
                </a:cubicBezTo>
                <a:lnTo>
                  <a:pt x="332205" y="60295"/>
                </a:lnTo>
                <a:lnTo>
                  <a:pt x="305364" y="60295"/>
                </a:lnTo>
                <a:cubicBezTo>
                  <a:pt x="274633" y="27230"/>
                  <a:pt x="233010" y="8169"/>
                  <a:pt x="188664" y="5835"/>
                </a:cubicBezTo>
                <a:cubicBezTo>
                  <a:pt x="186719" y="2334"/>
                  <a:pt x="183218" y="0"/>
                  <a:pt x="178940" y="0"/>
                </a:cubicBezTo>
                <a:cubicBezTo>
                  <a:pt x="173105" y="0"/>
                  <a:pt x="168437" y="4668"/>
                  <a:pt x="168437" y="10503"/>
                </a:cubicBezTo>
                <a:cubicBezTo>
                  <a:pt x="168437" y="16338"/>
                  <a:pt x="173105" y="21006"/>
                  <a:pt x="178940" y="21006"/>
                </a:cubicBezTo>
                <a:cubicBezTo>
                  <a:pt x="182441" y="21006"/>
                  <a:pt x="186330" y="18672"/>
                  <a:pt x="187886" y="15560"/>
                </a:cubicBezTo>
                <a:cubicBezTo>
                  <a:pt x="226786" y="17505"/>
                  <a:pt x="263352" y="33454"/>
                  <a:pt x="291749" y="60295"/>
                </a:cubicBezTo>
                <a:lnTo>
                  <a:pt x="262574" y="60295"/>
                </a:lnTo>
                <a:lnTo>
                  <a:pt x="262574" y="129926"/>
                </a:lnTo>
                <a:lnTo>
                  <a:pt x="332205" y="129926"/>
                </a:lnTo>
                <a:lnTo>
                  <a:pt x="332205" y="121368"/>
                </a:lnTo>
                <a:cubicBezTo>
                  <a:pt x="338040" y="136928"/>
                  <a:pt x="341541" y="152877"/>
                  <a:pt x="342319" y="169604"/>
                </a:cubicBezTo>
                <a:cubicBezTo>
                  <a:pt x="339207" y="171549"/>
                  <a:pt x="336873" y="175050"/>
                  <a:pt x="336873" y="178551"/>
                </a:cubicBezTo>
                <a:cubicBezTo>
                  <a:pt x="336873" y="182051"/>
                  <a:pt x="339207" y="185941"/>
                  <a:pt x="342319" y="187497"/>
                </a:cubicBezTo>
                <a:cubicBezTo>
                  <a:pt x="341152" y="209670"/>
                  <a:pt x="335706" y="231065"/>
                  <a:pt x="325981" y="250904"/>
                </a:cubicBezTo>
                <a:lnTo>
                  <a:pt x="262574" y="250904"/>
                </a:lnTo>
                <a:lnTo>
                  <a:pt x="262574" y="319368"/>
                </a:lnTo>
                <a:cubicBezTo>
                  <a:pt x="240012" y="332983"/>
                  <a:pt x="214338" y="340763"/>
                  <a:pt x="187886" y="341930"/>
                </a:cubicBezTo>
                <a:cubicBezTo>
                  <a:pt x="185941" y="338818"/>
                  <a:pt x="182441" y="336484"/>
                  <a:pt x="178940" y="336484"/>
                </a:cubicBezTo>
                <a:cubicBezTo>
                  <a:pt x="175439" y="336484"/>
                  <a:pt x="171549" y="338818"/>
                  <a:pt x="169993" y="341930"/>
                </a:cubicBezTo>
                <a:cubicBezTo>
                  <a:pt x="142374" y="340374"/>
                  <a:pt x="115533" y="331816"/>
                  <a:pt x="92193" y="317423"/>
                </a:cubicBezTo>
                <a:lnTo>
                  <a:pt x="92193" y="251293"/>
                </a:lnTo>
                <a:lnTo>
                  <a:pt x="31898" y="251293"/>
                </a:lnTo>
                <a:cubicBezTo>
                  <a:pt x="22173" y="231454"/>
                  <a:pt x="16338" y="210059"/>
                  <a:pt x="15171" y="187886"/>
                </a:cubicBezTo>
                <a:cubicBezTo>
                  <a:pt x="18283" y="185941"/>
                  <a:pt x="20617" y="182441"/>
                  <a:pt x="20617" y="178940"/>
                </a:cubicBezTo>
                <a:cubicBezTo>
                  <a:pt x="20617" y="175439"/>
                  <a:pt x="18283" y="171549"/>
                  <a:pt x="15171" y="169993"/>
                </a:cubicBezTo>
                <a:cubicBezTo>
                  <a:pt x="15949" y="156378"/>
                  <a:pt x="18283" y="142763"/>
                  <a:pt x="22562" y="129537"/>
                </a:cubicBezTo>
                <a:lnTo>
                  <a:pt x="22562" y="129926"/>
                </a:lnTo>
                <a:lnTo>
                  <a:pt x="92193" y="129926"/>
                </a:lnTo>
                <a:lnTo>
                  <a:pt x="92193" y="60295"/>
                </a:lnTo>
                <a:lnTo>
                  <a:pt x="66130" y="60295"/>
                </a:lnTo>
                <a:cubicBezTo>
                  <a:pt x="76244" y="50570"/>
                  <a:pt x="87914" y="42012"/>
                  <a:pt x="100362" y="35399"/>
                </a:cubicBezTo>
                <a:lnTo>
                  <a:pt x="105808" y="48236"/>
                </a:lnTo>
                <a:lnTo>
                  <a:pt x="126814" y="17894"/>
                </a:lnTo>
                <a:lnTo>
                  <a:pt x="90248" y="13226"/>
                </a:lnTo>
                <a:lnTo>
                  <a:pt x="96472" y="26841"/>
                </a:lnTo>
                <a:cubicBezTo>
                  <a:pt x="80134" y="35399"/>
                  <a:pt x="65741" y="47069"/>
                  <a:pt x="52904" y="60684"/>
                </a:cubicBezTo>
                <a:lnTo>
                  <a:pt x="22562" y="60684"/>
                </a:lnTo>
                <a:lnTo>
                  <a:pt x="22562" y="104641"/>
                </a:lnTo>
                <a:cubicBezTo>
                  <a:pt x="12837" y="125258"/>
                  <a:pt x="7002" y="147042"/>
                  <a:pt x="5835" y="169604"/>
                </a:cubicBezTo>
                <a:cubicBezTo>
                  <a:pt x="2334" y="171160"/>
                  <a:pt x="0" y="174661"/>
                  <a:pt x="0" y="178940"/>
                </a:cubicBezTo>
                <a:cubicBezTo>
                  <a:pt x="0" y="183218"/>
                  <a:pt x="2334" y="186719"/>
                  <a:pt x="5835" y="188275"/>
                </a:cubicBezTo>
                <a:cubicBezTo>
                  <a:pt x="7002" y="211226"/>
                  <a:pt x="12837" y="233399"/>
                  <a:pt x="22562" y="254016"/>
                </a:cubicBezTo>
                <a:lnTo>
                  <a:pt x="22562" y="320924"/>
                </a:lnTo>
                <a:lnTo>
                  <a:pt x="79745" y="320924"/>
                </a:lnTo>
                <a:cubicBezTo>
                  <a:pt x="106197" y="339596"/>
                  <a:pt x="137317" y="350099"/>
                  <a:pt x="169993" y="352044"/>
                </a:cubicBezTo>
                <a:cubicBezTo>
                  <a:pt x="171549" y="355545"/>
                  <a:pt x="175439" y="357879"/>
                  <a:pt x="179329" y="357879"/>
                </a:cubicBezTo>
                <a:cubicBezTo>
                  <a:pt x="183607" y="357879"/>
                  <a:pt x="187108" y="355545"/>
                  <a:pt x="188664" y="352044"/>
                </a:cubicBezTo>
                <a:cubicBezTo>
                  <a:pt x="220951" y="350488"/>
                  <a:pt x="252071" y="339596"/>
                  <a:pt x="278912" y="320924"/>
                </a:cubicBezTo>
                <a:lnTo>
                  <a:pt x="332205" y="320924"/>
                </a:lnTo>
                <a:lnTo>
                  <a:pt x="332205" y="260240"/>
                </a:lnTo>
                <a:cubicBezTo>
                  <a:pt x="344264" y="237678"/>
                  <a:pt x="350877" y="213560"/>
                  <a:pt x="352433" y="187886"/>
                </a:cubicBezTo>
                <a:cubicBezTo>
                  <a:pt x="355934" y="186330"/>
                  <a:pt x="358268" y="182441"/>
                  <a:pt x="358268" y="178162"/>
                </a:cubicBezTo>
                <a:cubicBezTo>
                  <a:pt x="357879" y="174272"/>
                  <a:pt x="355545" y="171160"/>
                  <a:pt x="352044" y="169604"/>
                </a:cubicBezTo>
                <a:close/>
                <a:moveTo>
                  <a:pt x="272299" y="120201"/>
                </a:moveTo>
                <a:lnTo>
                  <a:pt x="272299" y="70020"/>
                </a:lnTo>
                <a:lnTo>
                  <a:pt x="322480" y="70020"/>
                </a:lnTo>
                <a:lnTo>
                  <a:pt x="322480" y="120201"/>
                </a:lnTo>
                <a:lnTo>
                  <a:pt x="272299" y="120201"/>
                </a:lnTo>
                <a:close/>
                <a:moveTo>
                  <a:pt x="322480" y="261018"/>
                </a:moveTo>
                <a:lnTo>
                  <a:pt x="322480" y="311199"/>
                </a:lnTo>
                <a:lnTo>
                  <a:pt x="272299" y="311199"/>
                </a:lnTo>
                <a:lnTo>
                  <a:pt x="272299" y="261018"/>
                </a:lnTo>
                <a:lnTo>
                  <a:pt x="322480" y="261018"/>
                </a:lnTo>
                <a:close/>
                <a:moveTo>
                  <a:pt x="32287" y="120201"/>
                </a:moveTo>
                <a:lnTo>
                  <a:pt x="32287" y="70020"/>
                </a:lnTo>
                <a:lnTo>
                  <a:pt x="82468" y="70020"/>
                </a:lnTo>
                <a:lnTo>
                  <a:pt x="82468" y="120201"/>
                </a:lnTo>
                <a:lnTo>
                  <a:pt x="32287" y="120201"/>
                </a:lnTo>
                <a:close/>
                <a:moveTo>
                  <a:pt x="82468" y="261018"/>
                </a:moveTo>
                <a:lnTo>
                  <a:pt x="82468" y="311199"/>
                </a:lnTo>
                <a:lnTo>
                  <a:pt x="32287" y="311199"/>
                </a:lnTo>
                <a:lnTo>
                  <a:pt x="32287" y="261018"/>
                </a:lnTo>
                <a:lnTo>
                  <a:pt x="82468" y="261018"/>
                </a:lnTo>
                <a:close/>
              </a:path>
            </a:pathLst>
          </a:custGeom>
          <a:solidFill>
            <a:schemeClr val="bg1"/>
          </a:solidFill>
          <a:ln w="3831" cap="flat">
            <a:noFill/>
            <a:prstDash val="solid"/>
            <a:miter/>
          </a:ln>
        </p:spPr>
        <p:txBody>
          <a:bodyPr rtlCol="0" anchor="ctr"/>
          <a:lstStyle/>
          <a:p>
            <a:pPr defTabSz="342914">
              <a:defRPr/>
            </a:pPr>
            <a:endParaRPr lang="en-US" sz="1000" dirty="0">
              <a:solidFill>
                <a:schemeClr val="accent1"/>
              </a:solidFill>
              <a:latin typeface="+mj-lt"/>
            </a:endParaRPr>
          </a:p>
        </p:txBody>
      </p:sp>
      <p:sp>
        <p:nvSpPr>
          <p:cNvPr id="191" name="Freeform 9">
            <a:extLst>
              <a:ext uri="{FF2B5EF4-FFF2-40B4-BE49-F238E27FC236}">
                <a16:creationId xmlns:a16="http://schemas.microsoft.com/office/drawing/2014/main" id="{BA00ED6F-370E-97B2-8D7D-94F5DBFB3F1A}"/>
              </a:ext>
            </a:extLst>
          </p:cNvPr>
          <p:cNvSpPr>
            <a:spLocks noChangeAspect="1" noEditPoints="1"/>
          </p:cNvSpPr>
          <p:nvPr/>
        </p:nvSpPr>
        <p:spPr bwMode="auto">
          <a:xfrm>
            <a:off x="10007164" y="5241383"/>
            <a:ext cx="508615" cy="508615"/>
          </a:xfrm>
          <a:custGeom>
            <a:avLst/>
            <a:gdLst>
              <a:gd name="T0" fmla="*/ 1438 w 1614"/>
              <a:gd name="T1" fmla="*/ 1614 h 1614"/>
              <a:gd name="T2" fmla="*/ 1262 w 1614"/>
              <a:gd name="T3" fmla="*/ 1456 h 1614"/>
              <a:gd name="T4" fmla="*/ 807 w 1614"/>
              <a:gd name="T5" fmla="*/ 1456 h 1614"/>
              <a:gd name="T6" fmla="*/ 788 w 1614"/>
              <a:gd name="T7" fmla="*/ 1438 h 1614"/>
              <a:gd name="T8" fmla="*/ 788 w 1614"/>
              <a:gd name="T9" fmla="*/ 826 h 1614"/>
              <a:gd name="T10" fmla="*/ 352 w 1614"/>
              <a:gd name="T11" fmla="*/ 826 h 1614"/>
              <a:gd name="T12" fmla="*/ 177 w 1614"/>
              <a:gd name="T13" fmla="*/ 984 h 1614"/>
              <a:gd name="T14" fmla="*/ 0 w 1614"/>
              <a:gd name="T15" fmla="*/ 807 h 1614"/>
              <a:gd name="T16" fmla="*/ 177 w 1614"/>
              <a:gd name="T17" fmla="*/ 631 h 1614"/>
              <a:gd name="T18" fmla="*/ 352 w 1614"/>
              <a:gd name="T19" fmla="*/ 788 h 1614"/>
              <a:gd name="T20" fmla="*/ 788 w 1614"/>
              <a:gd name="T21" fmla="*/ 788 h 1614"/>
              <a:gd name="T22" fmla="*/ 788 w 1614"/>
              <a:gd name="T23" fmla="*/ 177 h 1614"/>
              <a:gd name="T24" fmla="*/ 807 w 1614"/>
              <a:gd name="T25" fmla="*/ 158 h 1614"/>
              <a:gd name="T26" fmla="*/ 1262 w 1614"/>
              <a:gd name="T27" fmla="*/ 158 h 1614"/>
              <a:gd name="T28" fmla="*/ 1438 w 1614"/>
              <a:gd name="T29" fmla="*/ 0 h 1614"/>
              <a:gd name="T30" fmla="*/ 1614 w 1614"/>
              <a:gd name="T31" fmla="*/ 177 h 1614"/>
              <a:gd name="T32" fmla="*/ 1438 w 1614"/>
              <a:gd name="T33" fmla="*/ 353 h 1614"/>
              <a:gd name="T34" fmla="*/ 1262 w 1614"/>
              <a:gd name="T35" fmla="*/ 195 h 1614"/>
              <a:gd name="T36" fmla="*/ 826 w 1614"/>
              <a:gd name="T37" fmla="*/ 195 h 1614"/>
              <a:gd name="T38" fmla="*/ 826 w 1614"/>
              <a:gd name="T39" fmla="*/ 788 h 1614"/>
              <a:gd name="T40" fmla="*/ 1262 w 1614"/>
              <a:gd name="T41" fmla="*/ 788 h 1614"/>
              <a:gd name="T42" fmla="*/ 1438 w 1614"/>
              <a:gd name="T43" fmla="*/ 631 h 1614"/>
              <a:gd name="T44" fmla="*/ 1614 w 1614"/>
              <a:gd name="T45" fmla="*/ 807 h 1614"/>
              <a:gd name="T46" fmla="*/ 1438 w 1614"/>
              <a:gd name="T47" fmla="*/ 984 h 1614"/>
              <a:gd name="T48" fmla="*/ 1262 w 1614"/>
              <a:gd name="T49" fmla="*/ 826 h 1614"/>
              <a:gd name="T50" fmla="*/ 826 w 1614"/>
              <a:gd name="T51" fmla="*/ 826 h 1614"/>
              <a:gd name="T52" fmla="*/ 826 w 1614"/>
              <a:gd name="T53" fmla="*/ 1419 h 1614"/>
              <a:gd name="T54" fmla="*/ 1262 w 1614"/>
              <a:gd name="T55" fmla="*/ 1419 h 1614"/>
              <a:gd name="T56" fmla="*/ 1438 w 1614"/>
              <a:gd name="T57" fmla="*/ 1261 h 1614"/>
              <a:gd name="T58" fmla="*/ 1614 w 1614"/>
              <a:gd name="T59" fmla="*/ 1438 h 1614"/>
              <a:gd name="T60" fmla="*/ 1438 w 1614"/>
              <a:gd name="T61" fmla="*/ 1614 h 1614"/>
              <a:gd name="T62" fmla="*/ 1438 w 1614"/>
              <a:gd name="T63" fmla="*/ 1299 h 1614"/>
              <a:gd name="T64" fmla="*/ 1299 w 1614"/>
              <a:gd name="T65" fmla="*/ 1438 h 1614"/>
              <a:gd name="T66" fmla="*/ 1438 w 1614"/>
              <a:gd name="T67" fmla="*/ 1576 h 1614"/>
              <a:gd name="T68" fmla="*/ 1576 w 1614"/>
              <a:gd name="T69" fmla="*/ 1438 h 1614"/>
              <a:gd name="T70" fmla="*/ 1438 w 1614"/>
              <a:gd name="T71" fmla="*/ 1299 h 1614"/>
              <a:gd name="T72" fmla="*/ 1438 w 1614"/>
              <a:gd name="T73" fmla="*/ 668 h 1614"/>
              <a:gd name="T74" fmla="*/ 1299 w 1614"/>
              <a:gd name="T75" fmla="*/ 807 h 1614"/>
              <a:gd name="T76" fmla="*/ 1438 w 1614"/>
              <a:gd name="T77" fmla="*/ 946 h 1614"/>
              <a:gd name="T78" fmla="*/ 1576 w 1614"/>
              <a:gd name="T79" fmla="*/ 807 h 1614"/>
              <a:gd name="T80" fmla="*/ 1438 w 1614"/>
              <a:gd name="T81" fmla="*/ 668 h 1614"/>
              <a:gd name="T82" fmla="*/ 177 w 1614"/>
              <a:gd name="T83" fmla="*/ 668 h 1614"/>
              <a:gd name="T84" fmla="*/ 38 w 1614"/>
              <a:gd name="T85" fmla="*/ 807 h 1614"/>
              <a:gd name="T86" fmla="*/ 177 w 1614"/>
              <a:gd name="T87" fmla="*/ 946 h 1614"/>
              <a:gd name="T88" fmla="*/ 315 w 1614"/>
              <a:gd name="T89" fmla="*/ 807 h 1614"/>
              <a:gd name="T90" fmla="*/ 177 w 1614"/>
              <a:gd name="T91" fmla="*/ 668 h 1614"/>
              <a:gd name="T92" fmla="*/ 1438 w 1614"/>
              <a:gd name="T93" fmla="*/ 38 h 1614"/>
              <a:gd name="T94" fmla="*/ 1299 w 1614"/>
              <a:gd name="T95" fmla="*/ 177 h 1614"/>
              <a:gd name="T96" fmla="*/ 1438 w 1614"/>
              <a:gd name="T97" fmla="*/ 315 h 1614"/>
              <a:gd name="T98" fmla="*/ 1576 w 1614"/>
              <a:gd name="T99" fmla="*/ 177 h 1614"/>
              <a:gd name="T100" fmla="*/ 1438 w 1614"/>
              <a:gd name="T101" fmla="*/ 38 h 1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614" h="1614">
                <a:moveTo>
                  <a:pt x="1438" y="1614"/>
                </a:moveTo>
                <a:cubicBezTo>
                  <a:pt x="1347" y="1614"/>
                  <a:pt x="1272" y="1545"/>
                  <a:pt x="1262" y="1456"/>
                </a:cubicBezTo>
                <a:cubicBezTo>
                  <a:pt x="807" y="1456"/>
                  <a:pt x="807" y="1456"/>
                  <a:pt x="807" y="1456"/>
                </a:cubicBezTo>
                <a:cubicBezTo>
                  <a:pt x="797" y="1456"/>
                  <a:pt x="788" y="1448"/>
                  <a:pt x="788" y="1438"/>
                </a:cubicBezTo>
                <a:cubicBezTo>
                  <a:pt x="788" y="826"/>
                  <a:pt x="788" y="826"/>
                  <a:pt x="788" y="826"/>
                </a:cubicBezTo>
                <a:cubicBezTo>
                  <a:pt x="352" y="826"/>
                  <a:pt x="352" y="826"/>
                  <a:pt x="352" y="826"/>
                </a:cubicBezTo>
                <a:cubicBezTo>
                  <a:pt x="343" y="914"/>
                  <a:pt x="268" y="984"/>
                  <a:pt x="177" y="984"/>
                </a:cubicBezTo>
                <a:cubicBezTo>
                  <a:pt x="79" y="984"/>
                  <a:pt x="0" y="904"/>
                  <a:pt x="0" y="807"/>
                </a:cubicBezTo>
                <a:cubicBezTo>
                  <a:pt x="0" y="710"/>
                  <a:pt x="79" y="631"/>
                  <a:pt x="177" y="631"/>
                </a:cubicBezTo>
                <a:cubicBezTo>
                  <a:pt x="268" y="631"/>
                  <a:pt x="343" y="700"/>
                  <a:pt x="352" y="788"/>
                </a:cubicBezTo>
                <a:cubicBezTo>
                  <a:pt x="788" y="788"/>
                  <a:pt x="788" y="788"/>
                  <a:pt x="788" y="788"/>
                </a:cubicBezTo>
                <a:cubicBezTo>
                  <a:pt x="788" y="177"/>
                  <a:pt x="788" y="177"/>
                  <a:pt x="788" y="177"/>
                </a:cubicBezTo>
                <a:cubicBezTo>
                  <a:pt x="788" y="166"/>
                  <a:pt x="797" y="158"/>
                  <a:pt x="807" y="158"/>
                </a:cubicBezTo>
                <a:cubicBezTo>
                  <a:pt x="1262" y="158"/>
                  <a:pt x="1262" y="158"/>
                  <a:pt x="1262" y="158"/>
                </a:cubicBezTo>
                <a:cubicBezTo>
                  <a:pt x="1272" y="69"/>
                  <a:pt x="1347" y="0"/>
                  <a:pt x="1438" y="0"/>
                </a:cubicBezTo>
                <a:cubicBezTo>
                  <a:pt x="1535" y="0"/>
                  <a:pt x="1614" y="79"/>
                  <a:pt x="1614" y="177"/>
                </a:cubicBezTo>
                <a:cubicBezTo>
                  <a:pt x="1614" y="274"/>
                  <a:pt x="1535" y="353"/>
                  <a:pt x="1438" y="353"/>
                </a:cubicBezTo>
                <a:cubicBezTo>
                  <a:pt x="1347" y="353"/>
                  <a:pt x="1272" y="284"/>
                  <a:pt x="1262" y="195"/>
                </a:cubicBezTo>
                <a:cubicBezTo>
                  <a:pt x="826" y="195"/>
                  <a:pt x="826" y="195"/>
                  <a:pt x="826" y="195"/>
                </a:cubicBezTo>
                <a:cubicBezTo>
                  <a:pt x="826" y="788"/>
                  <a:pt x="826" y="788"/>
                  <a:pt x="826" y="788"/>
                </a:cubicBezTo>
                <a:cubicBezTo>
                  <a:pt x="1262" y="788"/>
                  <a:pt x="1262" y="788"/>
                  <a:pt x="1262" y="788"/>
                </a:cubicBezTo>
                <a:cubicBezTo>
                  <a:pt x="1272" y="700"/>
                  <a:pt x="1347" y="631"/>
                  <a:pt x="1438" y="631"/>
                </a:cubicBezTo>
                <a:cubicBezTo>
                  <a:pt x="1535" y="631"/>
                  <a:pt x="1614" y="710"/>
                  <a:pt x="1614" y="807"/>
                </a:cubicBezTo>
                <a:cubicBezTo>
                  <a:pt x="1614" y="904"/>
                  <a:pt x="1535" y="984"/>
                  <a:pt x="1438" y="984"/>
                </a:cubicBezTo>
                <a:cubicBezTo>
                  <a:pt x="1347" y="984"/>
                  <a:pt x="1272" y="914"/>
                  <a:pt x="1262" y="826"/>
                </a:cubicBezTo>
                <a:cubicBezTo>
                  <a:pt x="826" y="826"/>
                  <a:pt x="826" y="826"/>
                  <a:pt x="826" y="826"/>
                </a:cubicBezTo>
                <a:cubicBezTo>
                  <a:pt x="826" y="1419"/>
                  <a:pt x="826" y="1419"/>
                  <a:pt x="826" y="1419"/>
                </a:cubicBezTo>
                <a:cubicBezTo>
                  <a:pt x="1262" y="1419"/>
                  <a:pt x="1262" y="1419"/>
                  <a:pt x="1262" y="1419"/>
                </a:cubicBezTo>
                <a:cubicBezTo>
                  <a:pt x="1272" y="1330"/>
                  <a:pt x="1347" y="1261"/>
                  <a:pt x="1438" y="1261"/>
                </a:cubicBezTo>
                <a:cubicBezTo>
                  <a:pt x="1535" y="1261"/>
                  <a:pt x="1614" y="1340"/>
                  <a:pt x="1614" y="1438"/>
                </a:cubicBezTo>
                <a:cubicBezTo>
                  <a:pt x="1614" y="1535"/>
                  <a:pt x="1535" y="1614"/>
                  <a:pt x="1438" y="1614"/>
                </a:cubicBezTo>
                <a:close/>
                <a:moveTo>
                  <a:pt x="1438" y="1299"/>
                </a:moveTo>
                <a:cubicBezTo>
                  <a:pt x="1361" y="1299"/>
                  <a:pt x="1299" y="1361"/>
                  <a:pt x="1299" y="1438"/>
                </a:cubicBezTo>
                <a:cubicBezTo>
                  <a:pt x="1299" y="1514"/>
                  <a:pt x="1361" y="1576"/>
                  <a:pt x="1438" y="1576"/>
                </a:cubicBezTo>
                <a:cubicBezTo>
                  <a:pt x="1514" y="1576"/>
                  <a:pt x="1576" y="1514"/>
                  <a:pt x="1576" y="1438"/>
                </a:cubicBezTo>
                <a:cubicBezTo>
                  <a:pt x="1576" y="1361"/>
                  <a:pt x="1514" y="1299"/>
                  <a:pt x="1438" y="1299"/>
                </a:cubicBezTo>
                <a:close/>
                <a:moveTo>
                  <a:pt x="1438" y="668"/>
                </a:moveTo>
                <a:cubicBezTo>
                  <a:pt x="1361" y="668"/>
                  <a:pt x="1299" y="731"/>
                  <a:pt x="1299" y="807"/>
                </a:cubicBezTo>
                <a:cubicBezTo>
                  <a:pt x="1299" y="884"/>
                  <a:pt x="1361" y="946"/>
                  <a:pt x="1438" y="946"/>
                </a:cubicBezTo>
                <a:cubicBezTo>
                  <a:pt x="1514" y="946"/>
                  <a:pt x="1576" y="884"/>
                  <a:pt x="1576" y="807"/>
                </a:cubicBezTo>
                <a:cubicBezTo>
                  <a:pt x="1576" y="731"/>
                  <a:pt x="1514" y="668"/>
                  <a:pt x="1438" y="668"/>
                </a:cubicBezTo>
                <a:close/>
                <a:moveTo>
                  <a:pt x="177" y="668"/>
                </a:moveTo>
                <a:cubicBezTo>
                  <a:pt x="100" y="668"/>
                  <a:pt x="38" y="731"/>
                  <a:pt x="38" y="807"/>
                </a:cubicBezTo>
                <a:cubicBezTo>
                  <a:pt x="38" y="884"/>
                  <a:pt x="100" y="946"/>
                  <a:pt x="177" y="946"/>
                </a:cubicBezTo>
                <a:cubicBezTo>
                  <a:pt x="253" y="946"/>
                  <a:pt x="315" y="884"/>
                  <a:pt x="315" y="807"/>
                </a:cubicBezTo>
                <a:cubicBezTo>
                  <a:pt x="315" y="731"/>
                  <a:pt x="253" y="668"/>
                  <a:pt x="177" y="668"/>
                </a:cubicBezTo>
                <a:close/>
                <a:moveTo>
                  <a:pt x="1438" y="38"/>
                </a:moveTo>
                <a:cubicBezTo>
                  <a:pt x="1361" y="38"/>
                  <a:pt x="1299" y="100"/>
                  <a:pt x="1299" y="177"/>
                </a:cubicBezTo>
                <a:cubicBezTo>
                  <a:pt x="1299" y="253"/>
                  <a:pt x="1361" y="315"/>
                  <a:pt x="1438" y="315"/>
                </a:cubicBezTo>
                <a:cubicBezTo>
                  <a:pt x="1514" y="315"/>
                  <a:pt x="1576" y="253"/>
                  <a:pt x="1576" y="177"/>
                </a:cubicBezTo>
                <a:cubicBezTo>
                  <a:pt x="1576" y="100"/>
                  <a:pt x="1514" y="38"/>
                  <a:pt x="1438" y="38"/>
                </a:cubicBezTo>
                <a:close/>
              </a:path>
            </a:pathLst>
          </a:custGeom>
          <a:solidFill>
            <a:schemeClr val="bg1"/>
          </a:solidFill>
          <a:ln>
            <a:noFill/>
          </a:ln>
        </p:spPr>
        <p:txBody>
          <a:bodyPr vert="horz" wrap="square" lIns="45714" tIns="22857" rIns="45714" bIns="22857" numCol="1" anchor="t" anchorCtr="0" compatLnSpc="1">
            <a:prstTxWarp prst="textNoShape">
              <a:avLst/>
            </a:prstTxWarp>
          </a:bodyPr>
          <a:lstStyle/>
          <a:p>
            <a:pPr defTabSz="342914">
              <a:defRPr/>
            </a:pPr>
            <a:endParaRPr lang="uk-UA" sz="1000">
              <a:solidFill>
                <a:schemeClr val="accent1"/>
              </a:solidFill>
              <a:latin typeface="+mj-lt"/>
            </a:endParaRPr>
          </a:p>
        </p:txBody>
      </p:sp>
      <p:grpSp>
        <p:nvGrpSpPr>
          <p:cNvPr id="192" name="Group 191">
            <a:extLst>
              <a:ext uri="{FF2B5EF4-FFF2-40B4-BE49-F238E27FC236}">
                <a16:creationId xmlns:a16="http://schemas.microsoft.com/office/drawing/2014/main" id="{0CD2554E-A386-C017-EBC4-5FF2D9C09DDE}"/>
              </a:ext>
            </a:extLst>
          </p:cNvPr>
          <p:cNvGrpSpPr/>
          <p:nvPr/>
        </p:nvGrpSpPr>
        <p:grpSpPr>
          <a:xfrm>
            <a:off x="7374814" y="1435131"/>
            <a:ext cx="639717" cy="508615"/>
            <a:chOff x="5144638" y="777674"/>
            <a:chExt cx="460039" cy="383367"/>
          </a:xfrm>
          <a:solidFill>
            <a:schemeClr val="bg1"/>
          </a:solidFill>
        </p:grpSpPr>
        <p:sp>
          <p:nvSpPr>
            <p:cNvPr id="193" name="Freeform: Shape 328">
              <a:extLst>
                <a:ext uri="{FF2B5EF4-FFF2-40B4-BE49-F238E27FC236}">
                  <a16:creationId xmlns:a16="http://schemas.microsoft.com/office/drawing/2014/main" id="{80F6CC58-9901-8ACD-6C35-E1635A6DA95B}"/>
                </a:ext>
              </a:extLst>
            </p:cNvPr>
            <p:cNvSpPr/>
            <p:nvPr/>
          </p:nvSpPr>
          <p:spPr>
            <a:xfrm>
              <a:off x="5144638" y="865623"/>
              <a:ext cx="460039" cy="295418"/>
            </a:xfrm>
            <a:custGeom>
              <a:avLst/>
              <a:gdLst>
                <a:gd name="connsiteX0" fmla="*/ 454402 w 460039"/>
                <a:gd name="connsiteY0" fmla="*/ 226638 h 295418"/>
                <a:gd name="connsiteX1" fmla="*/ 428469 w 460039"/>
                <a:gd name="connsiteY1" fmla="*/ 226638 h 295418"/>
                <a:gd name="connsiteX2" fmla="*/ 425086 w 460039"/>
                <a:gd name="connsiteY2" fmla="*/ 223255 h 295418"/>
                <a:gd name="connsiteX3" fmla="*/ 425086 w 460039"/>
                <a:gd name="connsiteY3" fmla="*/ 5638 h 295418"/>
                <a:gd name="connsiteX4" fmla="*/ 422831 w 460039"/>
                <a:gd name="connsiteY4" fmla="*/ 2255 h 295418"/>
                <a:gd name="connsiteX5" fmla="*/ 418321 w 460039"/>
                <a:gd name="connsiteY5" fmla="*/ 1128 h 295418"/>
                <a:gd name="connsiteX6" fmla="*/ 412683 w 460039"/>
                <a:gd name="connsiteY6" fmla="*/ 6765 h 295418"/>
                <a:gd name="connsiteX7" fmla="*/ 412683 w 460039"/>
                <a:gd name="connsiteY7" fmla="*/ 234530 h 295418"/>
                <a:gd name="connsiteX8" fmla="*/ 418321 w 460039"/>
                <a:gd name="connsiteY8" fmla="*/ 240168 h 295418"/>
                <a:gd name="connsiteX9" fmla="*/ 444254 w 460039"/>
                <a:gd name="connsiteY9" fmla="*/ 240168 h 295418"/>
                <a:gd name="connsiteX10" fmla="*/ 447637 w 460039"/>
                <a:gd name="connsiteY10" fmla="*/ 243551 h 295418"/>
                <a:gd name="connsiteX11" fmla="*/ 447637 w 460039"/>
                <a:gd name="connsiteY11" fmla="*/ 257081 h 295418"/>
                <a:gd name="connsiteX12" fmla="*/ 419448 w 460039"/>
                <a:gd name="connsiteY12" fmla="*/ 285270 h 295418"/>
                <a:gd name="connsiteX13" fmla="*/ 39464 w 460039"/>
                <a:gd name="connsiteY13" fmla="*/ 285270 h 295418"/>
                <a:gd name="connsiteX14" fmla="*/ 11275 w 460039"/>
                <a:gd name="connsiteY14" fmla="*/ 255954 h 295418"/>
                <a:gd name="connsiteX15" fmla="*/ 11275 w 460039"/>
                <a:gd name="connsiteY15" fmla="*/ 242423 h 295418"/>
                <a:gd name="connsiteX16" fmla="*/ 14658 w 460039"/>
                <a:gd name="connsiteY16" fmla="*/ 239041 h 295418"/>
                <a:gd name="connsiteX17" fmla="*/ 40592 w 460039"/>
                <a:gd name="connsiteY17" fmla="*/ 239041 h 295418"/>
                <a:gd name="connsiteX18" fmla="*/ 46230 w 460039"/>
                <a:gd name="connsiteY18" fmla="*/ 233403 h 295418"/>
                <a:gd name="connsiteX19" fmla="*/ 46230 w 460039"/>
                <a:gd name="connsiteY19" fmla="*/ 5638 h 295418"/>
                <a:gd name="connsiteX20" fmla="*/ 43974 w 460039"/>
                <a:gd name="connsiteY20" fmla="*/ 2255 h 295418"/>
                <a:gd name="connsiteX21" fmla="*/ 39464 w 460039"/>
                <a:gd name="connsiteY21" fmla="*/ 0 h 295418"/>
                <a:gd name="connsiteX22" fmla="*/ 33826 w 460039"/>
                <a:gd name="connsiteY22" fmla="*/ 5638 h 295418"/>
                <a:gd name="connsiteX23" fmla="*/ 33826 w 460039"/>
                <a:gd name="connsiteY23" fmla="*/ 224382 h 295418"/>
                <a:gd name="connsiteX24" fmla="*/ 31571 w 460039"/>
                <a:gd name="connsiteY24" fmla="*/ 226638 h 295418"/>
                <a:gd name="connsiteX25" fmla="*/ 5638 w 460039"/>
                <a:gd name="connsiteY25" fmla="*/ 226638 h 295418"/>
                <a:gd name="connsiteX26" fmla="*/ 0 w 460039"/>
                <a:gd name="connsiteY26" fmla="*/ 233403 h 295418"/>
                <a:gd name="connsiteX27" fmla="*/ 0 w 460039"/>
                <a:gd name="connsiteY27" fmla="*/ 255954 h 295418"/>
                <a:gd name="connsiteX28" fmla="*/ 39464 w 460039"/>
                <a:gd name="connsiteY28" fmla="*/ 295418 h 295418"/>
                <a:gd name="connsiteX29" fmla="*/ 420576 w 460039"/>
                <a:gd name="connsiteY29" fmla="*/ 295418 h 295418"/>
                <a:gd name="connsiteX30" fmla="*/ 460040 w 460039"/>
                <a:gd name="connsiteY30" fmla="*/ 255954 h 295418"/>
                <a:gd name="connsiteX31" fmla="*/ 460040 w 460039"/>
                <a:gd name="connsiteY31" fmla="*/ 233403 h 295418"/>
                <a:gd name="connsiteX32" fmla="*/ 454402 w 460039"/>
                <a:gd name="connsiteY32" fmla="*/ 226638 h 295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0039" h="295418">
                  <a:moveTo>
                    <a:pt x="454402" y="226638"/>
                  </a:moveTo>
                  <a:lnTo>
                    <a:pt x="428469" y="226638"/>
                  </a:lnTo>
                  <a:cubicBezTo>
                    <a:pt x="427341" y="226638"/>
                    <a:pt x="425086" y="225510"/>
                    <a:pt x="425086" y="223255"/>
                  </a:cubicBezTo>
                  <a:lnTo>
                    <a:pt x="425086" y="5638"/>
                  </a:lnTo>
                  <a:cubicBezTo>
                    <a:pt x="425086" y="4510"/>
                    <a:pt x="423958" y="3383"/>
                    <a:pt x="422831" y="2255"/>
                  </a:cubicBezTo>
                  <a:cubicBezTo>
                    <a:pt x="421703" y="1128"/>
                    <a:pt x="420576" y="1128"/>
                    <a:pt x="418321" y="1128"/>
                  </a:cubicBezTo>
                  <a:cubicBezTo>
                    <a:pt x="414938" y="1128"/>
                    <a:pt x="412683" y="3383"/>
                    <a:pt x="412683" y="6765"/>
                  </a:cubicBezTo>
                  <a:lnTo>
                    <a:pt x="412683" y="234530"/>
                  </a:lnTo>
                  <a:cubicBezTo>
                    <a:pt x="412683" y="237913"/>
                    <a:pt x="414938" y="240168"/>
                    <a:pt x="418321" y="240168"/>
                  </a:cubicBezTo>
                  <a:lnTo>
                    <a:pt x="444254" y="240168"/>
                  </a:lnTo>
                  <a:cubicBezTo>
                    <a:pt x="445382" y="240168"/>
                    <a:pt x="447637" y="241296"/>
                    <a:pt x="447637" y="243551"/>
                  </a:cubicBezTo>
                  <a:lnTo>
                    <a:pt x="447637" y="257081"/>
                  </a:lnTo>
                  <a:cubicBezTo>
                    <a:pt x="447637" y="272867"/>
                    <a:pt x="435234" y="285270"/>
                    <a:pt x="419448" y="285270"/>
                  </a:cubicBezTo>
                  <a:lnTo>
                    <a:pt x="39464" y="285270"/>
                  </a:lnTo>
                  <a:cubicBezTo>
                    <a:pt x="23679" y="283015"/>
                    <a:pt x="11275" y="270612"/>
                    <a:pt x="11275" y="255954"/>
                  </a:cubicBezTo>
                  <a:lnTo>
                    <a:pt x="11275" y="242423"/>
                  </a:lnTo>
                  <a:cubicBezTo>
                    <a:pt x="11275" y="241296"/>
                    <a:pt x="12403" y="239041"/>
                    <a:pt x="14658" y="239041"/>
                  </a:cubicBezTo>
                  <a:lnTo>
                    <a:pt x="40592" y="239041"/>
                  </a:lnTo>
                  <a:cubicBezTo>
                    <a:pt x="43974" y="239041"/>
                    <a:pt x="46230" y="236786"/>
                    <a:pt x="46230" y="233403"/>
                  </a:cubicBezTo>
                  <a:lnTo>
                    <a:pt x="46230" y="5638"/>
                  </a:lnTo>
                  <a:cubicBezTo>
                    <a:pt x="45102" y="4510"/>
                    <a:pt x="45102" y="2255"/>
                    <a:pt x="43974" y="2255"/>
                  </a:cubicBezTo>
                  <a:cubicBezTo>
                    <a:pt x="42847" y="1128"/>
                    <a:pt x="40592" y="0"/>
                    <a:pt x="39464" y="0"/>
                  </a:cubicBezTo>
                  <a:cubicBezTo>
                    <a:pt x="36082" y="1128"/>
                    <a:pt x="33826" y="3383"/>
                    <a:pt x="33826" y="5638"/>
                  </a:cubicBezTo>
                  <a:lnTo>
                    <a:pt x="33826" y="224382"/>
                  </a:lnTo>
                  <a:cubicBezTo>
                    <a:pt x="33826" y="225510"/>
                    <a:pt x="32699" y="226638"/>
                    <a:pt x="31571" y="226638"/>
                  </a:cubicBezTo>
                  <a:lnTo>
                    <a:pt x="5638" y="226638"/>
                  </a:lnTo>
                  <a:cubicBezTo>
                    <a:pt x="2255" y="226638"/>
                    <a:pt x="0" y="230020"/>
                    <a:pt x="0" y="233403"/>
                  </a:cubicBezTo>
                  <a:lnTo>
                    <a:pt x="0" y="255954"/>
                  </a:lnTo>
                  <a:cubicBezTo>
                    <a:pt x="0" y="277377"/>
                    <a:pt x="18041" y="295418"/>
                    <a:pt x="39464" y="295418"/>
                  </a:cubicBezTo>
                  <a:lnTo>
                    <a:pt x="420576" y="295418"/>
                  </a:lnTo>
                  <a:cubicBezTo>
                    <a:pt x="441999" y="295418"/>
                    <a:pt x="460040" y="277377"/>
                    <a:pt x="460040" y="255954"/>
                  </a:cubicBezTo>
                  <a:lnTo>
                    <a:pt x="460040" y="233403"/>
                  </a:lnTo>
                  <a:cubicBezTo>
                    <a:pt x="460040" y="230020"/>
                    <a:pt x="456657" y="226638"/>
                    <a:pt x="454402" y="226638"/>
                  </a:cubicBezTo>
                  <a:close/>
                </a:path>
              </a:pathLst>
            </a:custGeom>
            <a:grpFill/>
            <a:ln w="11151" cap="flat">
              <a:noFill/>
              <a:prstDash val="solid"/>
              <a:miter/>
            </a:ln>
          </p:spPr>
          <p:txBody>
            <a:bodyPr rtlCol="0" anchor="ctr"/>
            <a:lstStyle/>
            <a:p>
              <a:pPr defTabSz="342914">
                <a:defRPr/>
              </a:pPr>
              <a:endParaRPr lang="en-US" sz="1000" dirty="0">
                <a:solidFill>
                  <a:schemeClr val="accent1"/>
                </a:solidFill>
                <a:latin typeface="+mj-lt"/>
              </a:endParaRPr>
            </a:p>
          </p:txBody>
        </p:sp>
        <p:sp>
          <p:nvSpPr>
            <p:cNvPr id="194" name="Freeform: Shape 329">
              <a:extLst>
                <a:ext uri="{FF2B5EF4-FFF2-40B4-BE49-F238E27FC236}">
                  <a16:creationId xmlns:a16="http://schemas.microsoft.com/office/drawing/2014/main" id="{49954E73-C502-E868-5747-E28D99F2A5C4}"/>
                </a:ext>
              </a:extLst>
            </p:cNvPr>
            <p:cNvSpPr/>
            <p:nvPr/>
          </p:nvSpPr>
          <p:spPr>
            <a:xfrm>
              <a:off x="5325609" y="840817"/>
              <a:ext cx="98660" cy="74982"/>
            </a:xfrm>
            <a:custGeom>
              <a:avLst/>
              <a:gdLst>
                <a:gd name="connsiteX0" fmla="*/ 27625 w 98660"/>
                <a:gd name="connsiteY0" fmla="*/ 73291 h 74982"/>
                <a:gd name="connsiteX1" fmla="*/ 35518 w 98660"/>
                <a:gd name="connsiteY1" fmla="*/ 73291 h 74982"/>
                <a:gd name="connsiteX2" fmla="*/ 96405 w 98660"/>
                <a:gd name="connsiteY2" fmla="*/ 12403 h 74982"/>
                <a:gd name="connsiteX3" fmla="*/ 98661 w 98660"/>
                <a:gd name="connsiteY3" fmla="*/ 7893 h 74982"/>
                <a:gd name="connsiteX4" fmla="*/ 97533 w 98660"/>
                <a:gd name="connsiteY4" fmla="*/ 3383 h 74982"/>
                <a:gd name="connsiteX5" fmla="*/ 93023 w 98660"/>
                <a:gd name="connsiteY5" fmla="*/ 1128 h 74982"/>
                <a:gd name="connsiteX6" fmla="*/ 93023 w 98660"/>
                <a:gd name="connsiteY6" fmla="*/ 1128 h 74982"/>
                <a:gd name="connsiteX7" fmla="*/ 88513 w 98660"/>
                <a:gd name="connsiteY7" fmla="*/ 2255 h 74982"/>
                <a:gd name="connsiteX8" fmla="*/ 86257 w 98660"/>
                <a:gd name="connsiteY8" fmla="*/ 0 h 74982"/>
                <a:gd name="connsiteX9" fmla="*/ 88513 w 98660"/>
                <a:gd name="connsiteY9" fmla="*/ 3383 h 74982"/>
                <a:gd name="connsiteX10" fmla="*/ 33263 w 98660"/>
                <a:gd name="connsiteY10" fmla="*/ 58633 h 74982"/>
                <a:gd name="connsiteX11" fmla="*/ 28752 w 98660"/>
                <a:gd name="connsiteY11" fmla="*/ 58633 h 74982"/>
                <a:gd name="connsiteX12" fmla="*/ 9584 w 98660"/>
                <a:gd name="connsiteY12" fmla="*/ 38337 h 74982"/>
                <a:gd name="connsiteX13" fmla="*/ 6202 w 98660"/>
                <a:gd name="connsiteY13" fmla="*/ 37209 h 74982"/>
                <a:gd name="connsiteX14" fmla="*/ 6202 w 98660"/>
                <a:gd name="connsiteY14" fmla="*/ 37209 h 74982"/>
                <a:gd name="connsiteX15" fmla="*/ 1691 w 98660"/>
                <a:gd name="connsiteY15" fmla="*/ 39464 h 74982"/>
                <a:gd name="connsiteX16" fmla="*/ 1691 w 98660"/>
                <a:gd name="connsiteY16" fmla="*/ 47357 h 74982"/>
                <a:gd name="connsiteX17" fmla="*/ 27625 w 98660"/>
                <a:gd name="connsiteY17" fmla="*/ 73291 h 74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8660" h="74982">
                  <a:moveTo>
                    <a:pt x="27625" y="73291"/>
                  </a:moveTo>
                  <a:cubicBezTo>
                    <a:pt x="29880" y="75546"/>
                    <a:pt x="33263" y="75546"/>
                    <a:pt x="35518" y="73291"/>
                  </a:cubicBezTo>
                  <a:lnTo>
                    <a:pt x="96405" y="12403"/>
                  </a:lnTo>
                  <a:cubicBezTo>
                    <a:pt x="97533" y="11276"/>
                    <a:pt x="98661" y="10148"/>
                    <a:pt x="98661" y="7893"/>
                  </a:cubicBezTo>
                  <a:cubicBezTo>
                    <a:pt x="98661" y="6765"/>
                    <a:pt x="98661" y="4510"/>
                    <a:pt x="97533" y="3383"/>
                  </a:cubicBezTo>
                  <a:cubicBezTo>
                    <a:pt x="96405" y="2255"/>
                    <a:pt x="95278" y="1128"/>
                    <a:pt x="93023" y="1128"/>
                  </a:cubicBezTo>
                  <a:cubicBezTo>
                    <a:pt x="93023" y="1128"/>
                    <a:pt x="93023" y="1128"/>
                    <a:pt x="93023" y="1128"/>
                  </a:cubicBezTo>
                  <a:cubicBezTo>
                    <a:pt x="91895" y="1128"/>
                    <a:pt x="89640" y="2255"/>
                    <a:pt x="88513" y="2255"/>
                  </a:cubicBezTo>
                  <a:lnTo>
                    <a:pt x="86257" y="0"/>
                  </a:lnTo>
                  <a:lnTo>
                    <a:pt x="88513" y="3383"/>
                  </a:lnTo>
                  <a:lnTo>
                    <a:pt x="33263" y="58633"/>
                  </a:lnTo>
                  <a:cubicBezTo>
                    <a:pt x="32135" y="59760"/>
                    <a:pt x="29880" y="59760"/>
                    <a:pt x="28752" y="58633"/>
                  </a:cubicBezTo>
                  <a:lnTo>
                    <a:pt x="9584" y="38337"/>
                  </a:lnTo>
                  <a:cubicBezTo>
                    <a:pt x="8457" y="37209"/>
                    <a:pt x="7329" y="37209"/>
                    <a:pt x="6202" y="37209"/>
                  </a:cubicBezTo>
                  <a:cubicBezTo>
                    <a:pt x="6202" y="37209"/>
                    <a:pt x="6202" y="37209"/>
                    <a:pt x="6202" y="37209"/>
                  </a:cubicBezTo>
                  <a:cubicBezTo>
                    <a:pt x="5074" y="37209"/>
                    <a:pt x="2819" y="38337"/>
                    <a:pt x="1691" y="39464"/>
                  </a:cubicBezTo>
                  <a:cubicBezTo>
                    <a:pt x="-564" y="41719"/>
                    <a:pt x="-564" y="45102"/>
                    <a:pt x="1691" y="47357"/>
                  </a:cubicBezTo>
                  <a:lnTo>
                    <a:pt x="27625" y="73291"/>
                  </a:lnTo>
                  <a:close/>
                </a:path>
              </a:pathLst>
            </a:custGeom>
            <a:grpFill/>
            <a:ln w="11151" cap="flat">
              <a:noFill/>
              <a:prstDash val="solid"/>
              <a:miter/>
            </a:ln>
          </p:spPr>
          <p:txBody>
            <a:bodyPr rtlCol="0" anchor="ctr"/>
            <a:lstStyle/>
            <a:p>
              <a:pPr defTabSz="342914">
                <a:defRPr/>
              </a:pPr>
              <a:endParaRPr lang="en-US" sz="1000" dirty="0">
                <a:solidFill>
                  <a:srgbClr val="000000"/>
                </a:solidFill>
                <a:latin typeface="+mj-lt"/>
              </a:endParaRPr>
            </a:p>
          </p:txBody>
        </p:sp>
        <p:sp>
          <p:nvSpPr>
            <p:cNvPr id="195" name="Freeform: Shape 330">
              <a:extLst>
                <a:ext uri="{FF2B5EF4-FFF2-40B4-BE49-F238E27FC236}">
                  <a16:creationId xmlns:a16="http://schemas.microsoft.com/office/drawing/2014/main" id="{7589748D-AFF8-3ACD-CD8C-9BAE92EC4FB5}"/>
                </a:ext>
              </a:extLst>
            </p:cNvPr>
            <p:cNvSpPr/>
            <p:nvPr/>
          </p:nvSpPr>
          <p:spPr>
            <a:xfrm>
              <a:off x="5226949" y="777674"/>
              <a:ext cx="295417" cy="257081"/>
            </a:xfrm>
            <a:custGeom>
              <a:avLst/>
              <a:gdLst>
                <a:gd name="connsiteX0" fmla="*/ 30444 w 295417"/>
                <a:gd name="connsiteY0" fmla="*/ 1128 h 257081"/>
                <a:gd name="connsiteX1" fmla="*/ 0 w 295417"/>
                <a:gd name="connsiteY1" fmla="*/ 32699 h 257081"/>
                <a:gd name="connsiteX2" fmla="*/ 0 w 295417"/>
                <a:gd name="connsiteY2" fmla="*/ 170260 h 257081"/>
                <a:gd name="connsiteX3" fmla="*/ 30444 w 295417"/>
                <a:gd name="connsiteY3" fmla="*/ 201831 h 257081"/>
                <a:gd name="connsiteX4" fmla="*/ 41719 w 295417"/>
                <a:gd name="connsiteY4" fmla="*/ 201831 h 257081"/>
                <a:gd name="connsiteX5" fmla="*/ 45102 w 295417"/>
                <a:gd name="connsiteY5" fmla="*/ 205214 h 257081"/>
                <a:gd name="connsiteX6" fmla="*/ 45102 w 295417"/>
                <a:gd name="connsiteY6" fmla="*/ 246933 h 257081"/>
                <a:gd name="connsiteX7" fmla="*/ 55250 w 295417"/>
                <a:gd name="connsiteY7" fmla="*/ 257081 h 257081"/>
                <a:gd name="connsiteX8" fmla="*/ 63143 w 295417"/>
                <a:gd name="connsiteY8" fmla="*/ 253699 h 257081"/>
                <a:gd name="connsiteX9" fmla="*/ 107117 w 295417"/>
                <a:gd name="connsiteY9" fmla="*/ 202959 h 257081"/>
                <a:gd name="connsiteX10" fmla="*/ 109372 w 295417"/>
                <a:gd name="connsiteY10" fmla="*/ 201831 h 257081"/>
                <a:gd name="connsiteX11" fmla="*/ 264974 w 295417"/>
                <a:gd name="connsiteY11" fmla="*/ 201831 h 257081"/>
                <a:gd name="connsiteX12" fmla="*/ 295418 w 295417"/>
                <a:gd name="connsiteY12" fmla="*/ 170260 h 257081"/>
                <a:gd name="connsiteX13" fmla="*/ 295418 w 295417"/>
                <a:gd name="connsiteY13" fmla="*/ 32699 h 257081"/>
                <a:gd name="connsiteX14" fmla="*/ 286397 w 295417"/>
                <a:gd name="connsiteY14" fmla="*/ 11276 h 257081"/>
                <a:gd name="connsiteX15" fmla="*/ 264974 w 295417"/>
                <a:gd name="connsiteY15" fmla="*/ 2255 h 257081"/>
                <a:gd name="connsiteX16" fmla="*/ 264974 w 295417"/>
                <a:gd name="connsiteY16" fmla="*/ 0 h 257081"/>
                <a:gd name="connsiteX17" fmla="*/ 264974 w 295417"/>
                <a:gd name="connsiteY17" fmla="*/ 0 h 257081"/>
                <a:gd name="connsiteX18" fmla="*/ 264974 w 295417"/>
                <a:gd name="connsiteY18" fmla="*/ 2255 h 257081"/>
                <a:gd name="connsiteX19" fmla="*/ 30444 w 295417"/>
                <a:gd name="connsiteY19" fmla="*/ 2255 h 257081"/>
                <a:gd name="connsiteX20" fmla="*/ 283015 w 295417"/>
                <a:gd name="connsiteY20" fmla="*/ 32699 h 257081"/>
                <a:gd name="connsiteX21" fmla="*/ 283015 w 295417"/>
                <a:gd name="connsiteY21" fmla="*/ 170260 h 257081"/>
                <a:gd name="connsiteX22" fmla="*/ 283015 w 295417"/>
                <a:gd name="connsiteY22" fmla="*/ 171388 h 257081"/>
                <a:gd name="connsiteX23" fmla="*/ 263846 w 295417"/>
                <a:gd name="connsiteY23" fmla="*/ 190556 h 257081"/>
                <a:gd name="connsiteX24" fmla="*/ 104862 w 295417"/>
                <a:gd name="connsiteY24" fmla="*/ 190556 h 257081"/>
                <a:gd name="connsiteX25" fmla="*/ 100352 w 295417"/>
                <a:gd name="connsiteY25" fmla="*/ 192811 h 257081"/>
                <a:gd name="connsiteX26" fmla="*/ 60888 w 295417"/>
                <a:gd name="connsiteY26" fmla="*/ 237913 h 257081"/>
                <a:gd name="connsiteX27" fmla="*/ 58633 w 295417"/>
                <a:gd name="connsiteY27" fmla="*/ 239041 h 257081"/>
                <a:gd name="connsiteX28" fmla="*/ 57505 w 295417"/>
                <a:gd name="connsiteY28" fmla="*/ 239041 h 257081"/>
                <a:gd name="connsiteX29" fmla="*/ 55250 w 295417"/>
                <a:gd name="connsiteY29" fmla="*/ 236786 h 257081"/>
                <a:gd name="connsiteX30" fmla="*/ 55250 w 295417"/>
                <a:gd name="connsiteY30" fmla="*/ 197321 h 257081"/>
                <a:gd name="connsiteX31" fmla="*/ 54122 w 295417"/>
                <a:gd name="connsiteY31" fmla="*/ 192811 h 257081"/>
                <a:gd name="connsiteX32" fmla="*/ 49612 w 295417"/>
                <a:gd name="connsiteY32" fmla="*/ 190556 h 257081"/>
                <a:gd name="connsiteX33" fmla="*/ 30444 w 295417"/>
                <a:gd name="connsiteY33" fmla="*/ 190556 h 257081"/>
                <a:gd name="connsiteX34" fmla="*/ 11275 w 295417"/>
                <a:gd name="connsiteY34" fmla="*/ 171388 h 257081"/>
                <a:gd name="connsiteX35" fmla="*/ 11275 w 295417"/>
                <a:gd name="connsiteY35" fmla="*/ 32699 h 257081"/>
                <a:gd name="connsiteX36" fmla="*/ 30444 w 295417"/>
                <a:gd name="connsiteY36" fmla="*/ 13531 h 257081"/>
                <a:gd name="connsiteX37" fmla="*/ 263846 w 295417"/>
                <a:gd name="connsiteY37" fmla="*/ 13531 h 257081"/>
                <a:gd name="connsiteX38" fmla="*/ 283015 w 295417"/>
                <a:gd name="connsiteY38" fmla="*/ 32699 h 257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295417" h="257081">
                  <a:moveTo>
                    <a:pt x="30444" y="1128"/>
                  </a:moveTo>
                  <a:cubicBezTo>
                    <a:pt x="13531" y="2255"/>
                    <a:pt x="0" y="15786"/>
                    <a:pt x="0" y="32699"/>
                  </a:cubicBezTo>
                  <a:lnTo>
                    <a:pt x="0" y="170260"/>
                  </a:lnTo>
                  <a:cubicBezTo>
                    <a:pt x="0" y="187173"/>
                    <a:pt x="13531" y="200704"/>
                    <a:pt x="30444" y="201831"/>
                  </a:cubicBezTo>
                  <a:lnTo>
                    <a:pt x="41719" y="201831"/>
                  </a:lnTo>
                  <a:cubicBezTo>
                    <a:pt x="42847" y="201831"/>
                    <a:pt x="45102" y="202959"/>
                    <a:pt x="45102" y="205214"/>
                  </a:cubicBezTo>
                  <a:lnTo>
                    <a:pt x="45102" y="246933"/>
                  </a:lnTo>
                  <a:cubicBezTo>
                    <a:pt x="45102" y="252571"/>
                    <a:pt x="49612" y="257081"/>
                    <a:pt x="55250" y="257081"/>
                  </a:cubicBezTo>
                  <a:cubicBezTo>
                    <a:pt x="58633" y="257081"/>
                    <a:pt x="60888" y="255954"/>
                    <a:pt x="63143" y="253699"/>
                  </a:cubicBezTo>
                  <a:lnTo>
                    <a:pt x="107117" y="202959"/>
                  </a:lnTo>
                  <a:cubicBezTo>
                    <a:pt x="107117" y="201831"/>
                    <a:pt x="108245" y="201831"/>
                    <a:pt x="109372" y="201831"/>
                  </a:cubicBezTo>
                  <a:lnTo>
                    <a:pt x="264974" y="201831"/>
                  </a:lnTo>
                  <a:cubicBezTo>
                    <a:pt x="281887" y="201831"/>
                    <a:pt x="295418" y="188301"/>
                    <a:pt x="295418" y="170260"/>
                  </a:cubicBezTo>
                  <a:lnTo>
                    <a:pt x="295418" y="32699"/>
                  </a:lnTo>
                  <a:cubicBezTo>
                    <a:pt x="295418" y="24806"/>
                    <a:pt x="292035" y="16913"/>
                    <a:pt x="286397" y="11276"/>
                  </a:cubicBezTo>
                  <a:cubicBezTo>
                    <a:pt x="280760" y="5638"/>
                    <a:pt x="272867" y="2255"/>
                    <a:pt x="264974" y="2255"/>
                  </a:cubicBezTo>
                  <a:lnTo>
                    <a:pt x="264974" y="0"/>
                  </a:lnTo>
                  <a:lnTo>
                    <a:pt x="264974" y="0"/>
                  </a:lnTo>
                  <a:lnTo>
                    <a:pt x="264974" y="2255"/>
                  </a:lnTo>
                  <a:lnTo>
                    <a:pt x="30444" y="2255"/>
                  </a:lnTo>
                  <a:close/>
                  <a:moveTo>
                    <a:pt x="283015" y="32699"/>
                  </a:moveTo>
                  <a:lnTo>
                    <a:pt x="283015" y="170260"/>
                  </a:lnTo>
                  <a:cubicBezTo>
                    <a:pt x="283015" y="170260"/>
                    <a:pt x="283015" y="170260"/>
                    <a:pt x="283015" y="171388"/>
                  </a:cubicBezTo>
                  <a:cubicBezTo>
                    <a:pt x="283015" y="181536"/>
                    <a:pt x="273994" y="190556"/>
                    <a:pt x="263846" y="190556"/>
                  </a:cubicBezTo>
                  <a:lnTo>
                    <a:pt x="104862" y="190556"/>
                  </a:lnTo>
                  <a:cubicBezTo>
                    <a:pt x="103734" y="190556"/>
                    <a:pt x="101479" y="191684"/>
                    <a:pt x="100352" y="192811"/>
                  </a:cubicBezTo>
                  <a:lnTo>
                    <a:pt x="60888" y="237913"/>
                  </a:lnTo>
                  <a:cubicBezTo>
                    <a:pt x="60888" y="239041"/>
                    <a:pt x="59760" y="239041"/>
                    <a:pt x="58633" y="239041"/>
                  </a:cubicBezTo>
                  <a:cubicBezTo>
                    <a:pt x="58633" y="239041"/>
                    <a:pt x="57505" y="239041"/>
                    <a:pt x="57505" y="239041"/>
                  </a:cubicBezTo>
                  <a:cubicBezTo>
                    <a:pt x="56377" y="239041"/>
                    <a:pt x="55250" y="237913"/>
                    <a:pt x="55250" y="236786"/>
                  </a:cubicBezTo>
                  <a:lnTo>
                    <a:pt x="55250" y="197321"/>
                  </a:lnTo>
                  <a:cubicBezTo>
                    <a:pt x="55250" y="196194"/>
                    <a:pt x="55250" y="193939"/>
                    <a:pt x="54122" y="192811"/>
                  </a:cubicBezTo>
                  <a:cubicBezTo>
                    <a:pt x="52995" y="191684"/>
                    <a:pt x="51867" y="190556"/>
                    <a:pt x="49612" y="190556"/>
                  </a:cubicBezTo>
                  <a:lnTo>
                    <a:pt x="30444" y="190556"/>
                  </a:lnTo>
                  <a:cubicBezTo>
                    <a:pt x="20296" y="190556"/>
                    <a:pt x="11275" y="181536"/>
                    <a:pt x="11275" y="171388"/>
                  </a:cubicBezTo>
                  <a:lnTo>
                    <a:pt x="11275" y="32699"/>
                  </a:lnTo>
                  <a:cubicBezTo>
                    <a:pt x="11275" y="21423"/>
                    <a:pt x="20296" y="13531"/>
                    <a:pt x="30444" y="13531"/>
                  </a:cubicBezTo>
                  <a:lnTo>
                    <a:pt x="263846" y="13531"/>
                  </a:lnTo>
                  <a:cubicBezTo>
                    <a:pt x="273994" y="13531"/>
                    <a:pt x="283015" y="21423"/>
                    <a:pt x="283015" y="32699"/>
                  </a:cubicBezTo>
                  <a:close/>
                </a:path>
              </a:pathLst>
            </a:custGeom>
            <a:grpFill/>
            <a:ln w="11151" cap="flat">
              <a:noFill/>
              <a:prstDash val="solid"/>
              <a:miter/>
            </a:ln>
          </p:spPr>
          <p:txBody>
            <a:bodyPr rtlCol="0" anchor="ctr"/>
            <a:lstStyle/>
            <a:p>
              <a:pPr defTabSz="342914">
                <a:defRPr/>
              </a:pPr>
              <a:endParaRPr lang="en-US" sz="1000" dirty="0">
                <a:solidFill>
                  <a:srgbClr val="000000"/>
                </a:solidFill>
                <a:latin typeface="+mj-lt"/>
              </a:endParaRPr>
            </a:p>
          </p:txBody>
        </p:sp>
      </p:grpSp>
      <p:grpSp>
        <p:nvGrpSpPr>
          <p:cNvPr id="196" name="Group 11">
            <a:extLst>
              <a:ext uri="{FF2B5EF4-FFF2-40B4-BE49-F238E27FC236}">
                <a16:creationId xmlns:a16="http://schemas.microsoft.com/office/drawing/2014/main" id="{81888118-78DC-8A79-3419-09689B0746F9}"/>
              </a:ext>
            </a:extLst>
          </p:cNvPr>
          <p:cNvGrpSpPr>
            <a:grpSpLocks noChangeAspect="1"/>
          </p:cNvGrpSpPr>
          <p:nvPr/>
        </p:nvGrpSpPr>
        <p:grpSpPr bwMode="auto">
          <a:xfrm>
            <a:off x="1675782" y="1435131"/>
            <a:ext cx="498637" cy="508615"/>
            <a:chOff x="-454" y="3932"/>
            <a:chExt cx="3298" cy="3364"/>
          </a:xfrm>
          <a:solidFill>
            <a:schemeClr val="bg1"/>
          </a:solidFill>
        </p:grpSpPr>
        <p:sp>
          <p:nvSpPr>
            <p:cNvPr id="197" name="Freeform 12">
              <a:extLst>
                <a:ext uri="{FF2B5EF4-FFF2-40B4-BE49-F238E27FC236}">
                  <a16:creationId xmlns:a16="http://schemas.microsoft.com/office/drawing/2014/main" id="{AE0493EC-78FA-E7CA-6A7C-C9E1599A0CE9}"/>
                </a:ext>
              </a:extLst>
            </p:cNvPr>
            <p:cNvSpPr>
              <a:spLocks noEditPoints="1"/>
            </p:cNvSpPr>
            <p:nvPr/>
          </p:nvSpPr>
          <p:spPr bwMode="auto">
            <a:xfrm>
              <a:off x="1032" y="4131"/>
              <a:ext cx="538" cy="107"/>
            </a:xfrm>
            <a:custGeom>
              <a:avLst/>
              <a:gdLst>
                <a:gd name="T0" fmla="*/ 284 w 284"/>
                <a:gd name="T1" fmla="*/ 28 h 57"/>
                <a:gd name="T2" fmla="*/ 255 w 284"/>
                <a:gd name="T3" fmla="*/ 57 h 57"/>
                <a:gd name="T4" fmla="*/ 227 w 284"/>
                <a:gd name="T5" fmla="*/ 28 h 57"/>
                <a:gd name="T6" fmla="*/ 255 w 284"/>
                <a:gd name="T7" fmla="*/ 0 h 57"/>
                <a:gd name="T8" fmla="*/ 284 w 284"/>
                <a:gd name="T9" fmla="*/ 28 h 57"/>
                <a:gd name="T10" fmla="*/ 142 w 284"/>
                <a:gd name="T11" fmla="*/ 0 h 57"/>
                <a:gd name="T12" fmla="*/ 114 w 284"/>
                <a:gd name="T13" fmla="*/ 28 h 57"/>
                <a:gd name="T14" fmla="*/ 142 w 284"/>
                <a:gd name="T15" fmla="*/ 57 h 57"/>
                <a:gd name="T16" fmla="*/ 170 w 284"/>
                <a:gd name="T17" fmla="*/ 28 h 57"/>
                <a:gd name="T18" fmla="*/ 142 w 284"/>
                <a:gd name="T19" fmla="*/ 0 h 57"/>
                <a:gd name="T20" fmla="*/ 29 w 284"/>
                <a:gd name="T21" fmla="*/ 0 h 57"/>
                <a:gd name="T22" fmla="*/ 0 w 284"/>
                <a:gd name="T23" fmla="*/ 28 h 57"/>
                <a:gd name="T24" fmla="*/ 29 w 284"/>
                <a:gd name="T25" fmla="*/ 57 h 57"/>
                <a:gd name="T26" fmla="*/ 57 w 284"/>
                <a:gd name="T27" fmla="*/ 28 h 57"/>
                <a:gd name="T28" fmla="*/ 29 w 284"/>
                <a:gd name="T29"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4" h="57">
                  <a:moveTo>
                    <a:pt x="284" y="28"/>
                  </a:moveTo>
                  <a:cubicBezTo>
                    <a:pt x="284" y="44"/>
                    <a:pt x="271" y="57"/>
                    <a:pt x="255" y="57"/>
                  </a:cubicBezTo>
                  <a:cubicBezTo>
                    <a:pt x="240" y="57"/>
                    <a:pt x="227" y="44"/>
                    <a:pt x="227" y="28"/>
                  </a:cubicBezTo>
                  <a:cubicBezTo>
                    <a:pt x="227" y="13"/>
                    <a:pt x="240" y="0"/>
                    <a:pt x="255" y="0"/>
                  </a:cubicBezTo>
                  <a:cubicBezTo>
                    <a:pt x="271" y="0"/>
                    <a:pt x="284" y="13"/>
                    <a:pt x="284" y="28"/>
                  </a:cubicBezTo>
                  <a:close/>
                  <a:moveTo>
                    <a:pt x="142" y="0"/>
                  </a:moveTo>
                  <a:cubicBezTo>
                    <a:pt x="126" y="0"/>
                    <a:pt x="114" y="13"/>
                    <a:pt x="114" y="28"/>
                  </a:cubicBezTo>
                  <a:cubicBezTo>
                    <a:pt x="114" y="44"/>
                    <a:pt x="126" y="57"/>
                    <a:pt x="142" y="57"/>
                  </a:cubicBezTo>
                  <a:cubicBezTo>
                    <a:pt x="158" y="57"/>
                    <a:pt x="170" y="44"/>
                    <a:pt x="170" y="28"/>
                  </a:cubicBezTo>
                  <a:cubicBezTo>
                    <a:pt x="170" y="13"/>
                    <a:pt x="158" y="0"/>
                    <a:pt x="142" y="0"/>
                  </a:cubicBezTo>
                  <a:close/>
                  <a:moveTo>
                    <a:pt x="29" y="0"/>
                  </a:moveTo>
                  <a:cubicBezTo>
                    <a:pt x="13" y="0"/>
                    <a:pt x="0" y="13"/>
                    <a:pt x="0" y="28"/>
                  </a:cubicBezTo>
                  <a:cubicBezTo>
                    <a:pt x="0" y="44"/>
                    <a:pt x="13" y="57"/>
                    <a:pt x="29" y="57"/>
                  </a:cubicBezTo>
                  <a:cubicBezTo>
                    <a:pt x="44" y="57"/>
                    <a:pt x="57" y="44"/>
                    <a:pt x="57" y="28"/>
                  </a:cubicBezTo>
                  <a:cubicBezTo>
                    <a:pt x="57" y="13"/>
                    <a:pt x="44" y="0"/>
                    <a:pt x="2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342923">
                <a:defRPr/>
              </a:pPr>
              <a:endParaRPr lang="uk-UA" sz="1000">
                <a:solidFill>
                  <a:srgbClr val="000000"/>
                </a:solidFill>
                <a:latin typeface="+mj-lt"/>
              </a:endParaRPr>
            </a:p>
          </p:txBody>
        </p:sp>
        <p:sp>
          <p:nvSpPr>
            <p:cNvPr id="198" name="Freeform 13">
              <a:extLst>
                <a:ext uri="{FF2B5EF4-FFF2-40B4-BE49-F238E27FC236}">
                  <a16:creationId xmlns:a16="http://schemas.microsoft.com/office/drawing/2014/main" id="{7E561948-6EEF-3729-2586-067BF0079A3C}"/>
                </a:ext>
              </a:extLst>
            </p:cNvPr>
            <p:cNvSpPr>
              <a:spLocks noEditPoints="1"/>
            </p:cNvSpPr>
            <p:nvPr/>
          </p:nvSpPr>
          <p:spPr bwMode="auto">
            <a:xfrm>
              <a:off x="-454" y="3932"/>
              <a:ext cx="3298" cy="3364"/>
            </a:xfrm>
            <a:custGeom>
              <a:avLst/>
              <a:gdLst>
                <a:gd name="T0" fmla="*/ 1742 w 1742"/>
                <a:gd name="T1" fmla="*/ 1777 h 1777"/>
                <a:gd name="T2" fmla="*/ 1701 w 1742"/>
                <a:gd name="T3" fmla="*/ 1777 h 1777"/>
                <a:gd name="T4" fmla="*/ 1295 w 1742"/>
                <a:gd name="T5" fmla="*/ 1250 h 1777"/>
                <a:gd name="T6" fmla="*/ 1280 w 1742"/>
                <a:gd name="T7" fmla="*/ 1233 h 1777"/>
                <a:gd name="T8" fmla="*/ 1291 w 1742"/>
                <a:gd name="T9" fmla="*/ 1213 h 1777"/>
                <a:gd name="T10" fmla="*/ 1445 w 1742"/>
                <a:gd name="T11" fmla="*/ 956 h 1777"/>
                <a:gd name="T12" fmla="*/ 1154 w 1742"/>
                <a:gd name="T13" fmla="*/ 664 h 1777"/>
                <a:gd name="T14" fmla="*/ 862 w 1742"/>
                <a:gd name="T15" fmla="*/ 956 h 1777"/>
                <a:gd name="T16" fmla="*/ 1016 w 1742"/>
                <a:gd name="T17" fmla="*/ 1213 h 1777"/>
                <a:gd name="T18" fmla="*/ 1027 w 1742"/>
                <a:gd name="T19" fmla="*/ 1233 h 1777"/>
                <a:gd name="T20" fmla="*/ 1012 w 1742"/>
                <a:gd name="T21" fmla="*/ 1250 h 1777"/>
                <a:gd name="T22" fmla="*/ 608 w 1742"/>
                <a:gd name="T23" fmla="*/ 1777 h 1777"/>
                <a:gd name="T24" fmla="*/ 567 w 1742"/>
                <a:gd name="T25" fmla="*/ 1777 h 1777"/>
                <a:gd name="T26" fmla="*/ 958 w 1742"/>
                <a:gd name="T27" fmla="*/ 1224 h 1777"/>
                <a:gd name="T28" fmla="*/ 863 w 1742"/>
                <a:gd name="T29" fmla="*/ 1117 h 1777"/>
                <a:gd name="T30" fmla="*/ 21 w 1742"/>
                <a:gd name="T31" fmla="*/ 1117 h 1777"/>
                <a:gd name="T32" fmla="*/ 0 w 1742"/>
                <a:gd name="T33" fmla="*/ 1097 h 1777"/>
                <a:gd name="T34" fmla="*/ 0 w 1742"/>
                <a:gd name="T35" fmla="*/ 20 h 1777"/>
                <a:gd name="T36" fmla="*/ 21 w 1742"/>
                <a:gd name="T37" fmla="*/ 0 h 1777"/>
                <a:gd name="T38" fmla="*/ 1154 w 1742"/>
                <a:gd name="T39" fmla="*/ 0 h 1777"/>
                <a:gd name="T40" fmla="*/ 1175 w 1742"/>
                <a:gd name="T41" fmla="*/ 20 h 1777"/>
                <a:gd name="T42" fmla="*/ 1175 w 1742"/>
                <a:gd name="T43" fmla="*/ 624 h 1777"/>
                <a:gd name="T44" fmla="*/ 1486 w 1742"/>
                <a:gd name="T45" fmla="*/ 956 h 1777"/>
                <a:gd name="T46" fmla="*/ 1349 w 1742"/>
                <a:gd name="T47" fmla="*/ 1224 h 1777"/>
                <a:gd name="T48" fmla="*/ 1742 w 1742"/>
                <a:gd name="T49" fmla="*/ 1777 h 1777"/>
                <a:gd name="T50" fmla="*/ 41 w 1742"/>
                <a:gd name="T51" fmla="*/ 1076 h 1777"/>
                <a:gd name="T52" fmla="*/ 844 w 1742"/>
                <a:gd name="T53" fmla="*/ 1076 h 1777"/>
                <a:gd name="T54" fmla="*/ 821 w 1742"/>
                <a:gd name="T55" fmla="*/ 956 h 1777"/>
                <a:gd name="T56" fmla="*/ 1134 w 1742"/>
                <a:gd name="T57" fmla="*/ 624 h 1777"/>
                <a:gd name="T58" fmla="*/ 1134 w 1742"/>
                <a:gd name="T59" fmla="*/ 267 h 1777"/>
                <a:gd name="T60" fmla="*/ 41 w 1742"/>
                <a:gd name="T61" fmla="*/ 267 h 1777"/>
                <a:gd name="T62" fmla="*/ 41 w 1742"/>
                <a:gd name="T63" fmla="*/ 1076 h 1777"/>
                <a:gd name="T64" fmla="*/ 41 w 1742"/>
                <a:gd name="T65" fmla="*/ 226 h 1777"/>
                <a:gd name="T66" fmla="*/ 1134 w 1742"/>
                <a:gd name="T67" fmla="*/ 226 h 1777"/>
                <a:gd name="T68" fmla="*/ 1134 w 1742"/>
                <a:gd name="T69" fmla="*/ 40 h 1777"/>
                <a:gd name="T70" fmla="*/ 41 w 1742"/>
                <a:gd name="T71" fmla="*/ 40 h 1777"/>
                <a:gd name="T72" fmla="*/ 41 w 1742"/>
                <a:gd name="T73" fmla="*/ 226 h 1777"/>
                <a:gd name="T74" fmla="*/ 587 w 1742"/>
                <a:gd name="T75" fmla="*/ 777 h 1777"/>
                <a:gd name="T76" fmla="*/ 133 w 1742"/>
                <a:gd name="T77" fmla="*/ 777 h 1777"/>
                <a:gd name="T78" fmla="*/ 133 w 1742"/>
                <a:gd name="T79" fmla="*/ 736 h 1777"/>
                <a:gd name="T80" fmla="*/ 587 w 1742"/>
                <a:gd name="T81" fmla="*/ 736 h 1777"/>
                <a:gd name="T82" fmla="*/ 587 w 1742"/>
                <a:gd name="T83" fmla="*/ 777 h 1777"/>
                <a:gd name="T84" fmla="*/ 587 w 1742"/>
                <a:gd name="T85" fmla="*/ 607 h 1777"/>
                <a:gd name="T86" fmla="*/ 133 w 1742"/>
                <a:gd name="T87" fmla="*/ 607 h 1777"/>
                <a:gd name="T88" fmla="*/ 133 w 1742"/>
                <a:gd name="T89" fmla="*/ 566 h 1777"/>
                <a:gd name="T90" fmla="*/ 587 w 1742"/>
                <a:gd name="T91" fmla="*/ 566 h 1777"/>
                <a:gd name="T92" fmla="*/ 587 w 1742"/>
                <a:gd name="T93" fmla="*/ 607 h 1777"/>
                <a:gd name="T94" fmla="*/ 587 w 1742"/>
                <a:gd name="T95" fmla="*/ 437 h 1777"/>
                <a:gd name="T96" fmla="*/ 133 w 1742"/>
                <a:gd name="T97" fmla="*/ 437 h 1777"/>
                <a:gd name="T98" fmla="*/ 133 w 1742"/>
                <a:gd name="T99" fmla="*/ 396 h 1777"/>
                <a:gd name="T100" fmla="*/ 587 w 1742"/>
                <a:gd name="T101" fmla="*/ 396 h 1777"/>
                <a:gd name="T102" fmla="*/ 587 w 1742"/>
                <a:gd name="T103" fmla="*/ 437 h 17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742" h="1777">
                  <a:moveTo>
                    <a:pt x="1742" y="1777"/>
                  </a:moveTo>
                  <a:cubicBezTo>
                    <a:pt x="1701" y="1777"/>
                    <a:pt x="1701" y="1777"/>
                    <a:pt x="1701" y="1777"/>
                  </a:cubicBezTo>
                  <a:cubicBezTo>
                    <a:pt x="1701" y="1531"/>
                    <a:pt x="1534" y="1314"/>
                    <a:pt x="1295" y="1250"/>
                  </a:cubicBezTo>
                  <a:cubicBezTo>
                    <a:pt x="1287" y="1248"/>
                    <a:pt x="1281" y="1241"/>
                    <a:pt x="1280" y="1233"/>
                  </a:cubicBezTo>
                  <a:cubicBezTo>
                    <a:pt x="1279" y="1225"/>
                    <a:pt x="1283" y="1217"/>
                    <a:pt x="1291" y="1213"/>
                  </a:cubicBezTo>
                  <a:cubicBezTo>
                    <a:pt x="1386" y="1162"/>
                    <a:pt x="1445" y="1063"/>
                    <a:pt x="1445" y="956"/>
                  </a:cubicBezTo>
                  <a:cubicBezTo>
                    <a:pt x="1445" y="795"/>
                    <a:pt x="1314" y="664"/>
                    <a:pt x="1154" y="664"/>
                  </a:cubicBezTo>
                  <a:cubicBezTo>
                    <a:pt x="993" y="664"/>
                    <a:pt x="862" y="795"/>
                    <a:pt x="862" y="956"/>
                  </a:cubicBezTo>
                  <a:cubicBezTo>
                    <a:pt x="862" y="1063"/>
                    <a:pt x="921" y="1162"/>
                    <a:pt x="1016" y="1213"/>
                  </a:cubicBezTo>
                  <a:cubicBezTo>
                    <a:pt x="1024" y="1217"/>
                    <a:pt x="1028" y="1225"/>
                    <a:pt x="1027" y="1233"/>
                  </a:cubicBezTo>
                  <a:cubicBezTo>
                    <a:pt x="1026" y="1241"/>
                    <a:pt x="1020" y="1248"/>
                    <a:pt x="1012" y="1250"/>
                  </a:cubicBezTo>
                  <a:cubicBezTo>
                    <a:pt x="774" y="1314"/>
                    <a:pt x="608" y="1531"/>
                    <a:pt x="608" y="1777"/>
                  </a:cubicBezTo>
                  <a:cubicBezTo>
                    <a:pt x="567" y="1777"/>
                    <a:pt x="567" y="1777"/>
                    <a:pt x="567" y="1777"/>
                  </a:cubicBezTo>
                  <a:cubicBezTo>
                    <a:pt x="567" y="1527"/>
                    <a:pt x="726" y="1306"/>
                    <a:pt x="958" y="1224"/>
                  </a:cubicBezTo>
                  <a:cubicBezTo>
                    <a:pt x="919" y="1196"/>
                    <a:pt x="887" y="1159"/>
                    <a:pt x="863" y="1117"/>
                  </a:cubicBezTo>
                  <a:cubicBezTo>
                    <a:pt x="21" y="1117"/>
                    <a:pt x="21" y="1117"/>
                    <a:pt x="21" y="1117"/>
                  </a:cubicBezTo>
                  <a:cubicBezTo>
                    <a:pt x="9" y="1117"/>
                    <a:pt x="0" y="1108"/>
                    <a:pt x="0" y="1097"/>
                  </a:cubicBezTo>
                  <a:cubicBezTo>
                    <a:pt x="0" y="20"/>
                    <a:pt x="0" y="20"/>
                    <a:pt x="0" y="20"/>
                  </a:cubicBezTo>
                  <a:cubicBezTo>
                    <a:pt x="0" y="9"/>
                    <a:pt x="9" y="0"/>
                    <a:pt x="21" y="0"/>
                  </a:cubicBezTo>
                  <a:cubicBezTo>
                    <a:pt x="1154" y="0"/>
                    <a:pt x="1154" y="0"/>
                    <a:pt x="1154" y="0"/>
                  </a:cubicBezTo>
                  <a:cubicBezTo>
                    <a:pt x="1166" y="0"/>
                    <a:pt x="1175" y="9"/>
                    <a:pt x="1175" y="20"/>
                  </a:cubicBezTo>
                  <a:cubicBezTo>
                    <a:pt x="1175" y="624"/>
                    <a:pt x="1175" y="624"/>
                    <a:pt x="1175" y="624"/>
                  </a:cubicBezTo>
                  <a:cubicBezTo>
                    <a:pt x="1348" y="635"/>
                    <a:pt x="1486" y="779"/>
                    <a:pt x="1486" y="956"/>
                  </a:cubicBezTo>
                  <a:cubicBezTo>
                    <a:pt x="1486" y="1063"/>
                    <a:pt x="1434" y="1162"/>
                    <a:pt x="1349" y="1224"/>
                  </a:cubicBezTo>
                  <a:cubicBezTo>
                    <a:pt x="1582" y="1306"/>
                    <a:pt x="1742" y="1528"/>
                    <a:pt x="1742" y="1777"/>
                  </a:cubicBezTo>
                  <a:close/>
                  <a:moveTo>
                    <a:pt x="41" y="1076"/>
                  </a:moveTo>
                  <a:cubicBezTo>
                    <a:pt x="844" y="1076"/>
                    <a:pt x="844" y="1076"/>
                    <a:pt x="844" y="1076"/>
                  </a:cubicBezTo>
                  <a:cubicBezTo>
                    <a:pt x="829" y="1039"/>
                    <a:pt x="821" y="998"/>
                    <a:pt x="821" y="956"/>
                  </a:cubicBezTo>
                  <a:cubicBezTo>
                    <a:pt x="821" y="779"/>
                    <a:pt x="960" y="634"/>
                    <a:pt x="1134" y="624"/>
                  </a:cubicBezTo>
                  <a:cubicBezTo>
                    <a:pt x="1134" y="267"/>
                    <a:pt x="1134" y="267"/>
                    <a:pt x="1134" y="267"/>
                  </a:cubicBezTo>
                  <a:cubicBezTo>
                    <a:pt x="41" y="267"/>
                    <a:pt x="41" y="267"/>
                    <a:pt x="41" y="267"/>
                  </a:cubicBezTo>
                  <a:lnTo>
                    <a:pt x="41" y="1076"/>
                  </a:lnTo>
                  <a:close/>
                  <a:moveTo>
                    <a:pt x="41" y="226"/>
                  </a:moveTo>
                  <a:cubicBezTo>
                    <a:pt x="1134" y="226"/>
                    <a:pt x="1134" y="226"/>
                    <a:pt x="1134" y="226"/>
                  </a:cubicBezTo>
                  <a:cubicBezTo>
                    <a:pt x="1134" y="40"/>
                    <a:pt x="1134" y="40"/>
                    <a:pt x="1134" y="40"/>
                  </a:cubicBezTo>
                  <a:cubicBezTo>
                    <a:pt x="41" y="40"/>
                    <a:pt x="41" y="40"/>
                    <a:pt x="41" y="40"/>
                  </a:cubicBezTo>
                  <a:lnTo>
                    <a:pt x="41" y="226"/>
                  </a:lnTo>
                  <a:close/>
                  <a:moveTo>
                    <a:pt x="587" y="777"/>
                  </a:moveTo>
                  <a:cubicBezTo>
                    <a:pt x="133" y="777"/>
                    <a:pt x="133" y="777"/>
                    <a:pt x="133" y="777"/>
                  </a:cubicBezTo>
                  <a:cubicBezTo>
                    <a:pt x="133" y="736"/>
                    <a:pt x="133" y="736"/>
                    <a:pt x="133" y="736"/>
                  </a:cubicBezTo>
                  <a:cubicBezTo>
                    <a:pt x="587" y="736"/>
                    <a:pt x="587" y="736"/>
                    <a:pt x="587" y="736"/>
                  </a:cubicBezTo>
                  <a:lnTo>
                    <a:pt x="587" y="777"/>
                  </a:lnTo>
                  <a:close/>
                  <a:moveTo>
                    <a:pt x="587" y="607"/>
                  </a:moveTo>
                  <a:cubicBezTo>
                    <a:pt x="133" y="607"/>
                    <a:pt x="133" y="607"/>
                    <a:pt x="133" y="607"/>
                  </a:cubicBezTo>
                  <a:cubicBezTo>
                    <a:pt x="133" y="566"/>
                    <a:pt x="133" y="566"/>
                    <a:pt x="133" y="566"/>
                  </a:cubicBezTo>
                  <a:cubicBezTo>
                    <a:pt x="587" y="566"/>
                    <a:pt x="587" y="566"/>
                    <a:pt x="587" y="566"/>
                  </a:cubicBezTo>
                  <a:lnTo>
                    <a:pt x="587" y="607"/>
                  </a:lnTo>
                  <a:close/>
                  <a:moveTo>
                    <a:pt x="587" y="437"/>
                  </a:moveTo>
                  <a:cubicBezTo>
                    <a:pt x="133" y="437"/>
                    <a:pt x="133" y="437"/>
                    <a:pt x="133" y="437"/>
                  </a:cubicBezTo>
                  <a:cubicBezTo>
                    <a:pt x="133" y="396"/>
                    <a:pt x="133" y="396"/>
                    <a:pt x="133" y="396"/>
                  </a:cubicBezTo>
                  <a:cubicBezTo>
                    <a:pt x="587" y="396"/>
                    <a:pt x="587" y="396"/>
                    <a:pt x="587" y="396"/>
                  </a:cubicBezTo>
                  <a:lnTo>
                    <a:pt x="587" y="4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342923">
                <a:defRPr/>
              </a:pPr>
              <a:endParaRPr lang="uk-UA" sz="1000">
                <a:solidFill>
                  <a:schemeClr val="accent1"/>
                </a:solidFill>
                <a:latin typeface="+mj-lt"/>
              </a:endParaRPr>
            </a:p>
          </p:txBody>
        </p:sp>
      </p:grpSp>
      <p:sp>
        <p:nvSpPr>
          <p:cNvPr id="199" name="Freeform 132">
            <a:extLst>
              <a:ext uri="{FF2B5EF4-FFF2-40B4-BE49-F238E27FC236}">
                <a16:creationId xmlns:a16="http://schemas.microsoft.com/office/drawing/2014/main" id="{3275CBB8-5387-FFA9-694A-14B27DD59757}"/>
              </a:ext>
            </a:extLst>
          </p:cNvPr>
          <p:cNvSpPr>
            <a:spLocks noEditPoints="1"/>
          </p:cNvSpPr>
          <p:nvPr/>
        </p:nvSpPr>
        <p:spPr bwMode="auto">
          <a:xfrm>
            <a:off x="1671526" y="3341586"/>
            <a:ext cx="507149" cy="507149"/>
          </a:xfrm>
          <a:custGeom>
            <a:avLst/>
            <a:gdLst>
              <a:gd name="T0" fmla="*/ 1025 w 1641"/>
              <a:gd name="T1" fmla="*/ 1053 h 1641"/>
              <a:gd name="T2" fmla="*/ 0 w 1641"/>
              <a:gd name="T3" fmla="*/ 609 h 1641"/>
              <a:gd name="T4" fmla="*/ 1113 w 1641"/>
              <a:gd name="T5" fmla="*/ 268 h 1641"/>
              <a:gd name="T6" fmla="*/ 1627 w 1641"/>
              <a:gd name="T7" fmla="*/ 307 h 1641"/>
              <a:gd name="T8" fmla="*/ 1190 w 1641"/>
              <a:gd name="T9" fmla="*/ 429 h 1641"/>
              <a:gd name="T10" fmla="*/ 1627 w 1641"/>
              <a:gd name="T11" fmla="*/ 467 h 1641"/>
              <a:gd name="T12" fmla="*/ 1217 w 1641"/>
              <a:gd name="T13" fmla="*/ 590 h 1641"/>
              <a:gd name="T14" fmla="*/ 1627 w 1641"/>
              <a:gd name="T15" fmla="*/ 628 h 1641"/>
              <a:gd name="T16" fmla="*/ 1201 w 1641"/>
              <a:gd name="T17" fmla="*/ 750 h 1641"/>
              <a:gd name="T18" fmla="*/ 1627 w 1641"/>
              <a:gd name="T19" fmla="*/ 789 h 1641"/>
              <a:gd name="T20" fmla="*/ 1052 w 1641"/>
              <a:gd name="T21" fmla="*/ 1025 h 1641"/>
              <a:gd name="T22" fmla="*/ 1613 w 1641"/>
              <a:gd name="T23" fmla="*/ 1641 h 1641"/>
              <a:gd name="T24" fmla="*/ 39 w 1641"/>
              <a:gd name="T25" fmla="*/ 609 h 1641"/>
              <a:gd name="T26" fmla="*/ 961 w 1641"/>
              <a:gd name="T27" fmla="*/ 1057 h 1641"/>
              <a:gd name="T28" fmla="*/ 829 w 1641"/>
              <a:gd name="T29" fmla="*/ 1038 h 1641"/>
              <a:gd name="T30" fmla="*/ 848 w 1641"/>
              <a:gd name="T31" fmla="*/ 858 h 1641"/>
              <a:gd name="T32" fmla="*/ 1170 w 1641"/>
              <a:gd name="T33" fmla="*/ 709 h 1641"/>
              <a:gd name="T34" fmla="*/ 750 w 1641"/>
              <a:gd name="T35" fmla="*/ 689 h 1641"/>
              <a:gd name="T36" fmla="*/ 770 w 1641"/>
              <a:gd name="T37" fmla="*/ 509 h 1641"/>
              <a:gd name="T38" fmla="*/ 1122 w 1641"/>
              <a:gd name="T39" fmla="*/ 360 h 1641"/>
              <a:gd name="T40" fmla="*/ 829 w 1641"/>
              <a:gd name="T41" fmla="*/ 341 h 1641"/>
              <a:gd name="T42" fmla="*/ 848 w 1641"/>
              <a:gd name="T43" fmla="*/ 161 h 1641"/>
              <a:gd name="T44" fmla="*/ 609 w 1641"/>
              <a:gd name="T45" fmla="*/ 39 h 1641"/>
              <a:gd name="T46" fmla="*/ 1005 w 1641"/>
              <a:gd name="T47" fmla="*/ 1018 h 1641"/>
              <a:gd name="T48" fmla="*/ 868 w 1641"/>
              <a:gd name="T49" fmla="*/ 896 h 1641"/>
              <a:gd name="T50" fmla="*/ 789 w 1641"/>
              <a:gd name="T51" fmla="*/ 670 h 1641"/>
              <a:gd name="T52" fmla="*/ 1179 w 1641"/>
              <a:gd name="T53" fmla="*/ 609 h 1641"/>
              <a:gd name="T54" fmla="*/ 789 w 1641"/>
              <a:gd name="T55" fmla="*/ 548 h 1641"/>
              <a:gd name="T56" fmla="*/ 868 w 1641"/>
              <a:gd name="T57" fmla="*/ 322 h 1641"/>
              <a:gd name="T58" fmla="*/ 1005 w 1641"/>
              <a:gd name="T59" fmla="*/ 199 h 1641"/>
              <a:gd name="T60" fmla="*/ 868 w 1641"/>
              <a:gd name="T61" fmla="*/ 322 h 1641"/>
              <a:gd name="T62" fmla="*/ 341 w 1641"/>
              <a:gd name="T63" fmla="*/ 1057 h 1641"/>
              <a:gd name="T64" fmla="*/ 322 w 1641"/>
              <a:gd name="T65" fmla="*/ 877 h 1641"/>
              <a:gd name="T66" fmla="*/ 662 w 1641"/>
              <a:gd name="T67" fmla="*/ 858 h 1641"/>
              <a:gd name="T68" fmla="*/ 682 w 1641"/>
              <a:gd name="T69" fmla="*/ 1038 h 1641"/>
              <a:gd name="T70" fmla="*/ 360 w 1641"/>
              <a:gd name="T71" fmla="*/ 1018 h 1641"/>
              <a:gd name="T72" fmla="*/ 643 w 1641"/>
              <a:gd name="T73" fmla="*/ 896 h 1641"/>
              <a:gd name="T74" fmla="*/ 360 w 1641"/>
              <a:gd name="T75" fmla="*/ 1018 h 1641"/>
              <a:gd name="T76" fmla="*/ 180 w 1641"/>
              <a:gd name="T77" fmla="*/ 709 h 1641"/>
              <a:gd name="T78" fmla="*/ 161 w 1641"/>
              <a:gd name="T79" fmla="*/ 529 h 1641"/>
              <a:gd name="T80" fmla="*/ 609 w 1641"/>
              <a:gd name="T81" fmla="*/ 509 h 1641"/>
              <a:gd name="T82" fmla="*/ 628 w 1641"/>
              <a:gd name="T83" fmla="*/ 689 h 1641"/>
              <a:gd name="T84" fmla="*/ 199 w 1641"/>
              <a:gd name="T85" fmla="*/ 670 h 1641"/>
              <a:gd name="T86" fmla="*/ 589 w 1641"/>
              <a:gd name="T87" fmla="*/ 548 h 1641"/>
              <a:gd name="T88" fmla="*/ 199 w 1641"/>
              <a:gd name="T89" fmla="*/ 670 h 1641"/>
              <a:gd name="T90" fmla="*/ 341 w 1641"/>
              <a:gd name="T91" fmla="*/ 360 h 1641"/>
              <a:gd name="T92" fmla="*/ 322 w 1641"/>
              <a:gd name="T93" fmla="*/ 180 h 1641"/>
              <a:gd name="T94" fmla="*/ 662 w 1641"/>
              <a:gd name="T95" fmla="*/ 161 h 1641"/>
              <a:gd name="T96" fmla="*/ 682 w 1641"/>
              <a:gd name="T97" fmla="*/ 341 h 1641"/>
              <a:gd name="T98" fmla="*/ 360 w 1641"/>
              <a:gd name="T99" fmla="*/ 322 h 1641"/>
              <a:gd name="T100" fmla="*/ 643 w 1641"/>
              <a:gd name="T101" fmla="*/ 199 h 1641"/>
              <a:gd name="T102" fmla="*/ 360 w 1641"/>
              <a:gd name="T103" fmla="*/ 322 h 1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641" h="1641">
                <a:moveTo>
                  <a:pt x="1613" y="1641"/>
                </a:moveTo>
                <a:cubicBezTo>
                  <a:pt x="1025" y="1053"/>
                  <a:pt x="1025" y="1053"/>
                  <a:pt x="1025" y="1053"/>
                </a:cubicBezTo>
                <a:cubicBezTo>
                  <a:pt x="916" y="1155"/>
                  <a:pt x="770" y="1218"/>
                  <a:pt x="609" y="1218"/>
                </a:cubicBezTo>
                <a:cubicBezTo>
                  <a:pt x="273" y="1218"/>
                  <a:pt x="0" y="945"/>
                  <a:pt x="0" y="609"/>
                </a:cubicBezTo>
                <a:cubicBezTo>
                  <a:pt x="0" y="273"/>
                  <a:pt x="273" y="0"/>
                  <a:pt x="609" y="0"/>
                </a:cubicBezTo>
                <a:cubicBezTo>
                  <a:pt x="818" y="0"/>
                  <a:pt x="1003" y="106"/>
                  <a:pt x="1113" y="268"/>
                </a:cubicBezTo>
                <a:cubicBezTo>
                  <a:pt x="1627" y="268"/>
                  <a:pt x="1627" y="268"/>
                  <a:pt x="1627" y="268"/>
                </a:cubicBezTo>
                <a:cubicBezTo>
                  <a:pt x="1627" y="307"/>
                  <a:pt x="1627" y="307"/>
                  <a:pt x="1627" y="307"/>
                </a:cubicBezTo>
                <a:cubicBezTo>
                  <a:pt x="1137" y="307"/>
                  <a:pt x="1137" y="307"/>
                  <a:pt x="1137" y="307"/>
                </a:cubicBezTo>
                <a:cubicBezTo>
                  <a:pt x="1159" y="345"/>
                  <a:pt x="1177" y="386"/>
                  <a:pt x="1190" y="429"/>
                </a:cubicBezTo>
                <a:cubicBezTo>
                  <a:pt x="1627" y="429"/>
                  <a:pt x="1627" y="429"/>
                  <a:pt x="1627" y="429"/>
                </a:cubicBezTo>
                <a:cubicBezTo>
                  <a:pt x="1627" y="467"/>
                  <a:pt x="1627" y="467"/>
                  <a:pt x="1627" y="467"/>
                </a:cubicBezTo>
                <a:cubicBezTo>
                  <a:pt x="1201" y="467"/>
                  <a:pt x="1201" y="467"/>
                  <a:pt x="1201" y="467"/>
                </a:cubicBezTo>
                <a:cubicBezTo>
                  <a:pt x="1210" y="507"/>
                  <a:pt x="1216" y="548"/>
                  <a:pt x="1217" y="590"/>
                </a:cubicBezTo>
                <a:cubicBezTo>
                  <a:pt x="1627" y="590"/>
                  <a:pt x="1627" y="590"/>
                  <a:pt x="1627" y="590"/>
                </a:cubicBezTo>
                <a:cubicBezTo>
                  <a:pt x="1627" y="628"/>
                  <a:pt x="1627" y="628"/>
                  <a:pt x="1627" y="628"/>
                </a:cubicBezTo>
                <a:cubicBezTo>
                  <a:pt x="1217" y="628"/>
                  <a:pt x="1217" y="628"/>
                  <a:pt x="1217" y="628"/>
                </a:cubicBezTo>
                <a:cubicBezTo>
                  <a:pt x="1216" y="670"/>
                  <a:pt x="1210" y="711"/>
                  <a:pt x="1201" y="750"/>
                </a:cubicBezTo>
                <a:cubicBezTo>
                  <a:pt x="1627" y="750"/>
                  <a:pt x="1627" y="750"/>
                  <a:pt x="1627" y="750"/>
                </a:cubicBezTo>
                <a:cubicBezTo>
                  <a:pt x="1627" y="789"/>
                  <a:pt x="1627" y="789"/>
                  <a:pt x="1627" y="789"/>
                </a:cubicBezTo>
                <a:cubicBezTo>
                  <a:pt x="1190" y="789"/>
                  <a:pt x="1190" y="789"/>
                  <a:pt x="1190" y="789"/>
                </a:cubicBezTo>
                <a:cubicBezTo>
                  <a:pt x="1163" y="878"/>
                  <a:pt x="1115" y="959"/>
                  <a:pt x="1052" y="1025"/>
                </a:cubicBezTo>
                <a:cubicBezTo>
                  <a:pt x="1641" y="1613"/>
                  <a:pt x="1641" y="1613"/>
                  <a:pt x="1641" y="1613"/>
                </a:cubicBezTo>
                <a:lnTo>
                  <a:pt x="1613" y="1641"/>
                </a:lnTo>
                <a:close/>
                <a:moveTo>
                  <a:pt x="609" y="39"/>
                </a:moveTo>
                <a:cubicBezTo>
                  <a:pt x="294" y="39"/>
                  <a:pt x="39" y="295"/>
                  <a:pt x="39" y="609"/>
                </a:cubicBezTo>
                <a:cubicBezTo>
                  <a:pt x="39" y="923"/>
                  <a:pt x="294" y="1179"/>
                  <a:pt x="609" y="1179"/>
                </a:cubicBezTo>
                <a:cubicBezTo>
                  <a:pt x="742" y="1179"/>
                  <a:pt x="864" y="1133"/>
                  <a:pt x="961" y="1057"/>
                </a:cubicBezTo>
                <a:cubicBezTo>
                  <a:pt x="848" y="1057"/>
                  <a:pt x="848" y="1057"/>
                  <a:pt x="848" y="1057"/>
                </a:cubicBezTo>
                <a:cubicBezTo>
                  <a:pt x="838" y="1057"/>
                  <a:pt x="829" y="1048"/>
                  <a:pt x="829" y="1038"/>
                </a:cubicBezTo>
                <a:cubicBezTo>
                  <a:pt x="829" y="877"/>
                  <a:pt x="829" y="877"/>
                  <a:pt x="829" y="877"/>
                </a:cubicBezTo>
                <a:cubicBezTo>
                  <a:pt x="829" y="866"/>
                  <a:pt x="838" y="858"/>
                  <a:pt x="848" y="858"/>
                </a:cubicBezTo>
                <a:cubicBezTo>
                  <a:pt x="1122" y="858"/>
                  <a:pt x="1122" y="858"/>
                  <a:pt x="1122" y="858"/>
                </a:cubicBezTo>
                <a:cubicBezTo>
                  <a:pt x="1144" y="811"/>
                  <a:pt x="1161" y="761"/>
                  <a:pt x="1170" y="709"/>
                </a:cubicBezTo>
                <a:cubicBezTo>
                  <a:pt x="770" y="709"/>
                  <a:pt x="770" y="709"/>
                  <a:pt x="770" y="709"/>
                </a:cubicBezTo>
                <a:cubicBezTo>
                  <a:pt x="759" y="709"/>
                  <a:pt x="750" y="700"/>
                  <a:pt x="750" y="689"/>
                </a:cubicBezTo>
                <a:cubicBezTo>
                  <a:pt x="750" y="529"/>
                  <a:pt x="750" y="529"/>
                  <a:pt x="750" y="529"/>
                </a:cubicBezTo>
                <a:cubicBezTo>
                  <a:pt x="750" y="518"/>
                  <a:pt x="759" y="509"/>
                  <a:pt x="770" y="509"/>
                </a:cubicBezTo>
                <a:cubicBezTo>
                  <a:pt x="1170" y="509"/>
                  <a:pt x="1170" y="509"/>
                  <a:pt x="1170" y="509"/>
                </a:cubicBezTo>
                <a:cubicBezTo>
                  <a:pt x="1161" y="457"/>
                  <a:pt x="1144" y="407"/>
                  <a:pt x="1122" y="360"/>
                </a:cubicBezTo>
                <a:cubicBezTo>
                  <a:pt x="848" y="360"/>
                  <a:pt x="848" y="360"/>
                  <a:pt x="848" y="360"/>
                </a:cubicBezTo>
                <a:cubicBezTo>
                  <a:pt x="838" y="360"/>
                  <a:pt x="829" y="352"/>
                  <a:pt x="829" y="341"/>
                </a:cubicBezTo>
                <a:cubicBezTo>
                  <a:pt x="829" y="180"/>
                  <a:pt x="829" y="180"/>
                  <a:pt x="829" y="180"/>
                </a:cubicBezTo>
                <a:cubicBezTo>
                  <a:pt x="829" y="170"/>
                  <a:pt x="838" y="161"/>
                  <a:pt x="848" y="161"/>
                </a:cubicBezTo>
                <a:cubicBezTo>
                  <a:pt x="961" y="161"/>
                  <a:pt x="961" y="161"/>
                  <a:pt x="961" y="161"/>
                </a:cubicBezTo>
                <a:cubicBezTo>
                  <a:pt x="864" y="84"/>
                  <a:pt x="742" y="39"/>
                  <a:pt x="609" y="39"/>
                </a:cubicBezTo>
                <a:close/>
                <a:moveTo>
                  <a:pt x="868" y="1018"/>
                </a:moveTo>
                <a:cubicBezTo>
                  <a:pt x="1005" y="1018"/>
                  <a:pt x="1005" y="1018"/>
                  <a:pt x="1005" y="1018"/>
                </a:cubicBezTo>
                <a:cubicBezTo>
                  <a:pt x="1042" y="982"/>
                  <a:pt x="1075" y="941"/>
                  <a:pt x="1101" y="896"/>
                </a:cubicBezTo>
                <a:cubicBezTo>
                  <a:pt x="868" y="896"/>
                  <a:pt x="868" y="896"/>
                  <a:pt x="868" y="896"/>
                </a:cubicBezTo>
                <a:lnTo>
                  <a:pt x="868" y="1018"/>
                </a:lnTo>
                <a:close/>
                <a:moveTo>
                  <a:pt x="789" y="670"/>
                </a:moveTo>
                <a:cubicBezTo>
                  <a:pt x="1176" y="670"/>
                  <a:pt x="1176" y="670"/>
                  <a:pt x="1176" y="670"/>
                </a:cubicBezTo>
                <a:cubicBezTo>
                  <a:pt x="1178" y="650"/>
                  <a:pt x="1179" y="630"/>
                  <a:pt x="1179" y="609"/>
                </a:cubicBezTo>
                <a:cubicBezTo>
                  <a:pt x="1179" y="588"/>
                  <a:pt x="1178" y="568"/>
                  <a:pt x="1176" y="548"/>
                </a:cubicBezTo>
                <a:cubicBezTo>
                  <a:pt x="789" y="548"/>
                  <a:pt x="789" y="548"/>
                  <a:pt x="789" y="548"/>
                </a:cubicBezTo>
                <a:lnTo>
                  <a:pt x="789" y="670"/>
                </a:lnTo>
                <a:close/>
                <a:moveTo>
                  <a:pt x="868" y="322"/>
                </a:moveTo>
                <a:cubicBezTo>
                  <a:pt x="1101" y="322"/>
                  <a:pt x="1101" y="322"/>
                  <a:pt x="1101" y="322"/>
                </a:cubicBezTo>
                <a:cubicBezTo>
                  <a:pt x="1075" y="277"/>
                  <a:pt x="1042" y="236"/>
                  <a:pt x="1005" y="199"/>
                </a:cubicBezTo>
                <a:cubicBezTo>
                  <a:pt x="868" y="199"/>
                  <a:pt x="868" y="199"/>
                  <a:pt x="868" y="199"/>
                </a:cubicBezTo>
                <a:lnTo>
                  <a:pt x="868" y="322"/>
                </a:lnTo>
                <a:close/>
                <a:moveTo>
                  <a:pt x="662" y="1057"/>
                </a:moveTo>
                <a:cubicBezTo>
                  <a:pt x="341" y="1057"/>
                  <a:pt x="341" y="1057"/>
                  <a:pt x="341" y="1057"/>
                </a:cubicBezTo>
                <a:cubicBezTo>
                  <a:pt x="330" y="1057"/>
                  <a:pt x="322" y="1048"/>
                  <a:pt x="322" y="1038"/>
                </a:cubicBezTo>
                <a:cubicBezTo>
                  <a:pt x="322" y="877"/>
                  <a:pt x="322" y="877"/>
                  <a:pt x="322" y="877"/>
                </a:cubicBezTo>
                <a:cubicBezTo>
                  <a:pt x="322" y="866"/>
                  <a:pt x="330" y="858"/>
                  <a:pt x="341" y="858"/>
                </a:cubicBezTo>
                <a:cubicBezTo>
                  <a:pt x="662" y="858"/>
                  <a:pt x="662" y="858"/>
                  <a:pt x="662" y="858"/>
                </a:cubicBezTo>
                <a:cubicBezTo>
                  <a:pt x="673" y="858"/>
                  <a:pt x="682" y="866"/>
                  <a:pt x="682" y="877"/>
                </a:cubicBezTo>
                <a:cubicBezTo>
                  <a:pt x="682" y="1038"/>
                  <a:pt x="682" y="1038"/>
                  <a:pt x="682" y="1038"/>
                </a:cubicBezTo>
                <a:cubicBezTo>
                  <a:pt x="682" y="1048"/>
                  <a:pt x="673" y="1057"/>
                  <a:pt x="662" y="1057"/>
                </a:cubicBezTo>
                <a:close/>
                <a:moveTo>
                  <a:pt x="360" y="1018"/>
                </a:moveTo>
                <a:cubicBezTo>
                  <a:pt x="643" y="1018"/>
                  <a:pt x="643" y="1018"/>
                  <a:pt x="643" y="1018"/>
                </a:cubicBezTo>
                <a:cubicBezTo>
                  <a:pt x="643" y="896"/>
                  <a:pt x="643" y="896"/>
                  <a:pt x="643" y="896"/>
                </a:cubicBezTo>
                <a:cubicBezTo>
                  <a:pt x="360" y="896"/>
                  <a:pt x="360" y="896"/>
                  <a:pt x="360" y="896"/>
                </a:cubicBezTo>
                <a:lnTo>
                  <a:pt x="360" y="1018"/>
                </a:lnTo>
                <a:close/>
                <a:moveTo>
                  <a:pt x="609" y="709"/>
                </a:moveTo>
                <a:cubicBezTo>
                  <a:pt x="180" y="709"/>
                  <a:pt x="180" y="709"/>
                  <a:pt x="180" y="709"/>
                </a:cubicBezTo>
                <a:cubicBezTo>
                  <a:pt x="169" y="709"/>
                  <a:pt x="161" y="700"/>
                  <a:pt x="161" y="689"/>
                </a:cubicBezTo>
                <a:cubicBezTo>
                  <a:pt x="161" y="529"/>
                  <a:pt x="161" y="529"/>
                  <a:pt x="161" y="529"/>
                </a:cubicBezTo>
                <a:cubicBezTo>
                  <a:pt x="161" y="518"/>
                  <a:pt x="169" y="509"/>
                  <a:pt x="180" y="509"/>
                </a:cubicBezTo>
                <a:cubicBezTo>
                  <a:pt x="609" y="509"/>
                  <a:pt x="609" y="509"/>
                  <a:pt x="609" y="509"/>
                </a:cubicBezTo>
                <a:cubicBezTo>
                  <a:pt x="619" y="509"/>
                  <a:pt x="628" y="518"/>
                  <a:pt x="628" y="529"/>
                </a:cubicBezTo>
                <a:cubicBezTo>
                  <a:pt x="628" y="689"/>
                  <a:pt x="628" y="689"/>
                  <a:pt x="628" y="689"/>
                </a:cubicBezTo>
                <a:cubicBezTo>
                  <a:pt x="628" y="700"/>
                  <a:pt x="619" y="709"/>
                  <a:pt x="609" y="709"/>
                </a:cubicBezTo>
                <a:close/>
                <a:moveTo>
                  <a:pt x="199" y="670"/>
                </a:moveTo>
                <a:cubicBezTo>
                  <a:pt x="589" y="670"/>
                  <a:pt x="589" y="670"/>
                  <a:pt x="589" y="670"/>
                </a:cubicBezTo>
                <a:cubicBezTo>
                  <a:pt x="589" y="548"/>
                  <a:pt x="589" y="548"/>
                  <a:pt x="589" y="548"/>
                </a:cubicBezTo>
                <a:cubicBezTo>
                  <a:pt x="199" y="548"/>
                  <a:pt x="199" y="548"/>
                  <a:pt x="199" y="548"/>
                </a:cubicBezTo>
                <a:lnTo>
                  <a:pt x="199" y="670"/>
                </a:lnTo>
                <a:close/>
                <a:moveTo>
                  <a:pt x="662" y="360"/>
                </a:moveTo>
                <a:cubicBezTo>
                  <a:pt x="341" y="360"/>
                  <a:pt x="341" y="360"/>
                  <a:pt x="341" y="360"/>
                </a:cubicBezTo>
                <a:cubicBezTo>
                  <a:pt x="330" y="360"/>
                  <a:pt x="322" y="352"/>
                  <a:pt x="322" y="341"/>
                </a:cubicBezTo>
                <a:cubicBezTo>
                  <a:pt x="322" y="180"/>
                  <a:pt x="322" y="180"/>
                  <a:pt x="322" y="180"/>
                </a:cubicBezTo>
                <a:cubicBezTo>
                  <a:pt x="322" y="170"/>
                  <a:pt x="330" y="161"/>
                  <a:pt x="341" y="161"/>
                </a:cubicBezTo>
                <a:cubicBezTo>
                  <a:pt x="662" y="161"/>
                  <a:pt x="662" y="161"/>
                  <a:pt x="662" y="161"/>
                </a:cubicBezTo>
                <a:cubicBezTo>
                  <a:pt x="673" y="161"/>
                  <a:pt x="682" y="170"/>
                  <a:pt x="682" y="180"/>
                </a:cubicBezTo>
                <a:cubicBezTo>
                  <a:pt x="682" y="341"/>
                  <a:pt x="682" y="341"/>
                  <a:pt x="682" y="341"/>
                </a:cubicBezTo>
                <a:cubicBezTo>
                  <a:pt x="682" y="352"/>
                  <a:pt x="673" y="360"/>
                  <a:pt x="662" y="360"/>
                </a:cubicBezTo>
                <a:close/>
                <a:moveTo>
                  <a:pt x="360" y="322"/>
                </a:moveTo>
                <a:cubicBezTo>
                  <a:pt x="643" y="322"/>
                  <a:pt x="643" y="322"/>
                  <a:pt x="643" y="322"/>
                </a:cubicBezTo>
                <a:cubicBezTo>
                  <a:pt x="643" y="199"/>
                  <a:pt x="643" y="199"/>
                  <a:pt x="643" y="199"/>
                </a:cubicBezTo>
                <a:cubicBezTo>
                  <a:pt x="360" y="199"/>
                  <a:pt x="360" y="199"/>
                  <a:pt x="360" y="199"/>
                </a:cubicBezTo>
                <a:lnTo>
                  <a:pt x="360" y="322"/>
                </a:lnTo>
                <a:close/>
              </a:path>
            </a:pathLst>
          </a:custGeom>
          <a:solidFill>
            <a:schemeClr val="bg1"/>
          </a:solidFill>
          <a:ln>
            <a:noFill/>
          </a:ln>
        </p:spPr>
        <p:txBody>
          <a:bodyPr vert="horz" wrap="square" lIns="45714" tIns="22857" rIns="45714" bIns="22857" numCol="1" anchor="t" anchorCtr="0" compatLnSpc="1">
            <a:prstTxWarp prst="textNoShape">
              <a:avLst/>
            </a:prstTxWarp>
          </a:bodyPr>
          <a:lstStyle/>
          <a:p>
            <a:pPr defTabSz="342923">
              <a:defRPr/>
            </a:pPr>
            <a:endParaRPr lang="uk-UA" sz="1000">
              <a:solidFill>
                <a:schemeClr val="accent1"/>
              </a:solidFill>
              <a:latin typeface="+mj-lt"/>
            </a:endParaRPr>
          </a:p>
        </p:txBody>
      </p:sp>
      <p:sp>
        <p:nvSpPr>
          <p:cNvPr id="200" name="Freeform 60">
            <a:extLst>
              <a:ext uri="{FF2B5EF4-FFF2-40B4-BE49-F238E27FC236}">
                <a16:creationId xmlns:a16="http://schemas.microsoft.com/office/drawing/2014/main" id="{128B6959-BECC-D454-5A76-CC3091651426}"/>
              </a:ext>
            </a:extLst>
          </p:cNvPr>
          <p:cNvSpPr>
            <a:spLocks noChangeAspect="1" noEditPoints="1"/>
          </p:cNvSpPr>
          <p:nvPr/>
        </p:nvSpPr>
        <p:spPr bwMode="auto">
          <a:xfrm>
            <a:off x="1632536" y="5241383"/>
            <a:ext cx="585129" cy="508615"/>
          </a:xfrm>
          <a:custGeom>
            <a:avLst/>
            <a:gdLst>
              <a:gd name="T0" fmla="*/ 1202 w 1616"/>
              <a:gd name="T1" fmla="*/ 1404 h 1404"/>
              <a:gd name="T2" fmla="*/ 414 w 1616"/>
              <a:gd name="T3" fmla="*/ 1404 h 1404"/>
              <a:gd name="T4" fmla="*/ 398 w 1616"/>
              <a:gd name="T5" fmla="*/ 1395 h 1404"/>
              <a:gd name="T6" fmla="*/ 4 w 1616"/>
              <a:gd name="T7" fmla="*/ 711 h 1404"/>
              <a:gd name="T8" fmla="*/ 4 w 1616"/>
              <a:gd name="T9" fmla="*/ 692 h 1404"/>
              <a:gd name="T10" fmla="*/ 398 w 1616"/>
              <a:gd name="T11" fmla="*/ 10 h 1404"/>
              <a:gd name="T12" fmla="*/ 414 w 1616"/>
              <a:gd name="T13" fmla="*/ 0 h 1404"/>
              <a:gd name="T14" fmla="*/ 1202 w 1616"/>
              <a:gd name="T15" fmla="*/ 0 h 1404"/>
              <a:gd name="T16" fmla="*/ 1219 w 1616"/>
              <a:gd name="T17" fmla="*/ 10 h 1404"/>
              <a:gd name="T18" fmla="*/ 1613 w 1616"/>
              <a:gd name="T19" fmla="*/ 692 h 1404"/>
              <a:gd name="T20" fmla="*/ 1613 w 1616"/>
              <a:gd name="T21" fmla="*/ 711 h 1404"/>
              <a:gd name="T22" fmla="*/ 1219 w 1616"/>
              <a:gd name="T23" fmla="*/ 1395 h 1404"/>
              <a:gd name="T24" fmla="*/ 1202 w 1616"/>
              <a:gd name="T25" fmla="*/ 1404 h 1404"/>
              <a:gd name="T26" fmla="*/ 447 w 1616"/>
              <a:gd name="T27" fmla="*/ 1366 h 1404"/>
              <a:gd name="T28" fmla="*/ 1170 w 1616"/>
              <a:gd name="T29" fmla="*/ 1366 h 1404"/>
              <a:gd name="T30" fmla="*/ 808 w 1616"/>
              <a:gd name="T31" fmla="*/ 740 h 1404"/>
              <a:gd name="T32" fmla="*/ 447 w 1616"/>
              <a:gd name="T33" fmla="*/ 1366 h 1404"/>
              <a:gd name="T34" fmla="*/ 841 w 1616"/>
              <a:gd name="T35" fmla="*/ 720 h 1404"/>
              <a:gd name="T36" fmla="*/ 1202 w 1616"/>
              <a:gd name="T37" fmla="*/ 1347 h 1404"/>
              <a:gd name="T38" fmla="*/ 1564 w 1616"/>
              <a:gd name="T39" fmla="*/ 720 h 1404"/>
              <a:gd name="T40" fmla="*/ 841 w 1616"/>
              <a:gd name="T41" fmla="*/ 720 h 1404"/>
              <a:gd name="T42" fmla="*/ 53 w 1616"/>
              <a:gd name="T43" fmla="*/ 720 h 1404"/>
              <a:gd name="T44" fmla="*/ 414 w 1616"/>
              <a:gd name="T45" fmla="*/ 1347 h 1404"/>
              <a:gd name="T46" fmla="*/ 776 w 1616"/>
              <a:gd name="T47" fmla="*/ 720 h 1404"/>
              <a:gd name="T48" fmla="*/ 53 w 1616"/>
              <a:gd name="T49" fmla="*/ 720 h 1404"/>
              <a:gd name="T50" fmla="*/ 841 w 1616"/>
              <a:gd name="T51" fmla="*/ 683 h 1404"/>
              <a:gd name="T52" fmla="*/ 1564 w 1616"/>
              <a:gd name="T53" fmla="*/ 683 h 1404"/>
              <a:gd name="T54" fmla="*/ 1202 w 1616"/>
              <a:gd name="T55" fmla="*/ 57 h 1404"/>
              <a:gd name="T56" fmla="*/ 841 w 1616"/>
              <a:gd name="T57" fmla="*/ 683 h 1404"/>
              <a:gd name="T58" fmla="*/ 53 w 1616"/>
              <a:gd name="T59" fmla="*/ 683 h 1404"/>
              <a:gd name="T60" fmla="*/ 775 w 1616"/>
              <a:gd name="T61" fmla="*/ 683 h 1404"/>
              <a:gd name="T62" fmla="*/ 414 w 1616"/>
              <a:gd name="T63" fmla="*/ 57 h 1404"/>
              <a:gd name="T64" fmla="*/ 53 w 1616"/>
              <a:gd name="T65" fmla="*/ 683 h 1404"/>
              <a:gd name="T66" fmla="*/ 447 w 1616"/>
              <a:gd name="T67" fmla="*/ 38 h 1404"/>
              <a:gd name="T68" fmla="*/ 808 w 1616"/>
              <a:gd name="T69" fmla="*/ 664 h 1404"/>
              <a:gd name="T70" fmla="*/ 1170 w 1616"/>
              <a:gd name="T71" fmla="*/ 38 h 1404"/>
              <a:gd name="T72" fmla="*/ 447 w 1616"/>
              <a:gd name="T73" fmla="*/ 38 h 1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616" h="1404">
                <a:moveTo>
                  <a:pt x="1202" y="1404"/>
                </a:moveTo>
                <a:cubicBezTo>
                  <a:pt x="414" y="1404"/>
                  <a:pt x="414" y="1404"/>
                  <a:pt x="414" y="1404"/>
                </a:cubicBezTo>
                <a:cubicBezTo>
                  <a:pt x="407" y="1404"/>
                  <a:pt x="401" y="1400"/>
                  <a:pt x="398" y="1395"/>
                </a:cubicBezTo>
                <a:cubicBezTo>
                  <a:pt x="4" y="711"/>
                  <a:pt x="4" y="711"/>
                  <a:pt x="4" y="711"/>
                </a:cubicBezTo>
                <a:cubicBezTo>
                  <a:pt x="0" y="705"/>
                  <a:pt x="0" y="698"/>
                  <a:pt x="4" y="692"/>
                </a:cubicBezTo>
                <a:cubicBezTo>
                  <a:pt x="398" y="10"/>
                  <a:pt x="398" y="10"/>
                  <a:pt x="398" y="10"/>
                </a:cubicBezTo>
                <a:cubicBezTo>
                  <a:pt x="401" y="4"/>
                  <a:pt x="407" y="0"/>
                  <a:pt x="414" y="0"/>
                </a:cubicBezTo>
                <a:cubicBezTo>
                  <a:pt x="1202" y="0"/>
                  <a:pt x="1202" y="0"/>
                  <a:pt x="1202" y="0"/>
                </a:cubicBezTo>
                <a:cubicBezTo>
                  <a:pt x="1209" y="0"/>
                  <a:pt x="1215" y="4"/>
                  <a:pt x="1219" y="10"/>
                </a:cubicBezTo>
                <a:cubicBezTo>
                  <a:pt x="1613" y="692"/>
                  <a:pt x="1613" y="692"/>
                  <a:pt x="1613" y="692"/>
                </a:cubicBezTo>
                <a:cubicBezTo>
                  <a:pt x="1616" y="698"/>
                  <a:pt x="1616" y="705"/>
                  <a:pt x="1613" y="711"/>
                </a:cubicBezTo>
                <a:cubicBezTo>
                  <a:pt x="1219" y="1395"/>
                  <a:pt x="1219" y="1395"/>
                  <a:pt x="1219" y="1395"/>
                </a:cubicBezTo>
                <a:cubicBezTo>
                  <a:pt x="1215" y="1400"/>
                  <a:pt x="1209" y="1404"/>
                  <a:pt x="1202" y="1404"/>
                </a:cubicBezTo>
                <a:close/>
                <a:moveTo>
                  <a:pt x="447" y="1366"/>
                </a:moveTo>
                <a:cubicBezTo>
                  <a:pt x="1170" y="1366"/>
                  <a:pt x="1170" y="1366"/>
                  <a:pt x="1170" y="1366"/>
                </a:cubicBezTo>
                <a:cubicBezTo>
                  <a:pt x="808" y="740"/>
                  <a:pt x="808" y="740"/>
                  <a:pt x="808" y="740"/>
                </a:cubicBezTo>
                <a:lnTo>
                  <a:pt x="447" y="1366"/>
                </a:lnTo>
                <a:close/>
                <a:moveTo>
                  <a:pt x="841" y="720"/>
                </a:moveTo>
                <a:cubicBezTo>
                  <a:pt x="1202" y="1347"/>
                  <a:pt x="1202" y="1347"/>
                  <a:pt x="1202" y="1347"/>
                </a:cubicBezTo>
                <a:cubicBezTo>
                  <a:pt x="1564" y="720"/>
                  <a:pt x="1564" y="720"/>
                  <a:pt x="1564" y="720"/>
                </a:cubicBezTo>
                <a:lnTo>
                  <a:pt x="841" y="720"/>
                </a:lnTo>
                <a:close/>
                <a:moveTo>
                  <a:pt x="53" y="720"/>
                </a:moveTo>
                <a:cubicBezTo>
                  <a:pt x="414" y="1347"/>
                  <a:pt x="414" y="1347"/>
                  <a:pt x="414" y="1347"/>
                </a:cubicBezTo>
                <a:cubicBezTo>
                  <a:pt x="776" y="720"/>
                  <a:pt x="776" y="720"/>
                  <a:pt x="776" y="720"/>
                </a:cubicBezTo>
                <a:lnTo>
                  <a:pt x="53" y="720"/>
                </a:lnTo>
                <a:close/>
                <a:moveTo>
                  <a:pt x="841" y="683"/>
                </a:moveTo>
                <a:cubicBezTo>
                  <a:pt x="1564" y="683"/>
                  <a:pt x="1564" y="683"/>
                  <a:pt x="1564" y="683"/>
                </a:cubicBezTo>
                <a:cubicBezTo>
                  <a:pt x="1202" y="57"/>
                  <a:pt x="1202" y="57"/>
                  <a:pt x="1202" y="57"/>
                </a:cubicBezTo>
                <a:lnTo>
                  <a:pt x="841" y="683"/>
                </a:lnTo>
                <a:close/>
                <a:moveTo>
                  <a:pt x="53" y="683"/>
                </a:moveTo>
                <a:cubicBezTo>
                  <a:pt x="775" y="683"/>
                  <a:pt x="775" y="683"/>
                  <a:pt x="775" y="683"/>
                </a:cubicBezTo>
                <a:cubicBezTo>
                  <a:pt x="414" y="57"/>
                  <a:pt x="414" y="57"/>
                  <a:pt x="414" y="57"/>
                </a:cubicBezTo>
                <a:lnTo>
                  <a:pt x="53" y="683"/>
                </a:lnTo>
                <a:close/>
                <a:moveTo>
                  <a:pt x="447" y="38"/>
                </a:moveTo>
                <a:cubicBezTo>
                  <a:pt x="808" y="664"/>
                  <a:pt x="808" y="664"/>
                  <a:pt x="808" y="664"/>
                </a:cubicBezTo>
                <a:cubicBezTo>
                  <a:pt x="1170" y="38"/>
                  <a:pt x="1170" y="38"/>
                  <a:pt x="1170" y="38"/>
                </a:cubicBezTo>
                <a:lnTo>
                  <a:pt x="447" y="38"/>
                </a:lnTo>
                <a:close/>
              </a:path>
            </a:pathLst>
          </a:custGeom>
          <a:solidFill>
            <a:schemeClr val="bg1"/>
          </a:solidFill>
          <a:ln>
            <a:noFill/>
          </a:ln>
        </p:spPr>
        <p:txBody>
          <a:bodyPr vert="horz" wrap="square" lIns="45714" tIns="22857" rIns="45714" bIns="22857" numCol="1" anchor="t" anchorCtr="0" compatLnSpc="1">
            <a:prstTxWarp prst="textNoShape">
              <a:avLst/>
            </a:prstTxWarp>
          </a:bodyPr>
          <a:lstStyle/>
          <a:p>
            <a:pPr defTabSz="342923">
              <a:defRPr/>
            </a:pPr>
            <a:endParaRPr lang="uk-UA" sz="1000">
              <a:solidFill>
                <a:schemeClr val="accent1"/>
              </a:solidFill>
              <a:latin typeface="+mj-lt"/>
            </a:endParaRPr>
          </a:p>
        </p:txBody>
      </p:sp>
      <p:sp>
        <p:nvSpPr>
          <p:cNvPr id="201" name="TextBox 200">
            <a:extLst>
              <a:ext uri="{FF2B5EF4-FFF2-40B4-BE49-F238E27FC236}">
                <a16:creationId xmlns:a16="http://schemas.microsoft.com/office/drawing/2014/main" id="{E02D08AB-354B-F2BC-BC51-ED6A3D421A0F}"/>
              </a:ext>
            </a:extLst>
          </p:cNvPr>
          <p:cNvSpPr txBox="1"/>
          <p:nvPr/>
        </p:nvSpPr>
        <p:spPr>
          <a:xfrm>
            <a:off x="1425969" y="2192634"/>
            <a:ext cx="998263" cy="153888"/>
          </a:xfrm>
          <a:prstGeom prst="rect">
            <a:avLst/>
          </a:prstGeom>
          <a:noFill/>
        </p:spPr>
        <p:txBody>
          <a:bodyPr wrap="square" lIns="0" tIns="0" rIns="0" bIns="0" rtlCol="0" anchor="ctr">
            <a:spAutoFit/>
          </a:bodyPr>
          <a:lstStyle/>
          <a:p>
            <a:pPr algn="ctr" defTabSz="342914">
              <a:defRPr/>
            </a:pPr>
            <a:r>
              <a:rPr lang="en-US" sz="1000" dirty="0">
                <a:solidFill>
                  <a:schemeClr val="bg1"/>
                </a:solidFill>
                <a:latin typeface="+mj-lt"/>
                <a:ea typeface="IBM Plex Sans" charset="0"/>
                <a:cs typeface="Arial" panose="020B0604020202020204" pitchFamily="34" charset="0"/>
              </a:rPr>
              <a:t>Request</a:t>
            </a:r>
          </a:p>
        </p:txBody>
      </p:sp>
      <p:sp>
        <p:nvSpPr>
          <p:cNvPr id="202" name="TextBox 201">
            <a:extLst>
              <a:ext uri="{FF2B5EF4-FFF2-40B4-BE49-F238E27FC236}">
                <a16:creationId xmlns:a16="http://schemas.microsoft.com/office/drawing/2014/main" id="{F2D0FE8A-4F8A-99FC-C36D-4F7384FA2EF0}"/>
              </a:ext>
            </a:extLst>
          </p:cNvPr>
          <p:cNvSpPr txBox="1"/>
          <p:nvPr/>
        </p:nvSpPr>
        <p:spPr>
          <a:xfrm>
            <a:off x="9753505" y="2118738"/>
            <a:ext cx="1015932" cy="307777"/>
          </a:xfrm>
          <a:prstGeom prst="rect">
            <a:avLst/>
          </a:prstGeom>
          <a:noFill/>
        </p:spPr>
        <p:txBody>
          <a:bodyPr wrap="square" lIns="0" tIns="0" rIns="0" bIns="0" rtlCol="0" anchor="ctr">
            <a:spAutoFit/>
          </a:bodyPr>
          <a:lstStyle/>
          <a:p>
            <a:pPr algn="ctr" defTabSz="342914">
              <a:defRPr/>
            </a:pPr>
            <a:r>
              <a:rPr lang="en-US" sz="1000" dirty="0">
                <a:solidFill>
                  <a:schemeClr val="bg1"/>
                </a:solidFill>
                <a:latin typeface="+mj-lt"/>
                <a:ea typeface="IBM Plex Sans" charset="0"/>
                <a:cs typeface="Arial" panose="020B0604020202020204" pitchFamily="34" charset="0"/>
              </a:rPr>
              <a:t>Tasks &amp;</a:t>
            </a:r>
          </a:p>
          <a:p>
            <a:pPr algn="ctr" defTabSz="342914">
              <a:defRPr/>
            </a:pPr>
            <a:r>
              <a:rPr lang="en-US" sz="1000" dirty="0">
                <a:solidFill>
                  <a:schemeClr val="bg1"/>
                </a:solidFill>
                <a:latin typeface="+mj-lt"/>
                <a:ea typeface="IBM Plex Sans" charset="0"/>
                <a:cs typeface="Arial" panose="020B0604020202020204" pitchFamily="34" charset="0"/>
              </a:rPr>
              <a:t>Projects</a:t>
            </a:r>
          </a:p>
        </p:txBody>
      </p:sp>
      <p:sp>
        <p:nvSpPr>
          <p:cNvPr id="203" name="TextBox 202">
            <a:extLst>
              <a:ext uri="{FF2B5EF4-FFF2-40B4-BE49-F238E27FC236}">
                <a16:creationId xmlns:a16="http://schemas.microsoft.com/office/drawing/2014/main" id="{6623C97B-A00B-91E9-C608-8B52EFCA36FE}"/>
              </a:ext>
            </a:extLst>
          </p:cNvPr>
          <p:cNvSpPr txBox="1"/>
          <p:nvPr/>
        </p:nvSpPr>
        <p:spPr>
          <a:xfrm>
            <a:off x="3990398" y="2215442"/>
            <a:ext cx="991549" cy="153888"/>
          </a:xfrm>
          <a:prstGeom prst="rect">
            <a:avLst/>
          </a:prstGeom>
          <a:noFill/>
        </p:spPr>
        <p:txBody>
          <a:bodyPr wrap="square" lIns="0" tIns="0" rIns="0" bIns="0" rtlCol="0" anchor="ctr">
            <a:spAutoFit/>
          </a:bodyPr>
          <a:lstStyle/>
          <a:p>
            <a:pPr algn="ctr" defTabSz="342914">
              <a:defRPr/>
            </a:pPr>
            <a:r>
              <a:rPr lang="en-US" sz="1000" dirty="0">
                <a:solidFill>
                  <a:schemeClr val="bg1"/>
                </a:solidFill>
                <a:latin typeface="+mj-lt"/>
                <a:ea typeface="IBM Plex Sans" charset="0"/>
                <a:cs typeface="Arial" panose="020B0604020202020204" pitchFamily="34" charset="0"/>
              </a:rPr>
              <a:t>Templates</a:t>
            </a:r>
          </a:p>
        </p:txBody>
      </p:sp>
      <p:sp>
        <p:nvSpPr>
          <p:cNvPr id="204" name="TextBox 203">
            <a:extLst>
              <a:ext uri="{FF2B5EF4-FFF2-40B4-BE49-F238E27FC236}">
                <a16:creationId xmlns:a16="http://schemas.microsoft.com/office/drawing/2014/main" id="{C81AD47F-3585-B93C-AF17-30FD34621584}"/>
              </a:ext>
            </a:extLst>
          </p:cNvPr>
          <p:cNvSpPr txBox="1"/>
          <p:nvPr/>
        </p:nvSpPr>
        <p:spPr>
          <a:xfrm>
            <a:off x="7188672" y="2228713"/>
            <a:ext cx="1011999" cy="153888"/>
          </a:xfrm>
          <a:prstGeom prst="rect">
            <a:avLst/>
          </a:prstGeom>
          <a:noFill/>
        </p:spPr>
        <p:txBody>
          <a:bodyPr wrap="square" lIns="0" tIns="0" rIns="0" bIns="0" rtlCol="0" anchor="ctr">
            <a:spAutoFit/>
          </a:bodyPr>
          <a:lstStyle/>
          <a:p>
            <a:pPr algn="ctr" defTabSz="342914">
              <a:defRPr/>
            </a:pPr>
            <a:r>
              <a:rPr lang="en-US" sz="1000" dirty="0">
                <a:solidFill>
                  <a:schemeClr val="bg1"/>
                </a:solidFill>
                <a:latin typeface="+mj-lt"/>
                <a:ea typeface="IBM Plex Sans" charset="0"/>
                <a:cs typeface="Arial" panose="020B0604020202020204" pitchFamily="34" charset="0"/>
              </a:rPr>
              <a:t>Approvals</a:t>
            </a:r>
          </a:p>
        </p:txBody>
      </p:sp>
      <p:sp>
        <p:nvSpPr>
          <p:cNvPr id="205" name="TextBox 204">
            <a:extLst>
              <a:ext uri="{FF2B5EF4-FFF2-40B4-BE49-F238E27FC236}">
                <a16:creationId xmlns:a16="http://schemas.microsoft.com/office/drawing/2014/main" id="{B53ECAAF-21B6-0A1C-2B91-668A11D1DED8}"/>
              </a:ext>
            </a:extLst>
          </p:cNvPr>
          <p:cNvSpPr txBox="1"/>
          <p:nvPr/>
        </p:nvSpPr>
        <p:spPr>
          <a:xfrm>
            <a:off x="9632124" y="4112622"/>
            <a:ext cx="1258695" cy="153888"/>
          </a:xfrm>
          <a:prstGeom prst="rect">
            <a:avLst/>
          </a:prstGeom>
          <a:noFill/>
        </p:spPr>
        <p:txBody>
          <a:bodyPr wrap="square" lIns="0" tIns="0" rIns="0" bIns="0" rtlCol="0" anchor="ctr">
            <a:spAutoFit/>
          </a:bodyPr>
          <a:lstStyle/>
          <a:p>
            <a:pPr algn="ctr" defTabSz="342914">
              <a:defRPr/>
            </a:pPr>
            <a:r>
              <a:rPr lang="en-US" sz="1000" dirty="0">
                <a:solidFill>
                  <a:schemeClr val="bg1"/>
                </a:solidFill>
                <a:latin typeface="+mj-lt"/>
                <a:ea typeface="IBM Plex Sans" charset="0"/>
                <a:cs typeface="Arial" panose="020B0604020202020204" pitchFamily="34" charset="0"/>
              </a:rPr>
              <a:t>Action Items</a:t>
            </a:r>
          </a:p>
        </p:txBody>
      </p:sp>
      <p:sp>
        <p:nvSpPr>
          <p:cNvPr id="206" name="TextBox 205">
            <a:extLst>
              <a:ext uri="{FF2B5EF4-FFF2-40B4-BE49-F238E27FC236}">
                <a16:creationId xmlns:a16="http://schemas.microsoft.com/office/drawing/2014/main" id="{D4FC25DE-CEB6-6943-8150-DB30ECF8754E}"/>
              </a:ext>
            </a:extLst>
          </p:cNvPr>
          <p:cNvSpPr txBox="1"/>
          <p:nvPr/>
        </p:nvSpPr>
        <p:spPr>
          <a:xfrm>
            <a:off x="1453572" y="4079001"/>
            <a:ext cx="943058" cy="153888"/>
          </a:xfrm>
          <a:prstGeom prst="rect">
            <a:avLst/>
          </a:prstGeom>
          <a:noFill/>
        </p:spPr>
        <p:txBody>
          <a:bodyPr wrap="square" lIns="0" tIns="0" rIns="0" bIns="0" rtlCol="0" anchor="ctr">
            <a:spAutoFit/>
          </a:bodyPr>
          <a:lstStyle/>
          <a:p>
            <a:pPr algn="ctr" defTabSz="342914">
              <a:defRPr/>
            </a:pPr>
            <a:r>
              <a:rPr lang="en-US" sz="1000" dirty="0">
                <a:solidFill>
                  <a:schemeClr val="bg1"/>
                </a:solidFill>
                <a:latin typeface="+mj-lt"/>
                <a:ea typeface="IBM Plex Sans" charset="0"/>
                <a:cs typeface="Arial" panose="020B0604020202020204" pitchFamily="34" charset="0"/>
              </a:rPr>
              <a:t>Service Matrix</a:t>
            </a:r>
          </a:p>
        </p:txBody>
      </p:sp>
      <p:sp>
        <p:nvSpPr>
          <p:cNvPr id="207" name="TextBox 206">
            <a:extLst>
              <a:ext uri="{FF2B5EF4-FFF2-40B4-BE49-F238E27FC236}">
                <a16:creationId xmlns:a16="http://schemas.microsoft.com/office/drawing/2014/main" id="{CC986FD7-0BB0-129C-7186-5765B4ED036B}"/>
              </a:ext>
            </a:extLst>
          </p:cNvPr>
          <p:cNvSpPr txBox="1"/>
          <p:nvPr/>
        </p:nvSpPr>
        <p:spPr>
          <a:xfrm>
            <a:off x="9638976" y="6014800"/>
            <a:ext cx="1244992" cy="153888"/>
          </a:xfrm>
          <a:prstGeom prst="rect">
            <a:avLst/>
          </a:prstGeom>
          <a:noFill/>
        </p:spPr>
        <p:txBody>
          <a:bodyPr wrap="square" lIns="0" tIns="0" rIns="0" bIns="0" rtlCol="0" anchor="ctr">
            <a:spAutoFit/>
          </a:bodyPr>
          <a:lstStyle/>
          <a:p>
            <a:pPr algn="ctr" defTabSz="342914">
              <a:defRPr/>
            </a:pPr>
            <a:r>
              <a:rPr lang="en-US" sz="1000" dirty="0">
                <a:solidFill>
                  <a:schemeClr val="bg1"/>
                </a:solidFill>
                <a:latin typeface="+mj-lt"/>
                <a:ea typeface="IBM Plex Sans" charset="0"/>
                <a:cs typeface="Arial" panose="020B0604020202020204" pitchFamily="34" charset="0"/>
              </a:rPr>
              <a:t>Data Model </a:t>
            </a:r>
          </a:p>
        </p:txBody>
      </p:sp>
      <p:sp>
        <p:nvSpPr>
          <p:cNvPr id="208" name="TextBox 207">
            <a:extLst>
              <a:ext uri="{FF2B5EF4-FFF2-40B4-BE49-F238E27FC236}">
                <a16:creationId xmlns:a16="http://schemas.microsoft.com/office/drawing/2014/main" id="{AD424C92-F69C-BE73-4B8B-A867B93B2E61}"/>
              </a:ext>
            </a:extLst>
          </p:cNvPr>
          <p:cNvSpPr txBox="1"/>
          <p:nvPr/>
        </p:nvSpPr>
        <p:spPr>
          <a:xfrm>
            <a:off x="7158150" y="6014800"/>
            <a:ext cx="1073043" cy="153888"/>
          </a:xfrm>
          <a:prstGeom prst="rect">
            <a:avLst/>
          </a:prstGeom>
          <a:noFill/>
        </p:spPr>
        <p:txBody>
          <a:bodyPr wrap="square" lIns="0" tIns="0" rIns="0" bIns="0" rtlCol="0" anchor="ctr">
            <a:spAutoFit/>
          </a:bodyPr>
          <a:lstStyle/>
          <a:p>
            <a:pPr algn="ctr" defTabSz="342914">
              <a:defRPr/>
            </a:pPr>
            <a:r>
              <a:rPr lang="en-US" sz="1000" dirty="0">
                <a:solidFill>
                  <a:schemeClr val="bg1"/>
                </a:solidFill>
                <a:latin typeface="+mj-lt"/>
                <a:ea typeface="IBM Plex Sans" charset="0"/>
                <a:cs typeface="Arial" panose="020B0604020202020204" pitchFamily="34" charset="0"/>
              </a:rPr>
              <a:t>State Family</a:t>
            </a:r>
          </a:p>
        </p:txBody>
      </p:sp>
      <p:sp>
        <p:nvSpPr>
          <p:cNvPr id="209" name="TextBox 208">
            <a:extLst>
              <a:ext uri="{FF2B5EF4-FFF2-40B4-BE49-F238E27FC236}">
                <a16:creationId xmlns:a16="http://schemas.microsoft.com/office/drawing/2014/main" id="{A48B69FF-C1C7-6A3C-E81A-6F04686C38D4}"/>
              </a:ext>
            </a:extLst>
          </p:cNvPr>
          <p:cNvSpPr txBox="1"/>
          <p:nvPr/>
        </p:nvSpPr>
        <p:spPr>
          <a:xfrm>
            <a:off x="3958425" y="6014801"/>
            <a:ext cx="1055494" cy="153888"/>
          </a:xfrm>
          <a:prstGeom prst="rect">
            <a:avLst/>
          </a:prstGeom>
          <a:noFill/>
        </p:spPr>
        <p:txBody>
          <a:bodyPr wrap="square" lIns="0" tIns="0" rIns="0" bIns="0" rtlCol="0" anchor="ctr">
            <a:spAutoFit/>
          </a:bodyPr>
          <a:lstStyle/>
          <a:p>
            <a:pPr algn="ctr" defTabSz="342914">
              <a:defRPr/>
            </a:pPr>
            <a:r>
              <a:rPr lang="en-US" sz="1000" dirty="0">
                <a:solidFill>
                  <a:schemeClr val="bg1"/>
                </a:solidFill>
                <a:latin typeface="+mj-lt"/>
                <a:ea typeface="IBM Plex Sans" charset="0"/>
                <a:cs typeface="Arial" panose="020B0604020202020204" pitchFamily="34" charset="0"/>
              </a:rPr>
              <a:t>Workflow Engine</a:t>
            </a:r>
          </a:p>
        </p:txBody>
      </p:sp>
      <p:sp>
        <p:nvSpPr>
          <p:cNvPr id="210" name="TextBox 209">
            <a:extLst>
              <a:ext uri="{FF2B5EF4-FFF2-40B4-BE49-F238E27FC236}">
                <a16:creationId xmlns:a16="http://schemas.microsoft.com/office/drawing/2014/main" id="{06A0C24C-3541-2DE4-6863-B2A762D1AF6C}"/>
              </a:ext>
            </a:extLst>
          </p:cNvPr>
          <p:cNvSpPr txBox="1"/>
          <p:nvPr/>
        </p:nvSpPr>
        <p:spPr>
          <a:xfrm>
            <a:off x="1324016" y="5984749"/>
            <a:ext cx="1205717" cy="153888"/>
          </a:xfrm>
          <a:prstGeom prst="rect">
            <a:avLst/>
          </a:prstGeom>
          <a:noFill/>
        </p:spPr>
        <p:txBody>
          <a:bodyPr wrap="square" lIns="0" tIns="0" rIns="0" bIns="0" rtlCol="0">
            <a:spAutoFit/>
          </a:bodyPr>
          <a:lstStyle/>
          <a:p>
            <a:pPr algn="ctr" defTabSz="342914">
              <a:defRPr/>
            </a:pPr>
            <a:r>
              <a:rPr lang="en-US" sz="1000" dirty="0">
                <a:solidFill>
                  <a:schemeClr val="bg1"/>
                </a:solidFill>
                <a:latin typeface="+mj-lt"/>
                <a:ea typeface="IBM Plex Sans" charset="0"/>
                <a:cs typeface="Arial" panose="020B0604020202020204" pitchFamily="34" charset="0"/>
              </a:rPr>
              <a:t>Integration</a:t>
            </a:r>
          </a:p>
        </p:txBody>
      </p:sp>
      <p:sp>
        <p:nvSpPr>
          <p:cNvPr id="211" name="TextBox 210">
            <a:extLst>
              <a:ext uri="{FF2B5EF4-FFF2-40B4-BE49-F238E27FC236}">
                <a16:creationId xmlns:a16="http://schemas.microsoft.com/office/drawing/2014/main" id="{FD2D732F-5E49-1F1E-A180-8243BFD7FF52}"/>
              </a:ext>
            </a:extLst>
          </p:cNvPr>
          <p:cNvSpPr txBox="1"/>
          <p:nvPr/>
        </p:nvSpPr>
        <p:spPr>
          <a:xfrm>
            <a:off x="5534476" y="4064703"/>
            <a:ext cx="1185885" cy="153888"/>
          </a:xfrm>
          <a:prstGeom prst="rect">
            <a:avLst/>
          </a:prstGeom>
          <a:noFill/>
        </p:spPr>
        <p:txBody>
          <a:bodyPr wrap="square" lIns="0" tIns="0" rIns="0" bIns="0" rtlCol="0" anchor="ctr">
            <a:spAutoFit/>
          </a:bodyPr>
          <a:lstStyle/>
          <a:p>
            <a:pPr algn="ctr" defTabSz="342914">
              <a:defRPr/>
            </a:pPr>
            <a:r>
              <a:rPr lang="en-US" sz="1000" dirty="0">
                <a:solidFill>
                  <a:srgbClr val="FFFFFF"/>
                </a:solidFill>
                <a:latin typeface="+mj-lt"/>
                <a:ea typeface="IBM Plex Sans" charset="0"/>
                <a:cs typeface="Arial" panose="020B0604020202020204" pitchFamily="34" charset="0"/>
              </a:rPr>
              <a:t>Dashboard</a:t>
            </a:r>
          </a:p>
        </p:txBody>
      </p:sp>
      <p:sp>
        <p:nvSpPr>
          <p:cNvPr id="213" name="Freeform 45">
            <a:extLst>
              <a:ext uri="{FF2B5EF4-FFF2-40B4-BE49-F238E27FC236}">
                <a16:creationId xmlns:a16="http://schemas.microsoft.com/office/drawing/2014/main" id="{FD7BB087-37EC-5E77-02E9-174BFD3EFCC3}"/>
              </a:ext>
            </a:extLst>
          </p:cNvPr>
          <p:cNvSpPr>
            <a:spLocks noChangeAspect="1" noEditPoints="1"/>
          </p:cNvSpPr>
          <p:nvPr/>
        </p:nvSpPr>
        <p:spPr bwMode="auto">
          <a:xfrm>
            <a:off x="4170396" y="5241383"/>
            <a:ext cx="631554" cy="508615"/>
          </a:xfrm>
          <a:custGeom>
            <a:avLst/>
            <a:gdLst>
              <a:gd name="T0" fmla="*/ 1136 w 1900"/>
              <a:gd name="T1" fmla="*/ 1529 h 1529"/>
              <a:gd name="T2" fmla="*/ 1000 w 1900"/>
              <a:gd name="T3" fmla="*/ 1344 h 1529"/>
              <a:gd name="T4" fmla="*/ 185 w 1900"/>
              <a:gd name="T5" fmla="*/ 1322 h 1529"/>
              <a:gd name="T6" fmla="*/ 44 w 1900"/>
              <a:gd name="T7" fmla="*/ 787 h 1529"/>
              <a:gd name="T8" fmla="*/ 0 w 1900"/>
              <a:gd name="T9" fmla="*/ 1142 h 1529"/>
              <a:gd name="T10" fmla="*/ 44 w 1900"/>
              <a:gd name="T11" fmla="*/ 388 h 1529"/>
              <a:gd name="T12" fmla="*/ 185 w 1900"/>
              <a:gd name="T13" fmla="*/ 743 h 1529"/>
              <a:gd name="T14" fmla="*/ 207 w 1900"/>
              <a:gd name="T15" fmla="*/ 186 h 1529"/>
              <a:gd name="T16" fmla="*/ 989 w 1900"/>
              <a:gd name="T17" fmla="*/ 45 h 1529"/>
              <a:gd name="T18" fmla="*/ 641 w 1900"/>
              <a:gd name="T19" fmla="*/ 0 h 1529"/>
              <a:gd name="T20" fmla="*/ 1383 w 1900"/>
              <a:gd name="T21" fmla="*/ 45 h 1529"/>
              <a:gd name="T22" fmla="*/ 1034 w 1900"/>
              <a:gd name="T23" fmla="*/ 186 h 1529"/>
              <a:gd name="T24" fmla="*/ 1715 w 1900"/>
              <a:gd name="T25" fmla="*/ 208 h 1529"/>
              <a:gd name="T26" fmla="*/ 1878 w 1900"/>
              <a:gd name="T27" fmla="*/ 557 h 1529"/>
              <a:gd name="T28" fmla="*/ 1900 w 1900"/>
              <a:gd name="T29" fmla="*/ 1507 h 1529"/>
              <a:gd name="T30" fmla="*/ 1147 w 1900"/>
              <a:gd name="T31" fmla="*/ 1485 h 1529"/>
              <a:gd name="T32" fmla="*/ 1856 w 1900"/>
              <a:gd name="T33" fmla="*/ 601 h 1529"/>
              <a:gd name="T34" fmla="*/ 1670 w 1900"/>
              <a:gd name="T35" fmla="*/ 579 h 1529"/>
              <a:gd name="T36" fmla="*/ 230 w 1900"/>
              <a:gd name="T37" fmla="*/ 230 h 1529"/>
              <a:gd name="T38" fmla="*/ 1012 w 1900"/>
              <a:gd name="T39" fmla="*/ 1299 h 1529"/>
              <a:gd name="T40" fmla="*/ 1147 w 1900"/>
              <a:gd name="T41" fmla="*/ 1485 h 1529"/>
              <a:gd name="T42" fmla="*/ 455 w 1900"/>
              <a:gd name="T43" fmla="*/ 973 h 1529"/>
              <a:gd name="T44" fmla="*/ 1445 w 1900"/>
              <a:gd name="T45" fmla="*/ 928 h 1529"/>
              <a:gd name="T46" fmla="*/ 1321 w 1900"/>
              <a:gd name="T47" fmla="*/ 725 h 1529"/>
              <a:gd name="T48" fmla="*/ 1321 w 1900"/>
              <a:gd name="T49" fmla="*/ 433 h 1529"/>
              <a:gd name="T50" fmla="*/ 1321 w 1900"/>
              <a:gd name="T51" fmla="*/ 725 h 1529"/>
              <a:gd name="T52" fmla="*/ 1220 w 1900"/>
              <a:gd name="T53" fmla="*/ 579 h 1529"/>
              <a:gd name="T54" fmla="*/ 1423 w 1900"/>
              <a:gd name="T55" fmla="*/ 579 h 1529"/>
              <a:gd name="T56" fmla="*/ 950 w 1900"/>
              <a:gd name="T57" fmla="*/ 725 h 1529"/>
              <a:gd name="T58" fmla="*/ 950 w 1900"/>
              <a:gd name="T59" fmla="*/ 433 h 1529"/>
              <a:gd name="T60" fmla="*/ 950 w 1900"/>
              <a:gd name="T61" fmla="*/ 725 h 1529"/>
              <a:gd name="T62" fmla="*/ 848 w 1900"/>
              <a:gd name="T63" fmla="*/ 579 h 1529"/>
              <a:gd name="T64" fmla="*/ 1051 w 1900"/>
              <a:gd name="T65" fmla="*/ 579 h 1529"/>
              <a:gd name="T66" fmla="*/ 579 w 1900"/>
              <a:gd name="T67" fmla="*/ 725 h 1529"/>
              <a:gd name="T68" fmla="*/ 579 w 1900"/>
              <a:gd name="T69" fmla="*/ 433 h 1529"/>
              <a:gd name="T70" fmla="*/ 579 w 1900"/>
              <a:gd name="T71" fmla="*/ 725 h 1529"/>
              <a:gd name="T72" fmla="*/ 477 w 1900"/>
              <a:gd name="T73" fmla="*/ 579 h 1529"/>
              <a:gd name="T74" fmla="*/ 680 w 1900"/>
              <a:gd name="T75" fmla="*/ 579 h 1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900" h="1529">
                <a:moveTo>
                  <a:pt x="1878" y="1529"/>
                </a:moveTo>
                <a:cubicBezTo>
                  <a:pt x="1136" y="1529"/>
                  <a:pt x="1136" y="1529"/>
                  <a:pt x="1136" y="1529"/>
                </a:cubicBezTo>
                <a:cubicBezTo>
                  <a:pt x="1128" y="1529"/>
                  <a:pt x="1121" y="1526"/>
                  <a:pt x="1117" y="1520"/>
                </a:cubicBezTo>
                <a:cubicBezTo>
                  <a:pt x="1000" y="1344"/>
                  <a:pt x="1000" y="1344"/>
                  <a:pt x="1000" y="1344"/>
                </a:cubicBezTo>
                <a:cubicBezTo>
                  <a:pt x="207" y="1344"/>
                  <a:pt x="207" y="1344"/>
                  <a:pt x="207" y="1344"/>
                </a:cubicBezTo>
                <a:cubicBezTo>
                  <a:pt x="195" y="1344"/>
                  <a:pt x="185" y="1334"/>
                  <a:pt x="185" y="1322"/>
                </a:cubicBezTo>
                <a:cubicBezTo>
                  <a:pt x="185" y="787"/>
                  <a:pt x="185" y="787"/>
                  <a:pt x="185" y="787"/>
                </a:cubicBezTo>
                <a:cubicBezTo>
                  <a:pt x="44" y="787"/>
                  <a:pt x="44" y="787"/>
                  <a:pt x="44" y="787"/>
                </a:cubicBezTo>
                <a:cubicBezTo>
                  <a:pt x="44" y="1142"/>
                  <a:pt x="44" y="1142"/>
                  <a:pt x="44" y="1142"/>
                </a:cubicBezTo>
                <a:cubicBezTo>
                  <a:pt x="0" y="1142"/>
                  <a:pt x="0" y="1142"/>
                  <a:pt x="0" y="1142"/>
                </a:cubicBezTo>
                <a:cubicBezTo>
                  <a:pt x="0" y="388"/>
                  <a:pt x="0" y="388"/>
                  <a:pt x="0" y="388"/>
                </a:cubicBezTo>
                <a:cubicBezTo>
                  <a:pt x="44" y="388"/>
                  <a:pt x="44" y="388"/>
                  <a:pt x="44" y="388"/>
                </a:cubicBezTo>
                <a:cubicBezTo>
                  <a:pt x="44" y="743"/>
                  <a:pt x="44" y="743"/>
                  <a:pt x="44" y="743"/>
                </a:cubicBezTo>
                <a:cubicBezTo>
                  <a:pt x="185" y="743"/>
                  <a:pt x="185" y="743"/>
                  <a:pt x="185" y="743"/>
                </a:cubicBezTo>
                <a:cubicBezTo>
                  <a:pt x="185" y="208"/>
                  <a:pt x="185" y="208"/>
                  <a:pt x="185" y="208"/>
                </a:cubicBezTo>
                <a:cubicBezTo>
                  <a:pt x="185" y="196"/>
                  <a:pt x="195" y="186"/>
                  <a:pt x="207" y="186"/>
                </a:cubicBezTo>
                <a:cubicBezTo>
                  <a:pt x="989" y="186"/>
                  <a:pt x="989" y="186"/>
                  <a:pt x="989" y="186"/>
                </a:cubicBezTo>
                <a:cubicBezTo>
                  <a:pt x="989" y="45"/>
                  <a:pt x="989" y="45"/>
                  <a:pt x="989" y="45"/>
                </a:cubicBezTo>
                <a:cubicBezTo>
                  <a:pt x="641" y="45"/>
                  <a:pt x="641" y="45"/>
                  <a:pt x="641" y="45"/>
                </a:cubicBezTo>
                <a:cubicBezTo>
                  <a:pt x="641" y="0"/>
                  <a:pt x="641" y="0"/>
                  <a:pt x="641" y="0"/>
                </a:cubicBezTo>
                <a:cubicBezTo>
                  <a:pt x="1383" y="0"/>
                  <a:pt x="1383" y="0"/>
                  <a:pt x="1383" y="0"/>
                </a:cubicBezTo>
                <a:cubicBezTo>
                  <a:pt x="1383" y="45"/>
                  <a:pt x="1383" y="45"/>
                  <a:pt x="1383" y="45"/>
                </a:cubicBezTo>
                <a:cubicBezTo>
                  <a:pt x="1034" y="45"/>
                  <a:pt x="1034" y="45"/>
                  <a:pt x="1034" y="45"/>
                </a:cubicBezTo>
                <a:cubicBezTo>
                  <a:pt x="1034" y="186"/>
                  <a:pt x="1034" y="186"/>
                  <a:pt x="1034" y="186"/>
                </a:cubicBezTo>
                <a:cubicBezTo>
                  <a:pt x="1692" y="186"/>
                  <a:pt x="1692" y="186"/>
                  <a:pt x="1692" y="186"/>
                </a:cubicBezTo>
                <a:cubicBezTo>
                  <a:pt x="1705" y="186"/>
                  <a:pt x="1715" y="196"/>
                  <a:pt x="1715" y="208"/>
                </a:cubicBezTo>
                <a:cubicBezTo>
                  <a:pt x="1715" y="557"/>
                  <a:pt x="1715" y="557"/>
                  <a:pt x="1715" y="557"/>
                </a:cubicBezTo>
                <a:cubicBezTo>
                  <a:pt x="1878" y="557"/>
                  <a:pt x="1878" y="557"/>
                  <a:pt x="1878" y="557"/>
                </a:cubicBezTo>
                <a:cubicBezTo>
                  <a:pt x="1890" y="557"/>
                  <a:pt x="1900" y="567"/>
                  <a:pt x="1900" y="579"/>
                </a:cubicBezTo>
                <a:cubicBezTo>
                  <a:pt x="1900" y="1507"/>
                  <a:pt x="1900" y="1507"/>
                  <a:pt x="1900" y="1507"/>
                </a:cubicBezTo>
                <a:cubicBezTo>
                  <a:pt x="1900" y="1519"/>
                  <a:pt x="1890" y="1529"/>
                  <a:pt x="1878" y="1529"/>
                </a:cubicBezTo>
                <a:close/>
                <a:moveTo>
                  <a:pt x="1147" y="1485"/>
                </a:moveTo>
                <a:cubicBezTo>
                  <a:pt x="1856" y="1485"/>
                  <a:pt x="1856" y="1485"/>
                  <a:pt x="1856" y="1485"/>
                </a:cubicBezTo>
                <a:cubicBezTo>
                  <a:pt x="1856" y="601"/>
                  <a:pt x="1856" y="601"/>
                  <a:pt x="1856" y="601"/>
                </a:cubicBezTo>
                <a:cubicBezTo>
                  <a:pt x="1692" y="601"/>
                  <a:pt x="1692" y="601"/>
                  <a:pt x="1692" y="601"/>
                </a:cubicBezTo>
                <a:cubicBezTo>
                  <a:pt x="1680" y="601"/>
                  <a:pt x="1670" y="591"/>
                  <a:pt x="1670" y="579"/>
                </a:cubicBezTo>
                <a:cubicBezTo>
                  <a:pt x="1670" y="230"/>
                  <a:pt x="1670" y="230"/>
                  <a:pt x="1670" y="230"/>
                </a:cubicBezTo>
                <a:cubicBezTo>
                  <a:pt x="230" y="230"/>
                  <a:pt x="230" y="230"/>
                  <a:pt x="230" y="230"/>
                </a:cubicBezTo>
                <a:cubicBezTo>
                  <a:pt x="230" y="1299"/>
                  <a:pt x="230" y="1299"/>
                  <a:pt x="230" y="1299"/>
                </a:cubicBezTo>
                <a:cubicBezTo>
                  <a:pt x="1012" y="1299"/>
                  <a:pt x="1012" y="1299"/>
                  <a:pt x="1012" y="1299"/>
                </a:cubicBezTo>
                <a:cubicBezTo>
                  <a:pt x="1019" y="1299"/>
                  <a:pt x="1026" y="1303"/>
                  <a:pt x="1030" y="1309"/>
                </a:cubicBezTo>
                <a:lnTo>
                  <a:pt x="1147" y="1485"/>
                </a:lnTo>
                <a:close/>
                <a:moveTo>
                  <a:pt x="1445" y="973"/>
                </a:moveTo>
                <a:cubicBezTo>
                  <a:pt x="455" y="973"/>
                  <a:pt x="455" y="973"/>
                  <a:pt x="455" y="973"/>
                </a:cubicBezTo>
                <a:cubicBezTo>
                  <a:pt x="455" y="928"/>
                  <a:pt x="455" y="928"/>
                  <a:pt x="455" y="928"/>
                </a:cubicBezTo>
                <a:cubicBezTo>
                  <a:pt x="1445" y="928"/>
                  <a:pt x="1445" y="928"/>
                  <a:pt x="1445" y="928"/>
                </a:cubicBezTo>
                <a:lnTo>
                  <a:pt x="1445" y="973"/>
                </a:lnTo>
                <a:close/>
                <a:moveTo>
                  <a:pt x="1321" y="725"/>
                </a:moveTo>
                <a:cubicBezTo>
                  <a:pt x="1241" y="725"/>
                  <a:pt x="1175" y="660"/>
                  <a:pt x="1175" y="579"/>
                </a:cubicBezTo>
                <a:cubicBezTo>
                  <a:pt x="1175" y="499"/>
                  <a:pt x="1241" y="433"/>
                  <a:pt x="1321" y="433"/>
                </a:cubicBezTo>
                <a:cubicBezTo>
                  <a:pt x="1402" y="433"/>
                  <a:pt x="1467" y="499"/>
                  <a:pt x="1467" y="579"/>
                </a:cubicBezTo>
                <a:cubicBezTo>
                  <a:pt x="1467" y="660"/>
                  <a:pt x="1402" y="725"/>
                  <a:pt x="1321" y="725"/>
                </a:cubicBezTo>
                <a:close/>
                <a:moveTo>
                  <a:pt x="1321" y="478"/>
                </a:moveTo>
                <a:cubicBezTo>
                  <a:pt x="1265" y="478"/>
                  <a:pt x="1220" y="523"/>
                  <a:pt x="1220" y="579"/>
                </a:cubicBezTo>
                <a:cubicBezTo>
                  <a:pt x="1220" y="635"/>
                  <a:pt x="1265" y="681"/>
                  <a:pt x="1321" y="681"/>
                </a:cubicBezTo>
                <a:cubicBezTo>
                  <a:pt x="1377" y="681"/>
                  <a:pt x="1423" y="635"/>
                  <a:pt x="1423" y="579"/>
                </a:cubicBezTo>
                <a:cubicBezTo>
                  <a:pt x="1423" y="523"/>
                  <a:pt x="1377" y="478"/>
                  <a:pt x="1321" y="478"/>
                </a:cubicBezTo>
                <a:close/>
                <a:moveTo>
                  <a:pt x="950" y="725"/>
                </a:moveTo>
                <a:cubicBezTo>
                  <a:pt x="869" y="725"/>
                  <a:pt x="804" y="660"/>
                  <a:pt x="804" y="579"/>
                </a:cubicBezTo>
                <a:cubicBezTo>
                  <a:pt x="804" y="499"/>
                  <a:pt x="869" y="433"/>
                  <a:pt x="950" y="433"/>
                </a:cubicBezTo>
                <a:cubicBezTo>
                  <a:pt x="1030" y="433"/>
                  <a:pt x="1096" y="499"/>
                  <a:pt x="1096" y="579"/>
                </a:cubicBezTo>
                <a:cubicBezTo>
                  <a:pt x="1096" y="660"/>
                  <a:pt x="1030" y="725"/>
                  <a:pt x="950" y="725"/>
                </a:cubicBezTo>
                <a:close/>
                <a:moveTo>
                  <a:pt x="950" y="478"/>
                </a:moveTo>
                <a:cubicBezTo>
                  <a:pt x="894" y="478"/>
                  <a:pt x="848" y="523"/>
                  <a:pt x="848" y="579"/>
                </a:cubicBezTo>
                <a:cubicBezTo>
                  <a:pt x="848" y="635"/>
                  <a:pt x="894" y="681"/>
                  <a:pt x="950" y="681"/>
                </a:cubicBezTo>
                <a:cubicBezTo>
                  <a:pt x="1006" y="681"/>
                  <a:pt x="1051" y="635"/>
                  <a:pt x="1051" y="579"/>
                </a:cubicBezTo>
                <a:cubicBezTo>
                  <a:pt x="1051" y="523"/>
                  <a:pt x="1006" y="478"/>
                  <a:pt x="950" y="478"/>
                </a:cubicBezTo>
                <a:close/>
                <a:moveTo>
                  <a:pt x="579" y="725"/>
                </a:moveTo>
                <a:cubicBezTo>
                  <a:pt x="498" y="725"/>
                  <a:pt x="433" y="660"/>
                  <a:pt x="433" y="579"/>
                </a:cubicBezTo>
                <a:cubicBezTo>
                  <a:pt x="433" y="499"/>
                  <a:pt x="498" y="433"/>
                  <a:pt x="579" y="433"/>
                </a:cubicBezTo>
                <a:cubicBezTo>
                  <a:pt x="659" y="433"/>
                  <a:pt x="725" y="499"/>
                  <a:pt x="725" y="579"/>
                </a:cubicBezTo>
                <a:cubicBezTo>
                  <a:pt x="725" y="660"/>
                  <a:pt x="659" y="725"/>
                  <a:pt x="579" y="725"/>
                </a:cubicBezTo>
                <a:close/>
                <a:moveTo>
                  <a:pt x="579" y="478"/>
                </a:moveTo>
                <a:cubicBezTo>
                  <a:pt x="523" y="478"/>
                  <a:pt x="477" y="523"/>
                  <a:pt x="477" y="579"/>
                </a:cubicBezTo>
                <a:cubicBezTo>
                  <a:pt x="477" y="635"/>
                  <a:pt x="523" y="681"/>
                  <a:pt x="579" y="681"/>
                </a:cubicBezTo>
                <a:cubicBezTo>
                  <a:pt x="635" y="681"/>
                  <a:pt x="680" y="635"/>
                  <a:pt x="680" y="579"/>
                </a:cubicBezTo>
                <a:cubicBezTo>
                  <a:pt x="680" y="523"/>
                  <a:pt x="635" y="478"/>
                  <a:pt x="579" y="478"/>
                </a:cubicBezTo>
                <a:close/>
              </a:path>
            </a:pathLst>
          </a:custGeom>
          <a:solidFill>
            <a:schemeClr val="bg1"/>
          </a:solidFill>
          <a:ln>
            <a:noFill/>
          </a:ln>
        </p:spPr>
        <p:txBody>
          <a:bodyPr vert="horz" wrap="square" lIns="45714" tIns="22857" rIns="45714" bIns="22857" numCol="1" anchor="t" anchorCtr="0" compatLnSpc="1">
            <a:prstTxWarp prst="textNoShape">
              <a:avLst/>
            </a:prstTxWarp>
          </a:bodyPr>
          <a:lstStyle/>
          <a:p>
            <a:pPr defTabSz="342923">
              <a:defRPr/>
            </a:pPr>
            <a:endParaRPr lang="uk-UA" sz="1000">
              <a:solidFill>
                <a:schemeClr val="accent1"/>
              </a:solidFill>
              <a:latin typeface="+mj-lt"/>
            </a:endParaRPr>
          </a:p>
        </p:txBody>
      </p:sp>
      <p:pic>
        <p:nvPicPr>
          <p:cNvPr id="214" name="Graphic 213">
            <a:extLst>
              <a:ext uri="{FF2B5EF4-FFF2-40B4-BE49-F238E27FC236}">
                <a16:creationId xmlns:a16="http://schemas.microsoft.com/office/drawing/2014/main" id="{320B3844-A73F-4B33-0E41-5FBC27CE9A5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73111" y="3340853"/>
            <a:ext cx="508615" cy="508615"/>
          </a:xfrm>
          <a:prstGeom prst="rect">
            <a:avLst/>
          </a:prstGeom>
        </p:spPr>
      </p:pic>
      <p:sp>
        <p:nvSpPr>
          <p:cNvPr id="4" name="TextBox 3">
            <a:extLst>
              <a:ext uri="{FF2B5EF4-FFF2-40B4-BE49-F238E27FC236}">
                <a16:creationId xmlns:a16="http://schemas.microsoft.com/office/drawing/2014/main" id="{73FBF0E4-30BF-4177-CFAB-44FE2DA3FCEB}"/>
              </a:ext>
            </a:extLst>
          </p:cNvPr>
          <p:cNvSpPr txBox="1"/>
          <p:nvPr/>
        </p:nvSpPr>
        <p:spPr>
          <a:xfrm>
            <a:off x="224009" y="1589676"/>
            <a:ext cx="965872" cy="769441"/>
          </a:xfrm>
          <a:prstGeom prst="rect">
            <a:avLst/>
          </a:prstGeom>
          <a:noFill/>
          <a:ln>
            <a:noFill/>
          </a:ln>
        </p:spPr>
        <p:txBody>
          <a:bodyPr wrap="square" lIns="0" tIns="0" rIns="0" bIns="0" rtlCol="0">
            <a:spAutoFit/>
          </a:bodyPr>
          <a:lstStyle/>
          <a:p>
            <a:pPr algn="r" defTabSz="342914">
              <a:defRPr/>
            </a:pPr>
            <a:r>
              <a:rPr lang="en-US" sz="1000" dirty="0">
                <a:latin typeface="+mj-lt"/>
                <a:cs typeface="Arial" panose="020B0604020202020204" pitchFamily="34" charset="0"/>
              </a:rPr>
              <a:t>Entry point </a:t>
            </a:r>
            <a:br>
              <a:rPr lang="en-US" sz="1000" dirty="0">
                <a:latin typeface="+mj-lt"/>
                <a:cs typeface="Arial" panose="020B0604020202020204" pitchFamily="34" charset="0"/>
              </a:rPr>
            </a:br>
            <a:r>
              <a:rPr lang="en-US" sz="1000" dirty="0">
                <a:latin typeface="+mj-lt"/>
                <a:cs typeface="Arial" panose="020B0604020202020204" pitchFamily="34" charset="0"/>
              </a:rPr>
              <a:t>for users </a:t>
            </a:r>
            <a:br>
              <a:rPr lang="en-US" sz="1000" dirty="0">
                <a:latin typeface="+mj-lt"/>
                <a:cs typeface="Arial" panose="020B0604020202020204" pitchFamily="34" charset="0"/>
              </a:rPr>
            </a:br>
            <a:r>
              <a:rPr lang="en-US" sz="1000" dirty="0">
                <a:latin typeface="+mj-lt"/>
                <a:cs typeface="Arial" panose="020B0604020202020204" pitchFamily="34" charset="0"/>
              </a:rPr>
              <a:t>to initiate a </a:t>
            </a:r>
            <a:br>
              <a:rPr lang="en-US" sz="1000" dirty="0">
                <a:latin typeface="+mj-lt"/>
                <a:cs typeface="Arial" panose="020B0604020202020204" pitchFamily="34" charset="0"/>
              </a:rPr>
            </a:br>
            <a:r>
              <a:rPr lang="en-US" sz="1000" dirty="0">
                <a:latin typeface="+mj-lt"/>
                <a:cs typeface="Arial" panose="020B0604020202020204" pitchFamily="34" charset="0"/>
              </a:rPr>
              <a:t>wide range </a:t>
            </a:r>
            <a:br>
              <a:rPr lang="en-US" sz="1000" dirty="0">
                <a:latin typeface="+mj-lt"/>
                <a:cs typeface="Arial" panose="020B0604020202020204" pitchFamily="34" charset="0"/>
              </a:rPr>
            </a:br>
            <a:r>
              <a:rPr lang="en-US" sz="1000" dirty="0">
                <a:latin typeface="+mj-lt"/>
                <a:cs typeface="Arial" panose="020B0604020202020204" pitchFamily="34" charset="0"/>
              </a:rPr>
              <a:t>of requests</a:t>
            </a:r>
          </a:p>
        </p:txBody>
      </p:sp>
      <p:sp>
        <p:nvSpPr>
          <p:cNvPr id="15" name="TextBox 14">
            <a:extLst>
              <a:ext uri="{FF2B5EF4-FFF2-40B4-BE49-F238E27FC236}">
                <a16:creationId xmlns:a16="http://schemas.microsoft.com/office/drawing/2014/main" id="{0A7BB02F-ADD6-CA02-FD61-798E3A1D323A}"/>
              </a:ext>
            </a:extLst>
          </p:cNvPr>
          <p:cNvSpPr txBox="1"/>
          <p:nvPr/>
        </p:nvSpPr>
        <p:spPr>
          <a:xfrm>
            <a:off x="224009" y="3364620"/>
            <a:ext cx="965872" cy="923330"/>
          </a:xfrm>
          <a:prstGeom prst="rect">
            <a:avLst/>
          </a:prstGeom>
          <a:noFill/>
          <a:ln>
            <a:noFill/>
          </a:ln>
        </p:spPr>
        <p:txBody>
          <a:bodyPr wrap="square" lIns="0" tIns="0" rIns="0" bIns="0" rtlCol="0">
            <a:spAutoFit/>
          </a:bodyPr>
          <a:lstStyle/>
          <a:p>
            <a:pPr algn="r" defTabSz="342914">
              <a:defRPr/>
            </a:pPr>
            <a:r>
              <a:rPr lang="en-US" sz="1000" dirty="0">
                <a:latin typeface="+mj-lt"/>
                <a:cs typeface="Arial" panose="020B0604020202020204" pitchFamily="34" charset="0"/>
              </a:rPr>
              <a:t>Specify parameters for request processing and routing through workflow engine</a:t>
            </a:r>
          </a:p>
        </p:txBody>
      </p:sp>
      <p:sp>
        <p:nvSpPr>
          <p:cNvPr id="16" name="TextBox 15">
            <a:extLst>
              <a:ext uri="{FF2B5EF4-FFF2-40B4-BE49-F238E27FC236}">
                <a16:creationId xmlns:a16="http://schemas.microsoft.com/office/drawing/2014/main" id="{B047B67A-3A20-5491-90D1-578D97D611E8}"/>
              </a:ext>
            </a:extLst>
          </p:cNvPr>
          <p:cNvSpPr txBox="1"/>
          <p:nvPr/>
        </p:nvSpPr>
        <p:spPr>
          <a:xfrm>
            <a:off x="224009" y="5394947"/>
            <a:ext cx="965872" cy="615553"/>
          </a:xfrm>
          <a:prstGeom prst="rect">
            <a:avLst/>
          </a:prstGeom>
          <a:noFill/>
          <a:ln>
            <a:noFill/>
          </a:ln>
        </p:spPr>
        <p:txBody>
          <a:bodyPr wrap="square" lIns="0" tIns="0" rIns="0" bIns="0" rtlCol="0">
            <a:spAutoFit/>
          </a:bodyPr>
          <a:lstStyle/>
          <a:p>
            <a:pPr algn="r" defTabSz="342914">
              <a:defRPr/>
            </a:pPr>
            <a:r>
              <a:rPr lang="en-US" sz="1000" dirty="0">
                <a:latin typeface="+mj-lt"/>
                <a:cs typeface="Arial" panose="020B0604020202020204" pitchFamily="34" charset="0"/>
              </a:rPr>
              <a:t>External systems of record to pull data from (ERP, HR, Financial)</a:t>
            </a:r>
          </a:p>
        </p:txBody>
      </p:sp>
      <p:sp>
        <p:nvSpPr>
          <p:cNvPr id="17" name="TextBox 16">
            <a:extLst>
              <a:ext uri="{FF2B5EF4-FFF2-40B4-BE49-F238E27FC236}">
                <a16:creationId xmlns:a16="http://schemas.microsoft.com/office/drawing/2014/main" id="{F85F19D0-F32C-7BBE-5857-A72834EA06A2}"/>
              </a:ext>
            </a:extLst>
          </p:cNvPr>
          <p:cNvSpPr txBox="1"/>
          <p:nvPr/>
        </p:nvSpPr>
        <p:spPr>
          <a:xfrm>
            <a:off x="5214459" y="1589676"/>
            <a:ext cx="965872" cy="615553"/>
          </a:xfrm>
          <a:prstGeom prst="rect">
            <a:avLst/>
          </a:prstGeom>
          <a:noFill/>
          <a:ln>
            <a:noFill/>
          </a:ln>
        </p:spPr>
        <p:txBody>
          <a:bodyPr wrap="square" lIns="0" tIns="0" rIns="0" bIns="0" rtlCol="0">
            <a:spAutoFit/>
          </a:bodyPr>
          <a:lstStyle/>
          <a:p>
            <a:pPr defTabSz="342914">
              <a:defRPr/>
            </a:pPr>
            <a:r>
              <a:rPr lang="en-US" sz="1000" dirty="0">
                <a:latin typeface="+mj-lt"/>
                <a:cs typeface="Arial" panose="020B0604020202020204" pitchFamily="34" charset="0"/>
              </a:rPr>
              <a:t>Pre-defined process steps that may be commonly utilized</a:t>
            </a:r>
          </a:p>
        </p:txBody>
      </p:sp>
      <p:sp>
        <p:nvSpPr>
          <p:cNvPr id="19" name="TextBox 18">
            <a:extLst>
              <a:ext uri="{FF2B5EF4-FFF2-40B4-BE49-F238E27FC236}">
                <a16:creationId xmlns:a16="http://schemas.microsoft.com/office/drawing/2014/main" id="{65C7BE8E-B5B1-EACE-2810-FC1BFEEA79C8}"/>
              </a:ext>
            </a:extLst>
          </p:cNvPr>
          <p:cNvSpPr txBox="1"/>
          <p:nvPr/>
        </p:nvSpPr>
        <p:spPr>
          <a:xfrm>
            <a:off x="5214459" y="5394947"/>
            <a:ext cx="965872" cy="461665"/>
          </a:xfrm>
          <a:prstGeom prst="rect">
            <a:avLst/>
          </a:prstGeom>
          <a:noFill/>
          <a:ln>
            <a:noFill/>
          </a:ln>
        </p:spPr>
        <p:txBody>
          <a:bodyPr wrap="square" lIns="0" tIns="0" rIns="0" bIns="0" rtlCol="0">
            <a:spAutoFit/>
          </a:bodyPr>
          <a:lstStyle/>
          <a:p>
            <a:pPr defTabSz="342914">
              <a:defRPr/>
            </a:pPr>
            <a:r>
              <a:rPr lang="en-US" sz="1000" dirty="0">
                <a:latin typeface="+mj-lt"/>
                <a:cs typeface="Arial" panose="020B0604020202020204" pitchFamily="34" charset="0"/>
              </a:rPr>
              <a:t>Complex business logic and rules engine</a:t>
            </a:r>
          </a:p>
        </p:txBody>
      </p:sp>
      <p:sp>
        <p:nvSpPr>
          <p:cNvPr id="20" name="TextBox 19">
            <a:extLst>
              <a:ext uri="{FF2B5EF4-FFF2-40B4-BE49-F238E27FC236}">
                <a16:creationId xmlns:a16="http://schemas.microsoft.com/office/drawing/2014/main" id="{89A58D7C-C3E8-BF67-070A-EF521A60D067}"/>
              </a:ext>
            </a:extLst>
          </p:cNvPr>
          <p:cNvSpPr txBox="1"/>
          <p:nvPr/>
        </p:nvSpPr>
        <p:spPr>
          <a:xfrm>
            <a:off x="11013370" y="1589676"/>
            <a:ext cx="965872" cy="769441"/>
          </a:xfrm>
          <a:prstGeom prst="rect">
            <a:avLst/>
          </a:prstGeom>
          <a:noFill/>
          <a:ln>
            <a:noFill/>
          </a:ln>
        </p:spPr>
        <p:txBody>
          <a:bodyPr wrap="square" lIns="0" tIns="0" rIns="0" bIns="0" rtlCol="0">
            <a:spAutoFit/>
          </a:bodyPr>
          <a:lstStyle/>
          <a:p>
            <a:pPr defTabSz="342914">
              <a:defRPr/>
            </a:pPr>
            <a:r>
              <a:rPr lang="en-US" sz="1000" dirty="0">
                <a:latin typeface="+mj-lt"/>
                <a:cs typeface="Arial" panose="020B0604020202020204" pitchFamily="34" charset="0"/>
              </a:rPr>
              <a:t>Activities with a defined start, end, resource, status, and sometimes cost </a:t>
            </a:r>
          </a:p>
        </p:txBody>
      </p:sp>
      <p:sp>
        <p:nvSpPr>
          <p:cNvPr id="21" name="TextBox 20">
            <a:extLst>
              <a:ext uri="{FF2B5EF4-FFF2-40B4-BE49-F238E27FC236}">
                <a16:creationId xmlns:a16="http://schemas.microsoft.com/office/drawing/2014/main" id="{0ECA0A13-381D-8B76-2D49-16A56D63A44A}"/>
              </a:ext>
            </a:extLst>
          </p:cNvPr>
          <p:cNvSpPr txBox="1"/>
          <p:nvPr/>
        </p:nvSpPr>
        <p:spPr>
          <a:xfrm>
            <a:off x="11013370" y="3490195"/>
            <a:ext cx="965872" cy="769441"/>
          </a:xfrm>
          <a:prstGeom prst="rect">
            <a:avLst/>
          </a:prstGeom>
          <a:noFill/>
          <a:ln>
            <a:noFill/>
          </a:ln>
        </p:spPr>
        <p:txBody>
          <a:bodyPr wrap="square" lIns="0" tIns="0" rIns="0" bIns="0" rtlCol="0">
            <a:spAutoFit/>
          </a:bodyPr>
          <a:lstStyle/>
          <a:p>
            <a:pPr defTabSz="342914">
              <a:defRPr/>
            </a:pPr>
            <a:r>
              <a:rPr lang="en-US" sz="1000" dirty="0">
                <a:latin typeface="+mj-lt"/>
                <a:cs typeface="Arial" panose="020B0604020202020204" pitchFamily="34" charset="0"/>
              </a:rPr>
              <a:t>Pauses in workflow processes</a:t>
            </a:r>
            <a:br>
              <a:rPr lang="en-US" sz="1000" dirty="0">
                <a:latin typeface="+mj-lt"/>
                <a:cs typeface="Arial" panose="020B0604020202020204" pitchFamily="34" charset="0"/>
              </a:rPr>
            </a:br>
            <a:r>
              <a:rPr lang="en-US" sz="1000" dirty="0">
                <a:latin typeface="+mj-lt"/>
                <a:cs typeface="Arial" panose="020B0604020202020204" pitchFamily="34" charset="0"/>
              </a:rPr>
              <a:t>that require</a:t>
            </a:r>
            <a:br>
              <a:rPr lang="en-US" sz="1000" dirty="0">
                <a:latin typeface="+mj-lt"/>
                <a:cs typeface="Arial" panose="020B0604020202020204" pitchFamily="34" charset="0"/>
              </a:rPr>
            </a:br>
            <a:r>
              <a:rPr lang="en-US" sz="1000" dirty="0">
                <a:latin typeface="+mj-lt"/>
                <a:cs typeface="Arial" panose="020B0604020202020204" pitchFamily="34" charset="0"/>
              </a:rPr>
              <a:t>a user action</a:t>
            </a:r>
          </a:p>
        </p:txBody>
      </p:sp>
      <p:sp>
        <p:nvSpPr>
          <p:cNvPr id="22" name="TextBox 21">
            <a:extLst>
              <a:ext uri="{FF2B5EF4-FFF2-40B4-BE49-F238E27FC236}">
                <a16:creationId xmlns:a16="http://schemas.microsoft.com/office/drawing/2014/main" id="{C76EF575-7F8C-8051-08A3-84784BFBE0B3}"/>
              </a:ext>
            </a:extLst>
          </p:cNvPr>
          <p:cNvSpPr txBox="1"/>
          <p:nvPr/>
        </p:nvSpPr>
        <p:spPr>
          <a:xfrm>
            <a:off x="11013370" y="5394947"/>
            <a:ext cx="965872" cy="461665"/>
          </a:xfrm>
          <a:prstGeom prst="rect">
            <a:avLst/>
          </a:prstGeom>
          <a:noFill/>
          <a:ln>
            <a:noFill/>
          </a:ln>
        </p:spPr>
        <p:txBody>
          <a:bodyPr wrap="square" lIns="0" tIns="0" rIns="0" bIns="0" rtlCol="0">
            <a:spAutoFit/>
          </a:bodyPr>
          <a:lstStyle/>
          <a:p>
            <a:pPr defTabSz="342914">
              <a:defRPr/>
            </a:pPr>
            <a:r>
              <a:rPr lang="en-US" sz="1000" dirty="0">
                <a:latin typeface="+mj-lt"/>
                <a:cs typeface="Arial" panose="020B0604020202020204" pitchFamily="34" charset="0"/>
              </a:rPr>
              <a:t>Entity definitions, attributes and  relationships</a:t>
            </a:r>
          </a:p>
        </p:txBody>
      </p:sp>
      <p:sp>
        <p:nvSpPr>
          <p:cNvPr id="23" name="TextBox 22">
            <a:extLst>
              <a:ext uri="{FF2B5EF4-FFF2-40B4-BE49-F238E27FC236}">
                <a16:creationId xmlns:a16="http://schemas.microsoft.com/office/drawing/2014/main" id="{52FD3FB6-2332-F790-506D-EDB0910D4EC7}"/>
              </a:ext>
            </a:extLst>
          </p:cNvPr>
          <p:cNvSpPr txBox="1"/>
          <p:nvPr/>
        </p:nvSpPr>
        <p:spPr>
          <a:xfrm>
            <a:off x="8448305" y="1589675"/>
            <a:ext cx="965872" cy="461665"/>
          </a:xfrm>
          <a:prstGeom prst="rect">
            <a:avLst/>
          </a:prstGeom>
          <a:noFill/>
          <a:ln>
            <a:noFill/>
          </a:ln>
        </p:spPr>
        <p:txBody>
          <a:bodyPr wrap="square" lIns="0" tIns="0" rIns="0" bIns="0" rtlCol="0">
            <a:spAutoFit/>
          </a:bodyPr>
          <a:lstStyle/>
          <a:p>
            <a:pPr defTabSz="342914">
              <a:defRPr/>
            </a:pPr>
            <a:r>
              <a:rPr lang="en-US" sz="1000" dirty="0">
                <a:latin typeface="+mj-lt"/>
                <a:cs typeface="Arial" panose="020B0604020202020204" pitchFamily="34" charset="0"/>
              </a:rPr>
              <a:t>Action Items requiring user approval</a:t>
            </a:r>
          </a:p>
        </p:txBody>
      </p:sp>
      <p:sp>
        <p:nvSpPr>
          <p:cNvPr id="24" name="TextBox 23">
            <a:extLst>
              <a:ext uri="{FF2B5EF4-FFF2-40B4-BE49-F238E27FC236}">
                <a16:creationId xmlns:a16="http://schemas.microsoft.com/office/drawing/2014/main" id="{E70E2AD4-4F05-77C5-397A-E466F84C93CF}"/>
              </a:ext>
            </a:extLst>
          </p:cNvPr>
          <p:cNvSpPr txBox="1"/>
          <p:nvPr/>
        </p:nvSpPr>
        <p:spPr>
          <a:xfrm>
            <a:off x="8448305" y="5394947"/>
            <a:ext cx="965872" cy="461665"/>
          </a:xfrm>
          <a:prstGeom prst="rect">
            <a:avLst/>
          </a:prstGeom>
          <a:noFill/>
          <a:ln>
            <a:noFill/>
          </a:ln>
        </p:spPr>
        <p:txBody>
          <a:bodyPr wrap="square" lIns="0" tIns="0" rIns="0" bIns="0" rtlCol="0">
            <a:spAutoFit/>
          </a:bodyPr>
          <a:lstStyle/>
          <a:p>
            <a:pPr defTabSz="342914">
              <a:defRPr/>
            </a:pPr>
            <a:r>
              <a:rPr lang="en-US" sz="1000" dirty="0">
                <a:latin typeface="+mj-lt"/>
                <a:cs typeface="Arial" panose="020B0604020202020204" pitchFamily="34" charset="0"/>
              </a:rPr>
              <a:t>Superset of entity lifecycle and state  transitions</a:t>
            </a:r>
          </a:p>
        </p:txBody>
      </p:sp>
    </p:spTree>
    <p:extLst>
      <p:ext uri="{BB962C8B-B14F-4D97-AF65-F5344CB8AC3E}">
        <p14:creationId xmlns:p14="http://schemas.microsoft.com/office/powerpoint/2010/main" val="2661034864"/>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59D58-D491-3483-AE0D-C22BBB898AE5}"/>
              </a:ext>
            </a:extLst>
          </p:cNvPr>
          <p:cNvSpPr>
            <a:spLocks noGrp="1"/>
          </p:cNvSpPr>
          <p:nvPr>
            <p:ph type="title"/>
          </p:nvPr>
        </p:nvSpPr>
        <p:spPr>
          <a:xfrm>
            <a:off x="287300" y="285365"/>
            <a:ext cx="2519035" cy="762695"/>
          </a:xfrm>
        </p:spPr>
        <p:txBody>
          <a:bodyPr>
            <a:normAutofit fontScale="90000"/>
          </a:bodyPr>
          <a:lstStyle/>
          <a:p>
            <a:r>
              <a:rPr lang="en-US" sz="2200" kern="0" dirty="0"/>
              <a:t>TRIRIGA offers a highly configurable application platform</a:t>
            </a:r>
          </a:p>
        </p:txBody>
      </p:sp>
      <p:sp>
        <p:nvSpPr>
          <p:cNvPr id="6" name="Text Placeholder 5">
            <a:extLst>
              <a:ext uri="{FF2B5EF4-FFF2-40B4-BE49-F238E27FC236}">
                <a16:creationId xmlns:a16="http://schemas.microsoft.com/office/drawing/2014/main" id="{CEF1CD3B-2A01-E711-C759-388E531EF8AD}"/>
              </a:ext>
            </a:extLst>
          </p:cNvPr>
          <p:cNvSpPr>
            <a:spLocks noGrp="1"/>
          </p:cNvSpPr>
          <p:nvPr>
            <p:ph type="body" sz="quarter" idx="13"/>
          </p:nvPr>
        </p:nvSpPr>
        <p:spPr>
          <a:xfrm>
            <a:off x="191515" y="1672957"/>
            <a:ext cx="2594166" cy="4285692"/>
          </a:xfrm>
        </p:spPr>
        <p:txBody>
          <a:bodyPr>
            <a:normAutofit lnSpcReduction="10000"/>
          </a:bodyPr>
          <a:lstStyle/>
          <a:p>
            <a:pPr marL="88882"/>
            <a:r>
              <a:rPr lang="en-US" dirty="0">
                <a:ea typeface="IBM Plex Sans" charset="0"/>
                <a:cs typeface="Arial" panose="020B0604020202020204" pitchFamily="34" charset="0"/>
              </a:rPr>
              <a:t>TRIRIGA is built on an </a:t>
            </a:r>
            <a:br>
              <a:rPr lang="en-US" dirty="0">
                <a:ea typeface="IBM Plex Sans" charset="0"/>
                <a:cs typeface="Arial" panose="020B0604020202020204" pitchFamily="34" charset="0"/>
              </a:rPr>
            </a:br>
            <a:r>
              <a:rPr lang="en-US" dirty="0">
                <a:ea typeface="IBM Plex Sans" charset="0"/>
                <a:cs typeface="Arial" panose="020B0604020202020204" pitchFamily="34" charset="0"/>
              </a:rPr>
              <a:t>integrated application platform with a </a:t>
            </a:r>
            <a:r>
              <a:rPr lang="en-US" dirty="0">
                <a:solidFill>
                  <a:schemeClr val="accent1"/>
                </a:solidFill>
                <a:ea typeface="IBM Plex Sans" charset="0"/>
                <a:cs typeface="Arial" panose="020B0604020202020204" pitchFamily="34" charset="0"/>
              </a:rPr>
              <a:t>comprehensive palette </a:t>
            </a:r>
            <a:br>
              <a:rPr lang="en-US" dirty="0">
                <a:solidFill>
                  <a:schemeClr val="accent1"/>
                </a:solidFill>
                <a:ea typeface="IBM Plex Sans" charset="0"/>
                <a:cs typeface="Arial" panose="020B0604020202020204" pitchFamily="34" charset="0"/>
              </a:rPr>
            </a:br>
            <a:r>
              <a:rPr lang="en-US" dirty="0">
                <a:solidFill>
                  <a:schemeClr val="accent1"/>
                </a:solidFill>
                <a:ea typeface="IBM Plex Sans" charset="0"/>
                <a:cs typeface="Arial" panose="020B0604020202020204" pitchFamily="34" charset="0"/>
              </a:rPr>
              <a:t>of builder tools </a:t>
            </a:r>
          </a:p>
          <a:p>
            <a:pPr marL="88882"/>
            <a:endParaRPr lang="en-US" dirty="0">
              <a:solidFill>
                <a:schemeClr val="accent1"/>
              </a:solidFill>
              <a:ea typeface="IBM Plex Sans" charset="0"/>
              <a:cs typeface="Arial" panose="020B0604020202020204" pitchFamily="34" charset="0"/>
            </a:endParaRPr>
          </a:p>
          <a:p>
            <a:pPr marL="88882"/>
            <a:r>
              <a:rPr lang="en-US" dirty="0">
                <a:ea typeface="IBM Plex Sans" charset="0"/>
                <a:cs typeface="Arial" panose="020B0604020202020204" pitchFamily="34" charset="0"/>
              </a:rPr>
              <a:t>TRIRIGA’s functionality is enabled through these tools providing implementers with the ability to extend the system in response to changing business requirements as needed.</a:t>
            </a:r>
          </a:p>
          <a:p>
            <a:pPr marL="88882" indent="-88882"/>
            <a:endParaRPr lang="en-US" dirty="0">
              <a:ea typeface="IBM Plex Sans" charset="0"/>
              <a:cs typeface="Arial" panose="020B0604020202020204" pitchFamily="34" charset="0"/>
            </a:endParaRPr>
          </a:p>
          <a:p>
            <a:pPr marL="88882" indent="-88882"/>
            <a:r>
              <a:rPr lang="en-US" dirty="0">
                <a:solidFill>
                  <a:schemeClr val="accent1"/>
                </a:solidFill>
              </a:rPr>
              <a:t>“This is a custom market looking for a productized solution.”</a:t>
            </a:r>
          </a:p>
          <a:p>
            <a:pPr marL="88882"/>
            <a:endParaRPr lang="en-US" sz="1000" dirty="0"/>
          </a:p>
          <a:p>
            <a:pPr marL="88882"/>
            <a:r>
              <a:rPr lang="en-US" sz="1000" dirty="0">
                <a:solidFill>
                  <a:schemeClr val="accent1"/>
                </a:solidFill>
              </a:rPr>
              <a:t>Competitive Analyst Quote</a:t>
            </a:r>
          </a:p>
          <a:p>
            <a:endParaRPr lang="en-US" dirty="0">
              <a:ea typeface="IBM Plex Sans" charset="0"/>
              <a:cs typeface="Arial" panose="020B0604020202020204" pitchFamily="34" charset="0"/>
            </a:endParaRPr>
          </a:p>
        </p:txBody>
      </p:sp>
      <p:sp>
        <p:nvSpPr>
          <p:cNvPr id="8" name="TextBox 7">
            <a:extLst>
              <a:ext uri="{FF2B5EF4-FFF2-40B4-BE49-F238E27FC236}">
                <a16:creationId xmlns:a16="http://schemas.microsoft.com/office/drawing/2014/main" id="{1DE55379-34CA-3546-A32B-DF928763E0A7}"/>
              </a:ext>
            </a:extLst>
          </p:cNvPr>
          <p:cNvSpPr txBox="1"/>
          <p:nvPr/>
        </p:nvSpPr>
        <p:spPr>
          <a:xfrm>
            <a:off x="8800592" y="849354"/>
            <a:ext cx="2022887" cy="670312"/>
          </a:xfrm>
          <a:prstGeom prst="rect">
            <a:avLst/>
          </a:prstGeom>
          <a:noFill/>
        </p:spPr>
        <p:txBody>
          <a:bodyPr wrap="square" lIns="0" tIns="0" rIns="0" bIns="0" rtlCol="0">
            <a:spAutoFit/>
          </a:bodyPr>
          <a:lstStyle>
            <a:defPPr>
              <a:defRPr lang="en-US"/>
            </a:defPPr>
            <a:lvl1pPr marL="134938" marR="0" lvl="0" indent="-134938" fontAlgn="auto">
              <a:lnSpc>
                <a:spcPct val="90000"/>
              </a:lnSpc>
              <a:spcBef>
                <a:spcPts val="0"/>
              </a:spcBef>
              <a:spcAft>
                <a:spcPts val="400"/>
              </a:spcAft>
              <a:buClrTx/>
              <a:buSzTx/>
              <a:buFont typeface="Arial" panose="020B0604020202020204" pitchFamily="34" charset="0"/>
              <a:buChar char="•"/>
              <a:tabLst/>
              <a:defRPr kumimoji="0" sz="1000" b="0" i="0" u="none" strike="noStrike" cap="none" spc="0" normalizeH="0" baseline="0">
                <a:ln>
                  <a:noFill/>
                </a:ln>
                <a:solidFill>
                  <a:srgbClr val="000000"/>
                </a:solidFill>
                <a:effectLst/>
                <a:uLnTx/>
                <a:uFillTx/>
                <a:ea typeface="IBM Plex Sans" charset="0"/>
                <a:cs typeface="IBM Plex Sans" charset="0"/>
              </a:defRPr>
            </a:lvl1pPr>
          </a:lstStyle>
          <a:p>
            <a:pPr marL="164559" lvl="1" indent="-164559" defTabSz="1218956">
              <a:lnSpc>
                <a:spcPct val="110000"/>
              </a:lnSpc>
              <a:buSzPct val="100000"/>
              <a:buFontTx/>
              <a:buChar char="–"/>
            </a:pPr>
            <a:r>
              <a:rPr lang="en-US" sz="1000" dirty="0">
                <a:solidFill>
                  <a:srgbClr val="000000"/>
                </a:solidFill>
                <a:latin typeface="+mj-lt"/>
                <a:ea typeface="+mj-ea"/>
                <a:cs typeface="+mj-cs"/>
                <a:sym typeface="IBM Plex Sans Light"/>
              </a:rPr>
              <a:t>Attributes</a:t>
            </a:r>
          </a:p>
          <a:p>
            <a:pPr marL="164559" lvl="1" indent="-164559" defTabSz="1218956">
              <a:lnSpc>
                <a:spcPct val="110000"/>
              </a:lnSpc>
              <a:buSzPct val="100000"/>
              <a:buFontTx/>
              <a:buChar char="–"/>
            </a:pPr>
            <a:r>
              <a:rPr lang="en-US" sz="1000" dirty="0">
                <a:solidFill>
                  <a:srgbClr val="000000"/>
                </a:solidFill>
                <a:latin typeface="+mj-lt"/>
                <a:ea typeface="+mj-ea"/>
                <a:cs typeface="+mj-cs"/>
                <a:sym typeface="IBM Plex Sans Light"/>
              </a:rPr>
              <a:t>Associations</a:t>
            </a:r>
          </a:p>
          <a:p>
            <a:pPr marL="164559" lvl="1" indent="-164559" defTabSz="1218956">
              <a:lnSpc>
                <a:spcPct val="110000"/>
              </a:lnSpc>
              <a:buSzPct val="100000"/>
              <a:buFontTx/>
              <a:buChar char="–"/>
            </a:pPr>
            <a:r>
              <a:rPr lang="en-US" sz="1000" dirty="0">
                <a:solidFill>
                  <a:srgbClr val="000000"/>
                </a:solidFill>
                <a:latin typeface="+mj-lt"/>
                <a:ea typeface="+mj-ea"/>
                <a:cs typeface="+mj-cs"/>
                <a:sym typeface="IBM Plex Sans Light"/>
              </a:rPr>
              <a:t>Data State</a:t>
            </a:r>
          </a:p>
          <a:p>
            <a:pPr marL="164559" lvl="1" indent="-164559" defTabSz="1218956">
              <a:lnSpc>
                <a:spcPct val="110000"/>
              </a:lnSpc>
              <a:buSzPct val="100000"/>
              <a:buFontTx/>
              <a:buChar char="–"/>
            </a:pPr>
            <a:r>
              <a:rPr lang="en-US" sz="1000" dirty="0">
                <a:solidFill>
                  <a:srgbClr val="000000"/>
                </a:solidFill>
                <a:latin typeface="+mj-lt"/>
                <a:ea typeface="+mj-ea"/>
                <a:cs typeface="+mj-cs"/>
                <a:sym typeface="IBM Plex Sans Light"/>
              </a:rPr>
              <a:t>Events &amp; Transitions</a:t>
            </a:r>
          </a:p>
        </p:txBody>
      </p:sp>
      <p:sp>
        <p:nvSpPr>
          <p:cNvPr id="9" name="TextBox 8">
            <a:extLst>
              <a:ext uri="{FF2B5EF4-FFF2-40B4-BE49-F238E27FC236}">
                <a16:creationId xmlns:a16="http://schemas.microsoft.com/office/drawing/2014/main" id="{53E46604-5EDF-D6AB-9707-F75AEFA3C536}"/>
              </a:ext>
            </a:extLst>
          </p:cNvPr>
          <p:cNvSpPr txBox="1"/>
          <p:nvPr/>
        </p:nvSpPr>
        <p:spPr>
          <a:xfrm>
            <a:off x="4367471" y="3467194"/>
            <a:ext cx="1887973" cy="839589"/>
          </a:xfrm>
          <a:prstGeom prst="rect">
            <a:avLst/>
          </a:prstGeom>
          <a:noFill/>
        </p:spPr>
        <p:txBody>
          <a:bodyPr wrap="square" lIns="0" tIns="0" rIns="0" bIns="0" rtlCol="0">
            <a:spAutoFit/>
          </a:bodyPr>
          <a:lstStyle>
            <a:defPPr>
              <a:defRPr lang="en-US"/>
            </a:defPPr>
            <a:lvl1pPr marL="134938" marR="0" lvl="0" indent="-134938" fontAlgn="auto">
              <a:lnSpc>
                <a:spcPct val="90000"/>
              </a:lnSpc>
              <a:spcBef>
                <a:spcPts val="0"/>
              </a:spcBef>
              <a:spcAft>
                <a:spcPts val="400"/>
              </a:spcAft>
              <a:buClrTx/>
              <a:buSzTx/>
              <a:buFont typeface="Arial" panose="020B0604020202020204" pitchFamily="34" charset="0"/>
              <a:buChar char="•"/>
              <a:tabLst/>
              <a:defRPr kumimoji="0" sz="1000" b="0" i="0" u="none" strike="noStrike" cap="none" spc="0" normalizeH="0" baseline="0">
                <a:ln>
                  <a:noFill/>
                </a:ln>
                <a:solidFill>
                  <a:srgbClr val="000000"/>
                </a:solidFill>
                <a:effectLst/>
                <a:uLnTx/>
                <a:uFillTx/>
                <a:ea typeface="IBM Plex Sans" charset="0"/>
                <a:cs typeface="IBM Plex Sans" charset="0"/>
              </a:defRPr>
            </a:lvl1pPr>
          </a:lstStyle>
          <a:p>
            <a:pPr marL="164559" lvl="1" indent="-164559" defTabSz="1218956">
              <a:lnSpc>
                <a:spcPct val="110000"/>
              </a:lnSpc>
              <a:buSzPct val="100000"/>
              <a:buFontTx/>
              <a:buChar char="–"/>
            </a:pPr>
            <a:r>
              <a:rPr lang="en-US" sz="1000" dirty="0">
                <a:solidFill>
                  <a:srgbClr val="000000"/>
                </a:solidFill>
                <a:latin typeface="+mj-lt"/>
                <a:ea typeface="+mj-ea"/>
                <a:cs typeface="+mj-cs"/>
              </a:rPr>
              <a:t>Service Matrix</a:t>
            </a:r>
          </a:p>
          <a:p>
            <a:pPr marL="164559" lvl="1" indent="-164559" defTabSz="1218956">
              <a:lnSpc>
                <a:spcPct val="110000"/>
              </a:lnSpc>
              <a:buSzPct val="100000"/>
              <a:buFontTx/>
              <a:buChar char="–"/>
            </a:pPr>
            <a:r>
              <a:rPr lang="en-US" sz="1000" dirty="0">
                <a:solidFill>
                  <a:srgbClr val="000000"/>
                </a:solidFill>
                <a:latin typeface="+mj-lt"/>
                <a:ea typeface="+mj-ea"/>
                <a:cs typeface="+mj-cs"/>
              </a:rPr>
              <a:t>Approvals</a:t>
            </a:r>
          </a:p>
          <a:p>
            <a:pPr marL="164559" lvl="1" indent="-164559" defTabSz="1218956">
              <a:lnSpc>
                <a:spcPct val="110000"/>
              </a:lnSpc>
              <a:buSzPct val="100000"/>
              <a:buFontTx/>
              <a:buChar char="–"/>
            </a:pPr>
            <a:r>
              <a:rPr lang="en-US" sz="1000" dirty="0">
                <a:solidFill>
                  <a:srgbClr val="000000"/>
                </a:solidFill>
                <a:latin typeface="+mj-lt"/>
                <a:ea typeface="+mj-ea"/>
                <a:cs typeface="+mj-cs"/>
              </a:rPr>
              <a:t>Action Items</a:t>
            </a:r>
          </a:p>
          <a:p>
            <a:pPr marL="164559" lvl="1" indent="-164559" defTabSz="1218956">
              <a:lnSpc>
                <a:spcPct val="110000"/>
              </a:lnSpc>
              <a:buSzPct val="100000"/>
              <a:buFontTx/>
              <a:buChar char="–"/>
            </a:pPr>
            <a:r>
              <a:rPr lang="en-US" sz="1000" dirty="0">
                <a:solidFill>
                  <a:srgbClr val="000000"/>
                </a:solidFill>
                <a:latin typeface="+mj-lt"/>
                <a:ea typeface="+mj-ea"/>
                <a:cs typeface="+mj-cs"/>
              </a:rPr>
              <a:t>Process Automation</a:t>
            </a:r>
          </a:p>
          <a:p>
            <a:pPr marL="164559" lvl="1" indent="-164559" defTabSz="1218956">
              <a:lnSpc>
                <a:spcPct val="110000"/>
              </a:lnSpc>
              <a:buSzPct val="100000"/>
              <a:buFontTx/>
              <a:buChar char="–"/>
            </a:pPr>
            <a:r>
              <a:rPr lang="en-US" sz="1000" dirty="0">
                <a:solidFill>
                  <a:srgbClr val="000000"/>
                </a:solidFill>
                <a:latin typeface="+mj-lt"/>
                <a:ea typeface="+mj-ea"/>
                <a:cs typeface="+mj-cs"/>
              </a:rPr>
              <a:t>Integration</a:t>
            </a:r>
          </a:p>
        </p:txBody>
      </p:sp>
      <p:sp>
        <p:nvSpPr>
          <p:cNvPr id="11" name="Circular Arrow 10">
            <a:extLst>
              <a:ext uri="{FF2B5EF4-FFF2-40B4-BE49-F238E27FC236}">
                <a16:creationId xmlns:a16="http://schemas.microsoft.com/office/drawing/2014/main" id="{9A8C8306-6284-E0FA-00AB-C9611057E744}"/>
              </a:ext>
            </a:extLst>
          </p:cNvPr>
          <p:cNvSpPr/>
          <p:nvPr/>
        </p:nvSpPr>
        <p:spPr>
          <a:xfrm>
            <a:off x="6724443" y="2365504"/>
            <a:ext cx="3896835" cy="3896835"/>
          </a:xfrm>
          <a:prstGeom prst="circularArrow">
            <a:avLst>
              <a:gd name="adj1" fmla="val 1503"/>
              <a:gd name="adj2" fmla="val 382581"/>
              <a:gd name="adj3" fmla="val 2637568"/>
              <a:gd name="adj4" fmla="val 16901813"/>
              <a:gd name="adj5" fmla="val 3187"/>
            </a:avLst>
          </a:prstGeom>
          <a:solidFill>
            <a:srgbClr val="009D9A"/>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US" sz="900"/>
          </a:p>
        </p:txBody>
      </p:sp>
      <p:sp>
        <p:nvSpPr>
          <p:cNvPr id="12" name="Shape 11">
            <a:extLst>
              <a:ext uri="{FF2B5EF4-FFF2-40B4-BE49-F238E27FC236}">
                <a16:creationId xmlns:a16="http://schemas.microsoft.com/office/drawing/2014/main" id="{099684FC-B77E-831A-DBD6-9CC4DAAC9CF7}"/>
              </a:ext>
            </a:extLst>
          </p:cNvPr>
          <p:cNvSpPr/>
          <p:nvPr/>
        </p:nvSpPr>
        <p:spPr>
          <a:xfrm rot="1839908">
            <a:off x="4939588" y="1622151"/>
            <a:ext cx="3091000" cy="3091000"/>
          </a:xfrm>
          <a:prstGeom prst="leftCircularArrow">
            <a:avLst>
              <a:gd name="adj1" fmla="val 1849"/>
              <a:gd name="adj2" fmla="val 429999"/>
              <a:gd name="adj3" fmla="val 10344731"/>
              <a:gd name="adj4" fmla="val 13299791"/>
              <a:gd name="adj5" fmla="val 4140"/>
            </a:avLst>
          </a:prstGeom>
          <a:solidFill>
            <a:schemeClr val="accent1">
              <a:lumMod val="40000"/>
              <a:lumOff val="60000"/>
            </a:schemeClr>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US" sz="900"/>
          </a:p>
        </p:txBody>
      </p:sp>
      <p:sp>
        <p:nvSpPr>
          <p:cNvPr id="13" name="Shape 12">
            <a:extLst>
              <a:ext uri="{FF2B5EF4-FFF2-40B4-BE49-F238E27FC236}">
                <a16:creationId xmlns:a16="http://schemas.microsoft.com/office/drawing/2014/main" id="{2DBDE098-929B-D50F-6413-3C6740F0E7B3}"/>
              </a:ext>
            </a:extLst>
          </p:cNvPr>
          <p:cNvSpPr/>
          <p:nvPr/>
        </p:nvSpPr>
        <p:spPr>
          <a:xfrm>
            <a:off x="7150660" y="2784298"/>
            <a:ext cx="3044403" cy="3044403"/>
          </a:xfrm>
          <a:prstGeom prst="gear9">
            <a:avLst/>
          </a:prstGeom>
          <a:solidFill>
            <a:srgbClr val="009D9A"/>
          </a:solidFill>
          <a:ln>
            <a:solidFill>
              <a:schemeClr val="accent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US" sz="900"/>
          </a:p>
        </p:txBody>
      </p:sp>
      <p:sp>
        <p:nvSpPr>
          <p:cNvPr id="14" name="Shape 4">
            <a:extLst>
              <a:ext uri="{FF2B5EF4-FFF2-40B4-BE49-F238E27FC236}">
                <a16:creationId xmlns:a16="http://schemas.microsoft.com/office/drawing/2014/main" id="{60005855-DF75-5CEC-17B4-59227939732C}"/>
              </a:ext>
            </a:extLst>
          </p:cNvPr>
          <p:cNvSpPr txBox="1"/>
          <p:nvPr/>
        </p:nvSpPr>
        <p:spPr>
          <a:xfrm>
            <a:off x="7458162" y="4145861"/>
            <a:ext cx="2429171" cy="31566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8889" numCol="1" spcCol="1270" anchor="ctr" anchorCtr="0">
            <a:spAutoFit/>
          </a:bodyPr>
          <a:lstStyle/>
          <a:p>
            <a:pPr algn="ctr" defTabSz="311088">
              <a:lnSpc>
                <a:spcPct val="90000"/>
              </a:lnSpc>
              <a:spcBef>
                <a:spcPct val="0"/>
              </a:spcBef>
              <a:spcAft>
                <a:spcPct val="35000"/>
              </a:spcAft>
            </a:pPr>
            <a:r>
              <a:rPr lang="en-US" sz="2200" b="1" dirty="0">
                <a:solidFill>
                  <a:schemeClr val="bg2"/>
                </a:solidFill>
              </a:rPr>
              <a:t>UI Builder</a:t>
            </a:r>
          </a:p>
        </p:txBody>
      </p:sp>
      <p:sp>
        <p:nvSpPr>
          <p:cNvPr id="15" name="Shape 14">
            <a:extLst>
              <a:ext uri="{FF2B5EF4-FFF2-40B4-BE49-F238E27FC236}">
                <a16:creationId xmlns:a16="http://schemas.microsoft.com/office/drawing/2014/main" id="{A4D59FEC-1963-0D9A-DE81-EDB84307C755}"/>
              </a:ext>
            </a:extLst>
          </p:cNvPr>
          <p:cNvSpPr/>
          <p:nvPr/>
        </p:nvSpPr>
        <p:spPr>
          <a:xfrm>
            <a:off x="5379372" y="2064713"/>
            <a:ext cx="2214110" cy="2214110"/>
          </a:xfrm>
          <a:prstGeom prst="gear6">
            <a:avLst/>
          </a:prstGeom>
          <a:solidFill>
            <a:schemeClr val="accent1">
              <a:lumMod val="40000"/>
              <a:lumOff val="60000"/>
            </a:schemeClr>
          </a:solidFill>
          <a:ln>
            <a:solidFill>
              <a:schemeClr val="accent1">
                <a:lumMod val="50000"/>
              </a:schemeClr>
            </a:solidFill>
          </a:ln>
        </p:spPr>
        <p:style>
          <a:lnRef idx="2">
            <a:scrgbClr r="0" g="0" b="0"/>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sz="900"/>
          </a:p>
        </p:txBody>
      </p:sp>
      <p:sp>
        <p:nvSpPr>
          <p:cNvPr id="16" name="Shape 6">
            <a:extLst>
              <a:ext uri="{FF2B5EF4-FFF2-40B4-BE49-F238E27FC236}">
                <a16:creationId xmlns:a16="http://schemas.microsoft.com/office/drawing/2014/main" id="{8B41599A-08E7-F7C3-42DF-E2AFF93B90AA}"/>
              </a:ext>
            </a:extLst>
          </p:cNvPr>
          <p:cNvSpPr txBox="1"/>
          <p:nvPr/>
        </p:nvSpPr>
        <p:spPr>
          <a:xfrm>
            <a:off x="5822195" y="3016830"/>
            <a:ext cx="1328467" cy="3159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9143" numCol="1" spcCol="1270" anchor="ctr" anchorCtr="0">
            <a:spAutoFit/>
          </a:bodyPr>
          <a:lstStyle/>
          <a:p>
            <a:pPr algn="ctr" defTabSz="311088">
              <a:lnSpc>
                <a:spcPct val="90000"/>
              </a:lnSpc>
              <a:spcBef>
                <a:spcPct val="0"/>
              </a:spcBef>
              <a:spcAft>
                <a:spcPct val="35000"/>
              </a:spcAft>
            </a:pPr>
            <a:r>
              <a:rPr lang="en-US" sz="2200" b="1" dirty="0">
                <a:solidFill>
                  <a:schemeClr val="accent3"/>
                </a:solidFill>
              </a:rPr>
              <a:t>Workflow</a:t>
            </a:r>
          </a:p>
        </p:txBody>
      </p:sp>
      <p:sp>
        <p:nvSpPr>
          <p:cNvPr id="17" name="Shape 16">
            <a:extLst>
              <a:ext uri="{FF2B5EF4-FFF2-40B4-BE49-F238E27FC236}">
                <a16:creationId xmlns:a16="http://schemas.microsoft.com/office/drawing/2014/main" id="{DE86BB72-D600-319F-0241-98BF0FFB129E}"/>
              </a:ext>
            </a:extLst>
          </p:cNvPr>
          <p:cNvSpPr/>
          <p:nvPr/>
        </p:nvSpPr>
        <p:spPr>
          <a:xfrm rot="20700000">
            <a:off x="6619500" y="537202"/>
            <a:ext cx="2169377" cy="2169377"/>
          </a:xfrm>
          <a:prstGeom prst="gear6">
            <a:avLst/>
          </a:prstGeom>
          <a:solidFill>
            <a:schemeClr val="accent1"/>
          </a:solidFill>
          <a:ln>
            <a:solidFill>
              <a:schemeClr val="accent1">
                <a:lumMod val="60000"/>
                <a:lumOff val="40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US" sz="900"/>
          </a:p>
        </p:txBody>
      </p:sp>
      <p:sp>
        <p:nvSpPr>
          <p:cNvPr id="18" name="Shape 8">
            <a:extLst>
              <a:ext uri="{FF2B5EF4-FFF2-40B4-BE49-F238E27FC236}">
                <a16:creationId xmlns:a16="http://schemas.microsoft.com/office/drawing/2014/main" id="{D22D0660-EA72-82DC-8C2B-2B678A772FF3}"/>
              </a:ext>
            </a:extLst>
          </p:cNvPr>
          <p:cNvSpPr txBox="1"/>
          <p:nvPr/>
        </p:nvSpPr>
        <p:spPr>
          <a:xfrm>
            <a:off x="6933298" y="1301233"/>
            <a:ext cx="1501770" cy="6203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8889" numCol="1" spcCol="1270" anchor="ctr" anchorCtr="0">
            <a:spAutoFit/>
          </a:bodyPr>
          <a:lstStyle/>
          <a:p>
            <a:pPr algn="ctr" defTabSz="311088">
              <a:lnSpc>
                <a:spcPct val="90000"/>
              </a:lnSpc>
              <a:spcBef>
                <a:spcPct val="0"/>
              </a:spcBef>
              <a:spcAft>
                <a:spcPct val="35000"/>
              </a:spcAft>
            </a:pPr>
            <a:r>
              <a:rPr lang="en-US" sz="2200" b="1" dirty="0">
                <a:solidFill>
                  <a:schemeClr val="bg2"/>
                </a:solidFill>
              </a:rPr>
              <a:t>Data </a:t>
            </a:r>
            <a:br>
              <a:rPr lang="en-US" sz="2200" b="1" dirty="0">
                <a:solidFill>
                  <a:schemeClr val="bg2"/>
                </a:solidFill>
              </a:rPr>
            </a:br>
            <a:r>
              <a:rPr lang="en-US" sz="2200" b="1" dirty="0">
                <a:solidFill>
                  <a:schemeClr val="bg2"/>
                </a:solidFill>
              </a:rPr>
              <a:t>Modeler</a:t>
            </a:r>
          </a:p>
        </p:txBody>
      </p:sp>
      <p:sp>
        <p:nvSpPr>
          <p:cNvPr id="19" name="Circular Arrow 18">
            <a:extLst>
              <a:ext uri="{FF2B5EF4-FFF2-40B4-BE49-F238E27FC236}">
                <a16:creationId xmlns:a16="http://schemas.microsoft.com/office/drawing/2014/main" id="{83197446-46A1-A8D8-A0CD-7C7A237261ED}"/>
              </a:ext>
            </a:extLst>
          </p:cNvPr>
          <p:cNvSpPr/>
          <p:nvPr/>
        </p:nvSpPr>
        <p:spPr>
          <a:xfrm>
            <a:off x="6177835" y="446"/>
            <a:ext cx="3052705" cy="3052705"/>
          </a:xfrm>
          <a:prstGeom prst="circularArrow">
            <a:avLst>
              <a:gd name="adj1" fmla="val 1822"/>
              <a:gd name="adj2" fmla="val 458380"/>
              <a:gd name="adj3" fmla="val 13218801"/>
              <a:gd name="adj4" fmla="val 10614434"/>
              <a:gd name="adj5" fmla="val 3254"/>
            </a:avLst>
          </a:prstGeom>
          <a:solidFill>
            <a:schemeClr val="accent1"/>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US" sz="900"/>
          </a:p>
        </p:txBody>
      </p:sp>
      <p:sp>
        <p:nvSpPr>
          <p:cNvPr id="20" name="TextBox 19">
            <a:extLst>
              <a:ext uri="{FF2B5EF4-FFF2-40B4-BE49-F238E27FC236}">
                <a16:creationId xmlns:a16="http://schemas.microsoft.com/office/drawing/2014/main" id="{3E62E025-B289-1DBF-C4D6-D4B519E70140}"/>
              </a:ext>
            </a:extLst>
          </p:cNvPr>
          <p:cNvSpPr txBox="1"/>
          <p:nvPr/>
        </p:nvSpPr>
        <p:spPr>
          <a:xfrm>
            <a:off x="5439814" y="5476862"/>
            <a:ext cx="2995253" cy="215444"/>
          </a:xfrm>
          <a:prstGeom prst="rect">
            <a:avLst/>
          </a:prstGeom>
          <a:noFill/>
        </p:spPr>
        <p:txBody>
          <a:bodyPr wrap="square" lIns="0" tIns="0" rIns="0" bIns="0">
            <a:spAutoFit/>
          </a:bodyPr>
          <a:lstStyle/>
          <a:p>
            <a:pPr>
              <a:spcAft>
                <a:spcPts val="300"/>
              </a:spcAft>
            </a:pPr>
            <a:r>
              <a:rPr lang="en-US" sz="1400" dirty="0"/>
              <a:t>Presentations of Portal Content</a:t>
            </a:r>
          </a:p>
        </p:txBody>
      </p:sp>
      <p:sp>
        <p:nvSpPr>
          <p:cNvPr id="21" name="TextBox 20">
            <a:extLst>
              <a:ext uri="{FF2B5EF4-FFF2-40B4-BE49-F238E27FC236}">
                <a16:creationId xmlns:a16="http://schemas.microsoft.com/office/drawing/2014/main" id="{6F0A714E-E124-489D-D02F-4762F476401E}"/>
              </a:ext>
            </a:extLst>
          </p:cNvPr>
          <p:cNvSpPr txBox="1"/>
          <p:nvPr/>
        </p:nvSpPr>
        <p:spPr>
          <a:xfrm>
            <a:off x="5439814" y="5805432"/>
            <a:ext cx="1617788" cy="331757"/>
          </a:xfrm>
          <a:prstGeom prst="rect">
            <a:avLst/>
          </a:prstGeom>
          <a:noFill/>
        </p:spPr>
        <p:txBody>
          <a:bodyPr wrap="square" lIns="0" tIns="0" rIns="0" bIns="0" rtlCol="0">
            <a:spAutoFit/>
          </a:bodyPr>
          <a:lstStyle>
            <a:defPPr>
              <a:defRPr lang="en-US"/>
            </a:defPPr>
            <a:lvl1pPr marL="134938" marR="0" lvl="0" indent="-134938" fontAlgn="auto">
              <a:lnSpc>
                <a:spcPct val="90000"/>
              </a:lnSpc>
              <a:spcBef>
                <a:spcPts val="0"/>
              </a:spcBef>
              <a:spcAft>
                <a:spcPts val="400"/>
              </a:spcAft>
              <a:buClrTx/>
              <a:buSzTx/>
              <a:buFont typeface="Arial" panose="020B0604020202020204" pitchFamily="34" charset="0"/>
              <a:buChar char="•"/>
              <a:tabLst/>
              <a:defRPr kumimoji="0" sz="1000" b="0" i="0" u="none" strike="noStrike" cap="none" spc="0" normalizeH="0" baseline="0">
                <a:ln>
                  <a:noFill/>
                </a:ln>
                <a:solidFill>
                  <a:srgbClr val="000000"/>
                </a:solidFill>
                <a:effectLst/>
                <a:uLnTx/>
                <a:uFillTx/>
                <a:ea typeface="IBM Plex Sans" charset="0"/>
                <a:cs typeface="IBM Plex Sans" charset="0"/>
              </a:defRPr>
            </a:lvl1pPr>
          </a:lstStyle>
          <a:p>
            <a:pPr marL="164559" lvl="1" indent="-164559" defTabSz="1218956">
              <a:lnSpc>
                <a:spcPct val="110000"/>
              </a:lnSpc>
              <a:buSzPct val="100000"/>
              <a:buFontTx/>
              <a:buChar char="–"/>
            </a:pPr>
            <a:r>
              <a:rPr lang="en-US" sz="1000" dirty="0">
                <a:solidFill>
                  <a:srgbClr val="000000"/>
                </a:solidFill>
                <a:latin typeface="+mj-lt"/>
                <a:ea typeface="+mj-ea"/>
                <a:cs typeface="+mj-cs"/>
              </a:rPr>
              <a:t>Navigation</a:t>
            </a:r>
          </a:p>
          <a:p>
            <a:pPr marL="164559" lvl="1" indent="-164559" defTabSz="1218956">
              <a:lnSpc>
                <a:spcPct val="110000"/>
              </a:lnSpc>
              <a:buSzPct val="100000"/>
              <a:buFontTx/>
              <a:buChar char="–"/>
            </a:pPr>
            <a:r>
              <a:rPr lang="en-US" sz="1000" dirty="0">
                <a:solidFill>
                  <a:srgbClr val="000000"/>
                </a:solidFill>
                <a:latin typeface="+mj-lt"/>
                <a:ea typeface="+mj-ea"/>
                <a:cs typeface="+mj-cs"/>
              </a:rPr>
              <a:t>Reports &amp; Dashboards</a:t>
            </a:r>
          </a:p>
        </p:txBody>
      </p:sp>
      <p:sp>
        <p:nvSpPr>
          <p:cNvPr id="22" name="TextBox 21">
            <a:extLst>
              <a:ext uri="{FF2B5EF4-FFF2-40B4-BE49-F238E27FC236}">
                <a16:creationId xmlns:a16="http://schemas.microsoft.com/office/drawing/2014/main" id="{BE6A8A57-ACB6-E2D2-FA88-22E8988201DF}"/>
              </a:ext>
            </a:extLst>
          </p:cNvPr>
          <p:cNvSpPr txBox="1"/>
          <p:nvPr/>
        </p:nvSpPr>
        <p:spPr>
          <a:xfrm>
            <a:off x="7144172" y="5805432"/>
            <a:ext cx="1617788" cy="331757"/>
          </a:xfrm>
          <a:prstGeom prst="rect">
            <a:avLst/>
          </a:prstGeom>
          <a:noFill/>
        </p:spPr>
        <p:txBody>
          <a:bodyPr wrap="square" lIns="0" tIns="0" rIns="0" bIns="0" rtlCol="0">
            <a:spAutoFit/>
          </a:bodyPr>
          <a:lstStyle>
            <a:defPPr>
              <a:defRPr lang="en-US"/>
            </a:defPPr>
            <a:lvl1pPr marL="134938" marR="0" lvl="0" indent="-134938" fontAlgn="auto">
              <a:lnSpc>
                <a:spcPct val="90000"/>
              </a:lnSpc>
              <a:spcBef>
                <a:spcPts val="0"/>
              </a:spcBef>
              <a:spcAft>
                <a:spcPts val="400"/>
              </a:spcAft>
              <a:buClrTx/>
              <a:buSzTx/>
              <a:buFont typeface="Arial" panose="020B0604020202020204" pitchFamily="34" charset="0"/>
              <a:buChar char="•"/>
              <a:tabLst/>
              <a:defRPr kumimoji="0" sz="1000" b="0" i="0" u="none" strike="noStrike" cap="none" spc="0" normalizeH="0" baseline="0">
                <a:ln>
                  <a:noFill/>
                </a:ln>
                <a:solidFill>
                  <a:srgbClr val="000000"/>
                </a:solidFill>
                <a:effectLst/>
                <a:uLnTx/>
                <a:uFillTx/>
                <a:ea typeface="IBM Plex Sans" charset="0"/>
                <a:cs typeface="IBM Plex Sans" charset="0"/>
              </a:defRPr>
            </a:lvl1pPr>
          </a:lstStyle>
          <a:p>
            <a:pPr marL="164559" lvl="1" indent="-164559" defTabSz="1218956">
              <a:lnSpc>
                <a:spcPct val="110000"/>
              </a:lnSpc>
              <a:buSzPct val="100000"/>
              <a:buFontTx/>
              <a:buChar char="–"/>
            </a:pPr>
            <a:r>
              <a:rPr lang="en-US" sz="1000" dirty="0">
                <a:solidFill>
                  <a:srgbClr val="000000"/>
                </a:solidFill>
                <a:latin typeface="+mj-lt"/>
                <a:ea typeface="+mj-ea"/>
                <a:cs typeface="+mj-cs"/>
              </a:rPr>
              <a:t>Forms</a:t>
            </a:r>
          </a:p>
          <a:p>
            <a:pPr marL="164559" lvl="1" indent="-164559" defTabSz="1218956">
              <a:lnSpc>
                <a:spcPct val="110000"/>
              </a:lnSpc>
              <a:buSzPct val="100000"/>
              <a:buFontTx/>
              <a:buChar char="–"/>
            </a:pPr>
            <a:r>
              <a:rPr lang="en-US" sz="1000" dirty="0">
                <a:solidFill>
                  <a:srgbClr val="000000"/>
                </a:solidFill>
                <a:latin typeface="+mj-lt"/>
                <a:ea typeface="+mj-ea"/>
                <a:cs typeface="+mj-cs"/>
              </a:rPr>
              <a:t>Perceptive Apps</a:t>
            </a:r>
          </a:p>
        </p:txBody>
      </p:sp>
    </p:spTree>
    <p:extLst>
      <p:ext uri="{BB962C8B-B14F-4D97-AF65-F5344CB8AC3E}">
        <p14:creationId xmlns:p14="http://schemas.microsoft.com/office/powerpoint/2010/main" val="1114804222"/>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B1A30-6577-427F-B65C-3F871094AE61}"/>
              </a:ext>
            </a:extLst>
          </p:cNvPr>
          <p:cNvSpPr>
            <a:spLocks noGrp="1"/>
          </p:cNvSpPr>
          <p:nvPr>
            <p:ph type="title"/>
          </p:nvPr>
        </p:nvSpPr>
        <p:spPr>
          <a:xfrm>
            <a:off x="280416" y="268224"/>
            <a:ext cx="11606784" cy="1072896"/>
          </a:xfrm>
        </p:spPr>
        <p:txBody>
          <a:bodyPr/>
          <a:lstStyle/>
          <a:p>
            <a:r>
              <a:rPr lang="en-US" spc="-80" dirty="0"/>
              <a:t>TRIRIGA provides several integration methods</a:t>
            </a:r>
          </a:p>
        </p:txBody>
      </p:sp>
      <p:sp>
        <p:nvSpPr>
          <p:cNvPr id="4" name="Slide Number Placeholder 3">
            <a:extLst>
              <a:ext uri="{FF2B5EF4-FFF2-40B4-BE49-F238E27FC236}">
                <a16:creationId xmlns:a16="http://schemas.microsoft.com/office/drawing/2014/main" id="{3014E53E-3F09-4CD9-AD06-D247EE5A4A7C}"/>
              </a:ext>
            </a:extLst>
          </p:cNvPr>
          <p:cNvSpPr>
            <a:spLocks noGrp="1"/>
          </p:cNvSpPr>
          <p:nvPr>
            <p:ph type="sldNum" sz="quarter" idx="11"/>
          </p:nvPr>
        </p:nvSpPr>
        <p:spPr/>
        <p:txBody>
          <a:bodyPr/>
          <a:lstStyle/>
          <a:p>
            <a:fld id="{59395FB3-9C97-154F-86B2-7E381B951268}" type="slidenum">
              <a:rPr lang="en-US" smtClean="0"/>
              <a:pPr/>
              <a:t>11</a:t>
            </a:fld>
            <a:endParaRPr lang="en-US" dirty="0"/>
          </a:p>
        </p:txBody>
      </p:sp>
      <p:sp>
        <p:nvSpPr>
          <p:cNvPr id="6" name="Rectangle 5">
            <a:extLst>
              <a:ext uri="{FF2B5EF4-FFF2-40B4-BE49-F238E27FC236}">
                <a16:creationId xmlns:a16="http://schemas.microsoft.com/office/drawing/2014/main" id="{3CB40D92-CAF9-42AF-90E0-53645E441DCD}"/>
              </a:ext>
            </a:extLst>
          </p:cNvPr>
          <p:cNvSpPr/>
          <p:nvPr/>
        </p:nvSpPr>
        <p:spPr bwMode="auto">
          <a:xfrm>
            <a:off x="1479296" y="2771325"/>
            <a:ext cx="10403837" cy="379703"/>
          </a:xfrm>
          <a:prstGeom prst="rect">
            <a:avLst/>
          </a:prstGeom>
          <a:solidFill>
            <a:schemeClr val="bg2"/>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defTabSz="914621">
              <a:defRPr/>
            </a:pPr>
            <a:endParaRPr lang="en-US" sz="1467" dirty="0">
              <a:solidFill>
                <a:srgbClr val="000000"/>
              </a:solidFill>
              <a:ea typeface="IBM Plex Sans" charset="0"/>
              <a:cs typeface="Arial" panose="020B0604020202020204" pitchFamily="34" charset="0"/>
            </a:endParaRPr>
          </a:p>
        </p:txBody>
      </p:sp>
      <p:cxnSp>
        <p:nvCxnSpPr>
          <p:cNvPr id="7" name="Straight Connector 6">
            <a:extLst>
              <a:ext uri="{FF2B5EF4-FFF2-40B4-BE49-F238E27FC236}">
                <a16:creationId xmlns:a16="http://schemas.microsoft.com/office/drawing/2014/main" id="{6BF16F0C-9811-46A2-BA06-9BB73F1E47C8}"/>
              </a:ext>
            </a:extLst>
          </p:cNvPr>
          <p:cNvCxnSpPr>
            <a:cxnSpLocks/>
          </p:cNvCxnSpPr>
          <p:nvPr/>
        </p:nvCxnSpPr>
        <p:spPr bwMode="auto">
          <a:xfrm>
            <a:off x="1347812" y="2757397"/>
            <a:ext cx="0" cy="2237067"/>
          </a:xfrm>
          <a:prstGeom prst="line">
            <a:avLst/>
          </a:prstGeom>
          <a:ln w="952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7" name="Text Box 23">
            <a:extLst>
              <a:ext uri="{FF2B5EF4-FFF2-40B4-BE49-F238E27FC236}">
                <a16:creationId xmlns:a16="http://schemas.microsoft.com/office/drawing/2014/main" id="{6E0B6E57-895F-4D1F-B2C4-35669CD8F920}"/>
              </a:ext>
            </a:extLst>
          </p:cNvPr>
          <p:cNvSpPr txBox="1">
            <a:spLocks noChangeArrowheads="1"/>
          </p:cNvSpPr>
          <p:nvPr/>
        </p:nvSpPr>
        <p:spPr bwMode="auto">
          <a:xfrm>
            <a:off x="2440011" y="2858583"/>
            <a:ext cx="8482411" cy="205121"/>
          </a:xfrm>
          <a:prstGeom prst="rect">
            <a:avLst/>
          </a:prstGeom>
          <a:noFill/>
          <a:ln w="9525">
            <a:noFill/>
            <a:miter lim="800000"/>
            <a:headEnd/>
            <a:tailEnd/>
          </a:ln>
        </p:spPr>
        <p:txBody>
          <a:bodyPr wrap="square" lIns="0" tIns="0" rIns="0" bIns="0">
            <a:spAutoFit/>
          </a:bodyPr>
          <a:lstStyle/>
          <a:p>
            <a:pPr algn="ctr" defTabSz="1219139" fontAlgn="base">
              <a:spcBef>
                <a:spcPts val="1600"/>
              </a:spcBef>
              <a:spcAft>
                <a:spcPct val="0"/>
              </a:spcAft>
              <a:buClr>
                <a:srgbClr val="000000"/>
              </a:buClr>
              <a:buSzPct val="90000"/>
              <a:defRPr/>
            </a:pPr>
            <a:r>
              <a:rPr lang="en-US" sz="1333" dirty="0"/>
              <a:t>Centralized Database and Document Repository</a:t>
            </a:r>
          </a:p>
        </p:txBody>
      </p:sp>
      <p:cxnSp>
        <p:nvCxnSpPr>
          <p:cNvPr id="28" name="Straight Connector 27">
            <a:extLst>
              <a:ext uri="{FF2B5EF4-FFF2-40B4-BE49-F238E27FC236}">
                <a16:creationId xmlns:a16="http://schemas.microsoft.com/office/drawing/2014/main" id="{A009BC99-6928-4762-BF38-EE51B126BADF}"/>
              </a:ext>
            </a:extLst>
          </p:cNvPr>
          <p:cNvCxnSpPr>
            <a:cxnSpLocks/>
          </p:cNvCxnSpPr>
          <p:nvPr/>
        </p:nvCxnSpPr>
        <p:spPr bwMode="auto">
          <a:xfrm>
            <a:off x="1347812" y="1320097"/>
            <a:ext cx="0" cy="1341120"/>
          </a:xfrm>
          <a:prstGeom prst="line">
            <a:avLst/>
          </a:prstGeom>
          <a:ln w="952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2" name="Rectangle 121">
            <a:extLst>
              <a:ext uri="{FF2B5EF4-FFF2-40B4-BE49-F238E27FC236}">
                <a16:creationId xmlns:a16="http://schemas.microsoft.com/office/drawing/2014/main" id="{3379E42E-A17E-419B-B621-7E2BC6FF9CC1}"/>
              </a:ext>
            </a:extLst>
          </p:cNvPr>
          <p:cNvSpPr/>
          <p:nvPr/>
        </p:nvSpPr>
        <p:spPr bwMode="auto">
          <a:xfrm>
            <a:off x="7166743" y="5473634"/>
            <a:ext cx="1186896" cy="942369"/>
          </a:xfrm>
          <a:prstGeom prst="rect">
            <a:avLst/>
          </a:prstGeom>
          <a:noFill/>
          <a:ln w="3175">
            <a:solidFill>
              <a:schemeClr val="tx1"/>
            </a:solidFill>
          </a:ln>
        </p:spPr>
        <p:txBody>
          <a:bodyPr wrap="square" lIns="0" tIns="0" rIns="0" bIns="0" rtlCol="0" anchor="ctr">
            <a:noAutofit/>
          </a:bodyPr>
          <a:lstStyle/>
          <a:p>
            <a:pPr algn="ctr" defTabSz="914598"/>
            <a:endParaRPr lang="en-US" sz="1600" dirty="0">
              <a:solidFill>
                <a:srgbClr val="FFFFFF"/>
              </a:solidFill>
              <a:cs typeface="Arial"/>
            </a:endParaRPr>
          </a:p>
        </p:txBody>
      </p:sp>
      <p:sp>
        <p:nvSpPr>
          <p:cNvPr id="123" name="AutoShape 72">
            <a:extLst>
              <a:ext uri="{FF2B5EF4-FFF2-40B4-BE49-F238E27FC236}">
                <a16:creationId xmlns:a16="http://schemas.microsoft.com/office/drawing/2014/main" id="{A8548DA6-0F6D-4E1C-8C4B-8B9EB8207C2C}"/>
              </a:ext>
            </a:extLst>
          </p:cNvPr>
          <p:cNvSpPr>
            <a:spLocks noChangeArrowheads="1"/>
          </p:cNvSpPr>
          <p:nvPr/>
        </p:nvSpPr>
        <p:spPr bwMode="auto">
          <a:xfrm>
            <a:off x="7326626" y="5673260"/>
            <a:ext cx="880615" cy="544417"/>
          </a:xfrm>
          <a:prstGeom prst="can">
            <a:avLst>
              <a:gd name="adj" fmla="val 25000"/>
            </a:avLst>
          </a:prstGeom>
          <a:solidFill>
            <a:srgbClr val="C6C6C6"/>
          </a:solidFill>
          <a:ln w="9525">
            <a:noFill/>
            <a:round/>
            <a:headEnd/>
            <a:tailEnd/>
          </a:ln>
        </p:spPr>
        <p:txBody>
          <a:bodyPr wrap="none" anchor="ctr"/>
          <a:lstStyle/>
          <a:p>
            <a:pPr algn="ctr" defTabSz="1219139" fontAlgn="base">
              <a:lnSpc>
                <a:spcPct val="90000"/>
              </a:lnSpc>
              <a:spcBef>
                <a:spcPct val="0"/>
              </a:spcBef>
              <a:spcAft>
                <a:spcPct val="0"/>
              </a:spcAft>
              <a:defRPr/>
            </a:pPr>
            <a:r>
              <a:rPr lang="en-US" sz="933" kern="0" dirty="0">
                <a:solidFill>
                  <a:sysClr val="windowText" lastClr="000000"/>
                </a:solidFill>
                <a:ea typeface="ＭＳ Ｐゴシック" pitchFamily="34" charset="-128"/>
                <a:cs typeface="Arial" charset="0"/>
              </a:rPr>
              <a:t>Document </a:t>
            </a:r>
          </a:p>
          <a:p>
            <a:pPr algn="ctr" defTabSz="1219139" fontAlgn="base">
              <a:lnSpc>
                <a:spcPct val="90000"/>
              </a:lnSpc>
              <a:spcBef>
                <a:spcPct val="0"/>
              </a:spcBef>
              <a:spcAft>
                <a:spcPct val="0"/>
              </a:spcAft>
              <a:defRPr/>
            </a:pPr>
            <a:r>
              <a:rPr lang="en-US" sz="933" kern="0" dirty="0">
                <a:solidFill>
                  <a:sysClr val="windowText" lastClr="000000"/>
                </a:solidFill>
                <a:ea typeface="ＭＳ Ｐゴシック" pitchFamily="34" charset="-128"/>
                <a:cs typeface="Arial" charset="0"/>
              </a:rPr>
              <a:t>Mgmt.</a:t>
            </a:r>
          </a:p>
        </p:txBody>
      </p:sp>
      <p:sp>
        <p:nvSpPr>
          <p:cNvPr id="124" name="Rectangle 123">
            <a:extLst>
              <a:ext uri="{FF2B5EF4-FFF2-40B4-BE49-F238E27FC236}">
                <a16:creationId xmlns:a16="http://schemas.microsoft.com/office/drawing/2014/main" id="{0BCC8768-13E5-4D2E-BD94-94998AF54C8E}"/>
              </a:ext>
            </a:extLst>
          </p:cNvPr>
          <p:cNvSpPr/>
          <p:nvPr/>
        </p:nvSpPr>
        <p:spPr bwMode="auto">
          <a:xfrm>
            <a:off x="4861151" y="5468384"/>
            <a:ext cx="2174527" cy="947619"/>
          </a:xfrm>
          <a:prstGeom prst="rect">
            <a:avLst/>
          </a:prstGeom>
          <a:noFill/>
          <a:ln w="3175">
            <a:solidFill>
              <a:schemeClr val="tx1"/>
            </a:solidFill>
          </a:ln>
        </p:spPr>
        <p:txBody>
          <a:bodyPr wrap="square" lIns="0" tIns="0" rIns="0" bIns="0" rtlCol="0" anchor="ctr">
            <a:noAutofit/>
          </a:bodyPr>
          <a:lstStyle/>
          <a:p>
            <a:pPr algn="ctr" defTabSz="914598"/>
            <a:endParaRPr lang="en-US" sz="1600" dirty="0">
              <a:solidFill>
                <a:srgbClr val="FFFFFF"/>
              </a:solidFill>
              <a:cs typeface="Arial"/>
            </a:endParaRPr>
          </a:p>
        </p:txBody>
      </p:sp>
      <p:sp>
        <p:nvSpPr>
          <p:cNvPr id="125" name="AutoShape 70">
            <a:extLst>
              <a:ext uri="{FF2B5EF4-FFF2-40B4-BE49-F238E27FC236}">
                <a16:creationId xmlns:a16="http://schemas.microsoft.com/office/drawing/2014/main" id="{4D4CF05F-F2FA-444A-83ED-BC1C2C47EEBA}"/>
              </a:ext>
            </a:extLst>
          </p:cNvPr>
          <p:cNvSpPr>
            <a:spLocks noChangeArrowheads="1"/>
          </p:cNvSpPr>
          <p:nvPr/>
        </p:nvSpPr>
        <p:spPr bwMode="auto">
          <a:xfrm>
            <a:off x="4985514" y="5981227"/>
            <a:ext cx="880615" cy="380599"/>
          </a:xfrm>
          <a:prstGeom prst="can">
            <a:avLst>
              <a:gd name="adj" fmla="val 25000"/>
            </a:avLst>
          </a:prstGeom>
          <a:solidFill>
            <a:srgbClr val="C6C6C6"/>
          </a:solidFill>
          <a:ln w="9525">
            <a:noFill/>
            <a:round/>
            <a:headEnd/>
            <a:tailEnd/>
          </a:ln>
        </p:spPr>
        <p:txBody>
          <a:bodyPr wrap="none" anchor="ctr"/>
          <a:lstStyle/>
          <a:p>
            <a:pPr algn="ctr" defTabSz="1219139" fontAlgn="base">
              <a:lnSpc>
                <a:spcPct val="90000"/>
              </a:lnSpc>
              <a:spcBef>
                <a:spcPct val="0"/>
              </a:spcBef>
              <a:spcAft>
                <a:spcPct val="0"/>
              </a:spcAft>
              <a:defRPr/>
            </a:pPr>
            <a:r>
              <a:rPr lang="en-US" sz="933" kern="0" dirty="0">
                <a:solidFill>
                  <a:sysClr val="windowText" lastClr="000000"/>
                </a:solidFill>
                <a:ea typeface="ＭＳ Ｐゴシック" pitchFamily="34" charset="-128"/>
                <a:cs typeface="Arial" charset="0"/>
              </a:rPr>
              <a:t>SAP</a:t>
            </a:r>
          </a:p>
        </p:txBody>
      </p:sp>
      <p:sp>
        <p:nvSpPr>
          <p:cNvPr id="126" name="AutoShape 71">
            <a:extLst>
              <a:ext uri="{FF2B5EF4-FFF2-40B4-BE49-F238E27FC236}">
                <a16:creationId xmlns:a16="http://schemas.microsoft.com/office/drawing/2014/main" id="{255C8D84-BC53-4364-B463-0BDC416EFE24}"/>
              </a:ext>
            </a:extLst>
          </p:cNvPr>
          <p:cNvSpPr>
            <a:spLocks noChangeArrowheads="1"/>
          </p:cNvSpPr>
          <p:nvPr/>
        </p:nvSpPr>
        <p:spPr bwMode="auto">
          <a:xfrm>
            <a:off x="6033777" y="5981227"/>
            <a:ext cx="880615" cy="380599"/>
          </a:xfrm>
          <a:prstGeom prst="can">
            <a:avLst>
              <a:gd name="adj" fmla="val 25000"/>
            </a:avLst>
          </a:prstGeom>
          <a:solidFill>
            <a:srgbClr val="C6C6C6"/>
          </a:solidFill>
          <a:ln w="9525">
            <a:noFill/>
            <a:round/>
            <a:headEnd/>
            <a:tailEnd/>
          </a:ln>
        </p:spPr>
        <p:txBody>
          <a:bodyPr wrap="none" anchor="ctr"/>
          <a:lstStyle/>
          <a:p>
            <a:pPr algn="ctr" defTabSz="1219139" fontAlgn="base">
              <a:lnSpc>
                <a:spcPct val="90000"/>
              </a:lnSpc>
              <a:spcBef>
                <a:spcPct val="0"/>
              </a:spcBef>
              <a:spcAft>
                <a:spcPct val="0"/>
              </a:spcAft>
              <a:defRPr/>
            </a:pPr>
            <a:r>
              <a:rPr lang="en-US" sz="933" kern="0" dirty="0">
                <a:solidFill>
                  <a:sysClr val="windowText" lastClr="000000"/>
                </a:solidFill>
                <a:ea typeface="ＭＳ Ｐゴシック" pitchFamily="34" charset="-128"/>
                <a:cs typeface="Arial" charset="0"/>
              </a:rPr>
              <a:t>CRM</a:t>
            </a:r>
          </a:p>
        </p:txBody>
      </p:sp>
      <p:sp>
        <p:nvSpPr>
          <p:cNvPr id="127" name="AutoShape 72">
            <a:extLst>
              <a:ext uri="{FF2B5EF4-FFF2-40B4-BE49-F238E27FC236}">
                <a16:creationId xmlns:a16="http://schemas.microsoft.com/office/drawing/2014/main" id="{5F2F359B-73E1-42CB-B3A4-A0A320A51338}"/>
              </a:ext>
            </a:extLst>
          </p:cNvPr>
          <p:cNvSpPr>
            <a:spLocks noChangeArrowheads="1"/>
          </p:cNvSpPr>
          <p:nvPr/>
        </p:nvSpPr>
        <p:spPr bwMode="auto">
          <a:xfrm>
            <a:off x="4985514" y="5535014"/>
            <a:ext cx="880615" cy="380599"/>
          </a:xfrm>
          <a:prstGeom prst="can">
            <a:avLst>
              <a:gd name="adj" fmla="val 25000"/>
            </a:avLst>
          </a:prstGeom>
          <a:solidFill>
            <a:srgbClr val="C6C6C6"/>
          </a:solidFill>
          <a:ln w="9525">
            <a:noFill/>
            <a:round/>
            <a:headEnd/>
            <a:tailEnd/>
          </a:ln>
        </p:spPr>
        <p:txBody>
          <a:bodyPr wrap="none" anchor="ctr"/>
          <a:lstStyle/>
          <a:p>
            <a:pPr algn="ctr" defTabSz="1219139" fontAlgn="base">
              <a:lnSpc>
                <a:spcPct val="90000"/>
              </a:lnSpc>
              <a:spcBef>
                <a:spcPct val="0"/>
              </a:spcBef>
              <a:spcAft>
                <a:spcPct val="0"/>
              </a:spcAft>
              <a:defRPr/>
            </a:pPr>
            <a:r>
              <a:rPr lang="en-US" sz="933" kern="0" dirty="0">
                <a:solidFill>
                  <a:sysClr val="windowText" lastClr="000000"/>
                </a:solidFill>
                <a:ea typeface="ＭＳ Ｐゴシック" pitchFamily="34" charset="-128"/>
                <a:cs typeface="Arial" charset="0"/>
              </a:rPr>
              <a:t>Oracle</a:t>
            </a:r>
          </a:p>
        </p:txBody>
      </p:sp>
      <p:sp>
        <p:nvSpPr>
          <p:cNvPr id="128" name="AutoShape 72">
            <a:extLst>
              <a:ext uri="{FF2B5EF4-FFF2-40B4-BE49-F238E27FC236}">
                <a16:creationId xmlns:a16="http://schemas.microsoft.com/office/drawing/2014/main" id="{F836CA31-5417-4095-BEC1-F27376D0F991}"/>
              </a:ext>
            </a:extLst>
          </p:cNvPr>
          <p:cNvSpPr>
            <a:spLocks noChangeArrowheads="1"/>
          </p:cNvSpPr>
          <p:nvPr/>
        </p:nvSpPr>
        <p:spPr bwMode="auto">
          <a:xfrm>
            <a:off x="6033777" y="5535016"/>
            <a:ext cx="880615" cy="380597"/>
          </a:xfrm>
          <a:prstGeom prst="can">
            <a:avLst>
              <a:gd name="adj" fmla="val 25000"/>
            </a:avLst>
          </a:prstGeom>
          <a:solidFill>
            <a:srgbClr val="C6C6C6"/>
          </a:solidFill>
          <a:ln w="9525">
            <a:noFill/>
            <a:round/>
            <a:headEnd/>
            <a:tailEnd/>
          </a:ln>
        </p:spPr>
        <p:txBody>
          <a:bodyPr wrap="none" anchor="ctr"/>
          <a:lstStyle/>
          <a:p>
            <a:pPr algn="ctr" defTabSz="1219139" fontAlgn="base">
              <a:lnSpc>
                <a:spcPct val="90000"/>
              </a:lnSpc>
              <a:spcBef>
                <a:spcPct val="0"/>
              </a:spcBef>
              <a:spcAft>
                <a:spcPct val="0"/>
              </a:spcAft>
              <a:defRPr/>
            </a:pPr>
            <a:r>
              <a:rPr lang="en-US" sz="933" kern="0" dirty="0">
                <a:solidFill>
                  <a:sysClr val="windowText" lastClr="000000"/>
                </a:solidFill>
                <a:ea typeface="ＭＳ Ｐゴシック" pitchFamily="34" charset="-128"/>
                <a:cs typeface="Arial" charset="0"/>
              </a:rPr>
              <a:t>WFM</a:t>
            </a:r>
          </a:p>
        </p:txBody>
      </p:sp>
      <p:sp>
        <p:nvSpPr>
          <p:cNvPr id="129" name="Rectangle 128">
            <a:extLst>
              <a:ext uri="{FF2B5EF4-FFF2-40B4-BE49-F238E27FC236}">
                <a16:creationId xmlns:a16="http://schemas.microsoft.com/office/drawing/2014/main" id="{DAA71FF8-14F6-4902-A120-0B759D12FC78}"/>
              </a:ext>
            </a:extLst>
          </p:cNvPr>
          <p:cNvSpPr/>
          <p:nvPr/>
        </p:nvSpPr>
        <p:spPr bwMode="auto">
          <a:xfrm>
            <a:off x="8484704" y="5468385"/>
            <a:ext cx="3402497" cy="942369"/>
          </a:xfrm>
          <a:prstGeom prst="rect">
            <a:avLst/>
          </a:prstGeom>
          <a:noFill/>
          <a:ln w="3175">
            <a:solidFill>
              <a:schemeClr val="tx1"/>
            </a:solidFill>
          </a:ln>
        </p:spPr>
        <p:txBody>
          <a:bodyPr wrap="square" lIns="0" tIns="0" rIns="0" bIns="0" rtlCol="0" anchor="ctr">
            <a:noAutofit/>
          </a:bodyPr>
          <a:lstStyle/>
          <a:p>
            <a:pPr algn="ctr" defTabSz="914598"/>
            <a:endParaRPr lang="en-US" sz="1600" dirty="0">
              <a:solidFill>
                <a:srgbClr val="FFFFFF"/>
              </a:solidFill>
              <a:cs typeface="Arial"/>
            </a:endParaRPr>
          </a:p>
        </p:txBody>
      </p:sp>
      <p:sp>
        <p:nvSpPr>
          <p:cNvPr id="130" name="AutoShape 69">
            <a:extLst>
              <a:ext uri="{FF2B5EF4-FFF2-40B4-BE49-F238E27FC236}">
                <a16:creationId xmlns:a16="http://schemas.microsoft.com/office/drawing/2014/main" id="{0C3166CA-53B5-41EA-A5D8-55C1B5A9B0B6}"/>
              </a:ext>
            </a:extLst>
          </p:cNvPr>
          <p:cNvSpPr>
            <a:spLocks noChangeArrowheads="1"/>
          </p:cNvSpPr>
          <p:nvPr/>
        </p:nvSpPr>
        <p:spPr bwMode="auto">
          <a:xfrm>
            <a:off x="8715925" y="5673257"/>
            <a:ext cx="880615" cy="544419"/>
          </a:xfrm>
          <a:prstGeom prst="can">
            <a:avLst>
              <a:gd name="adj" fmla="val 25000"/>
            </a:avLst>
          </a:prstGeom>
          <a:solidFill>
            <a:srgbClr val="C6C6C6"/>
          </a:solidFill>
          <a:ln w="9525">
            <a:noFill/>
            <a:round/>
            <a:headEnd/>
            <a:tailEnd/>
          </a:ln>
        </p:spPr>
        <p:txBody>
          <a:bodyPr wrap="none" anchor="ctr"/>
          <a:lstStyle/>
          <a:p>
            <a:pPr algn="ctr" defTabSz="1219139" fontAlgn="base">
              <a:lnSpc>
                <a:spcPct val="90000"/>
              </a:lnSpc>
              <a:spcBef>
                <a:spcPct val="0"/>
              </a:spcBef>
              <a:spcAft>
                <a:spcPct val="0"/>
              </a:spcAft>
              <a:defRPr/>
            </a:pPr>
            <a:r>
              <a:rPr lang="en-US" sz="933" kern="0" dirty="0">
                <a:solidFill>
                  <a:sysClr val="windowText" lastClr="000000"/>
                </a:solidFill>
                <a:ea typeface="ＭＳ Ｐゴシック" pitchFamily="34" charset="-128"/>
                <a:cs typeface="Arial" charset="0"/>
              </a:rPr>
              <a:t>Active </a:t>
            </a:r>
          </a:p>
          <a:p>
            <a:pPr algn="ctr" defTabSz="1219139" fontAlgn="base">
              <a:lnSpc>
                <a:spcPct val="90000"/>
              </a:lnSpc>
              <a:spcBef>
                <a:spcPct val="0"/>
              </a:spcBef>
              <a:spcAft>
                <a:spcPct val="0"/>
              </a:spcAft>
              <a:defRPr/>
            </a:pPr>
            <a:r>
              <a:rPr lang="en-US" sz="933" kern="0" dirty="0">
                <a:solidFill>
                  <a:sysClr val="windowText" lastClr="000000"/>
                </a:solidFill>
                <a:ea typeface="ＭＳ Ｐゴシック" pitchFamily="34" charset="-128"/>
                <a:cs typeface="Arial" charset="0"/>
              </a:rPr>
              <a:t>Directory</a:t>
            </a:r>
          </a:p>
        </p:txBody>
      </p:sp>
      <p:sp>
        <p:nvSpPr>
          <p:cNvPr id="131" name="AutoShape 69">
            <a:extLst>
              <a:ext uri="{FF2B5EF4-FFF2-40B4-BE49-F238E27FC236}">
                <a16:creationId xmlns:a16="http://schemas.microsoft.com/office/drawing/2014/main" id="{FD3F7435-8B05-41F7-B9E5-28BF271B1871}"/>
              </a:ext>
            </a:extLst>
          </p:cNvPr>
          <p:cNvSpPr>
            <a:spLocks noChangeArrowheads="1"/>
          </p:cNvSpPr>
          <p:nvPr/>
        </p:nvSpPr>
        <p:spPr bwMode="auto">
          <a:xfrm>
            <a:off x="9745645" y="5673257"/>
            <a:ext cx="880615" cy="544419"/>
          </a:xfrm>
          <a:prstGeom prst="can">
            <a:avLst>
              <a:gd name="adj" fmla="val 25000"/>
            </a:avLst>
          </a:prstGeom>
          <a:solidFill>
            <a:srgbClr val="C6C6C6"/>
          </a:solidFill>
          <a:ln w="9525">
            <a:noFill/>
            <a:round/>
            <a:headEnd/>
            <a:tailEnd/>
          </a:ln>
        </p:spPr>
        <p:txBody>
          <a:bodyPr wrap="none" anchor="ctr"/>
          <a:lstStyle/>
          <a:p>
            <a:pPr algn="ctr" defTabSz="1219139" fontAlgn="base">
              <a:lnSpc>
                <a:spcPct val="90000"/>
              </a:lnSpc>
              <a:spcBef>
                <a:spcPct val="0"/>
              </a:spcBef>
              <a:spcAft>
                <a:spcPct val="0"/>
              </a:spcAft>
              <a:defRPr/>
            </a:pPr>
            <a:r>
              <a:rPr lang="en-US" sz="933" kern="0" dirty="0">
                <a:solidFill>
                  <a:sysClr val="windowText" lastClr="000000"/>
                </a:solidFill>
                <a:ea typeface="ＭＳ Ｐゴシック" pitchFamily="34" charset="-128"/>
                <a:cs typeface="Arial" charset="0"/>
              </a:rPr>
              <a:t>GIS</a:t>
            </a:r>
          </a:p>
        </p:txBody>
      </p:sp>
      <p:sp>
        <p:nvSpPr>
          <p:cNvPr id="132" name="AutoShape 69">
            <a:extLst>
              <a:ext uri="{FF2B5EF4-FFF2-40B4-BE49-F238E27FC236}">
                <a16:creationId xmlns:a16="http://schemas.microsoft.com/office/drawing/2014/main" id="{8D57BF35-96E0-4B53-B6C6-8A335F134B44}"/>
              </a:ext>
            </a:extLst>
          </p:cNvPr>
          <p:cNvSpPr>
            <a:spLocks noChangeArrowheads="1"/>
          </p:cNvSpPr>
          <p:nvPr/>
        </p:nvSpPr>
        <p:spPr bwMode="auto">
          <a:xfrm>
            <a:off x="10775365" y="5673257"/>
            <a:ext cx="880615" cy="544419"/>
          </a:xfrm>
          <a:prstGeom prst="can">
            <a:avLst>
              <a:gd name="adj" fmla="val 25000"/>
            </a:avLst>
          </a:prstGeom>
          <a:solidFill>
            <a:srgbClr val="C6C6C6"/>
          </a:solidFill>
          <a:ln w="9525">
            <a:noFill/>
            <a:round/>
            <a:headEnd/>
            <a:tailEnd/>
          </a:ln>
        </p:spPr>
        <p:txBody>
          <a:bodyPr wrap="none" anchor="ctr"/>
          <a:lstStyle/>
          <a:p>
            <a:pPr algn="ctr" defTabSz="1219139" fontAlgn="base">
              <a:lnSpc>
                <a:spcPct val="90000"/>
              </a:lnSpc>
              <a:spcBef>
                <a:spcPct val="0"/>
              </a:spcBef>
              <a:spcAft>
                <a:spcPct val="0"/>
              </a:spcAft>
              <a:defRPr/>
            </a:pPr>
            <a:r>
              <a:rPr lang="en-US" sz="933" kern="0" dirty="0">
                <a:solidFill>
                  <a:sysClr val="windowText" lastClr="000000"/>
                </a:solidFill>
                <a:ea typeface="ＭＳ Ｐゴシック" pitchFamily="34" charset="-128"/>
                <a:cs typeface="Arial" charset="0"/>
              </a:rPr>
              <a:t>OSCRE</a:t>
            </a:r>
          </a:p>
        </p:txBody>
      </p:sp>
      <p:sp>
        <p:nvSpPr>
          <p:cNvPr id="133" name="Text Box 59">
            <a:extLst>
              <a:ext uri="{FF2B5EF4-FFF2-40B4-BE49-F238E27FC236}">
                <a16:creationId xmlns:a16="http://schemas.microsoft.com/office/drawing/2014/main" id="{CF4BD392-C83E-44A7-8638-8381A347FAB2}"/>
              </a:ext>
            </a:extLst>
          </p:cNvPr>
          <p:cNvSpPr txBox="1">
            <a:spLocks noChangeArrowheads="1"/>
          </p:cNvSpPr>
          <p:nvPr/>
        </p:nvSpPr>
        <p:spPr bwMode="auto">
          <a:xfrm>
            <a:off x="4998478" y="5270209"/>
            <a:ext cx="474489" cy="148759"/>
          </a:xfrm>
          <a:prstGeom prst="rect">
            <a:avLst/>
          </a:prstGeom>
          <a:noFill/>
          <a:ln w="9525" algn="ctr">
            <a:noFill/>
            <a:miter lim="800000"/>
            <a:headEnd/>
            <a:tailEnd/>
          </a:ln>
        </p:spPr>
        <p:txBody>
          <a:bodyPr wrap="none" lIns="0" tIns="0" rIns="0" bIns="0">
            <a:spAutoFit/>
          </a:bodyPr>
          <a:lstStyle/>
          <a:p>
            <a:pPr algn="ctr" defTabSz="1219139" fontAlgn="base">
              <a:lnSpc>
                <a:spcPct val="90000"/>
              </a:lnSpc>
              <a:spcBef>
                <a:spcPct val="0"/>
              </a:spcBef>
              <a:spcAft>
                <a:spcPct val="0"/>
              </a:spcAft>
              <a:defRPr/>
            </a:pPr>
            <a:r>
              <a:rPr lang="en-US" sz="1067" dirty="0">
                <a:ea typeface="MS PGothic" charset="-128"/>
              </a:rPr>
              <a:t>Custom</a:t>
            </a:r>
          </a:p>
        </p:txBody>
      </p:sp>
      <p:sp>
        <p:nvSpPr>
          <p:cNvPr id="134" name="Rectangle 133">
            <a:extLst>
              <a:ext uri="{FF2B5EF4-FFF2-40B4-BE49-F238E27FC236}">
                <a16:creationId xmlns:a16="http://schemas.microsoft.com/office/drawing/2014/main" id="{39CEE2DF-22A9-4F22-82CB-DEFBC96AA819}"/>
              </a:ext>
            </a:extLst>
          </p:cNvPr>
          <p:cNvSpPr/>
          <p:nvPr/>
        </p:nvSpPr>
        <p:spPr bwMode="auto">
          <a:xfrm>
            <a:off x="1479297" y="5468384"/>
            <a:ext cx="3250788" cy="947619"/>
          </a:xfrm>
          <a:prstGeom prst="rect">
            <a:avLst/>
          </a:prstGeom>
          <a:solidFill>
            <a:srgbClr val="C6C6C6"/>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defTabSz="1219170" fontAlgn="base">
              <a:lnSpc>
                <a:spcPct val="90000"/>
              </a:lnSpc>
              <a:spcBef>
                <a:spcPct val="0"/>
              </a:spcBef>
              <a:spcAft>
                <a:spcPct val="0"/>
              </a:spcAft>
              <a:defRPr/>
            </a:pPr>
            <a:endParaRPr lang="en-US" sz="1867" dirty="0">
              <a:solidFill>
                <a:srgbClr val="FFFFFF"/>
              </a:solidFill>
            </a:endParaRPr>
          </a:p>
        </p:txBody>
      </p:sp>
      <p:grpSp>
        <p:nvGrpSpPr>
          <p:cNvPr id="191" name="Group 190">
            <a:extLst>
              <a:ext uri="{FF2B5EF4-FFF2-40B4-BE49-F238E27FC236}">
                <a16:creationId xmlns:a16="http://schemas.microsoft.com/office/drawing/2014/main" id="{1A6DFD43-3E32-4C38-B048-CC58CD2724CC}"/>
              </a:ext>
            </a:extLst>
          </p:cNvPr>
          <p:cNvGrpSpPr/>
          <p:nvPr/>
        </p:nvGrpSpPr>
        <p:grpSpPr>
          <a:xfrm>
            <a:off x="1657044" y="5522444"/>
            <a:ext cx="2895291" cy="828733"/>
            <a:chOff x="1296166" y="4004185"/>
            <a:chExt cx="2171468" cy="621550"/>
          </a:xfrm>
        </p:grpSpPr>
        <p:sp>
          <p:nvSpPr>
            <p:cNvPr id="135" name="AutoShape 70">
              <a:extLst>
                <a:ext uri="{FF2B5EF4-FFF2-40B4-BE49-F238E27FC236}">
                  <a16:creationId xmlns:a16="http://schemas.microsoft.com/office/drawing/2014/main" id="{C3FF3FA6-318B-4345-B9C5-02F38A9FFA5C}"/>
                </a:ext>
              </a:extLst>
            </p:cNvPr>
            <p:cNvSpPr>
              <a:spLocks noChangeArrowheads="1"/>
            </p:cNvSpPr>
            <p:nvPr/>
          </p:nvSpPr>
          <p:spPr bwMode="auto">
            <a:xfrm>
              <a:off x="1296166" y="4340286"/>
              <a:ext cx="660461" cy="285449"/>
            </a:xfrm>
            <a:prstGeom prst="can">
              <a:avLst>
                <a:gd name="adj" fmla="val 25000"/>
              </a:avLst>
            </a:prstGeom>
            <a:solidFill>
              <a:schemeClr val="accent5"/>
            </a:solidFill>
            <a:ln w="9525">
              <a:noFill/>
              <a:round/>
              <a:headEnd/>
              <a:tailEnd/>
            </a:ln>
          </p:spPr>
          <p:txBody>
            <a:bodyPr wrap="none" anchor="ctr"/>
            <a:lstStyle/>
            <a:p>
              <a:pPr algn="ctr" defTabSz="1219139" fontAlgn="base">
                <a:lnSpc>
                  <a:spcPct val="90000"/>
                </a:lnSpc>
                <a:spcBef>
                  <a:spcPct val="0"/>
                </a:spcBef>
                <a:spcAft>
                  <a:spcPct val="0"/>
                </a:spcAft>
                <a:defRPr/>
              </a:pPr>
              <a:r>
                <a:rPr lang="en-US" sz="933" kern="0" dirty="0">
                  <a:solidFill>
                    <a:sysClr val="windowText" lastClr="000000"/>
                  </a:solidFill>
                  <a:ea typeface="ＭＳ Ｐゴシック" pitchFamily="34" charset="-128"/>
                  <a:cs typeface="Arial" charset="0"/>
                </a:rPr>
                <a:t>MicroStation</a:t>
              </a:r>
            </a:p>
            <a:p>
              <a:pPr algn="ctr" defTabSz="1219139" fontAlgn="base">
                <a:lnSpc>
                  <a:spcPct val="90000"/>
                </a:lnSpc>
                <a:spcBef>
                  <a:spcPct val="0"/>
                </a:spcBef>
                <a:spcAft>
                  <a:spcPct val="0"/>
                </a:spcAft>
                <a:defRPr/>
              </a:pPr>
              <a:r>
                <a:rPr lang="en-US" sz="933" kern="0" dirty="0">
                  <a:solidFill>
                    <a:sysClr val="windowText" lastClr="000000"/>
                  </a:solidFill>
                  <a:ea typeface="ＭＳ Ｐゴシック" pitchFamily="34" charset="-128"/>
                  <a:cs typeface="Arial" charset="0"/>
                </a:rPr>
                <a:t>Autodesk Forge</a:t>
              </a:r>
            </a:p>
          </p:txBody>
        </p:sp>
        <p:sp>
          <p:nvSpPr>
            <p:cNvPr id="136" name="AutoShape 71">
              <a:extLst>
                <a:ext uri="{FF2B5EF4-FFF2-40B4-BE49-F238E27FC236}">
                  <a16:creationId xmlns:a16="http://schemas.microsoft.com/office/drawing/2014/main" id="{1BFBC820-DF63-45E6-A9A9-29120ABD9C1A}"/>
                </a:ext>
              </a:extLst>
            </p:cNvPr>
            <p:cNvSpPr>
              <a:spLocks noChangeArrowheads="1"/>
            </p:cNvSpPr>
            <p:nvPr/>
          </p:nvSpPr>
          <p:spPr bwMode="auto">
            <a:xfrm>
              <a:off x="2051669" y="4340286"/>
              <a:ext cx="660461" cy="285449"/>
            </a:xfrm>
            <a:prstGeom prst="can">
              <a:avLst>
                <a:gd name="adj" fmla="val 25000"/>
              </a:avLst>
            </a:prstGeom>
            <a:solidFill>
              <a:schemeClr val="accent5"/>
            </a:solidFill>
            <a:ln w="9525">
              <a:noFill/>
              <a:round/>
              <a:headEnd/>
              <a:tailEnd/>
            </a:ln>
          </p:spPr>
          <p:txBody>
            <a:bodyPr wrap="none" anchor="ctr"/>
            <a:lstStyle/>
            <a:p>
              <a:pPr algn="ctr" defTabSz="1219139" fontAlgn="base">
                <a:lnSpc>
                  <a:spcPct val="90000"/>
                </a:lnSpc>
                <a:spcBef>
                  <a:spcPct val="0"/>
                </a:spcBef>
                <a:spcAft>
                  <a:spcPct val="0"/>
                </a:spcAft>
                <a:defRPr/>
              </a:pPr>
              <a:r>
                <a:rPr lang="en-US" sz="933" kern="0" dirty="0">
                  <a:solidFill>
                    <a:sysClr val="windowText" lastClr="000000"/>
                  </a:solidFill>
                  <a:ea typeface="ＭＳ Ｐゴシック" pitchFamily="34" charset="-128"/>
                  <a:cs typeface="Arial" charset="0"/>
                </a:rPr>
                <a:t>Excel</a:t>
              </a:r>
            </a:p>
            <a:p>
              <a:pPr algn="ctr" defTabSz="1219139" fontAlgn="base">
                <a:lnSpc>
                  <a:spcPct val="90000"/>
                </a:lnSpc>
                <a:spcBef>
                  <a:spcPct val="0"/>
                </a:spcBef>
                <a:spcAft>
                  <a:spcPct val="0"/>
                </a:spcAft>
                <a:defRPr/>
              </a:pPr>
              <a:r>
                <a:rPr lang="en-US" sz="933" kern="0" dirty="0">
                  <a:solidFill>
                    <a:sysClr val="windowText" lastClr="000000"/>
                  </a:solidFill>
                  <a:ea typeface="ＭＳ Ｐゴシック" pitchFamily="34" charset="-128"/>
                  <a:cs typeface="Arial" charset="0"/>
                </a:rPr>
                <a:t>Project</a:t>
              </a:r>
            </a:p>
          </p:txBody>
        </p:sp>
        <p:sp>
          <p:nvSpPr>
            <p:cNvPr id="137" name="AutoShape 72">
              <a:extLst>
                <a:ext uri="{FF2B5EF4-FFF2-40B4-BE49-F238E27FC236}">
                  <a16:creationId xmlns:a16="http://schemas.microsoft.com/office/drawing/2014/main" id="{05C80FB3-4AE7-4DC4-A8D1-26D62644B3E1}"/>
                </a:ext>
              </a:extLst>
            </p:cNvPr>
            <p:cNvSpPr>
              <a:spLocks noChangeArrowheads="1"/>
            </p:cNvSpPr>
            <p:nvPr/>
          </p:nvSpPr>
          <p:spPr bwMode="auto">
            <a:xfrm>
              <a:off x="1296166" y="4005626"/>
              <a:ext cx="660461" cy="285449"/>
            </a:xfrm>
            <a:prstGeom prst="can">
              <a:avLst>
                <a:gd name="adj" fmla="val 25000"/>
              </a:avLst>
            </a:prstGeom>
            <a:solidFill>
              <a:schemeClr val="accent5"/>
            </a:solidFill>
            <a:ln w="9525">
              <a:noFill/>
              <a:round/>
              <a:headEnd/>
              <a:tailEnd/>
            </a:ln>
          </p:spPr>
          <p:txBody>
            <a:bodyPr wrap="none" anchor="ctr"/>
            <a:lstStyle/>
            <a:p>
              <a:pPr algn="ctr" defTabSz="1219139" fontAlgn="base">
                <a:lnSpc>
                  <a:spcPct val="90000"/>
                </a:lnSpc>
                <a:spcBef>
                  <a:spcPct val="0"/>
                </a:spcBef>
                <a:spcAft>
                  <a:spcPct val="0"/>
                </a:spcAft>
                <a:defRPr/>
              </a:pPr>
              <a:r>
                <a:rPr lang="en-US" sz="933" kern="0" dirty="0">
                  <a:solidFill>
                    <a:sysClr val="windowText" lastClr="000000"/>
                  </a:solidFill>
                  <a:ea typeface="ＭＳ Ｐゴシック" pitchFamily="34" charset="-128"/>
                  <a:cs typeface="Arial" charset="0"/>
                </a:rPr>
                <a:t>AutoCAD</a:t>
              </a:r>
            </a:p>
            <a:p>
              <a:pPr algn="ctr" defTabSz="1219139" fontAlgn="base">
                <a:lnSpc>
                  <a:spcPct val="90000"/>
                </a:lnSpc>
                <a:spcBef>
                  <a:spcPct val="0"/>
                </a:spcBef>
                <a:spcAft>
                  <a:spcPct val="0"/>
                </a:spcAft>
                <a:defRPr/>
              </a:pPr>
              <a:r>
                <a:rPr lang="en-US" sz="933" kern="0" dirty="0">
                  <a:solidFill>
                    <a:sysClr val="windowText" lastClr="000000"/>
                  </a:solidFill>
                  <a:ea typeface="ＭＳ Ｐゴシック" pitchFamily="34" charset="-128"/>
                  <a:cs typeface="Arial" charset="0"/>
                </a:rPr>
                <a:t>Revit (BIM)</a:t>
              </a:r>
            </a:p>
          </p:txBody>
        </p:sp>
        <p:sp>
          <p:nvSpPr>
            <p:cNvPr id="138" name="AutoShape 72">
              <a:extLst>
                <a:ext uri="{FF2B5EF4-FFF2-40B4-BE49-F238E27FC236}">
                  <a16:creationId xmlns:a16="http://schemas.microsoft.com/office/drawing/2014/main" id="{E83D6B95-5B8D-4034-AD33-279105B7449E}"/>
                </a:ext>
              </a:extLst>
            </p:cNvPr>
            <p:cNvSpPr>
              <a:spLocks noChangeArrowheads="1"/>
            </p:cNvSpPr>
            <p:nvPr/>
          </p:nvSpPr>
          <p:spPr bwMode="auto">
            <a:xfrm>
              <a:off x="2051669" y="4005628"/>
              <a:ext cx="660461" cy="285448"/>
            </a:xfrm>
            <a:prstGeom prst="can">
              <a:avLst>
                <a:gd name="adj" fmla="val 25000"/>
              </a:avLst>
            </a:prstGeom>
            <a:solidFill>
              <a:schemeClr val="accent5"/>
            </a:solidFill>
            <a:ln w="9525">
              <a:noFill/>
              <a:round/>
              <a:headEnd/>
              <a:tailEnd/>
            </a:ln>
          </p:spPr>
          <p:txBody>
            <a:bodyPr wrap="none" anchor="ctr"/>
            <a:lstStyle/>
            <a:p>
              <a:pPr algn="ctr" defTabSz="1219139" fontAlgn="base">
                <a:lnSpc>
                  <a:spcPct val="90000"/>
                </a:lnSpc>
                <a:spcBef>
                  <a:spcPct val="0"/>
                </a:spcBef>
                <a:spcAft>
                  <a:spcPct val="0"/>
                </a:spcAft>
                <a:defRPr/>
              </a:pPr>
              <a:r>
                <a:rPr lang="en-US" sz="933" kern="0" dirty="0">
                  <a:solidFill>
                    <a:sysClr val="windowText" lastClr="000000"/>
                  </a:solidFill>
                  <a:ea typeface="ＭＳ Ｐゴシック" pitchFamily="34" charset="-128"/>
                  <a:cs typeface="Arial" charset="0"/>
                </a:rPr>
                <a:t>Exchange</a:t>
              </a:r>
            </a:p>
            <a:p>
              <a:pPr algn="ctr" defTabSz="1219139" fontAlgn="base">
                <a:lnSpc>
                  <a:spcPct val="90000"/>
                </a:lnSpc>
                <a:spcBef>
                  <a:spcPct val="0"/>
                </a:spcBef>
                <a:spcAft>
                  <a:spcPct val="0"/>
                </a:spcAft>
                <a:defRPr/>
              </a:pPr>
              <a:r>
                <a:rPr lang="en-US" sz="933" kern="0" dirty="0">
                  <a:solidFill>
                    <a:sysClr val="windowText" lastClr="000000"/>
                  </a:solidFill>
                  <a:ea typeface="ＭＳ Ｐゴシック" pitchFamily="34" charset="-128"/>
                  <a:cs typeface="Arial" charset="0"/>
                </a:rPr>
                <a:t>Outlook</a:t>
              </a:r>
            </a:p>
          </p:txBody>
        </p:sp>
        <p:sp>
          <p:nvSpPr>
            <p:cNvPr id="139" name="AutoShape 71">
              <a:extLst>
                <a:ext uri="{FF2B5EF4-FFF2-40B4-BE49-F238E27FC236}">
                  <a16:creationId xmlns:a16="http://schemas.microsoft.com/office/drawing/2014/main" id="{EB871A87-1274-4617-9194-0828A5D0211C}"/>
                </a:ext>
              </a:extLst>
            </p:cNvPr>
            <p:cNvSpPr>
              <a:spLocks noChangeArrowheads="1"/>
            </p:cNvSpPr>
            <p:nvPr/>
          </p:nvSpPr>
          <p:spPr bwMode="auto">
            <a:xfrm>
              <a:off x="2807173" y="4338843"/>
              <a:ext cx="660461" cy="285449"/>
            </a:xfrm>
            <a:prstGeom prst="can">
              <a:avLst>
                <a:gd name="adj" fmla="val 25000"/>
              </a:avLst>
            </a:prstGeom>
            <a:solidFill>
              <a:schemeClr val="accent5"/>
            </a:solidFill>
            <a:ln w="9525">
              <a:noFill/>
              <a:round/>
              <a:headEnd/>
              <a:tailEnd/>
            </a:ln>
          </p:spPr>
          <p:txBody>
            <a:bodyPr wrap="none" anchor="ctr"/>
            <a:lstStyle/>
            <a:p>
              <a:pPr algn="ctr" defTabSz="1219139" fontAlgn="base">
                <a:lnSpc>
                  <a:spcPct val="90000"/>
                </a:lnSpc>
                <a:spcBef>
                  <a:spcPct val="0"/>
                </a:spcBef>
                <a:spcAft>
                  <a:spcPct val="0"/>
                </a:spcAft>
                <a:defRPr/>
              </a:pPr>
              <a:r>
                <a:rPr lang="en-US" sz="933" kern="0" dirty="0">
                  <a:solidFill>
                    <a:sysClr val="windowText" lastClr="000000"/>
                  </a:solidFill>
                  <a:ea typeface="ＭＳ Ｐゴシック" pitchFamily="34" charset="-128"/>
                  <a:cs typeface="Arial" charset="0"/>
                </a:rPr>
                <a:t>Esri Apple </a:t>
              </a:r>
              <a:br>
                <a:rPr lang="en-US" sz="933" kern="0" dirty="0">
                  <a:solidFill>
                    <a:sysClr val="windowText" lastClr="000000"/>
                  </a:solidFill>
                  <a:ea typeface="ＭＳ Ｐゴシック" pitchFamily="34" charset="-128"/>
                  <a:cs typeface="Arial" charset="0"/>
                </a:rPr>
              </a:br>
              <a:r>
                <a:rPr lang="en-US" sz="933" kern="0" dirty="0">
                  <a:solidFill>
                    <a:sysClr val="windowText" lastClr="000000"/>
                  </a:solidFill>
                  <a:ea typeface="ＭＳ Ｐゴシック" pitchFamily="34" charset="-128"/>
                  <a:cs typeface="Arial" charset="0"/>
                </a:rPr>
                <a:t>Indoor Maps</a:t>
              </a:r>
            </a:p>
          </p:txBody>
        </p:sp>
        <p:sp>
          <p:nvSpPr>
            <p:cNvPr id="140" name="AutoShape 72">
              <a:extLst>
                <a:ext uri="{FF2B5EF4-FFF2-40B4-BE49-F238E27FC236}">
                  <a16:creationId xmlns:a16="http://schemas.microsoft.com/office/drawing/2014/main" id="{B3C650EC-EF2A-4CE6-9221-0909CE30C885}"/>
                </a:ext>
              </a:extLst>
            </p:cNvPr>
            <p:cNvSpPr>
              <a:spLocks noChangeArrowheads="1"/>
            </p:cNvSpPr>
            <p:nvPr/>
          </p:nvSpPr>
          <p:spPr bwMode="auto">
            <a:xfrm>
              <a:off x="2807173" y="4004185"/>
              <a:ext cx="660461" cy="285448"/>
            </a:xfrm>
            <a:prstGeom prst="can">
              <a:avLst>
                <a:gd name="adj" fmla="val 25000"/>
              </a:avLst>
            </a:prstGeom>
            <a:solidFill>
              <a:schemeClr val="accent5"/>
            </a:solidFill>
            <a:ln w="9525">
              <a:noFill/>
              <a:round/>
              <a:headEnd/>
              <a:tailEnd/>
            </a:ln>
          </p:spPr>
          <p:txBody>
            <a:bodyPr wrap="none" anchor="ctr"/>
            <a:lstStyle/>
            <a:p>
              <a:pPr algn="ctr" defTabSz="1219139" fontAlgn="base">
                <a:lnSpc>
                  <a:spcPct val="90000"/>
                </a:lnSpc>
                <a:spcBef>
                  <a:spcPct val="0"/>
                </a:spcBef>
                <a:spcAft>
                  <a:spcPct val="0"/>
                </a:spcAft>
                <a:defRPr/>
              </a:pPr>
              <a:r>
                <a:rPr lang="en-US" sz="933" kern="0" dirty="0">
                  <a:solidFill>
                    <a:sysClr val="windowText" lastClr="000000"/>
                  </a:solidFill>
                  <a:ea typeface="ＭＳ Ｐゴシック" pitchFamily="34" charset="-128"/>
                  <a:cs typeface="Arial" charset="0"/>
                </a:rPr>
                <a:t>Cisco</a:t>
              </a:r>
            </a:p>
            <a:p>
              <a:pPr algn="ctr" defTabSz="1219139" fontAlgn="base">
                <a:lnSpc>
                  <a:spcPct val="90000"/>
                </a:lnSpc>
                <a:spcBef>
                  <a:spcPct val="0"/>
                </a:spcBef>
                <a:spcAft>
                  <a:spcPct val="0"/>
                </a:spcAft>
                <a:defRPr/>
              </a:pPr>
              <a:r>
                <a:rPr lang="en-US" sz="933" kern="0" dirty="0">
                  <a:solidFill>
                    <a:sysClr val="windowText" lastClr="000000"/>
                  </a:solidFill>
                  <a:ea typeface="ＭＳ Ｐゴシック" pitchFamily="34" charset="-128"/>
                  <a:cs typeface="Arial" charset="0"/>
                </a:rPr>
                <a:t>ENERGY STAR</a:t>
              </a:r>
            </a:p>
          </p:txBody>
        </p:sp>
      </p:grpSp>
      <p:sp>
        <p:nvSpPr>
          <p:cNvPr id="141" name="Text Box 59">
            <a:extLst>
              <a:ext uri="{FF2B5EF4-FFF2-40B4-BE49-F238E27FC236}">
                <a16:creationId xmlns:a16="http://schemas.microsoft.com/office/drawing/2014/main" id="{3A954173-D6F9-4451-9A21-1FD3425DA404}"/>
              </a:ext>
            </a:extLst>
          </p:cNvPr>
          <p:cNvSpPr txBox="1">
            <a:spLocks noChangeArrowheads="1"/>
          </p:cNvSpPr>
          <p:nvPr/>
        </p:nvSpPr>
        <p:spPr bwMode="auto">
          <a:xfrm>
            <a:off x="1645844" y="5270209"/>
            <a:ext cx="944169" cy="148759"/>
          </a:xfrm>
          <a:prstGeom prst="rect">
            <a:avLst/>
          </a:prstGeom>
          <a:noFill/>
          <a:ln w="9525" algn="ctr">
            <a:noFill/>
            <a:miter lim="800000"/>
            <a:headEnd/>
            <a:tailEnd/>
          </a:ln>
        </p:spPr>
        <p:txBody>
          <a:bodyPr wrap="none" lIns="0" tIns="0" rIns="0" bIns="0">
            <a:spAutoFit/>
          </a:bodyPr>
          <a:lstStyle/>
          <a:p>
            <a:pPr algn="ctr" defTabSz="1219139" fontAlgn="base">
              <a:lnSpc>
                <a:spcPct val="90000"/>
              </a:lnSpc>
              <a:spcBef>
                <a:spcPct val="0"/>
              </a:spcBef>
              <a:spcAft>
                <a:spcPct val="0"/>
              </a:spcAft>
              <a:defRPr/>
            </a:pPr>
            <a:r>
              <a:rPr lang="en-US" sz="1067" dirty="0">
                <a:ea typeface="MS PGothic" charset="-128"/>
              </a:rPr>
              <a:t>OOB Connector</a:t>
            </a:r>
          </a:p>
        </p:txBody>
      </p:sp>
      <p:cxnSp>
        <p:nvCxnSpPr>
          <p:cNvPr id="143" name="Straight Connector 142">
            <a:extLst>
              <a:ext uri="{FF2B5EF4-FFF2-40B4-BE49-F238E27FC236}">
                <a16:creationId xmlns:a16="http://schemas.microsoft.com/office/drawing/2014/main" id="{E15146A5-C1E3-49C1-A909-C34D6B9D6FA8}"/>
              </a:ext>
            </a:extLst>
          </p:cNvPr>
          <p:cNvCxnSpPr>
            <a:cxnSpLocks/>
          </p:cNvCxnSpPr>
          <p:nvPr/>
        </p:nvCxnSpPr>
        <p:spPr bwMode="auto">
          <a:xfrm>
            <a:off x="1347812" y="5460187"/>
            <a:ext cx="0" cy="950567"/>
          </a:xfrm>
          <a:prstGeom prst="line">
            <a:avLst/>
          </a:prstGeom>
          <a:ln w="952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44" name="Rectangle 143">
            <a:extLst>
              <a:ext uri="{FF2B5EF4-FFF2-40B4-BE49-F238E27FC236}">
                <a16:creationId xmlns:a16="http://schemas.microsoft.com/office/drawing/2014/main" id="{BD008B1F-1A6A-4BE9-97B1-DF212DA76185}"/>
              </a:ext>
            </a:extLst>
          </p:cNvPr>
          <p:cNvSpPr/>
          <p:nvPr/>
        </p:nvSpPr>
        <p:spPr bwMode="auto">
          <a:xfrm>
            <a:off x="1479296" y="3261836"/>
            <a:ext cx="10403837" cy="852888"/>
          </a:xfrm>
          <a:prstGeom prst="rect">
            <a:avLst/>
          </a:prstGeom>
          <a:solidFill>
            <a:schemeClr val="bg2"/>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defTabSz="914621">
              <a:defRPr/>
            </a:pPr>
            <a:endParaRPr lang="en-US" sz="1467" dirty="0">
              <a:solidFill>
                <a:srgbClr val="000000"/>
              </a:solidFill>
              <a:ea typeface="IBM Plex Sans" charset="0"/>
              <a:cs typeface="Arial" panose="020B0604020202020204" pitchFamily="34" charset="0"/>
            </a:endParaRPr>
          </a:p>
        </p:txBody>
      </p:sp>
      <p:sp>
        <p:nvSpPr>
          <p:cNvPr id="145" name="Text Box 23">
            <a:extLst>
              <a:ext uri="{FF2B5EF4-FFF2-40B4-BE49-F238E27FC236}">
                <a16:creationId xmlns:a16="http://schemas.microsoft.com/office/drawing/2014/main" id="{B96E139B-3A4C-4377-814A-D5B94ACE87FB}"/>
              </a:ext>
            </a:extLst>
          </p:cNvPr>
          <p:cNvSpPr txBox="1">
            <a:spLocks noChangeArrowheads="1"/>
          </p:cNvSpPr>
          <p:nvPr/>
        </p:nvSpPr>
        <p:spPr bwMode="auto">
          <a:xfrm>
            <a:off x="2440011" y="3349095"/>
            <a:ext cx="8482411" cy="205121"/>
          </a:xfrm>
          <a:prstGeom prst="rect">
            <a:avLst/>
          </a:prstGeom>
          <a:noFill/>
          <a:ln w="9525">
            <a:noFill/>
            <a:miter lim="800000"/>
            <a:headEnd/>
            <a:tailEnd/>
          </a:ln>
        </p:spPr>
        <p:txBody>
          <a:bodyPr wrap="square" lIns="0" tIns="0" rIns="0" bIns="0">
            <a:spAutoFit/>
          </a:bodyPr>
          <a:lstStyle/>
          <a:p>
            <a:pPr algn="ctr" defTabSz="1219139" fontAlgn="base">
              <a:spcBef>
                <a:spcPts val="1600"/>
              </a:spcBef>
              <a:spcAft>
                <a:spcPct val="0"/>
              </a:spcAft>
              <a:buClr>
                <a:srgbClr val="000000"/>
              </a:buClr>
              <a:buSzPct val="90000"/>
              <a:defRPr/>
            </a:pPr>
            <a:r>
              <a:rPr lang="en-US" sz="1333" dirty="0"/>
              <a:t>IBM TRIRIGA Interoperability</a:t>
            </a:r>
          </a:p>
        </p:txBody>
      </p:sp>
      <p:sp>
        <p:nvSpPr>
          <p:cNvPr id="146" name="Text Box 59">
            <a:extLst>
              <a:ext uri="{FF2B5EF4-FFF2-40B4-BE49-F238E27FC236}">
                <a16:creationId xmlns:a16="http://schemas.microsoft.com/office/drawing/2014/main" id="{C618BCAF-3D3C-4DF8-AD62-80A69D7A5533}"/>
              </a:ext>
            </a:extLst>
          </p:cNvPr>
          <p:cNvSpPr txBox="1">
            <a:spLocks noChangeArrowheads="1"/>
          </p:cNvSpPr>
          <p:nvPr/>
        </p:nvSpPr>
        <p:spPr bwMode="auto">
          <a:xfrm>
            <a:off x="3687310" y="4247432"/>
            <a:ext cx="1013098" cy="296556"/>
          </a:xfrm>
          <a:prstGeom prst="rect">
            <a:avLst/>
          </a:prstGeom>
          <a:noFill/>
          <a:ln w="9525" algn="ctr">
            <a:noFill/>
            <a:miter lim="800000"/>
            <a:headEnd/>
            <a:tailEnd/>
          </a:ln>
        </p:spPr>
        <p:txBody>
          <a:bodyPr wrap="none" lIns="0" tIns="0" rIns="0" bIns="0">
            <a:spAutoFit/>
          </a:bodyPr>
          <a:lstStyle/>
          <a:p>
            <a:pPr defTabSz="1219139" fontAlgn="base">
              <a:lnSpc>
                <a:spcPct val="90000"/>
              </a:lnSpc>
              <a:spcBef>
                <a:spcPct val="0"/>
              </a:spcBef>
              <a:spcAft>
                <a:spcPct val="0"/>
              </a:spcAft>
              <a:defRPr/>
            </a:pPr>
            <a:r>
              <a:rPr lang="en-US" sz="1067" dirty="0">
                <a:ea typeface="MS PGothic" charset="-128"/>
              </a:rPr>
              <a:t>SOAP XML Based</a:t>
            </a:r>
          </a:p>
          <a:p>
            <a:pPr defTabSz="1219139" fontAlgn="base">
              <a:lnSpc>
                <a:spcPct val="90000"/>
              </a:lnSpc>
              <a:spcBef>
                <a:spcPct val="0"/>
              </a:spcBef>
              <a:spcAft>
                <a:spcPct val="0"/>
              </a:spcAft>
              <a:defRPr/>
            </a:pPr>
            <a:r>
              <a:rPr lang="en-US" altLang="en-US" sz="1067" dirty="0">
                <a:ea typeface="MS PGothic" charset="-128"/>
              </a:rPr>
              <a:t>Java Based</a:t>
            </a:r>
          </a:p>
        </p:txBody>
      </p:sp>
      <p:sp>
        <p:nvSpPr>
          <p:cNvPr id="147" name="Text Box 62">
            <a:extLst>
              <a:ext uri="{FF2B5EF4-FFF2-40B4-BE49-F238E27FC236}">
                <a16:creationId xmlns:a16="http://schemas.microsoft.com/office/drawing/2014/main" id="{B1515BBE-D1DC-47B8-9E3B-9E4B64453647}"/>
              </a:ext>
            </a:extLst>
          </p:cNvPr>
          <p:cNvSpPr txBox="1">
            <a:spLocks noChangeArrowheads="1"/>
          </p:cNvSpPr>
          <p:nvPr/>
        </p:nvSpPr>
        <p:spPr bwMode="auto">
          <a:xfrm>
            <a:off x="3172689" y="3624196"/>
            <a:ext cx="1467508" cy="388889"/>
          </a:xfrm>
          <a:prstGeom prst="rect">
            <a:avLst/>
          </a:prstGeom>
          <a:solidFill>
            <a:srgbClr val="1192E8"/>
          </a:solidFill>
          <a:ln w="9525" algn="ctr">
            <a:noFill/>
            <a:miter lim="800000"/>
            <a:headEnd/>
            <a:tailEnd/>
          </a:ln>
        </p:spPr>
        <p:txBody>
          <a:bodyPr wrap="square" anchor="ctr" anchorCtr="0">
            <a:spAutoFit/>
          </a:bodyPr>
          <a:lstStyle/>
          <a:p>
            <a:pPr algn="ctr" defTabSz="1219139" fontAlgn="base">
              <a:lnSpc>
                <a:spcPct val="90000"/>
              </a:lnSpc>
              <a:spcBef>
                <a:spcPct val="0"/>
              </a:spcBef>
              <a:spcAft>
                <a:spcPct val="0"/>
              </a:spcAft>
              <a:defRPr/>
            </a:pPr>
            <a:r>
              <a:rPr lang="en-US" sz="1067" dirty="0">
                <a:solidFill>
                  <a:schemeClr val="bg1"/>
                </a:solidFill>
                <a:ea typeface="MS PGothic" charset="-128"/>
              </a:rPr>
              <a:t>CBA; ClassLoader; Servlet Proxy</a:t>
            </a:r>
          </a:p>
        </p:txBody>
      </p:sp>
      <p:sp>
        <p:nvSpPr>
          <p:cNvPr id="148" name="Text Box 79">
            <a:extLst>
              <a:ext uri="{FF2B5EF4-FFF2-40B4-BE49-F238E27FC236}">
                <a16:creationId xmlns:a16="http://schemas.microsoft.com/office/drawing/2014/main" id="{A935835D-16ED-448C-B284-229BFED89D56}"/>
              </a:ext>
            </a:extLst>
          </p:cNvPr>
          <p:cNvSpPr txBox="1">
            <a:spLocks noChangeArrowheads="1"/>
          </p:cNvSpPr>
          <p:nvPr/>
        </p:nvSpPr>
        <p:spPr bwMode="auto">
          <a:xfrm>
            <a:off x="9390260" y="4247432"/>
            <a:ext cx="370294" cy="296556"/>
          </a:xfrm>
          <a:prstGeom prst="rect">
            <a:avLst/>
          </a:prstGeom>
          <a:noFill/>
          <a:ln w="9525" algn="ctr">
            <a:noFill/>
            <a:miter lim="800000"/>
            <a:headEnd/>
            <a:tailEnd/>
          </a:ln>
        </p:spPr>
        <p:txBody>
          <a:bodyPr wrap="none" lIns="0" tIns="0" rIns="0" bIns="0">
            <a:spAutoFit/>
          </a:bodyPr>
          <a:lstStyle/>
          <a:p>
            <a:pPr defTabSz="1219139" fontAlgn="base">
              <a:lnSpc>
                <a:spcPct val="90000"/>
              </a:lnSpc>
              <a:spcBef>
                <a:spcPct val="0"/>
              </a:spcBef>
              <a:spcAft>
                <a:spcPct val="0"/>
              </a:spcAft>
              <a:defRPr/>
            </a:pPr>
            <a:r>
              <a:rPr lang="en-US" sz="1067" dirty="0">
                <a:ea typeface="MS PGothic" charset="-128"/>
              </a:rPr>
              <a:t>Excel </a:t>
            </a:r>
          </a:p>
          <a:p>
            <a:pPr defTabSz="1219139" fontAlgn="base">
              <a:lnSpc>
                <a:spcPct val="90000"/>
              </a:lnSpc>
              <a:spcBef>
                <a:spcPct val="0"/>
              </a:spcBef>
              <a:spcAft>
                <a:spcPct val="0"/>
              </a:spcAft>
              <a:defRPr/>
            </a:pPr>
            <a:r>
              <a:rPr lang="en-US" sz="1067" dirty="0">
                <a:ea typeface="MS PGothic" charset="-128"/>
              </a:rPr>
              <a:t>Based</a:t>
            </a:r>
          </a:p>
        </p:txBody>
      </p:sp>
      <p:sp>
        <p:nvSpPr>
          <p:cNvPr id="149" name="Text Box 82">
            <a:extLst>
              <a:ext uri="{FF2B5EF4-FFF2-40B4-BE49-F238E27FC236}">
                <a16:creationId xmlns:a16="http://schemas.microsoft.com/office/drawing/2014/main" id="{28B5266F-B132-4FE3-BDF1-DA587D8F2112}"/>
              </a:ext>
            </a:extLst>
          </p:cNvPr>
          <p:cNvSpPr txBox="1">
            <a:spLocks noChangeArrowheads="1"/>
          </p:cNvSpPr>
          <p:nvPr/>
        </p:nvSpPr>
        <p:spPr bwMode="auto">
          <a:xfrm>
            <a:off x="8883717" y="3624196"/>
            <a:ext cx="1156529" cy="388889"/>
          </a:xfrm>
          <a:prstGeom prst="rect">
            <a:avLst/>
          </a:prstGeom>
          <a:solidFill>
            <a:schemeClr val="tx1"/>
          </a:solidFill>
          <a:ln w="9525" algn="ctr">
            <a:noFill/>
            <a:miter lim="800000"/>
            <a:headEnd/>
            <a:tailEnd/>
          </a:ln>
        </p:spPr>
        <p:txBody>
          <a:bodyPr wrap="square" anchor="ctr" anchorCtr="0">
            <a:spAutoFit/>
          </a:bodyPr>
          <a:lstStyle/>
          <a:p>
            <a:pPr algn="ctr" defTabSz="1219139" fontAlgn="base">
              <a:lnSpc>
                <a:spcPct val="90000"/>
              </a:lnSpc>
              <a:spcBef>
                <a:spcPct val="0"/>
              </a:spcBef>
              <a:spcAft>
                <a:spcPct val="0"/>
              </a:spcAft>
              <a:defRPr/>
            </a:pPr>
            <a:r>
              <a:rPr lang="en-US" sz="1067" dirty="0">
                <a:solidFill>
                  <a:schemeClr val="bg1"/>
                </a:solidFill>
                <a:ea typeface="MS PGothic" charset="-128"/>
              </a:rPr>
              <a:t>IBM TRIRIGA </a:t>
            </a:r>
          </a:p>
          <a:p>
            <a:pPr algn="ctr" defTabSz="1219139" fontAlgn="base">
              <a:lnSpc>
                <a:spcPct val="90000"/>
              </a:lnSpc>
              <a:spcBef>
                <a:spcPct val="0"/>
              </a:spcBef>
              <a:spcAft>
                <a:spcPct val="0"/>
              </a:spcAft>
              <a:defRPr/>
            </a:pPr>
            <a:r>
              <a:rPr lang="en-US" sz="1067" dirty="0">
                <a:solidFill>
                  <a:schemeClr val="bg1"/>
                </a:solidFill>
                <a:ea typeface="MS PGothic" charset="-128"/>
              </a:rPr>
              <a:t>Offline</a:t>
            </a:r>
          </a:p>
        </p:txBody>
      </p:sp>
      <p:sp>
        <p:nvSpPr>
          <p:cNvPr id="151" name="Text Box 91">
            <a:extLst>
              <a:ext uri="{FF2B5EF4-FFF2-40B4-BE49-F238E27FC236}">
                <a16:creationId xmlns:a16="http://schemas.microsoft.com/office/drawing/2014/main" id="{0614E470-5DD1-4C19-BAA5-47E7E81463EA}"/>
              </a:ext>
            </a:extLst>
          </p:cNvPr>
          <p:cNvSpPr txBox="1">
            <a:spLocks noChangeArrowheads="1"/>
          </p:cNvSpPr>
          <p:nvPr/>
        </p:nvSpPr>
        <p:spPr bwMode="auto">
          <a:xfrm>
            <a:off x="10246667" y="3623718"/>
            <a:ext cx="1425400" cy="388889"/>
          </a:xfrm>
          <a:prstGeom prst="rect">
            <a:avLst/>
          </a:prstGeom>
          <a:solidFill>
            <a:srgbClr val="A8A8A8"/>
          </a:solidFill>
          <a:ln w="9525" algn="ctr">
            <a:noFill/>
            <a:miter lim="800000"/>
            <a:headEnd/>
            <a:tailEnd/>
          </a:ln>
        </p:spPr>
        <p:txBody>
          <a:bodyPr wrap="square" anchor="ctr" anchorCtr="0">
            <a:spAutoFit/>
          </a:bodyPr>
          <a:lstStyle/>
          <a:p>
            <a:pPr algn="ctr" defTabSz="1219139" fontAlgn="base">
              <a:lnSpc>
                <a:spcPct val="90000"/>
              </a:lnSpc>
              <a:spcBef>
                <a:spcPct val="0"/>
              </a:spcBef>
              <a:spcAft>
                <a:spcPct val="0"/>
              </a:spcAft>
              <a:defRPr/>
            </a:pPr>
            <a:r>
              <a:rPr lang="en-US" sz="1067" dirty="0">
                <a:solidFill>
                  <a:schemeClr val="bg1"/>
                </a:solidFill>
                <a:ea typeface="MS PGothic" charset="-128"/>
              </a:rPr>
              <a:t>IBM TRIRIGA Data Integrator</a:t>
            </a:r>
          </a:p>
        </p:txBody>
      </p:sp>
      <p:sp>
        <p:nvSpPr>
          <p:cNvPr id="153" name="Text Box 62">
            <a:extLst>
              <a:ext uri="{FF2B5EF4-FFF2-40B4-BE49-F238E27FC236}">
                <a16:creationId xmlns:a16="http://schemas.microsoft.com/office/drawing/2014/main" id="{64C4F45E-E375-4B87-AA3B-4F69591C9B15}"/>
              </a:ext>
            </a:extLst>
          </p:cNvPr>
          <p:cNvSpPr txBox="1">
            <a:spLocks noChangeArrowheads="1"/>
          </p:cNvSpPr>
          <p:nvPr/>
        </p:nvSpPr>
        <p:spPr bwMode="auto">
          <a:xfrm>
            <a:off x="7387846" y="3623718"/>
            <a:ext cx="1289453" cy="388889"/>
          </a:xfrm>
          <a:prstGeom prst="rect">
            <a:avLst/>
          </a:prstGeom>
          <a:solidFill>
            <a:srgbClr val="A56EFF"/>
          </a:solidFill>
          <a:ln w="9525" algn="ctr">
            <a:noFill/>
            <a:miter lim="800000"/>
            <a:headEnd/>
            <a:tailEnd/>
          </a:ln>
        </p:spPr>
        <p:txBody>
          <a:bodyPr wrap="square" anchor="ctr" anchorCtr="0">
            <a:spAutoFit/>
          </a:bodyPr>
          <a:lstStyle/>
          <a:p>
            <a:pPr algn="ctr" defTabSz="1219139" fontAlgn="base">
              <a:lnSpc>
                <a:spcPct val="90000"/>
              </a:lnSpc>
              <a:spcBef>
                <a:spcPct val="0"/>
              </a:spcBef>
              <a:spcAft>
                <a:spcPct val="0"/>
              </a:spcAft>
              <a:defRPr/>
            </a:pPr>
            <a:r>
              <a:rPr lang="en-US" sz="1067" dirty="0">
                <a:solidFill>
                  <a:schemeClr val="bg1"/>
                </a:solidFill>
                <a:ea typeface="MS PGothic" charset="-128"/>
              </a:rPr>
              <a:t>IBM TRIRIGA DataConnect</a:t>
            </a:r>
          </a:p>
        </p:txBody>
      </p:sp>
      <p:sp>
        <p:nvSpPr>
          <p:cNvPr id="154" name="Text Box 59">
            <a:extLst>
              <a:ext uri="{FF2B5EF4-FFF2-40B4-BE49-F238E27FC236}">
                <a16:creationId xmlns:a16="http://schemas.microsoft.com/office/drawing/2014/main" id="{0F40A476-21D0-4A74-A7AF-3D27B9735780}"/>
              </a:ext>
            </a:extLst>
          </p:cNvPr>
          <p:cNvSpPr txBox="1">
            <a:spLocks noChangeArrowheads="1"/>
          </p:cNvSpPr>
          <p:nvPr/>
        </p:nvSpPr>
        <p:spPr bwMode="auto">
          <a:xfrm>
            <a:off x="2242197" y="4247432"/>
            <a:ext cx="531331" cy="296556"/>
          </a:xfrm>
          <a:prstGeom prst="rect">
            <a:avLst/>
          </a:prstGeom>
          <a:noFill/>
          <a:ln w="9525" algn="ctr">
            <a:noFill/>
            <a:miter lim="800000"/>
            <a:headEnd/>
            <a:tailEnd/>
          </a:ln>
        </p:spPr>
        <p:txBody>
          <a:bodyPr wrap="square" lIns="0" tIns="0" rIns="0" bIns="0">
            <a:spAutoFit/>
          </a:bodyPr>
          <a:lstStyle/>
          <a:p>
            <a:pPr defTabSz="1219139" fontAlgn="base">
              <a:lnSpc>
                <a:spcPct val="90000"/>
              </a:lnSpc>
              <a:spcBef>
                <a:spcPct val="0"/>
              </a:spcBef>
              <a:spcAft>
                <a:spcPct val="0"/>
              </a:spcAft>
              <a:defRPr/>
            </a:pPr>
            <a:r>
              <a:rPr lang="en-US" sz="1067" dirty="0">
                <a:ea typeface="MS PGothic" charset="-128"/>
              </a:rPr>
              <a:t>JSON Based</a:t>
            </a:r>
          </a:p>
        </p:txBody>
      </p:sp>
      <p:sp>
        <p:nvSpPr>
          <p:cNvPr id="155" name="Text Box 62">
            <a:extLst>
              <a:ext uri="{FF2B5EF4-FFF2-40B4-BE49-F238E27FC236}">
                <a16:creationId xmlns:a16="http://schemas.microsoft.com/office/drawing/2014/main" id="{1E5241DE-0BEE-444B-AEF6-B70CFF2BAB91}"/>
              </a:ext>
            </a:extLst>
          </p:cNvPr>
          <p:cNvSpPr txBox="1">
            <a:spLocks noChangeArrowheads="1"/>
          </p:cNvSpPr>
          <p:nvPr/>
        </p:nvSpPr>
        <p:spPr bwMode="auto">
          <a:xfrm>
            <a:off x="1729418" y="3624196"/>
            <a:ext cx="1236853" cy="388889"/>
          </a:xfrm>
          <a:prstGeom prst="rect">
            <a:avLst/>
          </a:prstGeom>
          <a:solidFill>
            <a:schemeClr val="accent2"/>
          </a:solidFill>
          <a:ln w="9525" algn="ctr">
            <a:noFill/>
            <a:miter lim="800000"/>
            <a:headEnd/>
            <a:tailEnd/>
          </a:ln>
        </p:spPr>
        <p:txBody>
          <a:bodyPr wrap="square" anchor="ctr" anchorCtr="0">
            <a:spAutoFit/>
          </a:bodyPr>
          <a:lstStyle/>
          <a:p>
            <a:pPr algn="ctr" defTabSz="1219139" fontAlgn="base">
              <a:lnSpc>
                <a:spcPct val="90000"/>
              </a:lnSpc>
              <a:spcBef>
                <a:spcPct val="0"/>
              </a:spcBef>
              <a:spcAft>
                <a:spcPct val="0"/>
              </a:spcAft>
              <a:defRPr/>
            </a:pPr>
            <a:r>
              <a:rPr lang="en-US" sz="1067" dirty="0">
                <a:solidFill>
                  <a:schemeClr val="bg1"/>
                </a:solidFill>
                <a:ea typeface="MS PGothic" charset="-128"/>
              </a:rPr>
              <a:t>OSLC / REST </a:t>
            </a:r>
            <a:br>
              <a:rPr lang="en-US" sz="1067" dirty="0">
                <a:solidFill>
                  <a:schemeClr val="bg1"/>
                </a:solidFill>
                <a:ea typeface="MS PGothic" charset="-128"/>
              </a:rPr>
            </a:br>
            <a:r>
              <a:rPr lang="en-US" sz="1067" dirty="0">
                <a:solidFill>
                  <a:schemeClr val="bg1"/>
                </a:solidFill>
                <a:ea typeface="MS PGothic" charset="-128"/>
              </a:rPr>
              <a:t>Web Services</a:t>
            </a:r>
          </a:p>
        </p:txBody>
      </p:sp>
      <p:sp>
        <p:nvSpPr>
          <p:cNvPr id="156" name="Text Box 59">
            <a:extLst>
              <a:ext uri="{FF2B5EF4-FFF2-40B4-BE49-F238E27FC236}">
                <a16:creationId xmlns:a16="http://schemas.microsoft.com/office/drawing/2014/main" id="{48A4C3C0-D1C0-431D-8713-E75221A08A24}"/>
              </a:ext>
            </a:extLst>
          </p:cNvPr>
          <p:cNvSpPr txBox="1">
            <a:spLocks noChangeArrowheads="1"/>
          </p:cNvSpPr>
          <p:nvPr/>
        </p:nvSpPr>
        <p:spPr bwMode="auto">
          <a:xfrm>
            <a:off x="6834995" y="4247432"/>
            <a:ext cx="589905" cy="296556"/>
          </a:xfrm>
          <a:prstGeom prst="rect">
            <a:avLst/>
          </a:prstGeom>
          <a:noFill/>
          <a:ln w="9525" algn="ctr">
            <a:noFill/>
            <a:miter lim="800000"/>
            <a:headEnd/>
            <a:tailEnd/>
          </a:ln>
        </p:spPr>
        <p:txBody>
          <a:bodyPr wrap="none" lIns="0" tIns="0" rIns="0" bIns="0">
            <a:spAutoFit/>
          </a:bodyPr>
          <a:lstStyle/>
          <a:p>
            <a:pPr defTabSz="1219139" fontAlgn="base">
              <a:lnSpc>
                <a:spcPct val="90000"/>
              </a:lnSpc>
              <a:spcBef>
                <a:spcPct val="0"/>
              </a:spcBef>
              <a:spcAft>
                <a:spcPct val="0"/>
              </a:spcAft>
              <a:defRPr/>
            </a:pPr>
            <a:r>
              <a:rPr lang="en-US" sz="1067" dirty="0">
                <a:ea typeface="MS PGothic" charset="-128"/>
              </a:rPr>
              <a:t>Metadata </a:t>
            </a:r>
          </a:p>
          <a:p>
            <a:pPr defTabSz="1219139" fontAlgn="base">
              <a:lnSpc>
                <a:spcPct val="90000"/>
              </a:lnSpc>
              <a:spcBef>
                <a:spcPct val="0"/>
              </a:spcBef>
              <a:spcAft>
                <a:spcPct val="0"/>
              </a:spcAft>
              <a:defRPr/>
            </a:pPr>
            <a:r>
              <a:rPr lang="en-US" sz="1067" dirty="0">
                <a:ea typeface="MS PGothic" charset="-128"/>
              </a:rPr>
              <a:t>Driven</a:t>
            </a:r>
          </a:p>
        </p:txBody>
      </p:sp>
      <p:sp>
        <p:nvSpPr>
          <p:cNvPr id="157" name="Text Box 62">
            <a:extLst>
              <a:ext uri="{FF2B5EF4-FFF2-40B4-BE49-F238E27FC236}">
                <a16:creationId xmlns:a16="http://schemas.microsoft.com/office/drawing/2014/main" id="{FEFCFE68-E2C3-4A74-B78A-2FEA3F102573}"/>
              </a:ext>
            </a:extLst>
          </p:cNvPr>
          <p:cNvSpPr txBox="1">
            <a:spLocks noChangeArrowheads="1"/>
          </p:cNvSpPr>
          <p:nvPr/>
        </p:nvSpPr>
        <p:spPr bwMode="auto">
          <a:xfrm>
            <a:off x="6018015" y="3624197"/>
            <a:ext cx="1163413" cy="388889"/>
          </a:xfrm>
          <a:prstGeom prst="rect">
            <a:avLst/>
          </a:prstGeom>
          <a:solidFill>
            <a:schemeClr val="accent1"/>
          </a:solidFill>
          <a:ln w="9525" algn="ctr">
            <a:noFill/>
            <a:miter lim="800000"/>
            <a:headEnd/>
            <a:tailEnd/>
          </a:ln>
        </p:spPr>
        <p:txBody>
          <a:bodyPr wrap="square" anchor="ctr" anchorCtr="0">
            <a:spAutoFit/>
          </a:bodyPr>
          <a:lstStyle/>
          <a:p>
            <a:pPr algn="ctr" defTabSz="1219139" fontAlgn="base">
              <a:lnSpc>
                <a:spcPct val="90000"/>
              </a:lnSpc>
              <a:spcBef>
                <a:spcPct val="0"/>
              </a:spcBef>
              <a:spcAft>
                <a:spcPct val="0"/>
              </a:spcAft>
              <a:defRPr/>
            </a:pPr>
            <a:r>
              <a:rPr lang="en-US" sz="1067" dirty="0">
                <a:solidFill>
                  <a:schemeClr val="bg1"/>
                </a:solidFill>
                <a:ea typeface="MS PGothic" charset="-128"/>
              </a:rPr>
              <a:t>Integration </a:t>
            </a:r>
            <a:br>
              <a:rPr lang="en-US" sz="1067" dirty="0">
                <a:solidFill>
                  <a:schemeClr val="bg1"/>
                </a:solidFill>
                <a:ea typeface="MS PGothic" charset="-128"/>
              </a:rPr>
            </a:br>
            <a:r>
              <a:rPr lang="en-US" sz="1067" dirty="0">
                <a:solidFill>
                  <a:schemeClr val="bg1"/>
                </a:solidFill>
                <a:ea typeface="MS PGothic" charset="-128"/>
              </a:rPr>
              <a:t>Objects</a:t>
            </a:r>
          </a:p>
        </p:txBody>
      </p:sp>
      <p:sp>
        <p:nvSpPr>
          <p:cNvPr id="158" name="AutoShape 3">
            <a:extLst>
              <a:ext uri="{FF2B5EF4-FFF2-40B4-BE49-F238E27FC236}">
                <a16:creationId xmlns:a16="http://schemas.microsoft.com/office/drawing/2014/main" id="{93378D48-697B-44AF-806B-52F9BC6FBE39}"/>
              </a:ext>
            </a:extLst>
          </p:cNvPr>
          <p:cNvSpPr>
            <a:spLocks noChangeArrowheads="1"/>
          </p:cNvSpPr>
          <p:nvPr/>
        </p:nvSpPr>
        <p:spPr bwMode="auto">
          <a:xfrm>
            <a:off x="1479297" y="4646048"/>
            <a:ext cx="3396760" cy="341027"/>
          </a:xfrm>
          <a:prstGeom prst="roundRect">
            <a:avLst>
              <a:gd name="adj" fmla="val 0"/>
            </a:avLst>
          </a:prstGeom>
          <a:solidFill>
            <a:schemeClr val="bg2"/>
          </a:solidFill>
          <a:ln w="12700" algn="ctr">
            <a:noFill/>
            <a:miter lim="800000"/>
            <a:headEnd/>
            <a:tailEnd/>
          </a:ln>
          <a:effectLst/>
        </p:spPr>
        <p:txBody>
          <a:bodyPr wrap="none" anchor="ctr"/>
          <a:lstStyle/>
          <a:p>
            <a:pPr algn="ctr" defTabSz="966828" fontAlgn="base">
              <a:lnSpc>
                <a:spcPct val="80000"/>
              </a:lnSpc>
              <a:spcBef>
                <a:spcPct val="50000"/>
              </a:spcBef>
              <a:spcAft>
                <a:spcPct val="0"/>
              </a:spcAft>
              <a:defRPr/>
            </a:pPr>
            <a:r>
              <a:rPr lang="en-US" sz="1333" dirty="0">
                <a:ea typeface="MS PGothic" charset="-128"/>
              </a:rPr>
              <a:t>ESB, Point to Point</a:t>
            </a:r>
          </a:p>
        </p:txBody>
      </p:sp>
      <p:sp>
        <p:nvSpPr>
          <p:cNvPr id="159" name="AutoShape 3">
            <a:extLst>
              <a:ext uri="{FF2B5EF4-FFF2-40B4-BE49-F238E27FC236}">
                <a16:creationId xmlns:a16="http://schemas.microsoft.com/office/drawing/2014/main" id="{40740D55-2517-4E70-BFAC-1B51C2EBCA2D}"/>
              </a:ext>
            </a:extLst>
          </p:cNvPr>
          <p:cNvSpPr>
            <a:spLocks noChangeArrowheads="1"/>
          </p:cNvSpPr>
          <p:nvPr/>
        </p:nvSpPr>
        <p:spPr bwMode="auto">
          <a:xfrm>
            <a:off x="6501731" y="4646048"/>
            <a:ext cx="5381404" cy="348416"/>
          </a:xfrm>
          <a:prstGeom prst="roundRect">
            <a:avLst>
              <a:gd name="adj" fmla="val 0"/>
            </a:avLst>
          </a:prstGeom>
          <a:solidFill>
            <a:schemeClr val="bg2"/>
          </a:solidFill>
          <a:ln w="12700" algn="ctr">
            <a:noFill/>
            <a:miter lim="800000"/>
            <a:headEnd/>
            <a:tailEnd/>
          </a:ln>
          <a:effectLst/>
        </p:spPr>
        <p:txBody>
          <a:bodyPr wrap="none" anchor="ctr"/>
          <a:lstStyle>
            <a:lvl1pPr defTabSz="912813">
              <a:defRPr sz="2200">
                <a:solidFill>
                  <a:schemeClr val="hlink"/>
                </a:solidFill>
                <a:latin typeface="Arial" panose="020B0604020202020204" pitchFamily="34" charset="0"/>
                <a:ea typeface="MS PGothic" panose="020B0600070205080204" pitchFamily="34" charset="-128"/>
              </a:defRPr>
            </a:lvl1pPr>
            <a:lvl2pPr marL="742950" indent="-285750" defTabSz="912813">
              <a:defRPr sz="2200">
                <a:solidFill>
                  <a:schemeClr val="hlink"/>
                </a:solidFill>
                <a:latin typeface="Arial" panose="020B0604020202020204" pitchFamily="34" charset="0"/>
                <a:ea typeface="MS PGothic" panose="020B0600070205080204" pitchFamily="34" charset="-128"/>
              </a:defRPr>
            </a:lvl2pPr>
            <a:lvl3pPr marL="1143000" indent="-228600" defTabSz="912813">
              <a:defRPr sz="2200">
                <a:solidFill>
                  <a:schemeClr val="hlink"/>
                </a:solidFill>
                <a:latin typeface="Arial" panose="020B0604020202020204" pitchFamily="34" charset="0"/>
                <a:ea typeface="MS PGothic" panose="020B0600070205080204" pitchFamily="34" charset="-128"/>
              </a:defRPr>
            </a:lvl3pPr>
            <a:lvl4pPr marL="1600200" indent="-228600" defTabSz="912813">
              <a:defRPr sz="2200">
                <a:solidFill>
                  <a:schemeClr val="hlink"/>
                </a:solidFill>
                <a:latin typeface="Arial" panose="020B0604020202020204" pitchFamily="34" charset="0"/>
                <a:ea typeface="MS PGothic" panose="020B0600070205080204" pitchFamily="34" charset="-128"/>
              </a:defRPr>
            </a:lvl4pPr>
            <a:lvl5pPr marL="2057400" indent="-228600" defTabSz="912813">
              <a:defRPr sz="2200">
                <a:solidFill>
                  <a:schemeClr val="hlink"/>
                </a:solidFill>
                <a:latin typeface="Arial" panose="020B0604020202020204" pitchFamily="34" charset="0"/>
                <a:ea typeface="MS PGothic" panose="020B0600070205080204" pitchFamily="34" charset="-128"/>
              </a:defRPr>
            </a:lvl5pPr>
            <a:lvl6pPr marL="2514600" indent="-228600" defTabSz="912813" eaLnBrk="0" fontAlgn="base" hangingPunct="0">
              <a:spcBef>
                <a:spcPct val="0"/>
              </a:spcBef>
              <a:spcAft>
                <a:spcPct val="0"/>
              </a:spcAft>
              <a:defRPr sz="2200">
                <a:solidFill>
                  <a:schemeClr val="hlink"/>
                </a:solidFill>
                <a:latin typeface="Arial" panose="020B0604020202020204" pitchFamily="34" charset="0"/>
                <a:ea typeface="MS PGothic" panose="020B0600070205080204" pitchFamily="34" charset="-128"/>
              </a:defRPr>
            </a:lvl6pPr>
            <a:lvl7pPr marL="2971800" indent="-228600" defTabSz="912813" eaLnBrk="0" fontAlgn="base" hangingPunct="0">
              <a:spcBef>
                <a:spcPct val="0"/>
              </a:spcBef>
              <a:spcAft>
                <a:spcPct val="0"/>
              </a:spcAft>
              <a:defRPr sz="2200">
                <a:solidFill>
                  <a:schemeClr val="hlink"/>
                </a:solidFill>
                <a:latin typeface="Arial" panose="020B0604020202020204" pitchFamily="34" charset="0"/>
                <a:ea typeface="MS PGothic" panose="020B0600070205080204" pitchFamily="34" charset="-128"/>
              </a:defRPr>
            </a:lvl7pPr>
            <a:lvl8pPr marL="3429000" indent="-228600" defTabSz="912813" eaLnBrk="0" fontAlgn="base" hangingPunct="0">
              <a:spcBef>
                <a:spcPct val="0"/>
              </a:spcBef>
              <a:spcAft>
                <a:spcPct val="0"/>
              </a:spcAft>
              <a:defRPr sz="2200">
                <a:solidFill>
                  <a:schemeClr val="hlink"/>
                </a:solidFill>
                <a:latin typeface="Arial" panose="020B0604020202020204" pitchFamily="34" charset="0"/>
                <a:ea typeface="MS PGothic" panose="020B0600070205080204" pitchFamily="34" charset="-128"/>
              </a:defRPr>
            </a:lvl8pPr>
            <a:lvl9pPr marL="3886200" indent="-228600" defTabSz="912813" eaLnBrk="0" fontAlgn="base" hangingPunct="0">
              <a:spcBef>
                <a:spcPct val="0"/>
              </a:spcBef>
              <a:spcAft>
                <a:spcPct val="0"/>
              </a:spcAft>
              <a:defRPr sz="2200">
                <a:solidFill>
                  <a:schemeClr val="hlink"/>
                </a:solidFill>
                <a:latin typeface="Arial" panose="020B0604020202020204" pitchFamily="34" charset="0"/>
                <a:ea typeface="MS PGothic" panose="020B0600070205080204" pitchFamily="34" charset="-128"/>
              </a:defRPr>
            </a:lvl9pPr>
          </a:lstStyle>
          <a:p>
            <a:pPr algn="ctr" defTabSz="966828" fontAlgn="base">
              <a:lnSpc>
                <a:spcPct val="80000"/>
              </a:lnSpc>
              <a:spcBef>
                <a:spcPct val="50000"/>
              </a:spcBef>
              <a:spcAft>
                <a:spcPct val="0"/>
              </a:spcAft>
              <a:defRPr/>
            </a:pPr>
            <a:r>
              <a:rPr lang="en-US" altLang="en-US" sz="1333" dirty="0">
                <a:solidFill>
                  <a:schemeClr val="tx1"/>
                </a:solidFill>
                <a:latin typeface="+mn-lt"/>
                <a:ea typeface="MS PGothic" charset="-128"/>
              </a:rPr>
              <a:t>Staging Areas –Database Tables</a:t>
            </a:r>
          </a:p>
        </p:txBody>
      </p:sp>
      <p:cxnSp>
        <p:nvCxnSpPr>
          <p:cNvPr id="160" name="Elbow Connector 199">
            <a:extLst>
              <a:ext uri="{FF2B5EF4-FFF2-40B4-BE49-F238E27FC236}">
                <a16:creationId xmlns:a16="http://schemas.microsoft.com/office/drawing/2014/main" id="{34CED7AF-6E04-4E2B-9DDC-1C1B72A2718C}"/>
              </a:ext>
            </a:extLst>
          </p:cNvPr>
          <p:cNvCxnSpPr>
            <a:cxnSpLocks noChangeShapeType="1"/>
          </p:cNvCxnSpPr>
          <p:nvPr/>
        </p:nvCxnSpPr>
        <p:spPr bwMode="auto">
          <a:xfrm rot="16200000" flipH="1">
            <a:off x="8670431" y="1879590"/>
            <a:ext cx="904608" cy="5528935"/>
          </a:xfrm>
          <a:prstGeom prst="bentConnector2">
            <a:avLst/>
          </a:prstGeom>
          <a:noFill/>
          <a:ln w="9525">
            <a:solidFill>
              <a:schemeClr val="tx1"/>
            </a:solidFill>
            <a:prstDash val="lgDash"/>
            <a:miter lim="800000"/>
            <a:headEnd type="triangle" w="med" len="med"/>
            <a:tailEnd type="none"/>
          </a:ln>
          <a:extLst>
            <a:ext uri="{909E8E84-426E-40dd-AFC4-6F175D3DCCD1}">
              <a14:hiddenFill xmlns:a14="http://schemas.microsoft.com/office/drawing/2010/main" xmlns="">
                <a:noFill/>
              </a14:hiddenFill>
            </a:ext>
          </a:extLst>
        </p:spPr>
      </p:cxnSp>
      <p:grpSp>
        <p:nvGrpSpPr>
          <p:cNvPr id="5" name="Group 4">
            <a:extLst>
              <a:ext uri="{FF2B5EF4-FFF2-40B4-BE49-F238E27FC236}">
                <a16:creationId xmlns:a16="http://schemas.microsoft.com/office/drawing/2014/main" id="{A2C95953-6E91-4CB9-801B-FAC9269A0AE7}"/>
              </a:ext>
            </a:extLst>
          </p:cNvPr>
          <p:cNvGrpSpPr/>
          <p:nvPr/>
        </p:nvGrpSpPr>
        <p:grpSpPr>
          <a:xfrm>
            <a:off x="9156231" y="5096362"/>
            <a:ext cx="2059440" cy="372023"/>
            <a:chOff x="6867173" y="3684623"/>
            <a:chExt cx="1544580" cy="309476"/>
          </a:xfrm>
        </p:grpSpPr>
        <p:cxnSp>
          <p:nvCxnSpPr>
            <p:cNvPr id="161" name="Straight Arrow Connector 160">
              <a:extLst>
                <a:ext uri="{FF2B5EF4-FFF2-40B4-BE49-F238E27FC236}">
                  <a16:creationId xmlns:a16="http://schemas.microsoft.com/office/drawing/2014/main" id="{990E7BE7-FF58-4385-AD1E-E0B796FBE55D}"/>
                </a:ext>
              </a:extLst>
            </p:cNvPr>
            <p:cNvCxnSpPr>
              <a:cxnSpLocks/>
            </p:cNvCxnSpPr>
            <p:nvPr/>
          </p:nvCxnSpPr>
          <p:spPr bwMode="auto">
            <a:xfrm>
              <a:off x="6867173" y="3684623"/>
              <a:ext cx="0" cy="301405"/>
            </a:xfrm>
            <a:prstGeom prst="straightConnector1">
              <a:avLst/>
            </a:prstGeom>
            <a:ln w="9525">
              <a:solidFill>
                <a:schemeClr val="tx1"/>
              </a:solidFill>
              <a:prstDash val="lgDash"/>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162" name="Straight Arrow Connector 161">
              <a:extLst>
                <a:ext uri="{FF2B5EF4-FFF2-40B4-BE49-F238E27FC236}">
                  <a16:creationId xmlns:a16="http://schemas.microsoft.com/office/drawing/2014/main" id="{E28A8AA3-9763-47D5-B602-D84B03AA87F1}"/>
                </a:ext>
              </a:extLst>
            </p:cNvPr>
            <p:cNvCxnSpPr>
              <a:cxnSpLocks/>
            </p:cNvCxnSpPr>
            <p:nvPr/>
          </p:nvCxnSpPr>
          <p:spPr bwMode="auto">
            <a:xfrm>
              <a:off x="7639463" y="3684623"/>
              <a:ext cx="0" cy="300351"/>
            </a:xfrm>
            <a:prstGeom prst="straightConnector1">
              <a:avLst/>
            </a:prstGeom>
            <a:ln w="9525">
              <a:solidFill>
                <a:schemeClr val="tx1"/>
              </a:solidFill>
              <a:prstDash val="lgDash"/>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163" name="Straight Arrow Connector 162">
              <a:extLst>
                <a:ext uri="{FF2B5EF4-FFF2-40B4-BE49-F238E27FC236}">
                  <a16:creationId xmlns:a16="http://schemas.microsoft.com/office/drawing/2014/main" id="{A64E552A-ED9F-42D5-A79C-D646FE4836E6}"/>
                </a:ext>
              </a:extLst>
            </p:cNvPr>
            <p:cNvCxnSpPr>
              <a:cxnSpLocks/>
            </p:cNvCxnSpPr>
            <p:nvPr/>
          </p:nvCxnSpPr>
          <p:spPr bwMode="auto">
            <a:xfrm>
              <a:off x="8411753" y="3684623"/>
              <a:ext cx="0" cy="309476"/>
            </a:xfrm>
            <a:prstGeom prst="straightConnector1">
              <a:avLst/>
            </a:prstGeom>
            <a:ln w="9525">
              <a:solidFill>
                <a:schemeClr val="tx1"/>
              </a:solidFill>
              <a:prstDash val="lgDash"/>
              <a:headEnd type="none" w="med" len="med"/>
              <a:tailEnd type="triangle"/>
            </a:ln>
            <a:effectLst/>
          </p:spPr>
          <p:style>
            <a:lnRef idx="1">
              <a:schemeClr val="dk1"/>
            </a:lnRef>
            <a:fillRef idx="0">
              <a:schemeClr val="dk1"/>
            </a:fillRef>
            <a:effectRef idx="0">
              <a:schemeClr val="dk1"/>
            </a:effectRef>
            <a:fontRef idx="minor">
              <a:schemeClr val="tx1"/>
            </a:fontRef>
          </p:style>
        </p:cxnSp>
      </p:grpSp>
      <p:grpSp>
        <p:nvGrpSpPr>
          <p:cNvPr id="164" name="Group 163">
            <a:extLst>
              <a:ext uri="{FF2B5EF4-FFF2-40B4-BE49-F238E27FC236}">
                <a16:creationId xmlns:a16="http://schemas.microsoft.com/office/drawing/2014/main" id="{0D645B86-C507-47EC-B63D-C54A0B2E4CC4}"/>
              </a:ext>
            </a:extLst>
          </p:cNvPr>
          <p:cNvGrpSpPr/>
          <p:nvPr/>
        </p:nvGrpSpPr>
        <p:grpSpPr>
          <a:xfrm>
            <a:off x="2773529" y="5028942"/>
            <a:ext cx="146143" cy="372733"/>
            <a:chOff x="2331285" y="3652077"/>
            <a:chExt cx="105989" cy="284993"/>
          </a:xfrm>
        </p:grpSpPr>
        <p:cxnSp>
          <p:nvCxnSpPr>
            <p:cNvPr id="165" name="Straight Arrow Connector 164">
              <a:extLst>
                <a:ext uri="{FF2B5EF4-FFF2-40B4-BE49-F238E27FC236}">
                  <a16:creationId xmlns:a16="http://schemas.microsoft.com/office/drawing/2014/main" id="{9224FA10-15FD-49BD-9D6D-60D911735C57}"/>
                </a:ext>
              </a:extLst>
            </p:cNvPr>
            <p:cNvCxnSpPr>
              <a:cxnSpLocks/>
            </p:cNvCxnSpPr>
            <p:nvPr/>
          </p:nvCxnSpPr>
          <p:spPr bwMode="auto">
            <a:xfrm flipV="1">
              <a:off x="2331285" y="3652077"/>
              <a:ext cx="0" cy="267461"/>
            </a:xfrm>
            <a:prstGeom prst="straightConnector1">
              <a:avLst/>
            </a:prstGeom>
            <a:ln w="9525">
              <a:solidFill>
                <a:srgbClr val="1192E8"/>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166" name="Straight Arrow Connector 165">
              <a:extLst>
                <a:ext uri="{FF2B5EF4-FFF2-40B4-BE49-F238E27FC236}">
                  <a16:creationId xmlns:a16="http://schemas.microsoft.com/office/drawing/2014/main" id="{42ED2D4D-EEAB-4B17-A129-79C6E9B20D7D}"/>
                </a:ext>
              </a:extLst>
            </p:cNvPr>
            <p:cNvCxnSpPr>
              <a:cxnSpLocks/>
            </p:cNvCxnSpPr>
            <p:nvPr/>
          </p:nvCxnSpPr>
          <p:spPr bwMode="auto">
            <a:xfrm flipV="1">
              <a:off x="2437274" y="3669609"/>
              <a:ext cx="0" cy="267461"/>
            </a:xfrm>
            <a:prstGeom prst="straightConnector1">
              <a:avLst/>
            </a:prstGeom>
            <a:ln w="9525">
              <a:solidFill>
                <a:srgbClr val="1192E8"/>
              </a:solidFill>
              <a:headEnd type="triangle" w="med" len="med"/>
              <a:tailEnd type="none"/>
            </a:ln>
            <a:effectLst/>
          </p:spPr>
          <p:style>
            <a:lnRef idx="1">
              <a:schemeClr val="dk1"/>
            </a:lnRef>
            <a:fillRef idx="0">
              <a:schemeClr val="dk1"/>
            </a:fillRef>
            <a:effectRef idx="0">
              <a:schemeClr val="dk1"/>
            </a:effectRef>
            <a:fontRef idx="minor">
              <a:schemeClr val="tx1"/>
            </a:fontRef>
          </p:style>
        </p:cxnSp>
      </p:grpSp>
      <p:grpSp>
        <p:nvGrpSpPr>
          <p:cNvPr id="167" name="Group 166">
            <a:extLst>
              <a:ext uri="{FF2B5EF4-FFF2-40B4-BE49-F238E27FC236}">
                <a16:creationId xmlns:a16="http://schemas.microsoft.com/office/drawing/2014/main" id="{152FF85F-7962-45EF-A22D-031EE802B642}"/>
              </a:ext>
            </a:extLst>
          </p:cNvPr>
          <p:cNvGrpSpPr/>
          <p:nvPr/>
        </p:nvGrpSpPr>
        <p:grpSpPr>
          <a:xfrm>
            <a:off x="1885995" y="4194019"/>
            <a:ext cx="146143" cy="372733"/>
            <a:chOff x="1180159" y="3652077"/>
            <a:chExt cx="105989" cy="284993"/>
          </a:xfrm>
        </p:grpSpPr>
        <p:cxnSp>
          <p:nvCxnSpPr>
            <p:cNvPr id="168" name="Straight Arrow Connector 167">
              <a:extLst>
                <a:ext uri="{FF2B5EF4-FFF2-40B4-BE49-F238E27FC236}">
                  <a16:creationId xmlns:a16="http://schemas.microsoft.com/office/drawing/2014/main" id="{6194669C-FDBA-4620-B469-FF1697AC4011}"/>
                </a:ext>
              </a:extLst>
            </p:cNvPr>
            <p:cNvCxnSpPr>
              <a:cxnSpLocks/>
            </p:cNvCxnSpPr>
            <p:nvPr/>
          </p:nvCxnSpPr>
          <p:spPr bwMode="auto">
            <a:xfrm flipV="1">
              <a:off x="1180159" y="3652077"/>
              <a:ext cx="0" cy="267461"/>
            </a:xfrm>
            <a:prstGeom prst="straightConnector1">
              <a:avLst/>
            </a:prstGeom>
            <a:ln w="9525">
              <a:solidFill>
                <a:schemeClr val="accent2"/>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169" name="Straight Arrow Connector 168">
              <a:extLst>
                <a:ext uri="{FF2B5EF4-FFF2-40B4-BE49-F238E27FC236}">
                  <a16:creationId xmlns:a16="http://schemas.microsoft.com/office/drawing/2014/main" id="{219489AB-1EF7-4DD6-939E-383E372F4B78}"/>
                </a:ext>
              </a:extLst>
            </p:cNvPr>
            <p:cNvCxnSpPr>
              <a:cxnSpLocks/>
            </p:cNvCxnSpPr>
            <p:nvPr/>
          </p:nvCxnSpPr>
          <p:spPr bwMode="auto">
            <a:xfrm flipV="1">
              <a:off x="1286148" y="3669609"/>
              <a:ext cx="0" cy="267461"/>
            </a:xfrm>
            <a:prstGeom prst="straightConnector1">
              <a:avLst/>
            </a:prstGeom>
            <a:ln w="9525">
              <a:solidFill>
                <a:schemeClr val="accent2"/>
              </a:solidFill>
              <a:headEnd type="triangle" w="med" len="med"/>
              <a:tailEnd type="none"/>
            </a:ln>
            <a:effectLst/>
          </p:spPr>
          <p:style>
            <a:lnRef idx="1">
              <a:schemeClr val="dk1"/>
            </a:lnRef>
            <a:fillRef idx="0">
              <a:schemeClr val="dk1"/>
            </a:fillRef>
            <a:effectRef idx="0">
              <a:schemeClr val="dk1"/>
            </a:effectRef>
            <a:fontRef idx="minor">
              <a:schemeClr val="tx1"/>
            </a:fontRef>
          </p:style>
        </p:cxnSp>
      </p:grpSp>
      <p:grpSp>
        <p:nvGrpSpPr>
          <p:cNvPr id="170" name="Group 169">
            <a:extLst>
              <a:ext uri="{FF2B5EF4-FFF2-40B4-BE49-F238E27FC236}">
                <a16:creationId xmlns:a16="http://schemas.microsoft.com/office/drawing/2014/main" id="{9B4734B5-D4A4-4085-8A9B-AC9438C8F2A9}"/>
              </a:ext>
            </a:extLst>
          </p:cNvPr>
          <p:cNvGrpSpPr/>
          <p:nvPr/>
        </p:nvGrpSpPr>
        <p:grpSpPr>
          <a:xfrm>
            <a:off x="3337139" y="4194019"/>
            <a:ext cx="146143" cy="372733"/>
            <a:chOff x="2331285" y="3652077"/>
            <a:chExt cx="105989" cy="284993"/>
          </a:xfrm>
        </p:grpSpPr>
        <p:cxnSp>
          <p:nvCxnSpPr>
            <p:cNvPr id="171" name="Straight Arrow Connector 170">
              <a:extLst>
                <a:ext uri="{FF2B5EF4-FFF2-40B4-BE49-F238E27FC236}">
                  <a16:creationId xmlns:a16="http://schemas.microsoft.com/office/drawing/2014/main" id="{06990C2E-C94F-419E-9717-A4D2A6C2AC29}"/>
                </a:ext>
              </a:extLst>
            </p:cNvPr>
            <p:cNvCxnSpPr>
              <a:cxnSpLocks/>
            </p:cNvCxnSpPr>
            <p:nvPr/>
          </p:nvCxnSpPr>
          <p:spPr bwMode="auto">
            <a:xfrm flipV="1">
              <a:off x="2331285" y="3652077"/>
              <a:ext cx="0" cy="267461"/>
            </a:xfrm>
            <a:prstGeom prst="straightConnector1">
              <a:avLst/>
            </a:prstGeom>
            <a:ln w="9525">
              <a:solidFill>
                <a:srgbClr val="1192E8"/>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172" name="Straight Arrow Connector 171">
              <a:extLst>
                <a:ext uri="{FF2B5EF4-FFF2-40B4-BE49-F238E27FC236}">
                  <a16:creationId xmlns:a16="http://schemas.microsoft.com/office/drawing/2014/main" id="{6CFB575D-2CBD-46FB-841E-840B0BAA13AB}"/>
                </a:ext>
              </a:extLst>
            </p:cNvPr>
            <p:cNvCxnSpPr>
              <a:cxnSpLocks/>
            </p:cNvCxnSpPr>
            <p:nvPr/>
          </p:nvCxnSpPr>
          <p:spPr bwMode="auto">
            <a:xfrm flipV="1">
              <a:off x="2437274" y="3669609"/>
              <a:ext cx="0" cy="267461"/>
            </a:xfrm>
            <a:prstGeom prst="straightConnector1">
              <a:avLst/>
            </a:prstGeom>
            <a:ln w="9525">
              <a:solidFill>
                <a:srgbClr val="1192E8"/>
              </a:solidFill>
              <a:headEnd type="triangle" w="med" len="med"/>
              <a:tailEnd type="none"/>
            </a:ln>
            <a:effectLst/>
          </p:spPr>
          <p:style>
            <a:lnRef idx="1">
              <a:schemeClr val="dk1"/>
            </a:lnRef>
            <a:fillRef idx="0">
              <a:schemeClr val="dk1"/>
            </a:fillRef>
            <a:effectRef idx="0">
              <a:schemeClr val="dk1"/>
            </a:effectRef>
            <a:fontRef idx="minor">
              <a:schemeClr val="tx1"/>
            </a:fontRef>
          </p:style>
        </p:cxnSp>
      </p:grpSp>
      <p:grpSp>
        <p:nvGrpSpPr>
          <p:cNvPr id="205" name="Group 204">
            <a:extLst>
              <a:ext uri="{FF2B5EF4-FFF2-40B4-BE49-F238E27FC236}">
                <a16:creationId xmlns:a16="http://schemas.microsoft.com/office/drawing/2014/main" id="{4DA8AEA2-B9CE-47D5-89F1-8695F7192939}"/>
              </a:ext>
            </a:extLst>
          </p:cNvPr>
          <p:cNvGrpSpPr/>
          <p:nvPr/>
        </p:nvGrpSpPr>
        <p:grpSpPr>
          <a:xfrm>
            <a:off x="7663265" y="4205485"/>
            <a:ext cx="774888" cy="349804"/>
            <a:chOff x="5840861" y="3016465"/>
            <a:chExt cx="581166" cy="262353"/>
          </a:xfrm>
        </p:grpSpPr>
        <p:sp>
          <p:nvSpPr>
            <p:cNvPr id="152" name="Text Box 59">
              <a:extLst>
                <a:ext uri="{FF2B5EF4-FFF2-40B4-BE49-F238E27FC236}">
                  <a16:creationId xmlns:a16="http://schemas.microsoft.com/office/drawing/2014/main" id="{CAE51C59-89EA-49FF-A39B-334B216964F4}"/>
                </a:ext>
              </a:extLst>
            </p:cNvPr>
            <p:cNvSpPr txBox="1">
              <a:spLocks noChangeArrowheads="1"/>
            </p:cNvSpPr>
            <p:nvPr/>
          </p:nvSpPr>
          <p:spPr bwMode="auto">
            <a:xfrm>
              <a:off x="5979598" y="3047926"/>
              <a:ext cx="442429" cy="222417"/>
            </a:xfrm>
            <a:prstGeom prst="rect">
              <a:avLst/>
            </a:prstGeom>
            <a:noFill/>
            <a:ln w="9525" algn="ctr">
              <a:noFill/>
              <a:miter lim="800000"/>
              <a:headEnd/>
              <a:tailEnd/>
            </a:ln>
          </p:spPr>
          <p:txBody>
            <a:bodyPr wrap="none" lIns="0" tIns="0" rIns="0" bIns="0">
              <a:spAutoFit/>
            </a:bodyPr>
            <a:lstStyle/>
            <a:p>
              <a:pPr defTabSz="1219139" fontAlgn="base">
                <a:lnSpc>
                  <a:spcPct val="90000"/>
                </a:lnSpc>
                <a:spcBef>
                  <a:spcPct val="0"/>
                </a:spcBef>
                <a:spcAft>
                  <a:spcPct val="0"/>
                </a:spcAft>
                <a:defRPr/>
              </a:pPr>
              <a:r>
                <a:rPr lang="en-US" sz="1067" dirty="0">
                  <a:ea typeface="MS PGothic" charset="-128"/>
                </a:rPr>
                <a:t>Workflow </a:t>
              </a:r>
            </a:p>
            <a:p>
              <a:pPr defTabSz="1219139" fontAlgn="base">
                <a:lnSpc>
                  <a:spcPct val="90000"/>
                </a:lnSpc>
                <a:spcBef>
                  <a:spcPct val="0"/>
                </a:spcBef>
                <a:spcAft>
                  <a:spcPct val="0"/>
                </a:spcAft>
                <a:defRPr/>
              </a:pPr>
              <a:r>
                <a:rPr lang="en-US" sz="1067" dirty="0">
                  <a:ea typeface="MS PGothic" charset="-128"/>
                </a:rPr>
                <a:t>Based</a:t>
              </a:r>
            </a:p>
          </p:txBody>
        </p:sp>
        <p:cxnSp>
          <p:nvCxnSpPr>
            <p:cNvPr id="173" name="Straight Arrow Connector 172">
              <a:extLst>
                <a:ext uri="{FF2B5EF4-FFF2-40B4-BE49-F238E27FC236}">
                  <a16:creationId xmlns:a16="http://schemas.microsoft.com/office/drawing/2014/main" id="{02442AF5-ED0B-416A-AA69-D156AD63698A}"/>
                </a:ext>
              </a:extLst>
            </p:cNvPr>
            <p:cNvCxnSpPr>
              <a:cxnSpLocks/>
            </p:cNvCxnSpPr>
            <p:nvPr/>
          </p:nvCxnSpPr>
          <p:spPr bwMode="auto">
            <a:xfrm flipV="1">
              <a:off x="5840861" y="3016465"/>
              <a:ext cx="0" cy="262353"/>
            </a:xfrm>
            <a:prstGeom prst="straightConnector1">
              <a:avLst/>
            </a:prstGeom>
            <a:ln w="9525">
              <a:solidFill>
                <a:srgbClr val="A56EFF"/>
              </a:solidFill>
              <a:headEnd type="none" w="med" len="med"/>
              <a:tailEnd type="triangle"/>
            </a:ln>
            <a:effectLst/>
          </p:spPr>
          <p:style>
            <a:lnRef idx="1">
              <a:schemeClr val="dk1"/>
            </a:lnRef>
            <a:fillRef idx="0">
              <a:schemeClr val="dk1"/>
            </a:fillRef>
            <a:effectRef idx="0">
              <a:schemeClr val="dk1"/>
            </a:effectRef>
            <a:fontRef idx="minor">
              <a:schemeClr val="tx1"/>
            </a:fontRef>
          </p:style>
        </p:cxnSp>
      </p:grpSp>
      <p:grpSp>
        <p:nvGrpSpPr>
          <p:cNvPr id="174" name="Group 173">
            <a:extLst>
              <a:ext uri="{FF2B5EF4-FFF2-40B4-BE49-F238E27FC236}">
                <a16:creationId xmlns:a16="http://schemas.microsoft.com/office/drawing/2014/main" id="{7D658E8E-F610-4FE3-9A90-5E3BA6C7DFAF}"/>
              </a:ext>
            </a:extLst>
          </p:cNvPr>
          <p:cNvGrpSpPr/>
          <p:nvPr/>
        </p:nvGrpSpPr>
        <p:grpSpPr>
          <a:xfrm>
            <a:off x="9056043" y="4205978"/>
            <a:ext cx="146143" cy="372733"/>
            <a:chOff x="6561099" y="3613795"/>
            <a:chExt cx="105989" cy="284993"/>
          </a:xfrm>
        </p:grpSpPr>
        <p:cxnSp>
          <p:nvCxnSpPr>
            <p:cNvPr id="175" name="Straight Arrow Connector 174">
              <a:extLst>
                <a:ext uri="{FF2B5EF4-FFF2-40B4-BE49-F238E27FC236}">
                  <a16:creationId xmlns:a16="http://schemas.microsoft.com/office/drawing/2014/main" id="{ACECC34E-BD12-465B-8E65-C8BC9099B8C3}"/>
                </a:ext>
              </a:extLst>
            </p:cNvPr>
            <p:cNvCxnSpPr>
              <a:cxnSpLocks/>
            </p:cNvCxnSpPr>
            <p:nvPr/>
          </p:nvCxnSpPr>
          <p:spPr bwMode="auto">
            <a:xfrm flipV="1">
              <a:off x="6561099" y="3613795"/>
              <a:ext cx="0" cy="267461"/>
            </a:xfrm>
            <a:prstGeom prst="straightConnector1">
              <a:avLst/>
            </a:prstGeom>
            <a:ln w="9525">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176" name="Straight Arrow Connector 175">
              <a:extLst>
                <a:ext uri="{FF2B5EF4-FFF2-40B4-BE49-F238E27FC236}">
                  <a16:creationId xmlns:a16="http://schemas.microsoft.com/office/drawing/2014/main" id="{9457CBA7-3404-4C35-AF0B-3478609599EA}"/>
                </a:ext>
              </a:extLst>
            </p:cNvPr>
            <p:cNvCxnSpPr>
              <a:cxnSpLocks/>
            </p:cNvCxnSpPr>
            <p:nvPr/>
          </p:nvCxnSpPr>
          <p:spPr bwMode="auto">
            <a:xfrm flipV="1">
              <a:off x="6667088" y="3631327"/>
              <a:ext cx="0" cy="267461"/>
            </a:xfrm>
            <a:prstGeom prst="straightConnector1">
              <a:avLst/>
            </a:prstGeom>
            <a:ln w="9525">
              <a:solidFill>
                <a:schemeClr val="tx1"/>
              </a:solidFill>
              <a:headEnd type="triangle" w="med" len="med"/>
              <a:tailEnd type="none"/>
            </a:ln>
            <a:effectLst/>
          </p:spPr>
          <p:style>
            <a:lnRef idx="1">
              <a:schemeClr val="dk1"/>
            </a:lnRef>
            <a:fillRef idx="0">
              <a:schemeClr val="dk1"/>
            </a:fillRef>
            <a:effectRef idx="0">
              <a:schemeClr val="dk1"/>
            </a:effectRef>
            <a:fontRef idx="minor">
              <a:schemeClr val="tx1"/>
            </a:fontRef>
          </p:style>
        </p:cxnSp>
      </p:grpSp>
      <p:grpSp>
        <p:nvGrpSpPr>
          <p:cNvPr id="204" name="Group 203">
            <a:extLst>
              <a:ext uri="{FF2B5EF4-FFF2-40B4-BE49-F238E27FC236}">
                <a16:creationId xmlns:a16="http://schemas.microsoft.com/office/drawing/2014/main" id="{642461AB-A697-4AC1-8EEE-4ACDCAB8CECB}"/>
              </a:ext>
            </a:extLst>
          </p:cNvPr>
          <p:cNvGrpSpPr/>
          <p:nvPr/>
        </p:nvGrpSpPr>
        <p:grpSpPr>
          <a:xfrm>
            <a:off x="10490598" y="4205485"/>
            <a:ext cx="558367" cy="349804"/>
            <a:chOff x="7860110" y="3016465"/>
            <a:chExt cx="418775" cy="262353"/>
          </a:xfrm>
        </p:grpSpPr>
        <p:sp>
          <p:nvSpPr>
            <p:cNvPr id="150" name="Text Box 87">
              <a:extLst>
                <a:ext uri="{FF2B5EF4-FFF2-40B4-BE49-F238E27FC236}">
                  <a16:creationId xmlns:a16="http://schemas.microsoft.com/office/drawing/2014/main" id="{E6479B50-6BAA-4629-B630-FEA310F8DB12}"/>
                </a:ext>
              </a:extLst>
            </p:cNvPr>
            <p:cNvSpPr txBox="1">
              <a:spLocks noChangeArrowheads="1"/>
            </p:cNvSpPr>
            <p:nvPr/>
          </p:nvSpPr>
          <p:spPr bwMode="auto">
            <a:xfrm>
              <a:off x="8001165" y="3047926"/>
              <a:ext cx="277720" cy="222417"/>
            </a:xfrm>
            <a:prstGeom prst="rect">
              <a:avLst/>
            </a:prstGeom>
            <a:noFill/>
            <a:ln w="9525" algn="ctr">
              <a:noFill/>
              <a:miter lim="800000"/>
              <a:headEnd/>
              <a:tailEnd/>
            </a:ln>
          </p:spPr>
          <p:txBody>
            <a:bodyPr wrap="none" lIns="0" tIns="0" rIns="0" bIns="0">
              <a:spAutoFit/>
            </a:bodyPr>
            <a:lstStyle/>
            <a:p>
              <a:pPr defTabSz="1219139" fontAlgn="base">
                <a:lnSpc>
                  <a:spcPct val="90000"/>
                </a:lnSpc>
                <a:spcBef>
                  <a:spcPct val="0"/>
                </a:spcBef>
                <a:spcAft>
                  <a:spcPct val="0"/>
                </a:spcAft>
                <a:defRPr/>
              </a:pPr>
              <a:r>
                <a:rPr lang="en-US" sz="1067" dirty="0">
                  <a:ea typeface="MS PGothic" charset="-128"/>
                </a:rPr>
                <a:t>Text </a:t>
              </a:r>
            </a:p>
            <a:p>
              <a:pPr defTabSz="1219139" fontAlgn="base">
                <a:lnSpc>
                  <a:spcPct val="90000"/>
                </a:lnSpc>
                <a:spcBef>
                  <a:spcPct val="0"/>
                </a:spcBef>
                <a:spcAft>
                  <a:spcPct val="0"/>
                </a:spcAft>
                <a:defRPr/>
              </a:pPr>
              <a:r>
                <a:rPr lang="en-US" sz="1067" dirty="0">
                  <a:ea typeface="MS PGothic" charset="-128"/>
                </a:rPr>
                <a:t>Based</a:t>
              </a:r>
            </a:p>
          </p:txBody>
        </p:sp>
        <p:cxnSp>
          <p:nvCxnSpPr>
            <p:cNvPr id="177" name="Straight Arrow Connector 176">
              <a:extLst>
                <a:ext uri="{FF2B5EF4-FFF2-40B4-BE49-F238E27FC236}">
                  <a16:creationId xmlns:a16="http://schemas.microsoft.com/office/drawing/2014/main" id="{51162EB8-624D-46A1-842B-F8B933D75BEF}"/>
                </a:ext>
              </a:extLst>
            </p:cNvPr>
            <p:cNvCxnSpPr>
              <a:cxnSpLocks/>
            </p:cNvCxnSpPr>
            <p:nvPr/>
          </p:nvCxnSpPr>
          <p:spPr bwMode="auto">
            <a:xfrm flipV="1">
              <a:off x="7860110" y="3016465"/>
              <a:ext cx="0" cy="262353"/>
            </a:xfrm>
            <a:prstGeom prst="straightConnector1">
              <a:avLst/>
            </a:prstGeom>
            <a:ln w="9525">
              <a:solidFill>
                <a:srgbClr val="A8A8A8"/>
              </a:solidFill>
              <a:headEnd type="none" w="med" len="med"/>
              <a:tailEnd type="triangle"/>
            </a:ln>
            <a:effectLst/>
          </p:spPr>
          <p:style>
            <a:lnRef idx="1">
              <a:schemeClr val="dk1"/>
            </a:lnRef>
            <a:fillRef idx="0">
              <a:schemeClr val="dk1"/>
            </a:fillRef>
            <a:effectRef idx="0">
              <a:schemeClr val="dk1"/>
            </a:effectRef>
            <a:fontRef idx="minor">
              <a:schemeClr val="tx1"/>
            </a:fontRef>
          </p:style>
        </p:cxnSp>
      </p:grpSp>
      <p:grpSp>
        <p:nvGrpSpPr>
          <p:cNvPr id="178" name="Group 177">
            <a:extLst>
              <a:ext uri="{FF2B5EF4-FFF2-40B4-BE49-F238E27FC236}">
                <a16:creationId xmlns:a16="http://schemas.microsoft.com/office/drawing/2014/main" id="{8C733E6F-EADC-4251-9614-06B43C1D2B35}"/>
              </a:ext>
            </a:extLst>
          </p:cNvPr>
          <p:cNvGrpSpPr/>
          <p:nvPr/>
        </p:nvGrpSpPr>
        <p:grpSpPr>
          <a:xfrm>
            <a:off x="6501731" y="4194019"/>
            <a:ext cx="146143" cy="372733"/>
            <a:chOff x="2331285" y="3652077"/>
            <a:chExt cx="105989" cy="284993"/>
          </a:xfrm>
        </p:grpSpPr>
        <p:cxnSp>
          <p:nvCxnSpPr>
            <p:cNvPr id="179" name="Straight Arrow Connector 178">
              <a:extLst>
                <a:ext uri="{FF2B5EF4-FFF2-40B4-BE49-F238E27FC236}">
                  <a16:creationId xmlns:a16="http://schemas.microsoft.com/office/drawing/2014/main" id="{9C4274A3-F23E-4378-A294-E5B72A2B1A30}"/>
                </a:ext>
              </a:extLst>
            </p:cNvPr>
            <p:cNvCxnSpPr>
              <a:cxnSpLocks/>
            </p:cNvCxnSpPr>
            <p:nvPr/>
          </p:nvCxnSpPr>
          <p:spPr bwMode="auto">
            <a:xfrm flipV="1">
              <a:off x="2331285" y="3652077"/>
              <a:ext cx="0" cy="267461"/>
            </a:xfrm>
            <a:prstGeom prst="straightConnector1">
              <a:avLst/>
            </a:prstGeom>
            <a:ln w="9525">
              <a:solidFill>
                <a:schemeClr val="accent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180" name="Straight Arrow Connector 179">
              <a:extLst>
                <a:ext uri="{FF2B5EF4-FFF2-40B4-BE49-F238E27FC236}">
                  <a16:creationId xmlns:a16="http://schemas.microsoft.com/office/drawing/2014/main" id="{F9EF86B8-32A3-46D2-BD23-A331314E08C7}"/>
                </a:ext>
              </a:extLst>
            </p:cNvPr>
            <p:cNvCxnSpPr>
              <a:cxnSpLocks/>
            </p:cNvCxnSpPr>
            <p:nvPr/>
          </p:nvCxnSpPr>
          <p:spPr bwMode="auto">
            <a:xfrm flipV="1">
              <a:off x="2437274" y="3669609"/>
              <a:ext cx="0" cy="267461"/>
            </a:xfrm>
            <a:prstGeom prst="straightConnector1">
              <a:avLst/>
            </a:prstGeom>
            <a:ln w="9525">
              <a:solidFill>
                <a:schemeClr val="accent1"/>
              </a:solidFill>
              <a:headEnd type="triangle" w="med" len="med"/>
              <a:tailEnd type="none"/>
            </a:ln>
            <a:effectLst/>
          </p:spPr>
          <p:style>
            <a:lnRef idx="1">
              <a:schemeClr val="dk1"/>
            </a:lnRef>
            <a:fillRef idx="0">
              <a:schemeClr val="dk1"/>
            </a:fillRef>
            <a:effectRef idx="0">
              <a:schemeClr val="dk1"/>
            </a:effectRef>
            <a:fontRef idx="minor">
              <a:schemeClr val="tx1"/>
            </a:fontRef>
          </p:style>
        </p:cxnSp>
      </p:grpSp>
      <p:sp>
        <p:nvSpPr>
          <p:cNvPr id="181" name="Text Box 62">
            <a:extLst>
              <a:ext uri="{FF2B5EF4-FFF2-40B4-BE49-F238E27FC236}">
                <a16:creationId xmlns:a16="http://schemas.microsoft.com/office/drawing/2014/main" id="{B473DCB7-BBB9-4748-93E6-1EB238B16EE8}"/>
              </a:ext>
            </a:extLst>
          </p:cNvPr>
          <p:cNvSpPr txBox="1">
            <a:spLocks noChangeArrowheads="1"/>
          </p:cNvSpPr>
          <p:nvPr/>
        </p:nvSpPr>
        <p:spPr bwMode="auto">
          <a:xfrm>
            <a:off x="4846613" y="3624196"/>
            <a:ext cx="964984" cy="388889"/>
          </a:xfrm>
          <a:prstGeom prst="rect">
            <a:avLst/>
          </a:prstGeom>
          <a:solidFill>
            <a:srgbClr val="08BDBA"/>
          </a:solidFill>
          <a:ln w="9525" algn="ctr">
            <a:noFill/>
            <a:miter lim="800000"/>
            <a:headEnd/>
            <a:tailEnd/>
          </a:ln>
        </p:spPr>
        <p:txBody>
          <a:bodyPr wrap="square" anchor="ctr" anchorCtr="0">
            <a:spAutoFit/>
          </a:bodyPr>
          <a:lstStyle/>
          <a:p>
            <a:pPr algn="ctr" defTabSz="1219139" fontAlgn="base">
              <a:lnSpc>
                <a:spcPct val="90000"/>
              </a:lnSpc>
              <a:spcBef>
                <a:spcPct val="0"/>
              </a:spcBef>
              <a:spcAft>
                <a:spcPct val="0"/>
              </a:spcAft>
              <a:defRPr/>
            </a:pPr>
            <a:r>
              <a:rPr lang="en-US" sz="1067" dirty="0">
                <a:solidFill>
                  <a:schemeClr val="bg1"/>
                </a:solidFill>
                <a:ea typeface="MS PGothic" charset="-128"/>
              </a:rPr>
              <a:t>Document</a:t>
            </a:r>
            <a:br>
              <a:rPr lang="en-US" sz="1067" dirty="0">
                <a:solidFill>
                  <a:schemeClr val="bg1"/>
                </a:solidFill>
                <a:ea typeface="MS PGothic" charset="-128"/>
              </a:rPr>
            </a:br>
            <a:r>
              <a:rPr lang="en-US" sz="1067" dirty="0">
                <a:solidFill>
                  <a:schemeClr val="bg1"/>
                </a:solidFill>
                <a:ea typeface="MS PGothic" charset="-128"/>
              </a:rPr>
              <a:t>Manager</a:t>
            </a:r>
          </a:p>
        </p:txBody>
      </p:sp>
      <p:sp>
        <p:nvSpPr>
          <p:cNvPr id="182" name="AutoShape 3">
            <a:extLst>
              <a:ext uri="{FF2B5EF4-FFF2-40B4-BE49-F238E27FC236}">
                <a16:creationId xmlns:a16="http://schemas.microsoft.com/office/drawing/2014/main" id="{00B03D8A-908E-4379-93D0-D854E0FD31F6}"/>
              </a:ext>
            </a:extLst>
          </p:cNvPr>
          <p:cNvSpPr>
            <a:spLocks noChangeArrowheads="1"/>
          </p:cNvSpPr>
          <p:nvPr/>
        </p:nvSpPr>
        <p:spPr bwMode="auto">
          <a:xfrm>
            <a:off x="5009913" y="4646048"/>
            <a:ext cx="1209843" cy="346424"/>
          </a:xfrm>
          <a:prstGeom prst="roundRect">
            <a:avLst>
              <a:gd name="adj" fmla="val 0"/>
            </a:avLst>
          </a:prstGeom>
          <a:solidFill>
            <a:schemeClr val="bg2"/>
          </a:solidFill>
          <a:ln w="12700" algn="ctr">
            <a:noFill/>
            <a:miter lim="800000"/>
            <a:headEnd/>
            <a:tailEnd/>
          </a:ln>
          <a:effectLst/>
        </p:spPr>
        <p:txBody>
          <a:bodyPr wrap="none" anchor="ctr"/>
          <a:lstStyle>
            <a:lvl1pPr defTabSz="912813">
              <a:defRPr sz="2200">
                <a:solidFill>
                  <a:schemeClr val="hlink"/>
                </a:solidFill>
                <a:latin typeface="Arial" panose="020B0604020202020204" pitchFamily="34" charset="0"/>
                <a:ea typeface="MS PGothic" panose="020B0600070205080204" pitchFamily="34" charset="-128"/>
              </a:defRPr>
            </a:lvl1pPr>
            <a:lvl2pPr marL="742950" indent="-285750" defTabSz="912813">
              <a:defRPr sz="2200">
                <a:solidFill>
                  <a:schemeClr val="hlink"/>
                </a:solidFill>
                <a:latin typeface="Arial" panose="020B0604020202020204" pitchFamily="34" charset="0"/>
                <a:ea typeface="MS PGothic" panose="020B0600070205080204" pitchFamily="34" charset="-128"/>
              </a:defRPr>
            </a:lvl2pPr>
            <a:lvl3pPr marL="1143000" indent="-228600" defTabSz="912813">
              <a:defRPr sz="2200">
                <a:solidFill>
                  <a:schemeClr val="hlink"/>
                </a:solidFill>
                <a:latin typeface="Arial" panose="020B0604020202020204" pitchFamily="34" charset="0"/>
                <a:ea typeface="MS PGothic" panose="020B0600070205080204" pitchFamily="34" charset="-128"/>
              </a:defRPr>
            </a:lvl3pPr>
            <a:lvl4pPr marL="1600200" indent="-228600" defTabSz="912813">
              <a:defRPr sz="2200">
                <a:solidFill>
                  <a:schemeClr val="hlink"/>
                </a:solidFill>
                <a:latin typeface="Arial" panose="020B0604020202020204" pitchFamily="34" charset="0"/>
                <a:ea typeface="MS PGothic" panose="020B0600070205080204" pitchFamily="34" charset="-128"/>
              </a:defRPr>
            </a:lvl4pPr>
            <a:lvl5pPr marL="2057400" indent="-228600" defTabSz="912813">
              <a:defRPr sz="2200">
                <a:solidFill>
                  <a:schemeClr val="hlink"/>
                </a:solidFill>
                <a:latin typeface="Arial" panose="020B0604020202020204" pitchFamily="34" charset="0"/>
                <a:ea typeface="MS PGothic" panose="020B0600070205080204" pitchFamily="34" charset="-128"/>
              </a:defRPr>
            </a:lvl5pPr>
            <a:lvl6pPr marL="2514600" indent="-228600" defTabSz="912813" eaLnBrk="0" fontAlgn="base" hangingPunct="0">
              <a:spcBef>
                <a:spcPct val="0"/>
              </a:spcBef>
              <a:spcAft>
                <a:spcPct val="0"/>
              </a:spcAft>
              <a:defRPr sz="2200">
                <a:solidFill>
                  <a:schemeClr val="hlink"/>
                </a:solidFill>
                <a:latin typeface="Arial" panose="020B0604020202020204" pitchFamily="34" charset="0"/>
                <a:ea typeface="MS PGothic" panose="020B0600070205080204" pitchFamily="34" charset="-128"/>
              </a:defRPr>
            </a:lvl6pPr>
            <a:lvl7pPr marL="2971800" indent="-228600" defTabSz="912813" eaLnBrk="0" fontAlgn="base" hangingPunct="0">
              <a:spcBef>
                <a:spcPct val="0"/>
              </a:spcBef>
              <a:spcAft>
                <a:spcPct val="0"/>
              </a:spcAft>
              <a:defRPr sz="2200">
                <a:solidFill>
                  <a:schemeClr val="hlink"/>
                </a:solidFill>
                <a:latin typeface="Arial" panose="020B0604020202020204" pitchFamily="34" charset="0"/>
                <a:ea typeface="MS PGothic" panose="020B0600070205080204" pitchFamily="34" charset="-128"/>
              </a:defRPr>
            </a:lvl7pPr>
            <a:lvl8pPr marL="3429000" indent="-228600" defTabSz="912813" eaLnBrk="0" fontAlgn="base" hangingPunct="0">
              <a:spcBef>
                <a:spcPct val="0"/>
              </a:spcBef>
              <a:spcAft>
                <a:spcPct val="0"/>
              </a:spcAft>
              <a:defRPr sz="2200">
                <a:solidFill>
                  <a:schemeClr val="hlink"/>
                </a:solidFill>
                <a:latin typeface="Arial" panose="020B0604020202020204" pitchFamily="34" charset="0"/>
                <a:ea typeface="MS PGothic" panose="020B0600070205080204" pitchFamily="34" charset="-128"/>
              </a:defRPr>
            </a:lvl8pPr>
            <a:lvl9pPr marL="3886200" indent="-228600" defTabSz="912813" eaLnBrk="0" fontAlgn="base" hangingPunct="0">
              <a:spcBef>
                <a:spcPct val="0"/>
              </a:spcBef>
              <a:spcAft>
                <a:spcPct val="0"/>
              </a:spcAft>
              <a:defRPr sz="2200">
                <a:solidFill>
                  <a:schemeClr val="hlink"/>
                </a:solidFill>
                <a:latin typeface="Arial" panose="020B0604020202020204" pitchFamily="34" charset="0"/>
                <a:ea typeface="MS PGothic" panose="020B0600070205080204" pitchFamily="34" charset="-128"/>
              </a:defRPr>
            </a:lvl9pPr>
          </a:lstStyle>
          <a:p>
            <a:pPr algn="ctr" defTabSz="966828" fontAlgn="base">
              <a:lnSpc>
                <a:spcPct val="80000"/>
              </a:lnSpc>
              <a:spcBef>
                <a:spcPct val="50000"/>
              </a:spcBef>
              <a:spcAft>
                <a:spcPct val="0"/>
              </a:spcAft>
              <a:defRPr/>
            </a:pPr>
            <a:r>
              <a:rPr lang="en-US" altLang="en-US" sz="1200" dirty="0">
                <a:solidFill>
                  <a:schemeClr val="tx1"/>
                </a:solidFill>
                <a:latin typeface="+mn-lt"/>
                <a:ea typeface="MS PGothic" charset="-128"/>
              </a:rPr>
              <a:t>CMIS </a:t>
            </a:r>
            <a:br>
              <a:rPr lang="en-US" altLang="en-US" sz="1200" dirty="0">
                <a:solidFill>
                  <a:schemeClr val="tx1"/>
                </a:solidFill>
                <a:latin typeface="+mn-lt"/>
                <a:ea typeface="MS PGothic" charset="-128"/>
              </a:rPr>
            </a:br>
            <a:r>
              <a:rPr lang="en-US" altLang="en-US" sz="1200" dirty="0">
                <a:solidFill>
                  <a:schemeClr val="tx1"/>
                </a:solidFill>
                <a:latin typeface="+mn-lt"/>
                <a:ea typeface="MS PGothic" charset="-128"/>
              </a:rPr>
              <a:t>Connector</a:t>
            </a:r>
          </a:p>
        </p:txBody>
      </p:sp>
      <p:cxnSp>
        <p:nvCxnSpPr>
          <p:cNvPr id="183" name="Straight Arrow Connector 182">
            <a:extLst>
              <a:ext uri="{FF2B5EF4-FFF2-40B4-BE49-F238E27FC236}">
                <a16:creationId xmlns:a16="http://schemas.microsoft.com/office/drawing/2014/main" id="{7694E1B7-7357-4A12-A6B6-989A7DF794DB}"/>
              </a:ext>
            </a:extLst>
          </p:cNvPr>
          <p:cNvCxnSpPr>
            <a:cxnSpLocks/>
          </p:cNvCxnSpPr>
          <p:nvPr/>
        </p:nvCxnSpPr>
        <p:spPr bwMode="auto">
          <a:xfrm>
            <a:off x="5598577" y="4194019"/>
            <a:ext cx="0" cy="326845"/>
          </a:xfrm>
          <a:prstGeom prst="straightConnector1">
            <a:avLst/>
          </a:prstGeom>
          <a:ln w="9525">
            <a:solidFill>
              <a:srgbClr val="08BDBA"/>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186" name="Elbow Connector 199">
            <a:extLst>
              <a:ext uri="{FF2B5EF4-FFF2-40B4-BE49-F238E27FC236}">
                <a16:creationId xmlns:a16="http://schemas.microsoft.com/office/drawing/2014/main" id="{E6A4ADDC-BECE-43B8-86D2-FF23702CD0AB}"/>
              </a:ext>
            </a:extLst>
          </p:cNvPr>
          <p:cNvCxnSpPr>
            <a:cxnSpLocks noChangeShapeType="1"/>
            <a:stCxn id="182" idx="2"/>
          </p:cNvCxnSpPr>
          <p:nvPr/>
        </p:nvCxnSpPr>
        <p:spPr bwMode="auto">
          <a:xfrm rot="16200000" flipH="1">
            <a:off x="6466408" y="4140900"/>
            <a:ext cx="468645" cy="2171793"/>
          </a:xfrm>
          <a:prstGeom prst="bentConnector3">
            <a:avLst>
              <a:gd name="adj1" fmla="val 50000"/>
            </a:avLst>
          </a:prstGeom>
          <a:ln w="9525">
            <a:solidFill>
              <a:schemeClr val="tx1"/>
            </a:solidFill>
            <a:headEnd type="none" w="med" len="med"/>
            <a:tailEnd type="triangle"/>
          </a:ln>
          <a:effectLst/>
          <a:extLst>
            <a:ext uri="{909E8E84-426E-40dd-AFC4-6F175D3DCCD1}">
              <a14:hiddenFill xmlns:a14="http://schemas.microsoft.com/office/drawing/2010/main" xmlns="">
                <a:noFill/>
              </a14:hiddenFill>
            </a:ext>
          </a:extLst>
        </p:spPr>
        <p:style>
          <a:lnRef idx="1">
            <a:schemeClr val="dk1"/>
          </a:lnRef>
          <a:fillRef idx="0">
            <a:schemeClr val="dk1"/>
          </a:fillRef>
          <a:effectRef idx="0">
            <a:schemeClr val="dk1"/>
          </a:effectRef>
          <a:fontRef idx="minor">
            <a:schemeClr val="tx1"/>
          </a:fontRef>
        </p:style>
      </p:cxnSp>
      <p:grpSp>
        <p:nvGrpSpPr>
          <p:cNvPr id="187" name="Group 186">
            <a:extLst>
              <a:ext uri="{FF2B5EF4-FFF2-40B4-BE49-F238E27FC236}">
                <a16:creationId xmlns:a16="http://schemas.microsoft.com/office/drawing/2014/main" id="{792742F6-AFFF-4E77-94C9-91CFCCCB5575}"/>
              </a:ext>
            </a:extLst>
          </p:cNvPr>
          <p:cNvGrpSpPr/>
          <p:nvPr/>
        </p:nvGrpSpPr>
        <p:grpSpPr>
          <a:xfrm>
            <a:off x="4705118" y="5028942"/>
            <a:ext cx="146143" cy="372733"/>
            <a:chOff x="2331285" y="3652077"/>
            <a:chExt cx="105989" cy="284993"/>
          </a:xfrm>
        </p:grpSpPr>
        <p:cxnSp>
          <p:nvCxnSpPr>
            <p:cNvPr id="188" name="Straight Arrow Connector 187">
              <a:extLst>
                <a:ext uri="{FF2B5EF4-FFF2-40B4-BE49-F238E27FC236}">
                  <a16:creationId xmlns:a16="http://schemas.microsoft.com/office/drawing/2014/main" id="{06C7CA9A-349B-45F9-9969-C19B8338CBB9}"/>
                </a:ext>
              </a:extLst>
            </p:cNvPr>
            <p:cNvCxnSpPr>
              <a:cxnSpLocks/>
            </p:cNvCxnSpPr>
            <p:nvPr/>
          </p:nvCxnSpPr>
          <p:spPr bwMode="auto">
            <a:xfrm flipV="1">
              <a:off x="2331285" y="3652077"/>
              <a:ext cx="0" cy="267461"/>
            </a:xfrm>
            <a:prstGeom prst="straightConnector1">
              <a:avLst/>
            </a:prstGeom>
            <a:ln w="9525">
              <a:solidFill>
                <a:srgbClr val="1192E8"/>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189" name="Straight Arrow Connector 188">
              <a:extLst>
                <a:ext uri="{FF2B5EF4-FFF2-40B4-BE49-F238E27FC236}">
                  <a16:creationId xmlns:a16="http://schemas.microsoft.com/office/drawing/2014/main" id="{B84638FE-E8A8-493A-B136-AB778CA399E1}"/>
                </a:ext>
              </a:extLst>
            </p:cNvPr>
            <p:cNvCxnSpPr>
              <a:cxnSpLocks/>
            </p:cNvCxnSpPr>
            <p:nvPr/>
          </p:nvCxnSpPr>
          <p:spPr bwMode="auto">
            <a:xfrm flipV="1">
              <a:off x="2437274" y="3669609"/>
              <a:ext cx="0" cy="267461"/>
            </a:xfrm>
            <a:prstGeom prst="straightConnector1">
              <a:avLst/>
            </a:prstGeom>
            <a:ln w="9525">
              <a:solidFill>
                <a:srgbClr val="1192E8"/>
              </a:solidFill>
              <a:headEnd type="triangle" w="med" len="med"/>
              <a:tailEnd type="none"/>
            </a:ln>
            <a:effectLst/>
          </p:spPr>
          <p:style>
            <a:lnRef idx="1">
              <a:schemeClr val="dk1"/>
            </a:lnRef>
            <a:fillRef idx="0">
              <a:schemeClr val="dk1"/>
            </a:fillRef>
            <a:effectRef idx="0">
              <a:schemeClr val="dk1"/>
            </a:effectRef>
            <a:fontRef idx="minor">
              <a:schemeClr val="tx1"/>
            </a:fontRef>
          </p:style>
        </p:cxnSp>
      </p:grpSp>
      <p:sp>
        <p:nvSpPr>
          <p:cNvPr id="194" name="Text Box 23">
            <a:extLst>
              <a:ext uri="{FF2B5EF4-FFF2-40B4-BE49-F238E27FC236}">
                <a16:creationId xmlns:a16="http://schemas.microsoft.com/office/drawing/2014/main" id="{EE8CD767-BD4F-48E8-9EB1-33D93818B1FF}"/>
              </a:ext>
            </a:extLst>
          </p:cNvPr>
          <p:cNvSpPr txBox="1">
            <a:spLocks noChangeArrowheads="1"/>
          </p:cNvSpPr>
          <p:nvPr/>
        </p:nvSpPr>
        <p:spPr bwMode="auto">
          <a:xfrm>
            <a:off x="316572" y="1682882"/>
            <a:ext cx="912789" cy="410241"/>
          </a:xfrm>
          <a:prstGeom prst="rect">
            <a:avLst/>
          </a:prstGeom>
          <a:noFill/>
          <a:ln w="9525">
            <a:noFill/>
            <a:miter lim="800000"/>
            <a:headEnd/>
            <a:tailEnd/>
          </a:ln>
        </p:spPr>
        <p:txBody>
          <a:bodyPr wrap="square" lIns="0" tIns="0" rIns="0" bIns="0">
            <a:spAutoFit/>
          </a:bodyPr>
          <a:lstStyle/>
          <a:p>
            <a:pPr algn="r" defTabSz="1219139" fontAlgn="base">
              <a:spcBef>
                <a:spcPts val="1600"/>
              </a:spcBef>
              <a:spcAft>
                <a:spcPct val="0"/>
              </a:spcAft>
              <a:buClr>
                <a:srgbClr val="000000"/>
              </a:buClr>
              <a:buSzPct val="90000"/>
              <a:defRPr/>
            </a:pPr>
            <a:r>
              <a:rPr lang="en-US" sz="1333" dirty="0"/>
              <a:t>IBM TRIRIGA Offerings</a:t>
            </a:r>
          </a:p>
        </p:txBody>
      </p:sp>
      <p:sp>
        <p:nvSpPr>
          <p:cNvPr id="195" name="Text Box 23">
            <a:extLst>
              <a:ext uri="{FF2B5EF4-FFF2-40B4-BE49-F238E27FC236}">
                <a16:creationId xmlns:a16="http://schemas.microsoft.com/office/drawing/2014/main" id="{62B87528-7F46-464F-9F59-02960DC02CD4}"/>
              </a:ext>
            </a:extLst>
          </p:cNvPr>
          <p:cNvSpPr txBox="1">
            <a:spLocks noChangeArrowheads="1"/>
          </p:cNvSpPr>
          <p:nvPr/>
        </p:nvSpPr>
        <p:spPr bwMode="auto">
          <a:xfrm>
            <a:off x="316572" y="3670748"/>
            <a:ext cx="912789" cy="410241"/>
          </a:xfrm>
          <a:prstGeom prst="rect">
            <a:avLst/>
          </a:prstGeom>
          <a:noFill/>
          <a:ln w="9525">
            <a:noFill/>
            <a:miter lim="800000"/>
            <a:headEnd/>
            <a:tailEnd/>
          </a:ln>
        </p:spPr>
        <p:txBody>
          <a:bodyPr wrap="square" lIns="0" tIns="0" rIns="0" bIns="0">
            <a:spAutoFit/>
          </a:bodyPr>
          <a:lstStyle/>
          <a:p>
            <a:pPr algn="r" defTabSz="1219139" fontAlgn="base">
              <a:spcBef>
                <a:spcPts val="1600"/>
              </a:spcBef>
              <a:spcAft>
                <a:spcPct val="0"/>
              </a:spcAft>
              <a:buClr>
                <a:srgbClr val="000000"/>
              </a:buClr>
              <a:buSzPct val="90000"/>
              <a:defRPr/>
            </a:pPr>
            <a:r>
              <a:rPr lang="en-US" sz="1333" dirty="0"/>
              <a:t>Integration Methods</a:t>
            </a:r>
          </a:p>
        </p:txBody>
      </p:sp>
      <p:sp>
        <p:nvSpPr>
          <p:cNvPr id="196" name="Text Box 23">
            <a:extLst>
              <a:ext uri="{FF2B5EF4-FFF2-40B4-BE49-F238E27FC236}">
                <a16:creationId xmlns:a16="http://schemas.microsoft.com/office/drawing/2014/main" id="{CEDF4B79-6F9A-4806-B533-1E996588BC07}"/>
              </a:ext>
            </a:extLst>
          </p:cNvPr>
          <p:cNvSpPr txBox="1">
            <a:spLocks noChangeArrowheads="1"/>
          </p:cNvSpPr>
          <p:nvPr/>
        </p:nvSpPr>
        <p:spPr bwMode="auto">
          <a:xfrm>
            <a:off x="316572" y="5730286"/>
            <a:ext cx="912789" cy="410241"/>
          </a:xfrm>
          <a:prstGeom prst="rect">
            <a:avLst/>
          </a:prstGeom>
          <a:noFill/>
          <a:ln w="9525">
            <a:noFill/>
            <a:miter lim="800000"/>
            <a:headEnd/>
            <a:tailEnd/>
          </a:ln>
        </p:spPr>
        <p:txBody>
          <a:bodyPr wrap="square" lIns="0" tIns="0" rIns="0" bIns="0">
            <a:spAutoFit/>
          </a:bodyPr>
          <a:lstStyle/>
          <a:p>
            <a:pPr algn="r" defTabSz="1219139" fontAlgn="base">
              <a:spcBef>
                <a:spcPts val="1600"/>
              </a:spcBef>
              <a:spcAft>
                <a:spcPct val="0"/>
              </a:spcAft>
              <a:buClr>
                <a:srgbClr val="000000"/>
              </a:buClr>
              <a:buSzPct val="90000"/>
              <a:defRPr/>
            </a:pPr>
            <a:r>
              <a:rPr lang="en-US" sz="1333" dirty="0"/>
              <a:t>External Systems</a:t>
            </a:r>
          </a:p>
        </p:txBody>
      </p:sp>
      <p:grpSp>
        <p:nvGrpSpPr>
          <p:cNvPr id="43" name="Group 42">
            <a:extLst>
              <a:ext uri="{FF2B5EF4-FFF2-40B4-BE49-F238E27FC236}">
                <a16:creationId xmlns:a16="http://schemas.microsoft.com/office/drawing/2014/main" id="{58AC5DEC-5B7F-93D5-7D3B-6CE6B7ADC0BE}"/>
              </a:ext>
            </a:extLst>
          </p:cNvPr>
          <p:cNvGrpSpPr/>
          <p:nvPr/>
        </p:nvGrpSpPr>
        <p:grpSpPr>
          <a:xfrm>
            <a:off x="1479296" y="1320098"/>
            <a:ext cx="10403837" cy="1341120"/>
            <a:chOff x="1109472" y="885366"/>
            <a:chExt cx="7802878" cy="1005840"/>
          </a:xfrm>
        </p:grpSpPr>
        <p:sp>
          <p:nvSpPr>
            <p:cNvPr id="3" name="Rectangle 2">
              <a:extLst>
                <a:ext uri="{FF2B5EF4-FFF2-40B4-BE49-F238E27FC236}">
                  <a16:creationId xmlns:a16="http://schemas.microsoft.com/office/drawing/2014/main" id="{72AFFA84-1BA6-9FD6-506F-D44C73026416}"/>
                </a:ext>
              </a:extLst>
            </p:cNvPr>
            <p:cNvSpPr/>
            <p:nvPr/>
          </p:nvSpPr>
          <p:spPr>
            <a:xfrm>
              <a:off x="1109472" y="885366"/>
              <a:ext cx="974747" cy="1005840"/>
            </a:xfrm>
            <a:prstGeom prst="rect">
              <a:avLst/>
            </a:prstGeom>
            <a:solidFill>
              <a:srgbClr val="001D6C"/>
            </a:solidFill>
            <a:ln w="9525">
              <a:noFill/>
            </a:ln>
          </p:spPr>
          <p:txBody>
            <a:bodyPr wrap="square" lIns="0" tIns="0" rIns="0" bIns="0" rtlCol="0" anchor="ctr">
              <a:noAutofit/>
            </a:bodyPr>
            <a:lstStyle/>
            <a:p>
              <a:pPr algn="ctr" defTabSz="914598">
                <a:defRPr/>
              </a:pPr>
              <a:endParaRPr lang="en-US" sz="1600" dirty="0">
                <a:solidFill>
                  <a:srgbClr val="FFFFFF"/>
                </a:solidFill>
                <a:cs typeface="Arial"/>
              </a:endParaRPr>
            </a:p>
          </p:txBody>
        </p:sp>
        <p:sp>
          <p:nvSpPr>
            <p:cNvPr id="8" name="TextBox 7">
              <a:extLst>
                <a:ext uri="{FF2B5EF4-FFF2-40B4-BE49-F238E27FC236}">
                  <a16:creationId xmlns:a16="http://schemas.microsoft.com/office/drawing/2014/main" id="{8EA55658-DF6C-EE90-EB42-F8556F4F49CD}"/>
                </a:ext>
              </a:extLst>
            </p:cNvPr>
            <p:cNvSpPr txBox="1"/>
            <p:nvPr/>
          </p:nvSpPr>
          <p:spPr>
            <a:xfrm>
              <a:off x="1238643" y="1480674"/>
              <a:ext cx="731520" cy="153841"/>
            </a:xfrm>
            <a:prstGeom prst="rect">
              <a:avLst/>
            </a:prstGeom>
            <a:noFill/>
          </p:spPr>
          <p:txBody>
            <a:bodyPr wrap="square" lIns="0" tIns="0" rIns="0" bIns="0" rtlCol="0">
              <a:spAutoFit/>
            </a:bodyPr>
            <a:lstStyle/>
            <a:p>
              <a:pPr algn="ctr" defTabSz="914598">
                <a:defRPr/>
              </a:pPr>
              <a:r>
                <a:rPr lang="en-US" sz="1333" dirty="0">
                  <a:solidFill>
                    <a:schemeClr val="bg1"/>
                  </a:solidFill>
                </a:rPr>
                <a:t>Acquire </a:t>
              </a:r>
            </a:p>
          </p:txBody>
        </p:sp>
        <p:sp>
          <p:nvSpPr>
            <p:cNvPr id="9" name="Graphic 80">
              <a:extLst>
                <a:ext uri="{FF2B5EF4-FFF2-40B4-BE49-F238E27FC236}">
                  <a16:creationId xmlns:a16="http://schemas.microsoft.com/office/drawing/2014/main" id="{02AC5F77-899F-2D09-27EE-B3356D703AC5}"/>
                </a:ext>
              </a:extLst>
            </p:cNvPr>
            <p:cNvSpPr>
              <a:spLocks noChangeAspect="1"/>
            </p:cNvSpPr>
            <p:nvPr/>
          </p:nvSpPr>
          <p:spPr>
            <a:xfrm>
              <a:off x="1469118" y="1004825"/>
              <a:ext cx="270571" cy="365760"/>
            </a:xfrm>
            <a:custGeom>
              <a:avLst/>
              <a:gdLst>
                <a:gd name="connsiteX0" fmla="*/ 1902981 w 3805836"/>
                <a:gd name="connsiteY0" fmla="*/ 5144448 h 5144763"/>
                <a:gd name="connsiteX1" fmla="*/ 1862434 w 3805836"/>
                <a:gd name="connsiteY1" fmla="*/ 5128785 h 5144763"/>
                <a:gd name="connsiteX2" fmla="*/ 947 w 3805836"/>
                <a:gd name="connsiteY2" fmla="*/ 1902981 h 5144763"/>
                <a:gd name="connsiteX3" fmla="*/ 1902981 w 3805836"/>
                <a:gd name="connsiteY3" fmla="*/ 947 h 5144763"/>
                <a:gd name="connsiteX4" fmla="*/ 3805015 w 3805836"/>
                <a:gd name="connsiteY4" fmla="*/ 1902981 h 5144763"/>
                <a:gd name="connsiteX5" fmla="*/ 1945675 w 3805836"/>
                <a:gd name="connsiteY5" fmla="*/ 5126764 h 5144763"/>
                <a:gd name="connsiteX6" fmla="*/ 1902981 w 3805836"/>
                <a:gd name="connsiteY6" fmla="*/ 5144448 h 5144763"/>
                <a:gd name="connsiteX7" fmla="*/ 1902981 w 3805836"/>
                <a:gd name="connsiteY7" fmla="*/ 121577 h 5144763"/>
                <a:gd name="connsiteX8" fmla="*/ 121451 w 3805836"/>
                <a:gd name="connsiteY8" fmla="*/ 1902981 h 5144763"/>
                <a:gd name="connsiteX9" fmla="*/ 1901087 w 3805836"/>
                <a:gd name="connsiteY9" fmla="*/ 4999692 h 5144763"/>
                <a:gd name="connsiteX10" fmla="*/ 3684512 w 3805836"/>
                <a:gd name="connsiteY10" fmla="*/ 1902981 h 5144763"/>
                <a:gd name="connsiteX11" fmla="*/ 1902981 w 3805836"/>
                <a:gd name="connsiteY11" fmla="*/ 121577 h 5144763"/>
                <a:gd name="connsiteX12" fmla="*/ 1902981 w 3805836"/>
                <a:gd name="connsiteY12" fmla="*/ 2632949 h 5144763"/>
                <a:gd name="connsiteX13" fmla="*/ 1173014 w 3805836"/>
                <a:gd name="connsiteY13" fmla="*/ 1902981 h 5144763"/>
                <a:gd name="connsiteX14" fmla="*/ 1902981 w 3805836"/>
                <a:gd name="connsiteY14" fmla="*/ 1173014 h 5144763"/>
                <a:gd name="connsiteX15" fmla="*/ 2632949 w 3805836"/>
                <a:gd name="connsiteY15" fmla="*/ 1902981 h 5144763"/>
                <a:gd name="connsiteX16" fmla="*/ 1902981 w 3805836"/>
                <a:gd name="connsiteY16" fmla="*/ 2632949 h 5144763"/>
                <a:gd name="connsiteX17" fmla="*/ 1902981 w 3805836"/>
                <a:gd name="connsiteY17" fmla="*/ 1293517 h 5144763"/>
                <a:gd name="connsiteX18" fmla="*/ 1293517 w 3805836"/>
                <a:gd name="connsiteY18" fmla="*/ 1902981 h 5144763"/>
                <a:gd name="connsiteX19" fmla="*/ 1902981 w 3805836"/>
                <a:gd name="connsiteY19" fmla="*/ 2512446 h 5144763"/>
                <a:gd name="connsiteX20" fmla="*/ 2512446 w 3805836"/>
                <a:gd name="connsiteY20" fmla="*/ 1902981 h 5144763"/>
                <a:gd name="connsiteX21" fmla="*/ 1902981 w 3805836"/>
                <a:gd name="connsiteY21" fmla="*/ 1293517 h 5144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805836" h="5144763">
                  <a:moveTo>
                    <a:pt x="1902981" y="5144448"/>
                  </a:moveTo>
                  <a:cubicBezTo>
                    <a:pt x="1888455" y="5144448"/>
                    <a:pt x="1873929" y="5139269"/>
                    <a:pt x="1862434" y="5128785"/>
                  </a:cubicBezTo>
                  <a:cubicBezTo>
                    <a:pt x="1786394" y="5059691"/>
                    <a:pt x="947" y="3419127"/>
                    <a:pt x="947" y="1902981"/>
                  </a:cubicBezTo>
                  <a:cubicBezTo>
                    <a:pt x="947" y="854197"/>
                    <a:pt x="854071" y="947"/>
                    <a:pt x="1902981" y="947"/>
                  </a:cubicBezTo>
                  <a:cubicBezTo>
                    <a:pt x="2951891" y="947"/>
                    <a:pt x="3805015" y="854197"/>
                    <a:pt x="3805015" y="1902981"/>
                  </a:cubicBezTo>
                  <a:cubicBezTo>
                    <a:pt x="3805015" y="3251887"/>
                    <a:pt x="2021590" y="5050849"/>
                    <a:pt x="1945675" y="5126764"/>
                  </a:cubicBezTo>
                  <a:cubicBezTo>
                    <a:pt x="1933802" y="5138511"/>
                    <a:pt x="1918392" y="5144448"/>
                    <a:pt x="1902981" y="5144448"/>
                  </a:cubicBezTo>
                  <a:close/>
                  <a:moveTo>
                    <a:pt x="1902981" y="121577"/>
                  </a:moveTo>
                  <a:cubicBezTo>
                    <a:pt x="920638" y="121577"/>
                    <a:pt x="121451" y="920639"/>
                    <a:pt x="121451" y="1902981"/>
                  </a:cubicBezTo>
                  <a:cubicBezTo>
                    <a:pt x="121451" y="3239256"/>
                    <a:pt x="1626986" y="4737970"/>
                    <a:pt x="1901087" y="4999692"/>
                  </a:cubicBezTo>
                  <a:cubicBezTo>
                    <a:pt x="2170893" y="4719149"/>
                    <a:pt x="3684512" y="3092226"/>
                    <a:pt x="3684512" y="1902981"/>
                  </a:cubicBezTo>
                  <a:cubicBezTo>
                    <a:pt x="3684386" y="920639"/>
                    <a:pt x="2885198" y="121577"/>
                    <a:pt x="1902981" y="121577"/>
                  </a:cubicBezTo>
                  <a:close/>
                  <a:moveTo>
                    <a:pt x="1902981" y="2632949"/>
                  </a:moveTo>
                  <a:cubicBezTo>
                    <a:pt x="1500419" y="2632949"/>
                    <a:pt x="1173014" y="2305417"/>
                    <a:pt x="1173014" y="1902981"/>
                  </a:cubicBezTo>
                  <a:cubicBezTo>
                    <a:pt x="1173014" y="1500545"/>
                    <a:pt x="1500419" y="1173014"/>
                    <a:pt x="1902981" y="1173014"/>
                  </a:cubicBezTo>
                  <a:cubicBezTo>
                    <a:pt x="2305544" y="1173014"/>
                    <a:pt x="2632949" y="1500545"/>
                    <a:pt x="2632949" y="1902981"/>
                  </a:cubicBezTo>
                  <a:cubicBezTo>
                    <a:pt x="2632949" y="2305417"/>
                    <a:pt x="2305544" y="2632949"/>
                    <a:pt x="1902981" y="2632949"/>
                  </a:cubicBezTo>
                  <a:close/>
                  <a:moveTo>
                    <a:pt x="1902981" y="1293517"/>
                  </a:moveTo>
                  <a:cubicBezTo>
                    <a:pt x="1566860" y="1293517"/>
                    <a:pt x="1293517" y="1566860"/>
                    <a:pt x="1293517" y="1902981"/>
                  </a:cubicBezTo>
                  <a:cubicBezTo>
                    <a:pt x="1293517" y="2239103"/>
                    <a:pt x="1566860" y="2512446"/>
                    <a:pt x="1902981" y="2512446"/>
                  </a:cubicBezTo>
                  <a:cubicBezTo>
                    <a:pt x="2239103" y="2512446"/>
                    <a:pt x="2512446" y="2239103"/>
                    <a:pt x="2512446" y="1902981"/>
                  </a:cubicBezTo>
                  <a:cubicBezTo>
                    <a:pt x="2512446" y="1566860"/>
                    <a:pt x="2238976" y="1293517"/>
                    <a:pt x="1902981" y="1293517"/>
                  </a:cubicBezTo>
                  <a:close/>
                </a:path>
              </a:pathLst>
            </a:custGeom>
            <a:solidFill>
              <a:schemeClr val="bg1"/>
            </a:solidFill>
            <a:ln w="9525" cap="flat">
              <a:noFill/>
              <a:prstDash val="solid"/>
              <a:miter/>
            </a:ln>
          </p:spPr>
          <p:txBody>
            <a:bodyPr rtlCol="0" anchor="ctr"/>
            <a:lstStyle/>
            <a:p>
              <a:endParaRPr lang="en-US" sz="2400"/>
            </a:p>
          </p:txBody>
        </p:sp>
        <p:sp>
          <p:nvSpPr>
            <p:cNvPr id="10" name="Rectangle 9">
              <a:extLst>
                <a:ext uri="{FF2B5EF4-FFF2-40B4-BE49-F238E27FC236}">
                  <a16:creationId xmlns:a16="http://schemas.microsoft.com/office/drawing/2014/main" id="{2568D1A5-4B83-019C-7CE1-BF7C3BB12928}"/>
                </a:ext>
              </a:extLst>
            </p:cNvPr>
            <p:cNvSpPr/>
            <p:nvPr/>
          </p:nvSpPr>
          <p:spPr>
            <a:xfrm>
              <a:off x="2247494" y="885366"/>
              <a:ext cx="974747" cy="1005840"/>
            </a:xfrm>
            <a:prstGeom prst="rect">
              <a:avLst/>
            </a:prstGeom>
            <a:solidFill>
              <a:srgbClr val="001D6C"/>
            </a:solidFill>
            <a:ln w="9525">
              <a:noFill/>
            </a:ln>
          </p:spPr>
          <p:txBody>
            <a:bodyPr wrap="square" lIns="0" tIns="0" rIns="0" bIns="0" rtlCol="0" anchor="ctr">
              <a:noAutofit/>
            </a:bodyPr>
            <a:lstStyle/>
            <a:p>
              <a:pPr algn="ctr" defTabSz="914598">
                <a:defRPr/>
              </a:pPr>
              <a:endParaRPr lang="en-US" sz="1600" dirty="0">
                <a:solidFill>
                  <a:srgbClr val="FFFFFF"/>
                </a:solidFill>
                <a:cs typeface="Arial"/>
              </a:endParaRPr>
            </a:p>
          </p:txBody>
        </p:sp>
        <p:sp>
          <p:nvSpPr>
            <p:cNvPr id="11" name="TextBox 10">
              <a:extLst>
                <a:ext uri="{FF2B5EF4-FFF2-40B4-BE49-F238E27FC236}">
                  <a16:creationId xmlns:a16="http://schemas.microsoft.com/office/drawing/2014/main" id="{A7DA287D-8E23-39D8-DF73-F2CF2C1006E0}"/>
                </a:ext>
              </a:extLst>
            </p:cNvPr>
            <p:cNvSpPr txBox="1"/>
            <p:nvPr/>
          </p:nvSpPr>
          <p:spPr>
            <a:xfrm>
              <a:off x="2376665" y="1503534"/>
              <a:ext cx="731520" cy="153841"/>
            </a:xfrm>
            <a:prstGeom prst="rect">
              <a:avLst/>
            </a:prstGeom>
            <a:noFill/>
          </p:spPr>
          <p:txBody>
            <a:bodyPr wrap="square" lIns="0" tIns="0" rIns="0" bIns="0" rtlCol="0">
              <a:spAutoFit/>
            </a:bodyPr>
            <a:lstStyle/>
            <a:p>
              <a:pPr algn="ctr" defTabSz="914598">
                <a:defRPr/>
              </a:pPr>
              <a:r>
                <a:rPr lang="en-US" sz="1333" dirty="0">
                  <a:solidFill>
                    <a:schemeClr val="bg1"/>
                  </a:solidFill>
                </a:rPr>
                <a:t>Build-out</a:t>
              </a:r>
            </a:p>
          </p:txBody>
        </p:sp>
        <p:sp>
          <p:nvSpPr>
            <p:cNvPr id="12" name="Freeform: Shape 84">
              <a:extLst>
                <a:ext uri="{FF2B5EF4-FFF2-40B4-BE49-F238E27FC236}">
                  <a16:creationId xmlns:a16="http://schemas.microsoft.com/office/drawing/2014/main" id="{D708A2AE-855B-C9BF-36DD-F8CB575C8BDA}"/>
                </a:ext>
              </a:extLst>
            </p:cNvPr>
            <p:cNvSpPr/>
            <p:nvPr/>
          </p:nvSpPr>
          <p:spPr>
            <a:xfrm>
              <a:off x="2662056" y="1004759"/>
              <a:ext cx="242648" cy="315875"/>
            </a:xfrm>
            <a:custGeom>
              <a:avLst/>
              <a:gdLst>
                <a:gd name="connsiteX0" fmla="*/ 3409780 w 3469841"/>
                <a:gd name="connsiteY0" fmla="*/ 4516541 h 4516983"/>
                <a:gd name="connsiteX1" fmla="*/ 1035963 w 3469841"/>
                <a:gd name="connsiteY1" fmla="*/ 4516541 h 4516983"/>
                <a:gd name="connsiteX2" fmla="*/ 1035963 w 3469841"/>
                <a:gd name="connsiteY2" fmla="*/ 4396038 h 4516983"/>
                <a:gd name="connsiteX3" fmla="*/ 3349654 w 3469841"/>
                <a:gd name="connsiteY3" fmla="*/ 4396038 h 4516983"/>
                <a:gd name="connsiteX4" fmla="*/ 3349654 w 3469841"/>
                <a:gd name="connsiteY4" fmla="*/ 1404673 h 4516983"/>
                <a:gd name="connsiteX5" fmla="*/ 2066305 w 3469841"/>
                <a:gd name="connsiteY5" fmla="*/ 121451 h 4516983"/>
                <a:gd name="connsiteX6" fmla="*/ 121451 w 3469841"/>
                <a:gd name="connsiteY6" fmla="*/ 121451 h 4516983"/>
                <a:gd name="connsiteX7" fmla="*/ 121451 w 3469841"/>
                <a:gd name="connsiteY7" fmla="*/ 2818504 h 4516983"/>
                <a:gd name="connsiteX8" fmla="*/ 947 w 3469841"/>
                <a:gd name="connsiteY8" fmla="*/ 2818504 h 4516983"/>
                <a:gd name="connsiteX9" fmla="*/ 947 w 3469841"/>
                <a:gd name="connsiteY9" fmla="*/ 61199 h 4516983"/>
                <a:gd name="connsiteX10" fmla="*/ 61199 w 3469841"/>
                <a:gd name="connsiteY10" fmla="*/ 947 h 4516983"/>
                <a:gd name="connsiteX11" fmla="*/ 2091315 w 3469841"/>
                <a:gd name="connsiteY11" fmla="*/ 947 h 4516983"/>
                <a:gd name="connsiteX12" fmla="*/ 2133883 w 3469841"/>
                <a:gd name="connsiteY12" fmla="*/ 18631 h 4516983"/>
                <a:gd name="connsiteX13" fmla="*/ 3452347 w 3469841"/>
                <a:gd name="connsiteY13" fmla="*/ 1337095 h 4516983"/>
                <a:gd name="connsiteX14" fmla="*/ 3470031 w 3469841"/>
                <a:gd name="connsiteY14" fmla="*/ 1379663 h 4516983"/>
                <a:gd name="connsiteX15" fmla="*/ 3470031 w 3469841"/>
                <a:gd name="connsiteY15" fmla="*/ 4456164 h 4516983"/>
                <a:gd name="connsiteX16" fmla="*/ 3409780 w 3469841"/>
                <a:gd name="connsiteY16" fmla="*/ 4516541 h 4516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69841" h="4516983">
                  <a:moveTo>
                    <a:pt x="3409780" y="4516541"/>
                  </a:moveTo>
                  <a:lnTo>
                    <a:pt x="1035963" y="4516541"/>
                  </a:lnTo>
                  <a:lnTo>
                    <a:pt x="1035963" y="4396038"/>
                  </a:lnTo>
                  <a:lnTo>
                    <a:pt x="3349654" y="4396038"/>
                  </a:lnTo>
                  <a:lnTo>
                    <a:pt x="3349654" y="1404673"/>
                  </a:lnTo>
                  <a:lnTo>
                    <a:pt x="2066305" y="121451"/>
                  </a:lnTo>
                  <a:lnTo>
                    <a:pt x="121451" y="121451"/>
                  </a:lnTo>
                  <a:lnTo>
                    <a:pt x="121451" y="2818504"/>
                  </a:lnTo>
                  <a:lnTo>
                    <a:pt x="947" y="2818504"/>
                  </a:lnTo>
                  <a:lnTo>
                    <a:pt x="947" y="61199"/>
                  </a:lnTo>
                  <a:cubicBezTo>
                    <a:pt x="947" y="27852"/>
                    <a:pt x="27978" y="947"/>
                    <a:pt x="61199" y="947"/>
                  </a:cubicBezTo>
                  <a:lnTo>
                    <a:pt x="2091315" y="947"/>
                  </a:lnTo>
                  <a:cubicBezTo>
                    <a:pt x="2107357" y="947"/>
                    <a:pt x="2122641" y="7263"/>
                    <a:pt x="2133883" y="18631"/>
                  </a:cubicBezTo>
                  <a:lnTo>
                    <a:pt x="3452347" y="1337095"/>
                  </a:lnTo>
                  <a:cubicBezTo>
                    <a:pt x="3463716" y="1348337"/>
                    <a:pt x="3470031" y="1363748"/>
                    <a:pt x="3470031" y="1379663"/>
                  </a:cubicBezTo>
                  <a:lnTo>
                    <a:pt x="3470031" y="4456164"/>
                  </a:lnTo>
                  <a:cubicBezTo>
                    <a:pt x="3470031" y="4489637"/>
                    <a:pt x="3443126" y="4516541"/>
                    <a:pt x="3409780" y="4516541"/>
                  </a:cubicBezTo>
                  <a:close/>
                </a:path>
              </a:pathLst>
            </a:custGeom>
            <a:solidFill>
              <a:schemeClr val="bg1"/>
            </a:solidFill>
            <a:ln w="9525" cap="flat">
              <a:noFill/>
              <a:prstDash val="solid"/>
              <a:miter/>
            </a:ln>
          </p:spPr>
          <p:txBody>
            <a:bodyPr rtlCol="0" anchor="ctr"/>
            <a:lstStyle/>
            <a:p>
              <a:endParaRPr lang="en-US" sz="2400"/>
            </a:p>
          </p:txBody>
        </p:sp>
        <p:sp>
          <p:nvSpPr>
            <p:cNvPr id="13" name="Freeform: Shape 85">
              <a:extLst>
                <a:ext uri="{FF2B5EF4-FFF2-40B4-BE49-F238E27FC236}">
                  <a16:creationId xmlns:a16="http://schemas.microsoft.com/office/drawing/2014/main" id="{9D36429A-8231-7450-2C5B-D4F984D23484}"/>
                </a:ext>
              </a:extLst>
            </p:cNvPr>
            <p:cNvSpPr/>
            <p:nvPr/>
          </p:nvSpPr>
          <p:spPr>
            <a:xfrm>
              <a:off x="2804023" y="1008972"/>
              <a:ext cx="96547" cy="96547"/>
            </a:xfrm>
            <a:custGeom>
              <a:avLst/>
              <a:gdLst>
                <a:gd name="connsiteX0" fmla="*/ 1379663 w 1380610"/>
                <a:gd name="connsiteY0" fmla="*/ 1379789 h 1380610"/>
                <a:gd name="connsiteX1" fmla="*/ 61199 w 1380610"/>
                <a:gd name="connsiteY1" fmla="*/ 1379789 h 1380610"/>
                <a:gd name="connsiteX2" fmla="*/ 947 w 1380610"/>
                <a:gd name="connsiteY2" fmla="*/ 1319538 h 1380610"/>
                <a:gd name="connsiteX3" fmla="*/ 947 w 1380610"/>
                <a:gd name="connsiteY3" fmla="*/ 947 h 1380610"/>
                <a:gd name="connsiteX4" fmla="*/ 121451 w 1380610"/>
                <a:gd name="connsiteY4" fmla="*/ 947 h 1380610"/>
                <a:gd name="connsiteX5" fmla="*/ 121451 w 1380610"/>
                <a:gd name="connsiteY5" fmla="*/ 1259160 h 1380610"/>
                <a:gd name="connsiteX6" fmla="*/ 1379663 w 1380610"/>
                <a:gd name="connsiteY6" fmla="*/ 1259160 h 1380610"/>
                <a:gd name="connsiteX7" fmla="*/ 1379663 w 1380610"/>
                <a:gd name="connsiteY7" fmla="*/ 1379789 h 1380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80610" h="1380610">
                  <a:moveTo>
                    <a:pt x="1379663" y="1379789"/>
                  </a:moveTo>
                  <a:lnTo>
                    <a:pt x="61199" y="1379789"/>
                  </a:lnTo>
                  <a:cubicBezTo>
                    <a:pt x="27978" y="1379789"/>
                    <a:pt x="947" y="1352758"/>
                    <a:pt x="947" y="1319538"/>
                  </a:cubicBezTo>
                  <a:lnTo>
                    <a:pt x="947" y="947"/>
                  </a:lnTo>
                  <a:lnTo>
                    <a:pt x="121451" y="947"/>
                  </a:lnTo>
                  <a:lnTo>
                    <a:pt x="121451" y="1259160"/>
                  </a:lnTo>
                  <a:lnTo>
                    <a:pt x="1379663" y="1259160"/>
                  </a:lnTo>
                  <a:lnTo>
                    <a:pt x="1379663" y="1379789"/>
                  </a:lnTo>
                  <a:close/>
                </a:path>
              </a:pathLst>
            </a:custGeom>
            <a:solidFill>
              <a:schemeClr val="bg1"/>
            </a:solidFill>
            <a:ln w="9525" cap="flat">
              <a:noFill/>
              <a:prstDash val="solid"/>
              <a:miter/>
            </a:ln>
          </p:spPr>
          <p:txBody>
            <a:bodyPr rtlCol="0" anchor="ctr"/>
            <a:lstStyle/>
            <a:p>
              <a:endParaRPr lang="en-US" sz="2400"/>
            </a:p>
          </p:txBody>
        </p:sp>
        <p:sp>
          <p:nvSpPr>
            <p:cNvPr id="14" name="Freeform: Shape 86">
              <a:extLst>
                <a:ext uri="{FF2B5EF4-FFF2-40B4-BE49-F238E27FC236}">
                  <a16:creationId xmlns:a16="http://schemas.microsoft.com/office/drawing/2014/main" id="{4221ACB8-3431-BFFA-807C-52CB41803C97}"/>
                </a:ext>
              </a:extLst>
            </p:cNvPr>
            <p:cNvSpPr/>
            <p:nvPr/>
          </p:nvSpPr>
          <p:spPr>
            <a:xfrm>
              <a:off x="2580093" y="1197579"/>
              <a:ext cx="166948" cy="166948"/>
            </a:xfrm>
            <a:custGeom>
              <a:avLst/>
              <a:gdLst>
                <a:gd name="connsiteX0" fmla="*/ 1194108 w 2387331"/>
                <a:gd name="connsiteY0" fmla="*/ 2387143 h 2387331"/>
                <a:gd name="connsiteX1" fmla="*/ 947 w 2387331"/>
                <a:gd name="connsiteY1" fmla="*/ 1193982 h 2387331"/>
                <a:gd name="connsiteX2" fmla="*/ 1194108 w 2387331"/>
                <a:gd name="connsiteY2" fmla="*/ 947 h 2387331"/>
                <a:gd name="connsiteX3" fmla="*/ 2387142 w 2387331"/>
                <a:gd name="connsiteY3" fmla="*/ 1193982 h 2387331"/>
                <a:gd name="connsiteX4" fmla="*/ 1194108 w 2387331"/>
                <a:gd name="connsiteY4" fmla="*/ 2387143 h 2387331"/>
                <a:gd name="connsiteX5" fmla="*/ 1194108 w 2387331"/>
                <a:gd name="connsiteY5" fmla="*/ 121451 h 2387331"/>
                <a:gd name="connsiteX6" fmla="*/ 121451 w 2387331"/>
                <a:gd name="connsiteY6" fmla="*/ 1193982 h 2387331"/>
                <a:gd name="connsiteX7" fmla="*/ 1194108 w 2387331"/>
                <a:gd name="connsiteY7" fmla="*/ 2266513 h 2387331"/>
                <a:gd name="connsiteX8" fmla="*/ 2266639 w 2387331"/>
                <a:gd name="connsiteY8" fmla="*/ 1193982 h 2387331"/>
                <a:gd name="connsiteX9" fmla="*/ 1194108 w 2387331"/>
                <a:gd name="connsiteY9" fmla="*/ 121451 h 2387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87331" h="2387331">
                  <a:moveTo>
                    <a:pt x="1194108" y="2387143"/>
                  </a:moveTo>
                  <a:cubicBezTo>
                    <a:pt x="536139" y="2387143"/>
                    <a:pt x="947" y="1851951"/>
                    <a:pt x="947" y="1193982"/>
                  </a:cubicBezTo>
                  <a:cubicBezTo>
                    <a:pt x="947" y="536139"/>
                    <a:pt x="536139" y="947"/>
                    <a:pt x="1194108" y="947"/>
                  </a:cubicBezTo>
                  <a:cubicBezTo>
                    <a:pt x="1852077" y="947"/>
                    <a:pt x="2387142" y="536139"/>
                    <a:pt x="2387142" y="1193982"/>
                  </a:cubicBezTo>
                  <a:cubicBezTo>
                    <a:pt x="2387142" y="1851951"/>
                    <a:pt x="1851951" y="2387143"/>
                    <a:pt x="1194108" y="2387143"/>
                  </a:cubicBezTo>
                  <a:close/>
                  <a:moveTo>
                    <a:pt x="1194108" y="121451"/>
                  </a:moveTo>
                  <a:cubicBezTo>
                    <a:pt x="602707" y="121451"/>
                    <a:pt x="121451" y="602580"/>
                    <a:pt x="121451" y="1193982"/>
                  </a:cubicBezTo>
                  <a:cubicBezTo>
                    <a:pt x="121451" y="1785383"/>
                    <a:pt x="602707" y="2266513"/>
                    <a:pt x="1194108" y="2266513"/>
                  </a:cubicBezTo>
                  <a:cubicBezTo>
                    <a:pt x="1785510" y="2266513"/>
                    <a:pt x="2266639" y="1785383"/>
                    <a:pt x="2266639" y="1193982"/>
                  </a:cubicBezTo>
                  <a:cubicBezTo>
                    <a:pt x="2266639" y="602580"/>
                    <a:pt x="1785510" y="121451"/>
                    <a:pt x="1194108" y="121451"/>
                  </a:cubicBezTo>
                  <a:close/>
                </a:path>
              </a:pathLst>
            </a:custGeom>
            <a:solidFill>
              <a:schemeClr val="bg1"/>
            </a:solidFill>
            <a:ln w="9525" cap="flat">
              <a:noFill/>
              <a:prstDash val="solid"/>
              <a:miter/>
            </a:ln>
          </p:spPr>
          <p:txBody>
            <a:bodyPr rtlCol="0" anchor="ctr"/>
            <a:lstStyle/>
            <a:p>
              <a:endParaRPr lang="en-US" sz="2400"/>
            </a:p>
          </p:txBody>
        </p:sp>
        <p:sp>
          <p:nvSpPr>
            <p:cNvPr id="15" name="Freeform: Shape 87">
              <a:extLst>
                <a:ext uri="{FF2B5EF4-FFF2-40B4-BE49-F238E27FC236}">
                  <a16:creationId xmlns:a16="http://schemas.microsoft.com/office/drawing/2014/main" id="{0CABAE56-3217-A636-33E8-4A38540A0E8F}"/>
                </a:ext>
              </a:extLst>
            </p:cNvPr>
            <p:cNvSpPr/>
            <p:nvPr/>
          </p:nvSpPr>
          <p:spPr>
            <a:xfrm>
              <a:off x="2616079" y="1251346"/>
              <a:ext cx="94957" cy="60684"/>
            </a:xfrm>
            <a:custGeom>
              <a:avLst/>
              <a:gdLst>
                <a:gd name="connsiteX0" fmla="*/ 552307 w 1357873"/>
                <a:gd name="connsiteY0" fmla="*/ 867081 h 867776"/>
                <a:gd name="connsiteX1" fmla="*/ 509740 w 1357873"/>
                <a:gd name="connsiteY1" fmla="*/ 849397 h 867776"/>
                <a:gd name="connsiteX2" fmla="*/ 947 w 1357873"/>
                <a:gd name="connsiteY2" fmla="*/ 340605 h 867776"/>
                <a:gd name="connsiteX3" fmla="*/ 86083 w 1357873"/>
                <a:gd name="connsiteY3" fmla="*/ 255343 h 867776"/>
                <a:gd name="connsiteX4" fmla="*/ 552307 w 1357873"/>
                <a:gd name="connsiteY4" fmla="*/ 721568 h 867776"/>
                <a:gd name="connsiteX5" fmla="*/ 1272928 w 1357873"/>
                <a:gd name="connsiteY5" fmla="*/ 947 h 867776"/>
                <a:gd name="connsiteX6" fmla="*/ 1358064 w 1357873"/>
                <a:gd name="connsiteY6" fmla="*/ 86209 h 867776"/>
                <a:gd name="connsiteX7" fmla="*/ 594749 w 1357873"/>
                <a:gd name="connsiteY7" fmla="*/ 849397 h 867776"/>
                <a:gd name="connsiteX8" fmla="*/ 552307 w 1357873"/>
                <a:gd name="connsiteY8" fmla="*/ 867081 h 867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7873" h="867776">
                  <a:moveTo>
                    <a:pt x="552307" y="867081"/>
                  </a:moveTo>
                  <a:cubicBezTo>
                    <a:pt x="536897" y="867081"/>
                    <a:pt x="521487" y="861145"/>
                    <a:pt x="509740" y="849397"/>
                  </a:cubicBezTo>
                  <a:lnTo>
                    <a:pt x="947" y="340605"/>
                  </a:lnTo>
                  <a:lnTo>
                    <a:pt x="86083" y="255343"/>
                  </a:lnTo>
                  <a:lnTo>
                    <a:pt x="552307" y="721568"/>
                  </a:lnTo>
                  <a:lnTo>
                    <a:pt x="1272928" y="947"/>
                  </a:lnTo>
                  <a:lnTo>
                    <a:pt x="1358064" y="86209"/>
                  </a:lnTo>
                  <a:lnTo>
                    <a:pt x="594749" y="849397"/>
                  </a:lnTo>
                  <a:cubicBezTo>
                    <a:pt x="583128" y="861145"/>
                    <a:pt x="567718" y="867081"/>
                    <a:pt x="552307" y="867081"/>
                  </a:cubicBezTo>
                  <a:close/>
                </a:path>
              </a:pathLst>
            </a:custGeom>
            <a:solidFill>
              <a:schemeClr val="bg1"/>
            </a:solidFill>
            <a:ln w="9525" cap="flat">
              <a:noFill/>
              <a:prstDash val="solid"/>
              <a:miter/>
            </a:ln>
          </p:spPr>
          <p:txBody>
            <a:bodyPr rtlCol="0" anchor="ctr"/>
            <a:lstStyle/>
            <a:p>
              <a:endParaRPr lang="en-US" sz="2400"/>
            </a:p>
          </p:txBody>
        </p:sp>
        <p:sp>
          <p:nvSpPr>
            <p:cNvPr id="16" name="Rectangle 15">
              <a:extLst>
                <a:ext uri="{FF2B5EF4-FFF2-40B4-BE49-F238E27FC236}">
                  <a16:creationId xmlns:a16="http://schemas.microsoft.com/office/drawing/2014/main" id="{0C49398F-FAC9-2E8A-9507-6B9ADA795AAD}"/>
                </a:ext>
              </a:extLst>
            </p:cNvPr>
            <p:cNvSpPr/>
            <p:nvPr/>
          </p:nvSpPr>
          <p:spPr>
            <a:xfrm>
              <a:off x="3385516" y="885366"/>
              <a:ext cx="974747" cy="1005840"/>
            </a:xfrm>
            <a:prstGeom prst="rect">
              <a:avLst/>
            </a:prstGeom>
            <a:solidFill>
              <a:srgbClr val="001D6C"/>
            </a:solidFill>
            <a:ln w="9525">
              <a:noFill/>
            </a:ln>
          </p:spPr>
          <p:txBody>
            <a:bodyPr wrap="square" lIns="0" tIns="0" rIns="0" bIns="0" rtlCol="0" anchor="ctr">
              <a:noAutofit/>
            </a:bodyPr>
            <a:lstStyle/>
            <a:p>
              <a:pPr algn="ctr" defTabSz="914598">
                <a:defRPr/>
              </a:pPr>
              <a:endParaRPr lang="en-US" sz="1600" dirty="0">
                <a:solidFill>
                  <a:srgbClr val="FFFFFF"/>
                </a:solidFill>
                <a:cs typeface="Arial"/>
              </a:endParaRPr>
            </a:p>
          </p:txBody>
        </p:sp>
        <p:sp>
          <p:nvSpPr>
            <p:cNvPr id="17" name="Rectangle 16">
              <a:extLst>
                <a:ext uri="{FF2B5EF4-FFF2-40B4-BE49-F238E27FC236}">
                  <a16:creationId xmlns:a16="http://schemas.microsoft.com/office/drawing/2014/main" id="{0F63EB25-A56D-A0C0-B8DF-271C2DCD6C3B}"/>
                </a:ext>
              </a:extLst>
            </p:cNvPr>
            <p:cNvSpPr/>
            <p:nvPr/>
          </p:nvSpPr>
          <p:spPr>
            <a:xfrm>
              <a:off x="4523538" y="885366"/>
              <a:ext cx="974747" cy="1005840"/>
            </a:xfrm>
            <a:prstGeom prst="rect">
              <a:avLst/>
            </a:prstGeom>
            <a:solidFill>
              <a:schemeClr val="accent1"/>
            </a:solidFill>
            <a:ln w="9525">
              <a:noFill/>
            </a:ln>
          </p:spPr>
          <p:txBody>
            <a:bodyPr wrap="square" lIns="0" tIns="0" rIns="0" bIns="0" rtlCol="0" anchor="ctr">
              <a:noAutofit/>
            </a:bodyPr>
            <a:lstStyle/>
            <a:p>
              <a:pPr algn="ctr" defTabSz="914598">
                <a:defRPr/>
              </a:pPr>
              <a:endParaRPr lang="en-US" sz="1600" dirty="0">
                <a:solidFill>
                  <a:srgbClr val="FFFFFF"/>
                </a:solidFill>
                <a:cs typeface="Arial"/>
              </a:endParaRPr>
            </a:p>
          </p:txBody>
        </p:sp>
        <p:sp>
          <p:nvSpPr>
            <p:cNvPr id="18" name="TextBox 17">
              <a:extLst>
                <a:ext uri="{FF2B5EF4-FFF2-40B4-BE49-F238E27FC236}">
                  <a16:creationId xmlns:a16="http://schemas.microsoft.com/office/drawing/2014/main" id="{25B144DD-5B06-ADD6-4BFA-87A0896DD85A}"/>
                </a:ext>
              </a:extLst>
            </p:cNvPr>
            <p:cNvSpPr txBox="1"/>
            <p:nvPr/>
          </p:nvSpPr>
          <p:spPr>
            <a:xfrm>
              <a:off x="3425493" y="1503534"/>
              <a:ext cx="894793" cy="307681"/>
            </a:xfrm>
            <a:prstGeom prst="rect">
              <a:avLst/>
            </a:prstGeom>
            <a:noFill/>
          </p:spPr>
          <p:txBody>
            <a:bodyPr wrap="square" lIns="0" tIns="0" rIns="0" bIns="0" rtlCol="0">
              <a:spAutoFit/>
            </a:bodyPr>
            <a:lstStyle/>
            <a:p>
              <a:pPr algn="ctr" defTabSz="914598">
                <a:defRPr/>
              </a:pPr>
              <a:r>
                <a:rPr lang="en-US" sz="1333" dirty="0">
                  <a:solidFill>
                    <a:schemeClr val="bg1"/>
                  </a:solidFill>
                </a:rPr>
                <a:t>Populate Portfolio Data</a:t>
              </a:r>
            </a:p>
          </p:txBody>
        </p:sp>
        <p:grpSp>
          <p:nvGrpSpPr>
            <p:cNvPr id="19" name="Graphic 97">
              <a:extLst>
                <a:ext uri="{FF2B5EF4-FFF2-40B4-BE49-F238E27FC236}">
                  <a16:creationId xmlns:a16="http://schemas.microsoft.com/office/drawing/2014/main" id="{F76A863C-07B8-8815-D15B-AEC0C74A8524}"/>
                </a:ext>
              </a:extLst>
            </p:cNvPr>
            <p:cNvGrpSpPr/>
            <p:nvPr/>
          </p:nvGrpSpPr>
          <p:grpSpPr>
            <a:xfrm>
              <a:off x="3690050" y="1004827"/>
              <a:ext cx="359724" cy="359724"/>
              <a:chOff x="9470891" y="0"/>
              <a:chExt cx="5143500" cy="5143500"/>
            </a:xfrm>
            <a:solidFill>
              <a:schemeClr val="bg1"/>
            </a:solidFill>
          </p:grpSpPr>
          <p:sp>
            <p:nvSpPr>
              <p:cNvPr id="20" name="Freeform: Shape 99">
                <a:extLst>
                  <a:ext uri="{FF2B5EF4-FFF2-40B4-BE49-F238E27FC236}">
                    <a16:creationId xmlns:a16="http://schemas.microsoft.com/office/drawing/2014/main" id="{8EE075DB-8718-E84B-F490-20C910BE07EC}"/>
                  </a:ext>
                </a:extLst>
              </p:cNvPr>
              <p:cNvSpPr/>
              <p:nvPr/>
            </p:nvSpPr>
            <p:spPr>
              <a:xfrm>
                <a:off x="10058314" y="592949"/>
                <a:ext cx="1126720" cy="1121667"/>
              </a:xfrm>
              <a:custGeom>
                <a:avLst/>
                <a:gdLst>
                  <a:gd name="connsiteX0" fmla="*/ 563549 w 1126719"/>
                  <a:gd name="connsiteY0" fmla="*/ 1120751 h 1121666"/>
                  <a:gd name="connsiteX1" fmla="*/ 961312 w 1126719"/>
                  <a:gd name="connsiteY1" fmla="*/ 955912 h 1121666"/>
                  <a:gd name="connsiteX2" fmla="*/ 1126151 w 1126719"/>
                  <a:gd name="connsiteY2" fmla="*/ 558149 h 1121666"/>
                  <a:gd name="connsiteX3" fmla="*/ 961312 w 1126719"/>
                  <a:gd name="connsiteY3" fmla="*/ 160387 h 1121666"/>
                  <a:gd name="connsiteX4" fmla="*/ 165787 w 1126719"/>
                  <a:gd name="connsiteY4" fmla="*/ 160387 h 1121666"/>
                  <a:gd name="connsiteX5" fmla="*/ 947 w 1126719"/>
                  <a:gd name="connsiteY5" fmla="*/ 558149 h 1121666"/>
                  <a:gd name="connsiteX6" fmla="*/ 165787 w 1126719"/>
                  <a:gd name="connsiteY6" fmla="*/ 955912 h 1121666"/>
                  <a:gd name="connsiteX7" fmla="*/ 563549 w 1126719"/>
                  <a:gd name="connsiteY7" fmla="*/ 1120751 h 1121666"/>
                  <a:gd name="connsiteX8" fmla="*/ 251049 w 1126719"/>
                  <a:gd name="connsiteY8" fmla="*/ 245649 h 1121666"/>
                  <a:gd name="connsiteX9" fmla="*/ 563549 w 1126719"/>
                  <a:gd name="connsiteY9" fmla="*/ 116177 h 1121666"/>
                  <a:gd name="connsiteX10" fmla="*/ 876176 w 1126719"/>
                  <a:gd name="connsiteY10" fmla="*/ 245649 h 1121666"/>
                  <a:gd name="connsiteX11" fmla="*/ 1005648 w 1126719"/>
                  <a:gd name="connsiteY11" fmla="*/ 558149 h 1121666"/>
                  <a:gd name="connsiteX12" fmla="*/ 876176 w 1126719"/>
                  <a:gd name="connsiteY12" fmla="*/ 870650 h 1121666"/>
                  <a:gd name="connsiteX13" fmla="*/ 251049 w 1126719"/>
                  <a:gd name="connsiteY13" fmla="*/ 870650 h 1121666"/>
                  <a:gd name="connsiteX14" fmla="*/ 121577 w 1126719"/>
                  <a:gd name="connsiteY14" fmla="*/ 558149 h 1121666"/>
                  <a:gd name="connsiteX15" fmla="*/ 251049 w 1126719"/>
                  <a:gd name="connsiteY15" fmla="*/ 245649 h 11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6719" h="1121666">
                    <a:moveTo>
                      <a:pt x="563549" y="1120751"/>
                    </a:moveTo>
                    <a:cubicBezTo>
                      <a:pt x="713863" y="1120751"/>
                      <a:pt x="855082" y="1062268"/>
                      <a:pt x="961312" y="955912"/>
                    </a:cubicBezTo>
                    <a:cubicBezTo>
                      <a:pt x="1067542" y="849682"/>
                      <a:pt x="1126151" y="708336"/>
                      <a:pt x="1126151" y="558149"/>
                    </a:cubicBezTo>
                    <a:cubicBezTo>
                      <a:pt x="1126151" y="407836"/>
                      <a:pt x="1067668" y="266617"/>
                      <a:pt x="961312" y="160387"/>
                    </a:cubicBezTo>
                    <a:cubicBezTo>
                      <a:pt x="748725" y="-52199"/>
                      <a:pt x="378121" y="-52199"/>
                      <a:pt x="165787" y="160387"/>
                    </a:cubicBezTo>
                    <a:cubicBezTo>
                      <a:pt x="59557" y="266617"/>
                      <a:pt x="947" y="407962"/>
                      <a:pt x="947" y="558149"/>
                    </a:cubicBezTo>
                    <a:cubicBezTo>
                      <a:pt x="947" y="708463"/>
                      <a:pt x="59431" y="849682"/>
                      <a:pt x="165787" y="955912"/>
                    </a:cubicBezTo>
                    <a:cubicBezTo>
                      <a:pt x="272017" y="1062142"/>
                      <a:pt x="413362" y="1120751"/>
                      <a:pt x="563549" y="1120751"/>
                    </a:cubicBezTo>
                    <a:close/>
                    <a:moveTo>
                      <a:pt x="251049" y="245649"/>
                    </a:moveTo>
                    <a:cubicBezTo>
                      <a:pt x="334542" y="162155"/>
                      <a:pt x="445572" y="116177"/>
                      <a:pt x="563549" y="116177"/>
                    </a:cubicBezTo>
                    <a:cubicBezTo>
                      <a:pt x="681653" y="116177"/>
                      <a:pt x="792556" y="162155"/>
                      <a:pt x="876176" y="245649"/>
                    </a:cubicBezTo>
                    <a:cubicBezTo>
                      <a:pt x="959670" y="329016"/>
                      <a:pt x="1005648" y="440046"/>
                      <a:pt x="1005648" y="558149"/>
                    </a:cubicBezTo>
                    <a:cubicBezTo>
                      <a:pt x="1005648" y="676253"/>
                      <a:pt x="959670" y="787156"/>
                      <a:pt x="876176" y="870650"/>
                    </a:cubicBezTo>
                    <a:cubicBezTo>
                      <a:pt x="709063" y="1037763"/>
                      <a:pt x="417909" y="1037763"/>
                      <a:pt x="251049" y="870650"/>
                    </a:cubicBezTo>
                    <a:cubicBezTo>
                      <a:pt x="167555" y="787283"/>
                      <a:pt x="121577" y="676253"/>
                      <a:pt x="121577" y="558149"/>
                    </a:cubicBezTo>
                    <a:cubicBezTo>
                      <a:pt x="121577" y="440046"/>
                      <a:pt x="167555" y="329016"/>
                      <a:pt x="251049" y="245649"/>
                    </a:cubicBezTo>
                    <a:close/>
                  </a:path>
                </a:pathLst>
              </a:custGeom>
              <a:grpFill/>
              <a:ln w="9525" cap="flat">
                <a:noFill/>
                <a:prstDash val="solid"/>
                <a:miter/>
              </a:ln>
            </p:spPr>
            <p:txBody>
              <a:bodyPr rtlCol="0" anchor="ctr"/>
              <a:lstStyle/>
              <a:p>
                <a:endParaRPr lang="en-US" sz="2400"/>
              </a:p>
            </p:txBody>
          </p:sp>
          <p:sp>
            <p:nvSpPr>
              <p:cNvPr id="21" name="Freeform: Shape 100">
                <a:extLst>
                  <a:ext uri="{FF2B5EF4-FFF2-40B4-BE49-F238E27FC236}">
                    <a16:creationId xmlns:a16="http://schemas.microsoft.com/office/drawing/2014/main" id="{6314E4EE-ADCA-7F64-BEEC-9EE584847265}"/>
                  </a:ext>
                </a:extLst>
              </p:cNvPr>
              <p:cNvSpPr/>
              <p:nvPr/>
            </p:nvSpPr>
            <p:spPr>
              <a:xfrm>
                <a:off x="11479092" y="-947"/>
                <a:ext cx="1126720" cy="1126720"/>
              </a:xfrm>
              <a:custGeom>
                <a:avLst/>
                <a:gdLst>
                  <a:gd name="connsiteX0" fmla="*/ 563423 w 1126719"/>
                  <a:gd name="connsiteY0" fmla="*/ 1126151 h 1126719"/>
                  <a:gd name="connsiteX1" fmla="*/ 1125899 w 1126719"/>
                  <a:gd name="connsiteY1" fmla="*/ 563549 h 1126719"/>
                  <a:gd name="connsiteX2" fmla="*/ 563423 w 1126719"/>
                  <a:gd name="connsiteY2" fmla="*/ 947 h 1126719"/>
                  <a:gd name="connsiteX3" fmla="*/ 947 w 1126719"/>
                  <a:gd name="connsiteY3" fmla="*/ 563549 h 1126719"/>
                  <a:gd name="connsiteX4" fmla="*/ 563423 w 1126719"/>
                  <a:gd name="connsiteY4" fmla="*/ 1126151 h 1126719"/>
                  <a:gd name="connsiteX5" fmla="*/ 563423 w 1126719"/>
                  <a:gd name="connsiteY5" fmla="*/ 121577 h 1126719"/>
                  <a:gd name="connsiteX6" fmla="*/ 1005395 w 1126719"/>
                  <a:gd name="connsiteY6" fmla="*/ 563549 h 1126719"/>
                  <a:gd name="connsiteX7" fmla="*/ 563423 w 1126719"/>
                  <a:gd name="connsiteY7" fmla="*/ 1005521 h 1126719"/>
                  <a:gd name="connsiteX8" fmla="*/ 121451 w 1126719"/>
                  <a:gd name="connsiteY8" fmla="*/ 563549 h 1126719"/>
                  <a:gd name="connsiteX9" fmla="*/ 563423 w 1126719"/>
                  <a:gd name="connsiteY9" fmla="*/ 121577 h 1126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26719" h="1126719">
                    <a:moveTo>
                      <a:pt x="563423" y="1126151"/>
                    </a:moveTo>
                    <a:cubicBezTo>
                      <a:pt x="873650" y="1126151"/>
                      <a:pt x="1125899" y="873650"/>
                      <a:pt x="1125899" y="563549"/>
                    </a:cubicBezTo>
                    <a:cubicBezTo>
                      <a:pt x="1125899" y="253449"/>
                      <a:pt x="873650" y="947"/>
                      <a:pt x="563423" y="947"/>
                    </a:cubicBezTo>
                    <a:cubicBezTo>
                      <a:pt x="253196" y="947"/>
                      <a:pt x="947" y="253449"/>
                      <a:pt x="947" y="563549"/>
                    </a:cubicBezTo>
                    <a:cubicBezTo>
                      <a:pt x="947" y="873650"/>
                      <a:pt x="253322" y="1126151"/>
                      <a:pt x="563423" y="1126151"/>
                    </a:cubicBezTo>
                    <a:close/>
                    <a:moveTo>
                      <a:pt x="563423" y="121577"/>
                    </a:moveTo>
                    <a:cubicBezTo>
                      <a:pt x="807082" y="121577"/>
                      <a:pt x="1005395" y="319764"/>
                      <a:pt x="1005395" y="563549"/>
                    </a:cubicBezTo>
                    <a:cubicBezTo>
                      <a:pt x="1005395" y="807335"/>
                      <a:pt x="807082" y="1005521"/>
                      <a:pt x="563423" y="1005521"/>
                    </a:cubicBezTo>
                    <a:cubicBezTo>
                      <a:pt x="319764" y="1005521"/>
                      <a:pt x="121451" y="807335"/>
                      <a:pt x="121451" y="563549"/>
                    </a:cubicBezTo>
                    <a:cubicBezTo>
                      <a:pt x="121451" y="319764"/>
                      <a:pt x="319764" y="121577"/>
                      <a:pt x="563423" y="121577"/>
                    </a:cubicBezTo>
                    <a:close/>
                  </a:path>
                </a:pathLst>
              </a:custGeom>
              <a:grpFill/>
              <a:ln w="9525" cap="flat">
                <a:noFill/>
                <a:prstDash val="solid"/>
                <a:miter/>
              </a:ln>
            </p:spPr>
            <p:txBody>
              <a:bodyPr rtlCol="0" anchor="ctr"/>
              <a:lstStyle/>
              <a:p>
                <a:endParaRPr lang="en-US" sz="2400"/>
              </a:p>
            </p:txBody>
          </p:sp>
          <p:sp>
            <p:nvSpPr>
              <p:cNvPr id="22" name="Freeform: Shape 101">
                <a:extLst>
                  <a:ext uri="{FF2B5EF4-FFF2-40B4-BE49-F238E27FC236}">
                    <a16:creationId xmlns:a16="http://schemas.microsoft.com/office/drawing/2014/main" id="{4CEAC6AC-9796-7AC0-0094-9D85A7299C97}"/>
                  </a:ext>
                </a:extLst>
              </p:cNvPr>
              <p:cNvSpPr/>
              <p:nvPr/>
            </p:nvSpPr>
            <p:spPr>
              <a:xfrm>
                <a:off x="12899744" y="592949"/>
                <a:ext cx="1126720" cy="1121667"/>
              </a:xfrm>
              <a:custGeom>
                <a:avLst/>
                <a:gdLst>
                  <a:gd name="connsiteX0" fmla="*/ 563549 w 1126719"/>
                  <a:gd name="connsiteY0" fmla="*/ 1120751 h 1121666"/>
                  <a:gd name="connsiteX1" fmla="*/ 961312 w 1126719"/>
                  <a:gd name="connsiteY1" fmla="*/ 955912 h 1121666"/>
                  <a:gd name="connsiteX2" fmla="*/ 1126151 w 1126719"/>
                  <a:gd name="connsiteY2" fmla="*/ 558149 h 1121666"/>
                  <a:gd name="connsiteX3" fmla="*/ 961312 w 1126719"/>
                  <a:gd name="connsiteY3" fmla="*/ 160387 h 1121666"/>
                  <a:gd name="connsiteX4" fmla="*/ 165787 w 1126719"/>
                  <a:gd name="connsiteY4" fmla="*/ 160387 h 1121666"/>
                  <a:gd name="connsiteX5" fmla="*/ 947 w 1126719"/>
                  <a:gd name="connsiteY5" fmla="*/ 558149 h 1121666"/>
                  <a:gd name="connsiteX6" fmla="*/ 165787 w 1126719"/>
                  <a:gd name="connsiteY6" fmla="*/ 955912 h 1121666"/>
                  <a:gd name="connsiteX7" fmla="*/ 563549 w 1126719"/>
                  <a:gd name="connsiteY7" fmla="*/ 1120751 h 1121666"/>
                  <a:gd name="connsiteX8" fmla="*/ 250922 w 1126719"/>
                  <a:gd name="connsiteY8" fmla="*/ 245649 h 1121666"/>
                  <a:gd name="connsiteX9" fmla="*/ 563549 w 1126719"/>
                  <a:gd name="connsiteY9" fmla="*/ 116177 h 1121666"/>
                  <a:gd name="connsiteX10" fmla="*/ 876050 w 1126719"/>
                  <a:gd name="connsiteY10" fmla="*/ 245649 h 1121666"/>
                  <a:gd name="connsiteX11" fmla="*/ 1005522 w 1126719"/>
                  <a:gd name="connsiteY11" fmla="*/ 558149 h 1121666"/>
                  <a:gd name="connsiteX12" fmla="*/ 876050 w 1126719"/>
                  <a:gd name="connsiteY12" fmla="*/ 870650 h 1121666"/>
                  <a:gd name="connsiteX13" fmla="*/ 250922 w 1126719"/>
                  <a:gd name="connsiteY13" fmla="*/ 870650 h 1121666"/>
                  <a:gd name="connsiteX14" fmla="*/ 121451 w 1126719"/>
                  <a:gd name="connsiteY14" fmla="*/ 558149 h 1121666"/>
                  <a:gd name="connsiteX15" fmla="*/ 250922 w 1126719"/>
                  <a:gd name="connsiteY15" fmla="*/ 245649 h 11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6719" h="1121666">
                    <a:moveTo>
                      <a:pt x="563549" y="1120751"/>
                    </a:moveTo>
                    <a:cubicBezTo>
                      <a:pt x="713863" y="1120751"/>
                      <a:pt x="855082" y="1062268"/>
                      <a:pt x="961312" y="955912"/>
                    </a:cubicBezTo>
                    <a:cubicBezTo>
                      <a:pt x="1067541" y="849682"/>
                      <a:pt x="1126151" y="708336"/>
                      <a:pt x="1126151" y="558149"/>
                    </a:cubicBezTo>
                    <a:cubicBezTo>
                      <a:pt x="1126151" y="407836"/>
                      <a:pt x="1067668" y="266617"/>
                      <a:pt x="961312" y="160387"/>
                    </a:cubicBezTo>
                    <a:cubicBezTo>
                      <a:pt x="748978" y="-52199"/>
                      <a:pt x="378373" y="-52199"/>
                      <a:pt x="165787" y="160387"/>
                    </a:cubicBezTo>
                    <a:cubicBezTo>
                      <a:pt x="59557" y="266617"/>
                      <a:pt x="947" y="407962"/>
                      <a:pt x="947" y="558149"/>
                    </a:cubicBezTo>
                    <a:cubicBezTo>
                      <a:pt x="947" y="708463"/>
                      <a:pt x="59431" y="849682"/>
                      <a:pt x="165787" y="955912"/>
                    </a:cubicBezTo>
                    <a:cubicBezTo>
                      <a:pt x="272017" y="1062142"/>
                      <a:pt x="413236" y="1120751"/>
                      <a:pt x="563549" y="1120751"/>
                    </a:cubicBezTo>
                    <a:close/>
                    <a:moveTo>
                      <a:pt x="250922" y="245649"/>
                    </a:moveTo>
                    <a:cubicBezTo>
                      <a:pt x="334416" y="162155"/>
                      <a:pt x="445446" y="116177"/>
                      <a:pt x="563549" y="116177"/>
                    </a:cubicBezTo>
                    <a:cubicBezTo>
                      <a:pt x="681653" y="116177"/>
                      <a:pt x="792556" y="162155"/>
                      <a:pt x="876050" y="245649"/>
                    </a:cubicBezTo>
                    <a:cubicBezTo>
                      <a:pt x="959543" y="329016"/>
                      <a:pt x="1005522" y="440046"/>
                      <a:pt x="1005522" y="558149"/>
                    </a:cubicBezTo>
                    <a:cubicBezTo>
                      <a:pt x="1005522" y="676253"/>
                      <a:pt x="959543" y="787156"/>
                      <a:pt x="876050" y="870650"/>
                    </a:cubicBezTo>
                    <a:cubicBezTo>
                      <a:pt x="709063" y="1037763"/>
                      <a:pt x="418036" y="1037763"/>
                      <a:pt x="250922" y="870650"/>
                    </a:cubicBezTo>
                    <a:cubicBezTo>
                      <a:pt x="167429" y="787283"/>
                      <a:pt x="121451" y="676253"/>
                      <a:pt x="121451" y="558149"/>
                    </a:cubicBezTo>
                    <a:cubicBezTo>
                      <a:pt x="121451" y="440046"/>
                      <a:pt x="167429" y="329016"/>
                      <a:pt x="250922" y="245649"/>
                    </a:cubicBezTo>
                    <a:close/>
                  </a:path>
                </a:pathLst>
              </a:custGeom>
              <a:grpFill/>
              <a:ln w="9525" cap="flat">
                <a:noFill/>
                <a:prstDash val="solid"/>
                <a:miter/>
              </a:ln>
            </p:spPr>
            <p:txBody>
              <a:bodyPr rtlCol="0" anchor="ctr"/>
              <a:lstStyle/>
              <a:p>
                <a:endParaRPr lang="en-US" sz="2400"/>
              </a:p>
            </p:txBody>
          </p:sp>
          <p:sp>
            <p:nvSpPr>
              <p:cNvPr id="23" name="Freeform: Shape 102">
                <a:extLst>
                  <a:ext uri="{FF2B5EF4-FFF2-40B4-BE49-F238E27FC236}">
                    <a16:creationId xmlns:a16="http://schemas.microsoft.com/office/drawing/2014/main" id="{D8F1E562-8338-967A-7D12-91DC727AE51F}"/>
                  </a:ext>
                </a:extLst>
              </p:cNvPr>
              <p:cNvSpPr/>
              <p:nvPr/>
            </p:nvSpPr>
            <p:spPr>
              <a:xfrm>
                <a:off x="12899617" y="3434253"/>
                <a:ext cx="1126720" cy="1121667"/>
              </a:xfrm>
              <a:custGeom>
                <a:avLst/>
                <a:gdLst>
                  <a:gd name="connsiteX0" fmla="*/ 165787 w 1126719"/>
                  <a:gd name="connsiteY0" fmla="*/ 160387 h 1121666"/>
                  <a:gd name="connsiteX1" fmla="*/ 947 w 1126719"/>
                  <a:gd name="connsiteY1" fmla="*/ 558149 h 1121666"/>
                  <a:gd name="connsiteX2" fmla="*/ 165787 w 1126719"/>
                  <a:gd name="connsiteY2" fmla="*/ 955912 h 1121666"/>
                  <a:gd name="connsiteX3" fmla="*/ 563549 w 1126719"/>
                  <a:gd name="connsiteY3" fmla="*/ 1120751 h 1121666"/>
                  <a:gd name="connsiteX4" fmla="*/ 961312 w 1126719"/>
                  <a:gd name="connsiteY4" fmla="*/ 955912 h 1121666"/>
                  <a:gd name="connsiteX5" fmla="*/ 1126151 w 1126719"/>
                  <a:gd name="connsiteY5" fmla="*/ 558149 h 1121666"/>
                  <a:gd name="connsiteX6" fmla="*/ 961312 w 1126719"/>
                  <a:gd name="connsiteY6" fmla="*/ 160387 h 1121666"/>
                  <a:gd name="connsiteX7" fmla="*/ 165787 w 1126719"/>
                  <a:gd name="connsiteY7" fmla="*/ 160387 h 1121666"/>
                  <a:gd name="connsiteX8" fmla="*/ 876176 w 1126719"/>
                  <a:gd name="connsiteY8" fmla="*/ 870650 h 1121666"/>
                  <a:gd name="connsiteX9" fmla="*/ 251049 w 1126719"/>
                  <a:gd name="connsiteY9" fmla="*/ 870650 h 1121666"/>
                  <a:gd name="connsiteX10" fmla="*/ 121577 w 1126719"/>
                  <a:gd name="connsiteY10" fmla="*/ 558149 h 1121666"/>
                  <a:gd name="connsiteX11" fmla="*/ 251049 w 1126719"/>
                  <a:gd name="connsiteY11" fmla="*/ 245649 h 1121666"/>
                  <a:gd name="connsiteX12" fmla="*/ 563676 w 1126719"/>
                  <a:gd name="connsiteY12" fmla="*/ 116177 h 1121666"/>
                  <a:gd name="connsiteX13" fmla="*/ 876176 w 1126719"/>
                  <a:gd name="connsiteY13" fmla="*/ 245649 h 1121666"/>
                  <a:gd name="connsiteX14" fmla="*/ 1005648 w 1126719"/>
                  <a:gd name="connsiteY14" fmla="*/ 558149 h 1121666"/>
                  <a:gd name="connsiteX15" fmla="*/ 876176 w 1126719"/>
                  <a:gd name="connsiteY15" fmla="*/ 870650 h 11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6719" h="1121666">
                    <a:moveTo>
                      <a:pt x="165787" y="160387"/>
                    </a:moveTo>
                    <a:cubicBezTo>
                      <a:pt x="59557" y="266617"/>
                      <a:pt x="947" y="407962"/>
                      <a:pt x="947" y="558149"/>
                    </a:cubicBezTo>
                    <a:cubicBezTo>
                      <a:pt x="947" y="708463"/>
                      <a:pt x="59431" y="849682"/>
                      <a:pt x="165787" y="955912"/>
                    </a:cubicBezTo>
                    <a:cubicBezTo>
                      <a:pt x="272017" y="1062142"/>
                      <a:pt x="413362" y="1120751"/>
                      <a:pt x="563549" y="1120751"/>
                    </a:cubicBezTo>
                    <a:cubicBezTo>
                      <a:pt x="713737" y="1120751"/>
                      <a:pt x="855082" y="1062268"/>
                      <a:pt x="961312" y="955912"/>
                    </a:cubicBezTo>
                    <a:cubicBezTo>
                      <a:pt x="1067542" y="849682"/>
                      <a:pt x="1126151" y="708337"/>
                      <a:pt x="1126151" y="558149"/>
                    </a:cubicBezTo>
                    <a:cubicBezTo>
                      <a:pt x="1126151" y="407836"/>
                      <a:pt x="1067668" y="266617"/>
                      <a:pt x="961312" y="160387"/>
                    </a:cubicBezTo>
                    <a:cubicBezTo>
                      <a:pt x="748978" y="-52199"/>
                      <a:pt x="378373" y="-52199"/>
                      <a:pt x="165787" y="160387"/>
                    </a:cubicBezTo>
                    <a:close/>
                    <a:moveTo>
                      <a:pt x="876176" y="870650"/>
                    </a:moveTo>
                    <a:cubicBezTo>
                      <a:pt x="709189" y="1037763"/>
                      <a:pt x="418162" y="1037763"/>
                      <a:pt x="251049" y="870650"/>
                    </a:cubicBezTo>
                    <a:cubicBezTo>
                      <a:pt x="167556" y="787283"/>
                      <a:pt x="121577" y="676253"/>
                      <a:pt x="121577" y="558149"/>
                    </a:cubicBezTo>
                    <a:cubicBezTo>
                      <a:pt x="121577" y="440046"/>
                      <a:pt x="167556" y="329142"/>
                      <a:pt x="251049" y="245649"/>
                    </a:cubicBezTo>
                    <a:cubicBezTo>
                      <a:pt x="334542" y="162155"/>
                      <a:pt x="445572" y="116177"/>
                      <a:pt x="563676" y="116177"/>
                    </a:cubicBezTo>
                    <a:cubicBezTo>
                      <a:pt x="681779" y="116177"/>
                      <a:pt x="792683" y="162155"/>
                      <a:pt x="876176" y="245649"/>
                    </a:cubicBezTo>
                    <a:cubicBezTo>
                      <a:pt x="959670" y="329016"/>
                      <a:pt x="1005648" y="440046"/>
                      <a:pt x="1005648" y="558149"/>
                    </a:cubicBezTo>
                    <a:cubicBezTo>
                      <a:pt x="1005648" y="676253"/>
                      <a:pt x="959670" y="787283"/>
                      <a:pt x="876176" y="870650"/>
                    </a:cubicBezTo>
                    <a:close/>
                  </a:path>
                </a:pathLst>
              </a:custGeom>
              <a:grpFill/>
              <a:ln w="9525" cap="flat">
                <a:noFill/>
                <a:prstDash val="solid"/>
                <a:miter/>
              </a:ln>
            </p:spPr>
            <p:txBody>
              <a:bodyPr rtlCol="0" anchor="ctr"/>
              <a:lstStyle/>
              <a:p>
                <a:endParaRPr lang="en-US" sz="2400"/>
              </a:p>
            </p:txBody>
          </p:sp>
          <p:sp>
            <p:nvSpPr>
              <p:cNvPr id="24" name="Freeform: Shape 103">
                <a:extLst>
                  <a:ext uri="{FF2B5EF4-FFF2-40B4-BE49-F238E27FC236}">
                    <a16:creationId xmlns:a16="http://schemas.microsoft.com/office/drawing/2014/main" id="{99E706AB-92A0-80A6-B61F-C56F66CD2286}"/>
                  </a:ext>
                </a:extLst>
              </p:cNvPr>
              <p:cNvSpPr/>
              <p:nvPr/>
            </p:nvSpPr>
            <p:spPr>
              <a:xfrm>
                <a:off x="9469944" y="2008201"/>
                <a:ext cx="1126720" cy="1126720"/>
              </a:xfrm>
              <a:custGeom>
                <a:avLst/>
                <a:gdLst>
                  <a:gd name="connsiteX0" fmla="*/ 1126025 w 1126719"/>
                  <a:gd name="connsiteY0" fmla="*/ 563549 h 1126719"/>
                  <a:gd name="connsiteX1" fmla="*/ 563549 w 1126719"/>
                  <a:gd name="connsiteY1" fmla="*/ 947 h 1126719"/>
                  <a:gd name="connsiteX2" fmla="*/ 947 w 1126719"/>
                  <a:gd name="connsiteY2" fmla="*/ 563549 h 1126719"/>
                  <a:gd name="connsiteX3" fmla="*/ 563423 w 1126719"/>
                  <a:gd name="connsiteY3" fmla="*/ 1126151 h 1126719"/>
                  <a:gd name="connsiteX4" fmla="*/ 1126025 w 1126719"/>
                  <a:gd name="connsiteY4" fmla="*/ 563549 h 1126719"/>
                  <a:gd name="connsiteX5" fmla="*/ 563423 w 1126719"/>
                  <a:gd name="connsiteY5" fmla="*/ 1005521 h 1126719"/>
                  <a:gd name="connsiteX6" fmla="*/ 121451 w 1126719"/>
                  <a:gd name="connsiteY6" fmla="*/ 563549 h 1126719"/>
                  <a:gd name="connsiteX7" fmla="*/ 563423 w 1126719"/>
                  <a:gd name="connsiteY7" fmla="*/ 121577 h 1126719"/>
                  <a:gd name="connsiteX8" fmla="*/ 1005521 w 1126719"/>
                  <a:gd name="connsiteY8" fmla="*/ 563549 h 1126719"/>
                  <a:gd name="connsiteX9" fmla="*/ 563423 w 1126719"/>
                  <a:gd name="connsiteY9" fmla="*/ 1005521 h 1126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26719" h="1126719">
                    <a:moveTo>
                      <a:pt x="1126025" y="563549"/>
                    </a:moveTo>
                    <a:cubicBezTo>
                      <a:pt x="1126025" y="253322"/>
                      <a:pt x="873650" y="947"/>
                      <a:pt x="563549" y="947"/>
                    </a:cubicBezTo>
                    <a:cubicBezTo>
                      <a:pt x="253449" y="947"/>
                      <a:pt x="947" y="253322"/>
                      <a:pt x="947" y="563549"/>
                    </a:cubicBezTo>
                    <a:cubicBezTo>
                      <a:pt x="947" y="873776"/>
                      <a:pt x="253322" y="1126151"/>
                      <a:pt x="563423" y="1126151"/>
                    </a:cubicBezTo>
                    <a:cubicBezTo>
                      <a:pt x="873523" y="1126151"/>
                      <a:pt x="1126025" y="873776"/>
                      <a:pt x="1126025" y="563549"/>
                    </a:cubicBezTo>
                    <a:close/>
                    <a:moveTo>
                      <a:pt x="563423" y="1005521"/>
                    </a:moveTo>
                    <a:cubicBezTo>
                      <a:pt x="319764" y="1005521"/>
                      <a:pt x="121451" y="807335"/>
                      <a:pt x="121451" y="563549"/>
                    </a:cubicBezTo>
                    <a:cubicBezTo>
                      <a:pt x="121451" y="319764"/>
                      <a:pt x="319764" y="121577"/>
                      <a:pt x="563423" y="121577"/>
                    </a:cubicBezTo>
                    <a:cubicBezTo>
                      <a:pt x="807082" y="121577"/>
                      <a:pt x="1005521" y="319764"/>
                      <a:pt x="1005521" y="563549"/>
                    </a:cubicBezTo>
                    <a:cubicBezTo>
                      <a:pt x="1005521" y="807335"/>
                      <a:pt x="807209" y="1005521"/>
                      <a:pt x="563423" y="1005521"/>
                    </a:cubicBezTo>
                    <a:close/>
                  </a:path>
                </a:pathLst>
              </a:custGeom>
              <a:grpFill/>
              <a:ln w="9525" cap="flat">
                <a:noFill/>
                <a:prstDash val="solid"/>
                <a:miter/>
              </a:ln>
            </p:spPr>
            <p:txBody>
              <a:bodyPr rtlCol="0" anchor="ctr"/>
              <a:lstStyle/>
              <a:p>
                <a:endParaRPr lang="en-US" sz="2400"/>
              </a:p>
            </p:txBody>
          </p:sp>
          <p:sp>
            <p:nvSpPr>
              <p:cNvPr id="25" name="Freeform: Shape 104">
                <a:extLst>
                  <a:ext uri="{FF2B5EF4-FFF2-40B4-BE49-F238E27FC236}">
                    <a16:creationId xmlns:a16="http://schemas.microsoft.com/office/drawing/2014/main" id="{D2528070-0532-6B6F-063B-9EB8594E0A34}"/>
                  </a:ext>
                </a:extLst>
              </p:cNvPr>
              <p:cNvSpPr/>
              <p:nvPr/>
            </p:nvSpPr>
            <p:spPr>
              <a:xfrm>
                <a:off x="11479092" y="4017349"/>
                <a:ext cx="1126720" cy="1126720"/>
              </a:xfrm>
              <a:custGeom>
                <a:avLst/>
                <a:gdLst>
                  <a:gd name="connsiteX0" fmla="*/ 563423 w 1126719"/>
                  <a:gd name="connsiteY0" fmla="*/ 947 h 1126719"/>
                  <a:gd name="connsiteX1" fmla="*/ 947 w 1126719"/>
                  <a:gd name="connsiteY1" fmla="*/ 563549 h 1126719"/>
                  <a:gd name="connsiteX2" fmla="*/ 563423 w 1126719"/>
                  <a:gd name="connsiteY2" fmla="*/ 1126151 h 1126719"/>
                  <a:gd name="connsiteX3" fmla="*/ 1125899 w 1126719"/>
                  <a:gd name="connsiteY3" fmla="*/ 563549 h 1126719"/>
                  <a:gd name="connsiteX4" fmla="*/ 563423 w 1126719"/>
                  <a:gd name="connsiteY4" fmla="*/ 947 h 1126719"/>
                  <a:gd name="connsiteX5" fmla="*/ 563423 w 1126719"/>
                  <a:gd name="connsiteY5" fmla="*/ 1005522 h 1126719"/>
                  <a:gd name="connsiteX6" fmla="*/ 121451 w 1126719"/>
                  <a:gd name="connsiteY6" fmla="*/ 563549 h 1126719"/>
                  <a:gd name="connsiteX7" fmla="*/ 563423 w 1126719"/>
                  <a:gd name="connsiteY7" fmla="*/ 121577 h 1126719"/>
                  <a:gd name="connsiteX8" fmla="*/ 1005395 w 1126719"/>
                  <a:gd name="connsiteY8" fmla="*/ 563549 h 1126719"/>
                  <a:gd name="connsiteX9" fmla="*/ 563423 w 1126719"/>
                  <a:gd name="connsiteY9" fmla="*/ 1005522 h 1126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26719" h="1126719">
                    <a:moveTo>
                      <a:pt x="563423" y="947"/>
                    </a:moveTo>
                    <a:cubicBezTo>
                      <a:pt x="253196" y="947"/>
                      <a:pt x="947" y="253449"/>
                      <a:pt x="947" y="563549"/>
                    </a:cubicBezTo>
                    <a:cubicBezTo>
                      <a:pt x="947" y="873650"/>
                      <a:pt x="253322" y="1126151"/>
                      <a:pt x="563423" y="1126151"/>
                    </a:cubicBezTo>
                    <a:cubicBezTo>
                      <a:pt x="873523" y="1126151"/>
                      <a:pt x="1125899" y="873650"/>
                      <a:pt x="1125899" y="563549"/>
                    </a:cubicBezTo>
                    <a:cubicBezTo>
                      <a:pt x="1125899" y="253449"/>
                      <a:pt x="873650" y="947"/>
                      <a:pt x="563423" y="947"/>
                    </a:cubicBezTo>
                    <a:close/>
                    <a:moveTo>
                      <a:pt x="563423" y="1005522"/>
                    </a:moveTo>
                    <a:cubicBezTo>
                      <a:pt x="319764" y="1005522"/>
                      <a:pt x="121451" y="807335"/>
                      <a:pt x="121451" y="563549"/>
                    </a:cubicBezTo>
                    <a:cubicBezTo>
                      <a:pt x="121451" y="319764"/>
                      <a:pt x="319764" y="121577"/>
                      <a:pt x="563423" y="121577"/>
                    </a:cubicBezTo>
                    <a:cubicBezTo>
                      <a:pt x="807082" y="121577"/>
                      <a:pt x="1005395" y="319764"/>
                      <a:pt x="1005395" y="563549"/>
                    </a:cubicBezTo>
                    <a:cubicBezTo>
                      <a:pt x="1005395" y="807335"/>
                      <a:pt x="807209" y="1005522"/>
                      <a:pt x="563423" y="1005522"/>
                    </a:cubicBezTo>
                    <a:close/>
                  </a:path>
                </a:pathLst>
              </a:custGeom>
              <a:grpFill/>
              <a:ln w="9525" cap="flat">
                <a:noFill/>
                <a:prstDash val="solid"/>
                <a:miter/>
              </a:ln>
            </p:spPr>
            <p:txBody>
              <a:bodyPr rtlCol="0" anchor="ctr"/>
              <a:lstStyle/>
              <a:p>
                <a:endParaRPr lang="en-US" sz="2400"/>
              </a:p>
            </p:txBody>
          </p:sp>
          <p:sp>
            <p:nvSpPr>
              <p:cNvPr id="26" name="Freeform: Shape 105">
                <a:extLst>
                  <a:ext uri="{FF2B5EF4-FFF2-40B4-BE49-F238E27FC236}">
                    <a16:creationId xmlns:a16="http://schemas.microsoft.com/office/drawing/2014/main" id="{4E14BF33-CC1F-C348-1303-FC10E5B3FFD7}"/>
                  </a:ext>
                </a:extLst>
              </p:cNvPr>
              <p:cNvSpPr/>
              <p:nvPr/>
            </p:nvSpPr>
            <p:spPr>
              <a:xfrm>
                <a:off x="13488240" y="2008201"/>
                <a:ext cx="1126720" cy="1126720"/>
              </a:xfrm>
              <a:custGeom>
                <a:avLst/>
                <a:gdLst>
                  <a:gd name="connsiteX0" fmla="*/ 563423 w 1126719"/>
                  <a:gd name="connsiteY0" fmla="*/ 947 h 1126719"/>
                  <a:gd name="connsiteX1" fmla="*/ 947 w 1126719"/>
                  <a:gd name="connsiteY1" fmla="*/ 563549 h 1126719"/>
                  <a:gd name="connsiteX2" fmla="*/ 563423 w 1126719"/>
                  <a:gd name="connsiteY2" fmla="*/ 1126151 h 1126719"/>
                  <a:gd name="connsiteX3" fmla="*/ 1125899 w 1126719"/>
                  <a:gd name="connsiteY3" fmla="*/ 563549 h 1126719"/>
                  <a:gd name="connsiteX4" fmla="*/ 563423 w 1126719"/>
                  <a:gd name="connsiteY4" fmla="*/ 947 h 1126719"/>
                  <a:gd name="connsiteX5" fmla="*/ 563423 w 1126719"/>
                  <a:gd name="connsiteY5" fmla="*/ 1005521 h 1126719"/>
                  <a:gd name="connsiteX6" fmla="*/ 121451 w 1126719"/>
                  <a:gd name="connsiteY6" fmla="*/ 563549 h 1126719"/>
                  <a:gd name="connsiteX7" fmla="*/ 563423 w 1126719"/>
                  <a:gd name="connsiteY7" fmla="*/ 121577 h 1126719"/>
                  <a:gd name="connsiteX8" fmla="*/ 1005395 w 1126719"/>
                  <a:gd name="connsiteY8" fmla="*/ 563549 h 1126719"/>
                  <a:gd name="connsiteX9" fmla="*/ 563423 w 1126719"/>
                  <a:gd name="connsiteY9" fmla="*/ 1005521 h 1126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26719" h="1126719">
                    <a:moveTo>
                      <a:pt x="563423" y="947"/>
                    </a:moveTo>
                    <a:cubicBezTo>
                      <a:pt x="253196" y="947"/>
                      <a:pt x="947" y="253449"/>
                      <a:pt x="947" y="563549"/>
                    </a:cubicBezTo>
                    <a:cubicBezTo>
                      <a:pt x="947" y="873650"/>
                      <a:pt x="253322" y="1126151"/>
                      <a:pt x="563423" y="1126151"/>
                    </a:cubicBezTo>
                    <a:cubicBezTo>
                      <a:pt x="873524" y="1126151"/>
                      <a:pt x="1125899" y="873650"/>
                      <a:pt x="1125899" y="563549"/>
                    </a:cubicBezTo>
                    <a:cubicBezTo>
                      <a:pt x="1125899" y="253449"/>
                      <a:pt x="873650" y="947"/>
                      <a:pt x="563423" y="947"/>
                    </a:cubicBezTo>
                    <a:close/>
                    <a:moveTo>
                      <a:pt x="563423" y="1005521"/>
                    </a:moveTo>
                    <a:cubicBezTo>
                      <a:pt x="319764" y="1005521"/>
                      <a:pt x="121451" y="807335"/>
                      <a:pt x="121451" y="563549"/>
                    </a:cubicBezTo>
                    <a:cubicBezTo>
                      <a:pt x="121451" y="319764"/>
                      <a:pt x="319764" y="121577"/>
                      <a:pt x="563423" y="121577"/>
                    </a:cubicBezTo>
                    <a:cubicBezTo>
                      <a:pt x="807082" y="121577"/>
                      <a:pt x="1005395" y="319764"/>
                      <a:pt x="1005395" y="563549"/>
                    </a:cubicBezTo>
                    <a:cubicBezTo>
                      <a:pt x="1005395" y="807335"/>
                      <a:pt x="807209" y="1005521"/>
                      <a:pt x="563423" y="1005521"/>
                    </a:cubicBezTo>
                    <a:close/>
                  </a:path>
                </a:pathLst>
              </a:custGeom>
              <a:grpFill/>
              <a:ln w="9525" cap="flat">
                <a:noFill/>
                <a:prstDash val="solid"/>
                <a:miter/>
              </a:ln>
            </p:spPr>
            <p:txBody>
              <a:bodyPr rtlCol="0" anchor="ctr"/>
              <a:lstStyle/>
              <a:p>
                <a:endParaRPr lang="en-US" sz="2400"/>
              </a:p>
            </p:txBody>
          </p:sp>
          <p:sp>
            <p:nvSpPr>
              <p:cNvPr id="29" name="Freeform: Shape 106">
                <a:extLst>
                  <a:ext uri="{FF2B5EF4-FFF2-40B4-BE49-F238E27FC236}">
                    <a16:creationId xmlns:a16="http://schemas.microsoft.com/office/drawing/2014/main" id="{97BF97C7-72DD-A314-B95B-8D67A07DDEB2}"/>
                  </a:ext>
                </a:extLst>
              </p:cNvPr>
              <p:cNvSpPr/>
              <p:nvPr/>
            </p:nvSpPr>
            <p:spPr>
              <a:xfrm>
                <a:off x="10058314" y="3434253"/>
                <a:ext cx="1126720" cy="1121667"/>
              </a:xfrm>
              <a:custGeom>
                <a:avLst/>
                <a:gdLst>
                  <a:gd name="connsiteX0" fmla="*/ 165787 w 1126719"/>
                  <a:gd name="connsiteY0" fmla="*/ 160387 h 1121666"/>
                  <a:gd name="connsiteX1" fmla="*/ 947 w 1126719"/>
                  <a:gd name="connsiteY1" fmla="*/ 558149 h 1121666"/>
                  <a:gd name="connsiteX2" fmla="*/ 165787 w 1126719"/>
                  <a:gd name="connsiteY2" fmla="*/ 955912 h 1121666"/>
                  <a:gd name="connsiteX3" fmla="*/ 563549 w 1126719"/>
                  <a:gd name="connsiteY3" fmla="*/ 1120751 h 1121666"/>
                  <a:gd name="connsiteX4" fmla="*/ 961312 w 1126719"/>
                  <a:gd name="connsiteY4" fmla="*/ 955912 h 1121666"/>
                  <a:gd name="connsiteX5" fmla="*/ 1126151 w 1126719"/>
                  <a:gd name="connsiteY5" fmla="*/ 558149 h 1121666"/>
                  <a:gd name="connsiteX6" fmla="*/ 961312 w 1126719"/>
                  <a:gd name="connsiteY6" fmla="*/ 160387 h 1121666"/>
                  <a:gd name="connsiteX7" fmla="*/ 165787 w 1126719"/>
                  <a:gd name="connsiteY7" fmla="*/ 160387 h 1121666"/>
                  <a:gd name="connsiteX8" fmla="*/ 876176 w 1126719"/>
                  <a:gd name="connsiteY8" fmla="*/ 870650 h 1121666"/>
                  <a:gd name="connsiteX9" fmla="*/ 251049 w 1126719"/>
                  <a:gd name="connsiteY9" fmla="*/ 870650 h 1121666"/>
                  <a:gd name="connsiteX10" fmla="*/ 121577 w 1126719"/>
                  <a:gd name="connsiteY10" fmla="*/ 558149 h 1121666"/>
                  <a:gd name="connsiteX11" fmla="*/ 251049 w 1126719"/>
                  <a:gd name="connsiteY11" fmla="*/ 245649 h 1121666"/>
                  <a:gd name="connsiteX12" fmla="*/ 563549 w 1126719"/>
                  <a:gd name="connsiteY12" fmla="*/ 116177 h 1121666"/>
                  <a:gd name="connsiteX13" fmla="*/ 876176 w 1126719"/>
                  <a:gd name="connsiteY13" fmla="*/ 245649 h 1121666"/>
                  <a:gd name="connsiteX14" fmla="*/ 1005648 w 1126719"/>
                  <a:gd name="connsiteY14" fmla="*/ 558149 h 1121666"/>
                  <a:gd name="connsiteX15" fmla="*/ 876176 w 1126719"/>
                  <a:gd name="connsiteY15" fmla="*/ 870650 h 11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6719" h="1121666">
                    <a:moveTo>
                      <a:pt x="165787" y="160387"/>
                    </a:moveTo>
                    <a:cubicBezTo>
                      <a:pt x="59557" y="266617"/>
                      <a:pt x="947" y="407962"/>
                      <a:pt x="947" y="558149"/>
                    </a:cubicBezTo>
                    <a:cubicBezTo>
                      <a:pt x="947" y="708463"/>
                      <a:pt x="59431" y="849682"/>
                      <a:pt x="165787" y="955912"/>
                    </a:cubicBezTo>
                    <a:cubicBezTo>
                      <a:pt x="272017" y="1062142"/>
                      <a:pt x="413236" y="1120751"/>
                      <a:pt x="563549" y="1120751"/>
                    </a:cubicBezTo>
                    <a:cubicBezTo>
                      <a:pt x="713863" y="1120751"/>
                      <a:pt x="855082" y="1062268"/>
                      <a:pt x="961312" y="955912"/>
                    </a:cubicBezTo>
                    <a:cubicBezTo>
                      <a:pt x="1067542" y="849682"/>
                      <a:pt x="1126151" y="708337"/>
                      <a:pt x="1126151" y="558149"/>
                    </a:cubicBezTo>
                    <a:cubicBezTo>
                      <a:pt x="1126151" y="407836"/>
                      <a:pt x="1067668" y="266617"/>
                      <a:pt x="961312" y="160387"/>
                    </a:cubicBezTo>
                    <a:cubicBezTo>
                      <a:pt x="748852" y="-52199"/>
                      <a:pt x="378247" y="-52199"/>
                      <a:pt x="165787" y="160387"/>
                    </a:cubicBezTo>
                    <a:close/>
                    <a:moveTo>
                      <a:pt x="876176" y="870650"/>
                    </a:moveTo>
                    <a:cubicBezTo>
                      <a:pt x="709063" y="1037763"/>
                      <a:pt x="417909" y="1037763"/>
                      <a:pt x="251049" y="870650"/>
                    </a:cubicBezTo>
                    <a:cubicBezTo>
                      <a:pt x="167555" y="787283"/>
                      <a:pt x="121577" y="676253"/>
                      <a:pt x="121577" y="558149"/>
                    </a:cubicBezTo>
                    <a:cubicBezTo>
                      <a:pt x="121577" y="440046"/>
                      <a:pt x="167555" y="329142"/>
                      <a:pt x="251049" y="245649"/>
                    </a:cubicBezTo>
                    <a:cubicBezTo>
                      <a:pt x="334542" y="162155"/>
                      <a:pt x="445572" y="116177"/>
                      <a:pt x="563549" y="116177"/>
                    </a:cubicBezTo>
                    <a:cubicBezTo>
                      <a:pt x="681653" y="116177"/>
                      <a:pt x="792556" y="162155"/>
                      <a:pt x="876176" y="245649"/>
                    </a:cubicBezTo>
                    <a:cubicBezTo>
                      <a:pt x="959670" y="329016"/>
                      <a:pt x="1005648" y="440046"/>
                      <a:pt x="1005648" y="558149"/>
                    </a:cubicBezTo>
                    <a:cubicBezTo>
                      <a:pt x="1005648" y="676253"/>
                      <a:pt x="959670" y="787283"/>
                      <a:pt x="876176" y="870650"/>
                    </a:cubicBezTo>
                    <a:close/>
                  </a:path>
                </a:pathLst>
              </a:custGeom>
              <a:grpFill/>
              <a:ln w="9525" cap="flat">
                <a:noFill/>
                <a:prstDash val="solid"/>
                <a:miter/>
              </a:ln>
            </p:spPr>
            <p:txBody>
              <a:bodyPr rtlCol="0" anchor="ctr"/>
              <a:lstStyle/>
              <a:p>
                <a:endParaRPr lang="en-US" sz="2400"/>
              </a:p>
            </p:txBody>
          </p:sp>
          <p:sp>
            <p:nvSpPr>
              <p:cNvPr id="30" name="Freeform: Shape 107">
                <a:extLst>
                  <a:ext uri="{FF2B5EF4-FFF2-40B4-BE49-F238E27FC236}">
                    <a16:creationId xmlns:a16="http://schemas.microsoft.com/office/drawing/2014/main" id="{0BCCB164-1FC2-BA3A-77F8-1CA001F22A12}"/>
                  </a:ext>
                </a:extLst>
              </p:cNvPr>
              <p:cNvSpPr/>
              <p:nvPr/>
            </p:nvSpPr>
            <p:spPr>
              <a:xfrm>
                <a:off x="11036993" y="1566229"/>
                <a:ext cx="2010917" cy="2010917"/>
              </a:xfrm>
              <a:custGeom>
                <a:avLst/>
                <a:gdLst>
                  <a:gd name="connsiteX0" fmla="*/ 2010095 w 2010916"/>
                  <a:gd name="connsiteY0" fmla="*/ 1065900 h 2010916"/>
                  <a:gd name="connsiteX1" fmla="*/ 2010095 w 2010916"/>
                  <a:gd name="connsiteY1" fmla="*/ 945143 h 2010916"/>
                  <a:gd name="connsiteX2" fmla="*/ 1151161 w 2010916"/>
                  <a:gd name="connsiteY2" fmla="*/ 945143 h 2010916"/>
                  <a:gd name="connsiteX3" fmla="*/ 1758478 w 2010916"/>
                  <a:gd name="connsiteY3" fmla="*/ 337953 h 2010916"/>
                  <a:gd name="connsiteX4" fmla="*/ 1673343 w 2010916"/>
                  <a:gd name="connsiteY4" fmla="*/ 252565 h 2010916"/>
                  <a:gd name="connsiteX5" fmla="*/ 1065773 w 2010916"/>
                  <a:gd name="connsiteY5" fmla="*/ 860008 h 2010916"/>
                  <a:gd name="connsiteX6" fmla="*/ 1065773 w 2010916"/>
                  <a:gd name="connsiteY6" fmla="*/ 947 h 2010916"/>
                  <a:gd name="connsiteX7" fmla="*/ 945270 w 2010916"/>
                  <a:gd name="connsiteY7" fmla="*/ 947 h 2010916"/>
                  <a:gd name="connsiteX8" fmla="*/ 945270 w 2010916"/>
                  <a:gd name="connsiteY8" fmla="*/ 860008 h 2010916"/>
                  <a:gd name="connsiteX9" fmla="*/ 337827 w 2010916"/>
                  <a:gd name="connsiteY9" fmla="*/ 252565 h 2010916"/>
                  <a:gd name="connsiteX10" fmla="*/ 252691 w 2010916"/>
                  <a:gd name="connsiteY10" fmla="*/ 337953 h 2010916"/>
                  <a:gd name="connsiteX11" fmla="*/ 860008 w 2010916"/>
                  <a:gd name="connsiteY11" fmla="*/ 945143 h 2010916"/>
                  <a:gd name="connsiteX12" fmla="*/ 947 w 2010916"/>
                  <a:gd name="connsiteY12" fmla="*/ 945143 h 2010916"/>
                  <a:gd name="connsiteX13" fmla="*/ 947 w 2010916"/>
                  <a:gd name="connsiteY13" fmla="*/ 1065900 h 2010916"/>
                  <a:gd name="connsiteX14" fmla="*/ 860008 w 2010916"/>
                  <a:gd name="connsiteY14" fmla="*/ 1065900 h 2010916"/>
                  <a:gd name="connsiteX15" fmla="*/ 252691 w 2010916"/>
                  <a:gd name="connsiteY15" fmla="*/ 1673090 h 2010916"/>
                  <a:gd name="connsiteX16" fmla="*/ 337827 w 2010916"/>
                  <a:gd name="connsiteY16" fmla="*/ 1758479 h 2010916"/>
                  <a:gd name="connsiteX17" fmla="*/ 945270 w 2010916"/>
                  <a:gd name="connsiteY17" fmla="*/ 1151035 h 2010916"/>
                  <a:gd name="connsiteX18" fmla="*/ 945270 w 2010916"/>
                  <a:gd name="connsiteY18" fmla="*/ 2010096 h 2010916"/>
                  <a:gd name="connsiteX19" fmla="*/ 1065773 w 2010916"/>
                  <a:gd name="connsiteY19" fmla="*/ 2010096 h 2010916"/>
                  <a:gd name="connsiteX20" fmla="*/ 1065773 w 2010916"/>
                  <a:gd name="connsiteY20" fmla="*/ 1151035 h 2010916"/>
                  <a:gd name="connsiteX21" fmla="*/ 1673343 w 2010916"/>
                  <a:gd name="connsiteY21" fmla="*/ 1758479 h 2010916"/>
                  <a:gd name="connsiteX22" fmla="*/ 1758478 w 2010916"/>
                  <a:gd name="connsiteY22" fmla="*/ 1673090 h 2010916"/>
                  <a:gd name="connsiteX23" fmla="*/ 1151161 w 2010916"/>
                  <a:gd name="connsiteY23" fmla="*/ 1065900 h 2010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10916" h="2010916">
                    <a:moveTo>
                      <a:pt x="2010095" y="1065900"/>
                    </a:moveTo>
                    <a:lnTo>
                      <a:pt x="2010095" y="945143"/>
                    </a:lnTo>
                    <a:lnTo>
                      <a:pt x="1151161" y="945143"/>
                    </a:lnTo>
                    <a:lnTo>
                      <a:pt x="1758478" y="337953"/>
                    </a:lnTo>
                    <a:lnTo>
                      <a:pt x="1673343" y="252565"/>
                    </a:lnTo>
                    <a:lnTo>
                      <a:pt x="1065773" y="860008"/>
                    </a:lnTo>
                    <a:lnTo>
                      <a:pt x="1065773" y="947"/>
                    </a:lnTo>
                    <a:lnTo>
                      <a:pt x="945270" y="947"/>
                    </a:lnTo>
                    <a:lnTo>
                      <a:pt x="945270" y="860008"/>
                    </a:lnTo>
                    <a:lnTo>
                      <a:pt x="337827" y="252565"/>
                    </a:lnTo>
                    <a:lnTo>
                      <a:pt x="252691" y="337953"/>
                    </a:lnTo>
                    <a:lnTo>
                      <a:pt x="860008" y="945143"/>
                    </a:lnTo>
                    <a:lnTo>
                      <a:pt x="947" y="945143"/>
                    </a:lnTo>
                    <a:lnTo>
                      <a:pt x="947" y="1065900"/>
                    </a:lnTo>
                    <a:lnTo>
                      <a:pt x="860008" y="1065900"/>
                    </a:lnTo>
                    <a:lnTo>
                      <a:pt x="252691" y="1673090"/>
                    </a:lnTo>
                    <a:lnTo>
                      <a:pt x="337827" y="1758479"/>
                    </a:lnTo>
                    <a:lnTo>
                      <a:pt x="945270" y="1151035"/>
                    </a:lnTo>
                    <a:lnTo>
                      <a:pt x="945270" y="2010096"/>
                    </a:lnTo>
                    <a:lnTo>
                      <a:pt x="1065773" y="2010096"/>
                    </a:lnTo>
                    <a:lnTo>
                      <a:pt x="1065773" y="1151035"/>
                    </a:lnTo>
                    <a:lnTo>
                      <a:pt x="1673343" y="1758479"/>
                    </a:lnTo>
                    <a:lnTo>
                      <a:pt x="1758478" y="1673090"/>
                    </a:lnTo>
                    <a:lnTo>
                      <a:pt x="1151161" y="1065900"/>
                    </a:lnTo>
                    <a:close/>
                  </a:path>
                </a:pathLst>
              </a:custGeom>
              <a:grpFill/>
              <a:ln w="9525" cap="flat">
                <a:noFill/>
                <a:prstDash val="solid"/>
                <a:miter/>
              </a:ln>
            </p:spPr>
            <p:txBody>
              <a:bodyPr rtlCol="0" anchor="ctr"/>
              <a:lstStyle/>
              <a:p>
                <a:endParaRPr lang="en-US" sz="2400"/>
              </a:p>
            </p:txBody>
          </p:sp>
        </p:grpSp>
        <p:sp>
          <p:nvSpPr>
            <p:cNvPr id="31" name="Rectangle 30">
              <a:extLst>
                <a:ext uri="{FF2B5EF4-FFF2-40B4-BE49-F238E27FC236}">
                  <a16:creationId xmlns:a16="http://schemas.microsoft.com/office/drawing/2014/main" id="{A7D6AEA6-5980-0AB6-5B9B-2FBFC11F8FD5}"/>
                </a:ext>
              </a:extLst>
            </p:cNvPr>
            <p:cNvSpPr/>
            <p:nvPr/>
          </p:nvSpPr>
          <p:spPr>
            <a:xfrm>
              <a:off x="5661560" y="885366"/>
              <a:ext cx="974747" cy="1005840"/>
            </a:xfrm>
            <a:prstGeom prst="rect">
              <a:avLst/>
            </a:prstGeom>
            <a:solidFill>
              <a:schemeClr val="accent1"/>
            </a:solidFill>
            <a:ln w="9525">
              <a:noFill/>
            </a:ln>
          </p:spPr>
          <p:txBody>
            <a:bodyPr wrap="square" lIns="0" tIns="0" rIns="0" bIns="0" rtlCol="0" anchor="ctr">
              <a:noAutofit/>
            </a:bodyPr>
            <a:lstStyle/>
            <a:p>
              <a:pPr algn="ctr" defTabSz="914598">
                <a:defRPr/>
              </a:pPr>
              <a:endParaRPr lang="en-US" sz="1600" dirty="0">
                <a:solidFill>
                  <a:srgbClr val="FFFFFF"/>
                </a:solidFill>
                <a:cs typeface="Arial"/>
              </a:endParaRPr>
            </a:p>
          </p:txBody>
        </p:sp>
        <p:sp>
          <p:nvSpPr>
            <p:cNvPr id="32" name="TextBox 31">
              <a:extLst>
                <a:ext uri="{FF2B5EF4-FFF2-40B4-BE49-F238E27FC236}">
                  <a16:creationId xmlns:a16="http://schemas.microsoft.com/office/drawing/2014/main" id="{9DC03C2D-D026-DCC4-494F-FFD1D5EB0EA4}"/>
                </a:ext>
              </a:extLst>
            </p:cNvPr>
            <p:cNvSpPr txBox="1"/>
            <p:nvPr/>
          </p:nvSpPr>
          <p:spPr>
            <a:xfrm>
              <a:off x="5790731" y="1503534"/>
              <a:ext cx="731520" cy="153841"/>
            </a:xfrm>
            <a:prstGeom prst="rect">
              <a:avLst/>
            </a:prstGeom>
            <a:noFill/>
          </p:spPr>
          <p:txBody>
            <a:bodyPr wrap="square" lIns="0" tIns="0" rIns="0" bIns="0" rtlCol="0">
              <a:spAutoFit/>
            </a:bodyPr>
            <a:lstStyle/>
            <a:p>
              <a:pPr algn="ctr" defTabSz="914598">
                <a:defRPr/>
              </a:pPr>
              <a:r>
                <a:rPr lang="en-US" sz="1333" dirty="0">
                  <a:solidFill>
                    <a:schemeClr val="bg1"/>
                  </a:solidFill>
                </a:rPr>
                <a:t>Experience </a:t>
              </a:r>
            </a:p>
          </p:txBody>
        </p:sp>
        <p:sp>
          <p:nvSpPr>
            <p:cNvPr id="33" name="Freeform: Shape 110">
              <a:extLst>
                <a:ext uri="{FF2B5EF4-FFF2-40B4-BE49-F238E27FC236}">
                  <a16:creationId xmlns:a16="http://schemas.microsoft.com/office/drawing/2014/main" id="{0D13F9B7-7E9C-808D-A3BF-644F7DDD6F38}"/>
                </a:ext>
              </a:extLst>
            </p:cNvPr>
            <p:cNvSpPr/>
            <p:nvPr/>
          </p:nvSpPr>
          <p:spPr>
            <a:xfrm>
              <a:off x="6073190" y="1055808"/>
              <a:ext cx="87537" cy="179401"/>
            </a:xfrm>
            <a:custGeom>
              <a:avLst/>
              <a:gdLst>
                <a:gd name="connsiteX0" fmla="*/ 61325 w 1251770"/>
                <a:gd name="connsiteY0" fmla="*/ 2564613 h 2565434"/>
                <a:gd name="connsiteX1" fmla="*/ 947 w 1251770"/>
                <a:gd name="connsiteY1" fmla="*/ 2460278 h 2565434"/>
                <a:gd name="connsiteX2" fmla="*/ 1130951 w 1251770"/>
                <a:gd name="connsiteY2" fmla="*/ 1807993 h 2565434"/>
                <a:gd name="connsiteX3" fmla="*/ 1130951 w 1251770"/>
                <a:gd name="connsiteY3" fmla="*/ 947 h 2565434"/>
                <a:gd name="connsiteX4" fmla="*/ 1251455 w 1251770"/>
                <a:gd name="connsiteY4" fmla="*/ 947 h 2565434"/>
                <a:gd name="connsiteX5" fmla="*/ 1251455 w 1251770"/>
                <a:gd name="connsiteY5" fmla="*/ 1877466 h 25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1770" h="2565434">
                  <a:moveTo>
                    <a:pt x="61325" y="2564613"/>
                  </a:moveTo>
                  <a:lnTo>
                    <a:pt x="947" y="2460278"/>
                  </a:lnTo>
                  <a:lnTo>
                    <a:pt x="1130951" y="1807993"/>
                  </a:lnTo>
                  <a:lnTo>
                    <a:pt x="1130951" y="947"/>
                  </a:lnTo>
                  <a:lnTo>
                    <a:pt x="1251455" y="947"/>
                  </a:lnTo>
                  <a:lnTo>
                    <a:pt x="1251455" y="1877466"/>
                  </a:lnTo>
                  <a:close/>
                </a:path>
              </a:pathLst>
            </a:custGeom>
            <a:solidFill>
              <a:schemeClr val="bg1"/>
            </a:solidFill>
            <a:ln w="9525" cap="flat">
              <a:noFill/>
              <a:prstDash val="solid"/>
              <a:miter/>
            </a:ln>
          </p:spPr>
          <p:txBody>
            <a:bodyPr rtlCol="0" anchor="ctr"/>
            <a:lstStyle/>
            <a:p>
              <a:endParaRPr lang="en-US" sz="2400"/>
            </a:p>
          </p:txBody>
        </p:sp>
        <p:sp>
          <p:nvSpPr>
            <p:cNvPr id="34" name="Freeform: Shape 111">
              <a:extLst>
                <a:ext uri="{FF2B5EF4-FFF2-40B4-BE49-F238E27FC236}">
                  <a16:creationId xmlns:a16="http://schemas.microsoft.com/office/drawing/2014/main" id="{97BE2FB2-F318-3932-8D46-4FDC42047FEE}"/>
                </a:ext>
              </a:extLst>
            </p:cNvPr>
            <p:cNvSpPr/>
            <p:nvPr/>
          </p:nvSpPr>
          <p:spPr>
            <a:xfrm>
              <a:off x="5976582" y="1004761"/>
              <a:ext cx="359774" cy="359774"/>
            </a:xfrm>
            <a:custGeom>
              <a:avLst/>
              <a:gdLst>
                <a:gd name="connsiteX0" fmla="*/ 2572697 w 5144763"/>
                <a:gd name="connsiteY0" fmla="*/ 5144448 h 5144763"/>
                <a:gd name="connsiteX1" fmla="*/ 947 w 5144763"/>
                <a:gd name="connsiteY1" fmla="*/ 2572697 h 5144763"/>
                <a:gd name="connsiteX2" fmla="*/ 2572697 w 5144763"/>
                <a:gd name="connsiteY2" fmla="*/ 947 h 5144763"/>
                <a:gd name="connsiteX3" fmla="*/ 5144448 w 5144763"/>
                <a:gd name="connsiteY3" fmla="*/ 2572697 h 5144763"/>
                <a:gd name="connsiteX4" fmla="*/ 4251030 w 5144763"/>
                <a:gd name="connsiteY4" fmla="*/ 4521594 h 5144763"/>
                <a:gd name="connsiteX5" fmla="*/ 5084196 w 5144763"/>
                <a:gd name="connsiteY5" fmla="*/ 4521594 h 5144763"/>
                <a:gd name="connsiteX6" fmla="*/ 5084196 w 5144763"/>
                <a:gd name="connsiteY6" fmla="*/ 4642224 h 5144763"/>
                <a:gd name="connsiteX7" fmla="*/ 4019370 w 5144763"/>
                <a:gd name="connsiteY7" fmla="*/ 4642224 h 5144763"/>
                <a:gd name="connsiteX8" fmla="*/ 4019370 w 5144763"/>
                <a:gd name="connsiteY8" fmla="*/ 3577398 h 5144763"/>
                <a:gd name="connsiteX9" fmla="*/ 4139873 w 5144763"/>
                <a:gd name="connsiteY9" fmla="*/ 3577398 h 5144763"/>
                <a:gd name="connsiteX10" fmla="*/ 4139873 w 5144763"/>
                <a:gd name="connsiteY10" fmla="*/ 4457805 h 5144763"/>
                <a:gd name="connsiteX11" fmla="*/ 5023944 w 5144763"/>
                <a:gd name="connsiteY11" fmla="*/ 2572824 h 5144763"/>
                <a:gd name="connsiteX12" fmla="*/ 2572697 w 5144763"/>
                <a:gd name="connsiteY12" fmla="*/ 121577 h 5144763"/>
                <a:gd name="connsiteX13" fmla="*/ 121451 w 5144763"/>
                <a:gd name="connsiteY13" fmla="*/ 2572697 h 5144763"/>
                <a:gd name="connsiteX14" fmla="*/ 2572697 w 5144763"/>
                <a:gd name="connsiteY14" fmla="*/ 5023818 h 5144763"/>
                <a:gd name="connsiteX15" fmla="*/ 2572697 w 5144763"/>
                <a:gd name="connsiteY15" fmla="*/ 5144448 h 5144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44763" h="5144763">
                  <a:moveTo>
                    <a:pt x="2572697" y="5144448"/>
                  </a:moveTo>
                  <a:cubicBezTo>
                    <a:pt x="1154572" y="5144448"/>
                    <a:pt x="947" y="3990697"/>
                    <a:pt x="947" y="2572697"/>
                  </a:cubicBezTo>
                  <a:cubicBezTo>
                    <a:pt x="947" y="1154698"/>
                    <a:pt x="1154572" y="947"/>
                    <a:pt x="2572697" y="947"/>
                  </a:cubicBezTo>
                  <a:cubicBezTo>
                    <a:pt x="3990823" y="947"/>
                    <a:pt x="5144448" y="1154698"/>
                    <a:pt x="5144448" y="2572697"/>
                  </a:cubicBezTo>
                  <a:cubicBezTo>
                    <a:pt x="5144448" y="3331212"/>
                    <a:pt x="4820958" y="4032254"/>
                    <a:pt x="4251030" y="4521594"/>
                  </a:cubicBezTo>
                  <a:lnTo>
                    <a:pt x="5084196" y="4521594"/>
                  </a:lnTo>
                  <a:lnTo>
                    <a:pt x="5084196" y="4642224"/>
                  </a:lnTo>
                  <a:lnTo>
                    <a:pt x="4019370" y="4642224"/>
                  </a:lnTo>
                  <a:lnTo>
                    <a:pt x="4019370" y="3577398"/>
                  </a:lnTo>
                  <a:lnTo>
                    <a:pt x="4139873" y="3577398"/>
                  </a:lnTo>
                  <a:lnTo>
                    <a:pt x="4139873" y="4457805"/>
                  </a:lnTo>
                  <a:cubicBezTo>
                    <a:pt x="4703360" y="3990318"/>
                    <a:pt x="5023944" y="3309991"/>
                    <a:pt x="5023944" y="2572824"/>
                  </a:cubicBezTo>
                  <a:cubicBezTo>
                    <a:pt x="5023818" y="1221139"/>
                    <a:pt x="3924256" y="121577"/>
                    <a:pt x="2572697" y="121577"/>
                  </a:cubicBezTo>
                  <a:cubicBezTo>
                    <a:pt x="1221139" y="121577"/>
                    <a:pt x="121451" y="1221139"/>
                    <a:pt x="121451" y="2572697"/>
                  </a:cubicBezTo>
                  <a:cubicBezTo>
                    <a:pt x="121451" y="3924256"/>
                    <a:pt x="1221013" y="5023818"/>
                    <a:pt x="2572697" y="5023818"/>
                  </a:cubicBezTo>
                  <a:lnTo>
                    <a:pt x="2572697" y="5144448"/>
                  </a:lnTo>
                  <a:close/>
                </a:path>
              </a:pathLst>
            </a:custGeom>
            <a:solidFill>
              <a:schemeClr val="bg1"/>
            </a:solidFill>
            <a:ln w="9525" cap="flat">
              <a:noFill/>
              <a:prstDash val="solid"/>
              <a:miter/>
            </a:ln>
          </p:spPr>
          <p:txBody>
            <a:bodyPr rtlCol="0" anchor="ctr"/>
            <a:lstStyle/>
            <a:p>
              <a:endParaRPr lang="en-US" sz="2400"/>
            </a:p>
          </p:txBody>
        </p:sp>
        <p:sp>
          <p:nvSpPr>
            <p:cNvPr id="35" name="Rectangle 34">
              <a:extLst>
                <a:ext uri="{FF2B5EF4-FFF2-40B4-BE49-F238E27FC236}">
                  <a16:creationId xmlns:a16="http://schemas.microsoft.com/office/drawing/2014/main" id="{B50D04F9-B954-5C80-8035-639B7DA6C8BC}"/>
                </a:ext>
              </a:extLst>
            </p:cNvPr>
            <p:cNvSpPr/>
            <p:nvPr/>
          </p:nvSpPr>
          <p:spPr>
            <a:xfrm>
              <a:off x="6799582" y="885366"/>
              <a:ext cx="974747" cy="1005840"/>
            </a:xfrm>
            <a:prstGeom prst="rect">
              <a:avLst/>
            </a:prstGeom>
            <a:solidFill>
              <a:schemeClr val="accent1"/>
            </a:solidFill>
            <a:ln w="9525">
              <a:noFill/>
            </a:ln>
            <a:effectLst/>
          </p:spPr>
          <p:txBody>
            <a:bodyPr wrap="square" lIns="0" tIns="0" rIns="0" bIns="0" rtlCol="0" anchor="ctr">
              <a:noAutofit/>
            </a:bodyPr>
            <a:lstStyle/>
            <a:p>
              <a:pPr algn="ctr" defTabSz="914598">
                <a:defRPr/>
              </a:pPr>
              <a:endParaRPr lang="en-US" sz="1600" dirty="0">
                <a:solidFill>
                  <a:srgbClr val="FFFFFF"/>
                </a:solidFill>
                <a:cs typeface="Arial"/>
              </a:endParaRPr>
            </a:p>
          </p:txBody>
        </p:sp>
        <p:sp>
          <p:nvSpPr>
            <p:cNvPr id="36" name="TextBox 35">
              <a:extLst>
                <a:ext uri="{FF2B5EF4-FFF2-40B4-BE49-F238E27FC236}">
                  <a16:creationId xmlns:a16="http://schemas.microsoft.com/office/drawing/2014/main" id="{8152276D-604E-709D-A3C3-5580D19D9ED1}"/>
                </a:ext>
              </a:extLst>
            </p:cNvPr>
            <p:cNvSpPr txBox="1"/>
            <p:nvPr/>
          </p:nvSpPr>
          <p:spPr>
            <a:xfrm>
              <a:off x="6928753" y="1503534"/>
              <a:ext cx="731520" cy="153841"/>
            </a:xfrm>
            <a:prstGeom prst="rect">
              <a:avLst/>
            </a:prstGeom>
            <a:noFill/>
          </p:spPr>
          <p:txBody>
            <a:bodyPr wrap="square" lIns="0" tIns="0" rIns="0" bIns="0" rtlCol="0">
              <a:spAutoFit/>
            </a:bodyPr>
            <a:lstStyle/>
            <a:p>
              <a:pPr algn="ctr" defTabSz="914598">
                <a:defRPr/>
              </a:pPr>
              <a:r>
                <a:rPr lang="en-US" sz="1333" dirty="0">
                  <a:solidFill>
                    <a:schemeClr val="bg1"/>
                  </a:solidFill>
                </a:rPr>
                <a:t>Maintain</a:t>
              </a:r>
            </a:p>
          </p:txBody>
        </p:sp>
        <p:sp>
          <p:nvSpPr>
            <p:cNvPr id="37" name="Graphic 112">
              <a:extLst>
                <a:ext uri="{FF2B5EF4-FFF2-40B4-BE49-F238E27FC236}">
                  <a16:creationId xmlns:a16="http://schemas.microsoft.com/office/drawing/2014/main" id="{351F7461-8E43-3DDF-4CE9-0C6320214F86}"/>
                </a:ext>
              </a:extLst>
            </p:cNvPr>
            <p:cNvSpPr/>
            <p:nvPr/>
          </p:nvSpPr>
          <p:spPr>
            <a:xfrm>
              <a:off x="7111635" y="1004828"/>
              <a:ext cx="365757" cy="365757"/>
            </a:xfrm>
            <a:custGeom>
              <a:avLst/>
              <a:gdLst>
                <a:gd name="connsiteX0" fmla="*/ 3067848 w 5144763"/>
                <a:gd name="connsiteY0" fmla="*/ 5144448 h 5144763"/>
                <a:gd name="connsiteX1" fmla="*/ 2077547 w 5144763"/>
                <a:gd name="connsiteY1" fmla="*/ 5144448 h 5144763"/>
                <a:gd name="connsiteX2" fmla="*/ 2017295 w 5144763"/>
                <a:gd name="connsiteY2" fmla="*/ 5084196 h 5144763"/>
                <a:gd name="connsiteX3" fmla="*/ 2017295 w 5144763"/>
                <a:gd name="connsiteY3" fmla="*/ 4475995 h 5144763"/>
                <a:gd name="connsiteX4" fmla="*/ 1620670 w 5144763"/>
                <a:gd name="connsiteY4" fmla="*/ 4310145 h 5144763"/>
                <a:gd name="connsiteX5" fmla="*/ 1189561 w 5144763"/>
                <a:gd name="connsiteY5" fmla="*/ 4741254 h 5144763"/>
                <a:gd name="connsiteX6" fmla="*/ 1104425 w 5144763"/>
                <a:gd name="connsiteY6" fmla="*/ 4741254 h 5144763"/>
                <a:gd name="connsiteX7" fmla="*/ 404141 w 5144763"/>
                <a:gd name="connsiteY7" fmla="*/ 4040970 h 5144763"/>
                <a:gd name="connsiteX8" fmla="*/ 404141 w 5144763"/>
                <a:gd name="connsiteY8" fmla="*/ 3955708 h 5144763"/>
                <a:gd name="connsiteX9" fmla="*/ 834114 w 5144763"/>
                <a:gd name="connsiteY9" fmla="*/ 3525609 h 5144763"/>
                <a:gd name="connsiteX10" fmla="*/ 670916 w 5144763"/>
                <a:gd name="connsiteY10" fmla="*/ 3127973 h 5144763"/>
                <a:gd name="connsiteX11" fmla="*/ 61199 w 5144763"/>
                <a:gd name="connsiteY11" fmla="*/ 3127973 h 5144763"/>
                <a:gd name="connsiteX12" fmla="*/ 947 w 5144763"/>
                <a:gd name="connsiteY12" fmla="*/ 3067721 h 5144763"/>
                <a:gd name="connsiteX13" fmla="*/ 947 w 5144763"/>
                <a:gd name="connsiteY13" fmla="*/ 2077421 h 5144763"/>
                <a:gd name="connsiteX14" fmla="*/ 61199 w 5144763"/>
                <a:gd name="connsiteY14" fmla="*/ 2017169 h 5144763"/>
                <a:gd name="connsiteX15" fmla="*/ 669400 w 5144763"/>
                <a:gd name="connsiteY15" fmla="*/ 2017169 h 5144763"/>
                <a:gd name="connsiteX16" fmla="*/ 835250 w 5144763"/>
                <a:gd name="connsiteY16" fmla="*/ 1620670 h 5144763"/>
                <a:gd name="connsiteX17" fmla="*/ 404141 w 5144763"/>
                <a:gd name="connsiteY17" fmla="*/ 1189561 h 5144763"/>
                <a:gd name="connsiteX18" fmla="*/ 404141 w 5144763"/>
                <a:gd name="connsiteY18" fmla="*/ 1104299 h 5144763"/>
                <a:gd name="connsiteX19" fmla="*/ 1104425 w 5144763"/>
                <a:gd name="connsiteY19" fmla="*/ 404141 h 5144763"/>
                <a:gd name="connsiteX20" fmla="*/ 1146993 w 5144763"/>
                <a:gd name="connsiteY20" fmla="*/ 386457 h 5144763"/>
                <a:gd name="connsiteX21" fmla="*/ 1146993 w 5144763"/>
                <a:gd name="connsiteY21" fmla="*/ 386457 h 5144763"/>
                <a:gd name="connsiteX22" fmla="*/ 1189561 w 5144763"/>
                <a:gd name="connsiteY22" fmla="*/ 404141 h 5144763"/>
                <a:gd name="connsiteX23" fmla="*/ 1619533 w 5144763"/>
                <a:gd name="connsiteY23" fmla="*/ 834240 h 5144763"/>
                <a:gd name="connsiteX24" fmla="*/ 2017295 w 5144763"/>
                <a:gd name="connsiteY24" fmla="*/ 671169 h 5144763"/>
                <a:gd name="connsiteX25" fmla="*/ 2017295 w 5144763"/>
                <a:gd name="connsiteY25" fmla="*/ 61199 h 5144763"/>
                <a:gd name="connsiteX26" fmla="*/ 2077547 w 5144763"/>
                <a:gd name="connsiteY26" fmla="*/ 947 h 5144763"/>
                <a:gd name="connsiteX27" fmla="*/ 3067848 w 5144763"/>
                <a:gd name="connsiteY27" fmla="*/ 947 h 5144763"/>
                <a:gd name="connsiteX28" fmla="*/ 3128099 w 5144763"/>
                <a:gd name="connsiteY28" fmla="*/ 61199 h 5144763"/>
                <a:gd name="connsiteX29" fmla="*/ 3128099 w 5144763"/>
                <a:gd name="connsiteY29" fmla="*/ 669400 h 5144763"/>
                <a:gd name="connsiteX30" fmla="*/ 3524599 w 5144763"/>
                <a:gd name="connsiteY30" fmla="*/ 835250 h 5144763"/>
                <a:gd name="connsiteX31" fmla="*/ 3955834 w 5144763"/>
                <a:gd name="connsiteY31" fmla="*/ 404015 h 5144763"/>
                <a:gd name="connsiteX32" fmla="*/ 4040970 w 5144763"/>
                <a:gd name="connsiteY32" fmla="*/ 404015 h 5144763"/>
                <a:gd name="connsiteX33" fmla="*/ 4741254 w 5144763"/>
                <a:gd name="connsiteY33" fmla="*/ 1104173 h 5144763"/>
                <a:gd name="connsiteX34" fmla="*/ 4758938 w 5144763"/>
                <a:gd name="connsiteY34" fmla="*/ 1146740 h 5144763"/>
                <a:gd name="connsiteX35" fmla="*/ 4741254 w 5144763"/>
                <a:gd name="connsiteY35" fmla="*/ 1189308 h 5144763"/>
                <a:gd name="connsiteX36" fmla="*/ 4311155 w 5144763"/>
                <a:gd name="connsiteY36" fmla="*/ 1619407 h 5144763"/>
                <a:gd name="connsiteX37" fmla="*/ 4474226 w 5144763"/>
                <a:gd name="connsiteY37" fmla="*/ 2017043 h 5144763"/>
                <a:gd name="connsiteX38" fmla="*/ 5084070 w 5144763"/>
                <a:gd name="connsiteY38" fmla="*/ 2017043 h 5144763"/>
                <a:gd name="connsiteX39" fmla="*/ 5144321 w 5144763"/>
                <a:gd name="connsiteY39" fmla="*/ 2077295 h 5144763"/>
                <a:gd name="connsiteX40" fmla="*/ 5144321 w 5144763"/>
                <a:gd name="connsiteY40" fmla="*/ 3067595 h 5144763"/>
                <a:gd name="connsiteX41" fmla="*/ 5084070 w 5144763"/>
                <a:gd name="connsiteY41" fmla="*/ 3127847 h 5144763"/>
                <a:gd name="connsiteX42" fmla="*/ 4475868 w 5144763"/>
                <a:gd name="connsiteY42" fmla="*/ 3127847 h 5144763"/>
                <a:gd name="connsiteX43" fmla="*/ 4310018 w 5144763"/>
                <a:gd name="connsiteY43" fmla="*/ 3524346 h 5144763"/>
                <a:gd name="connsiteX44" fmla="*/ 4741254 w 5144763"/>
                <a:gd name="connsiteY44" fmla="*/ 3955582 h 5144763"/>
                <a:gd name="connsiteX45" fmla="*/ 4758938 w 5144763"/>
                <a:gd name="connsiteY45" fmla="*/ 3998149 h 5144763"/>
                <a:gd name="connsiteX46" fmla="*/ 4741254 w 5144763"/>
                <a:gd name="connsiteY46" fmla="*/ 4040717 h 5144763"/>
                <a:gd name="connsiteX47" fmla="*/ 4040970 w 5144763"/>
                <a:gd name="connsiteY47" fmla="*/ 4741001 h 5144763"/>
                <a:gd name="connsiteX48" fmla="*/ 3955834 w 5144763"/>
                <a:gd name="connsiteY48" fmla="*/ 4741001 h 5144763"/>
                <a:gd name="connsiteX49" fmla="*/ 3525735 w 5144763"/>
                <a:gd name="connsiteY49" fmla="*/ 4310903 h 5144763"/>
                <a:gd name="connsiteX50" fmla="*/ 3128099 w 5144763"/>
                <a:gd name="connsiteY50" fmla="*/ 4473974 h 5144763"/>
                <a:gd name="connsiteX51" fmla="*/ 3128099 w 5144763"/>
                <a:gd name="connsiteY51" fmla="*/ 5083817 h 5144763"/>
                <a:gd name="connsiteX52" fmla="*/ 3067848 w 5144763"/>
                <a:gd name="connsiteY52" fmla="*/ 5144448 h 5144763"/>
                <a:gd name="connsiteX53" fmla="*/ 2137799 w 5144763"/>
                <a:gd name="connsiteY53" fmla="*/ 5023944 h 5144763"/>
                <a:gd name="connsiteX54" fmla="*/ 3007596 w 5144763"/>
                <a:gd name="connsiteY54" fmla="*/ 5023944 h 5144763"/>
                <a:gd name="connsiteX55" fmla="*/ 3007596 w 5144763"/>
                <a:gd name="connsiteY55" fmla="*/ 4433932 h 5144763"/>
                <a:gd name="connsiteX56" fmla="*/ 3044985 w 5144763"/>
                <a:gd name="connsiteY56" fmla="*/ 4378102 h 5144763"/>
                <a:gd name="connsiteX57" fmla="*/ 3517146 w 5144763"/>
                <a:gd name="connsiteY57" fmla="*/ 4184462 h 5144763"/>
                <a:gd name="connsiteX58" fmla="*/ 3582577 w 5144763"/>
                <a:gd name="connsiteY58" fmla="*/ 4197599 h 5144763"/>
                <a:gd name="connsiteX59" fmla="*/ 3998402 w 5144763"/>
                <a:gd name="connsiteY59" fmla="*/ 4613424 h 5144763"/>
                <a:gd name="connsiteX60" fmla="*/ 4613424 w 5144763"/>
                <a:gd name="connsiteY60" fmla="*/ 3998402 h 5144763"/>
                <a:gd name="connsiteX61" fmla="*/ 4196210 w 5144763"/>
                <a:gd name="connsiteY61" fmla="*/ 3581187 h 5144763"/>
                <a:gd name="connsiteX62" fmla="*/ 4183199 w 5144763"/>
                <a:gd name="connsiteY62" fmla="*/ 3515251 h 5144763"/>
                <a:gd name="connsiteX63" fmla="*/ 4380122 w 5144763"/>
                <a:gd name="connsiteY63" fmla="*/ 3044480 h 5144763"/>
                <a:gd name="connsiteX64" fmla="*/ 4435700 w 5144763"/>
                <a:gd name="connsiteY64" fmla="*/ 3007470 h 5144763"/>
                <a:gd name="connsiteX65" fmla="*/ 5023818 w 5144763"/>
                <a:gd name="connsiteY65" fmla="*/ 3007470 h 5144763"/>
                <a:gd name="connsiteX66" fmla="*/ 5023818 w 5144763"/>
                <a:gd name="connsiteY66" fmla="*/ 2137673 h 5144763"/>
                <a:gd name="connsiteX67" fmla="*/ 4433932 w 5144763"/>
                <a:gd name="connsiteY67" fmla="*/ 2137673 h 5144763"/>
                <a:gd name="connsiteX68" fmla="*/ 4378228 w 5144763"/>
                <a:gd name="connsiteY68" fmla="*/ 2100284 h 5144763"/>
                <a:gd name="connsiteX69" fmla="*/ 4184589 w 5144763"/>
                <a:gd name="connsiteY69" fmla="*/ 1628122 h 5144763"/>
                <a:gd name="connsiteX70" fmla="*/ 4197725 w 5144763"/>
                <a:gd name="connsiteY70" fmla="*/ 1562692 h 5144763"/>
                <a:gd name="connsiteX71" fmla="*/ 4613550 w 5144763"/>
                <a:gd name="connsiteY71" fmla="*/ 1146867 h 5144763"/>
                <a:gd name="connsiteX72" fmla="*/ 3998528 w 5144763"/>
                <a:gd name="connsiteY72" fmla="*/ 531844 h 5144763"/>
                <a:gd name="connsiteX73" fmla="*/ 3581314 w 5144763"/>
                <a:gd name="connsiteY73" fmla="*/ 949059 h 5144763"/>
                <a:gd name="connsiteX74" fmla="*/ 3515504 w 5144763"/>
                <a:gd name="connsiteY74" fmla="*/ 962070 h 5144763"/>
                <a:gd name="connsiteX75" fmla="*/ 3044606 w 5144763"/>
                <a:gd name="connsiteY75" fmla="*/ 765146 h 5144763"/>
                <a:gd name="connsiteX76" fmla="*/ 3007596 w 5144763"/>
                <a:gd name="connsiteY76" fmla="*/ 709568 h 5144763"/>
                <a:gd name="connsiteX77" fmla="*/ 3007596 w 5144763"/>
                <a:gd name="connsiteY77" fmla="*/ 121451 h 5144763"/>
                <a:gd name="connsiteX78" fmla="*/ 2137799 w 5144763"/>
                <a:gd name="connsiteY78" fmla="*/ 121451 h 5144763"/>
                <a:gd name="connsiteX79" fmla="*/ 2137799 w 5144763"/>
                <a:gd name="connsiteY79" fmla="*/ 711337 h 5144763"/>
                <a:gd name="connsiteX80" fmla="*/ 2100410 w 5144763"/>
                <a:gd name="connsiteY80" fmla="*/ 767041 h 5144763"/>
                <a:gd name="connsiteX81" fmla="*/ 1628249 w 5144763"/>
                <a:gd name="connsiteY81" fmla="*/ 960933 h 5144763"/>
                <a:gd name="connsiteX82" fmla="*/ 1562818 w 5144763"/>
                <a:gd name="connsiteY82" fmla="*/ 947796 h 5144763"/>
                <a:gd name="connsiteX83" fmla="*/ 1146993 w 5144763"/>
                <a:gd name="connsiteY83" fmla="*/ 531971 h 5144763"/>
                <a:gd name="connsiteX84" fmla="*/ 531971 w 5144763"/>
                <a:gd name="connsiteY84" fmla="*/ 1146867 h 5144763"/>
                <a:gd name="connsiteX85" fmla="*/ 949059 w 5144763"/>
                <a:gd name="connsiteY85" fmla="*/ 1564081 h 5144763"/>
                <a:gd name="connsiteX86" fmla="*/ 962070 w 5144763"/>
                <a:gd name="connsiteY86" fmla="*/ 1630017 h 5144763"/>
                <a:gd name="connsiteX87" fmla="*/ 765146 w 5144763"/>
                <a:gd name="connsiteY87" fmla="*/ 2100789 h 5144763"/>
                <a:gd name="connsiteX88" fmla="*/ 709568 w 5144763"/>
                <a:gd name="connsiteY88" fmla="*/ 2137799 h 5144763"/>
                <a:gd name="connsiteX89" fmla="*/ 121451 w 5144763"/>
                <a:gd name="connsiteY89" fmla="*/ 2137799 h 5144763"/>
                <a:gd name="connsiteX90" fmla="*/ 121451 w 5144763"/>
                <a:gd name="connsiteY90" fmla="*/ 3007596 h 5144763"/>
                <a:gd name="connsiteX91" fmla="*/ 711337 w 5144763"/>
                <a:gd name="connsiteY91" fmla="*/ 3007596 h 5144763"/>
                <a:gd name="connsiteX92" fmla="*/ 767041 w 5144763"/>
                <a:gd name="connsiteY92" fmla="*/ 3044985 h 5144763"/>
                <a:gd name="connsiteX93" fmla="*/ 960933 w 5144763"/>
                <a:gd name="connsiteY93" fmla="*/ 3517146 h 5144763"/>
                <a:gd name="connsiteX94" fmla="*/ 947796 w 5144763"/>
                <a:gd name="connsiteY94" fmla="*/ 3582703 h 5144763"/>
                <a:gd name="connsiteX95" fmla="*/ 532097 w 5144763"/>
                <a:gd name="connsiteY95" fmla="*/ 3998528 h 5144763"/>
                <a:gd name="connsiteX96" fmla="*/ 1146993 w 5144763"/>
                <a:gd name="connsiteY96" fmla="*/ 4613550 h 5144763"/>
                <a:gd name="connsiteX97" fmla="*/ 1564081 w 5144763"/>
                <a:gd name="connsiteY97" fmla="*/ 4196462 h 5144763"/>
                <a:gd name="connsiteX98" fmla="*/ 1629891 w 5144763"/>
                <a:gd name="connsiteY98" fmla="*/ 4183452 h 5144763"/>
                <a:gd name="connsiteX99" fmla="*/ 2100789 w 5144763"/>
                <a:gd name="connsiteY99" fmla="*/ 4380375 h 5144763"/>
                <a:gd name="connsiteX100" fmla="*/ 2137799 w 5144763"/>
                <a:gd name="connsiteY100" fmla="*/ 4435953 h 5144763"/>
                <a:gd name="connsiteX101" fmla="*/ 2137799 w 5144763"/>
                <a:gd name="connsiteY101" fmla="*/ 5023944 h 5144763"/>
                <a:gd name="connsiteX102" fmla="*/ 2572697 w 5144763"/>
                <a:gd name="connsiteY102" fmla="*/ 3805016 h 5144763"/>
                <a:gd name="connsiteX103" fmla="*/ 1340380 w 5144763"/>
                <a:gd name="connsiteY103" fmla="*/ 2572697 h 5144763"/>
                <a:gd name="connsiteX104" fmla="*/ 2572697 w 5144763"/>
                <a:gd name="connsiteY104" fmla="*/ 1340380 h 5144763"/>
                <a:gd name="connsiteX105" fmla="*/ 3805016 w 5144763"/>
                <a:gd name="connsiteY105" fmla="*/ 2572697 h 5144763"/>
                <a:gd name="connsiteX106" fmla="*/ 2572697 w 5144763"/>
                <a:gd name="connsiteY106" fmla="*/ 3805016 h 5144763"/>
                <a:gd name="connsiteX107" fmla="*/ 2572697 w 5144763"/>
                <a:gd name="connsiteY107" fmla="*/ 1461009 h 5144763"/>
                <a:gd name="connsiteX108" fmla="*/ 1460883 w 5144763"/>
                <a:gd name="connsiteY108" fmla="*/ 2572697 h 5144763"/>
                <a:gd name="connsiteX109" fmla="*/ 2572697 w 5144763"/>
                <a:gd name="connsiteY109" fmla="*/ 3684386 h 5144763"/>
                <a:gd name="connsiteX110" fmla="*/ 3684512 w 5144763"/>
                <a:gd name="connsiteY110" fmla="*/ 2572697 h 5144763"/>
                <a:gd name="connsiteX111" fmla="*/ 2572697 w 5144763"/>
                <a:gd name="connsiteY111" fmla="*/ 1461009 h 5144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5144763" h="5144763">
                  <a:moveTo>
                    <a:pt x="3067848" y="5144448"/>
                  </a:moveTo>
                  <a:lnTo>
                    <a:pt x="2077547" y="5144448"/>
                  </a:lnTo>
                  <a:cubicBezTo>
                    <a:pt x="2044327" y="5144448"/>
                    <a:pt x="2017295" y="5117417"/>
                    <a:pt x="2017295" y="5084196"/>
                  </a:cubicBezTo>
                  <a:lnTo>
                    <a:pt x="2017295" y="4475995"/>
                  </a:lnTo>
                  <a:lnTo>
                    <a:pt x="1620670" y="4310145"/>
                  </a:lnTo>
                  <a:lnTo>
                    <a:pt x="1189561" y="4741254"/>
                  </a:lnTo>
                  <a:cubicBezTo>
                    <a:pt x="1166951" y="4763864"/>
                    <a:pt x="1126909" y="4763864"/>
                    <a:pt x="1104425" y="4741254"/>
                  </a:cubicBezTo>
                  <a:lnTo>
                    <a:pt x="404141" y="4040970"/>
                  </a:lnTo>
                  <a:cubicBezTo>
                    <a:pt x="380647" y="4017475"/>
                    <a:pt x="380647" y="3979329"/>
                    <a:pt x="404141" y="3955708"/>
                  </a:cubicBezTo>
                  <a:lnTo>
                    <a:pt x="834114" y="3525609"/>
                  </a:lnTo>
                  <a:lnTo>
                    <a:pt x="670916" y="3127973"/>
                  </a:lnTo>
                  <a:lnTo>
                    <a:pt x="61199" y="3127973"/>
                  </a:lnTo>
                  <a:cubicBezTo>
                    <a:pt x="27979" y="3127973"/>
                    <a:pt x="947" y="3100942"/>
                    <a:pt x="947" y="3067721"/>
                  </a:cubicBezTo>
                  <a:lnTo>
                    <a:pt x="947" y="2077421"/>
                  </a:lnTo>
                  <a:cubicBezTo>
                    <a:pt x="947" y="2044074"/>
                    <a:pt x="27979" y="2017169"/>
                    <a:pt x="61199" y="2017169"/>
                  </a:cubicBezTo>
                  <a:lnTo>
                    <a:pt x="669400" y="2017169"/>
                  </a:lnTo>
                  <a:lnTo>
                    <a:pt x="835250" y="1620670"/>
                  </a:lnTo>
                  <a:lnTo>
                    <a:pt x="404141" y="1189561"/>
                  </a:lnTo>
                  <a:cubicBezTo>
                    <a:pt x="380647" y="1166066"/>
                    <a:pt x="380647" y="1127920"/>
                    <a:pt x="404141" y="1104299"/>
                  </a:cubicBezTo>
                  <a:lnTo>
                    <a:pt x="1104425" y="404141"/>
                  </a:lnTo>
                  <a:cubicBezTo>
                    <a:pt x="1115667" y="392899"/>
                    <a:pt x="1130951" y="386457"/>
                    <a:pt x="1146993" y="386457"/>
                  </a:cubicBezTo>
                  <a:lnTo>
                    <a:pt x="1146993" y="386457"/>
                  </a:lnTo>
                  <a:cubicBezTo>
                    <a:pt x="1163035" y="386457"/>
                    <a:pt x="1178319" y="392773"/>
                    <a:pt x="1189561" y="404141"/>
                  </a:cubicBezTo>
                  <a:lnTo>
                    <a:pt x="1619533" y="834240"/>
                  </a:lnTo>
                  <a:lnTo>
                    <a:pt x="2017295" y="671169"/>
                  </a:lnTo>
                  <a:lnTo>
                    <a:pt x="2017295" y="61199"/>
                  </a:lnTo>
                  <a:cubicBezTo>
                    <a:pt x="2017295" y="27852"/>
                    <a:pt x="2044327" y="947"/>
                    <a:pt x="2077547" y="947"/>
                  </a:cubicBezTo>
                  <a:lnTo>
                    <a:pt x="3067848" y="947"/>
                  </a:lnTo>
                  <a:cubicBezTo>
                    <a:pt x="3101068" y="947"/>
                    <a:pt x="3128099" y="27979"/>
                    <a:pt x="3128099" y="61199"/>
                  </a:cubicBezTo>
                  <a:lnTo>
                    <a:pt x="3128099" y="669400"/>
                  </a:lnTo>
                  <a:lnTo>
                    <a:pt x="3524599" y="835250"/>
                  </a:lnTo>
                  <a:lnTo>
                    <a:pt x="3955834" y="404015"/>
                  </a:lnTo>
                  <a:cubicBezTo>
                    <a:pt x="3979329" y="380520"/>
                    <a:pt x="4017475" y="380520"/>
                    <a:pt x="4040970" y="404015"/>
                  </a:cubicBezTo>
                  <a:lnTo>
                    <a:pt x="4741254" y="1104173"/>
                  </a:lnTo>
                  <a:cubicBezTo>
                    <a:pt x="4752622" y="1115415"/>
                    <a:pt x="4758938" y="1130825"/>
                    <a:pt x="4758938" y="1146740"/>
                  </a:cubicBezTo>
                  <a:cubicBezTo>
                    <a:pt x="4758938" y="1162782"/>
                    <a:pt x="4752622" y="1178066"/>
                    <a:pt x="4741254" y="1189308"/>
                  </a:cubicBezTo>
                  <a:lnTo>
                    <a:pt x="4311155" y="1619407"/>
                  </a:lnTo>
                  <a:lnTo>
                    <a:pt x="4474226" y="2017043"/>
                  </a:lnTo>
                  <a:lnTo>
                    <a:pt x="5084070" y="2017043"/>
                  </a:lnTo>
                  <a:cubicBezTo>
                    <a:pt x="5117290" y="2017043"/>
                    <a:pt x="5144321" y="2044074"/>
                    <a:pt x="5144321" y="2077295"/>
                  </a:cubicBezTo>
                  <a:lnTo>
                    <a:pt x="5144321" y="3067595"/>
                  </a:lnTo>
                  <a:cubicBezTo>
                    <a:pt x="5144321" y="3100942"/>
                    <a:pt x="5117290" y="3127847"/>
                    <a:pt x="5084070" y="3127847"/>
                  </a:cubicBezTo>
                  <a:lnTo>
                    <a:pt x="4475868" y="3127847"/>
                  </a:lnTo>
                  <a:lnTo>
                    <a:pt x="4310018" y="3524346"/>
                  </a:lnTo>
                  <a:lnTo>
                    <a:pt x="4741254" y="3955582"/>
                  </a:lnTo>
                  <a:cubicBezTo>
                    <a:pt x="4752622" y="3966823"/>
                    <a:pt x="4758938" y="3982234"/>
                    <a:pt x="4758938" y="3998149"/>
                  </a:cubicBezTo>
                  <a:cubicBezTo>
                    <a:pt x="4758938" y="4014191"/>
                    <a:pt x="4752622" y="4029475"/>
                    <a:pt x="4741254" y="4040717"/>
                  </a:cubicBezTo>
                  <a:lnTo>
                    <a:pt x="4040970" y="4741001"/>
                  </a:lnTo>
                  <a:cubicBezTo>
                    <a:pt x="4017475" y="4764495"/>
                    <a:pt x="3979329" y="4764495"/>
                    <a:pt x="3955834" y="4741001"/>
                  </a:cubicBezTo>
                  <a:lnTo>
                    <a:pt x="3525735" y="4310903"/>
                  </a:lnTo>
                  <a:lnTo>
                    <a:pt x="3128099" y="4473974"/>
                  </a:lnTo>
                  <a:lnTo>
                    <a:pt x="3128099" y="5083817"/>
                  </a:lnTo>
                  <a:cubicBezTo>
                    <a:pt x="3128099" y="5117417"/>
                    <a:pt x="3101195" y="5144448"/>
                    <a:pt x="3067848" y="5144448"/>
                  </a:cubicBezTo>
                  <a:close/>
                  <a:moveTo>
                    <a:pt x="2137799" y="5023944"/>
                  </a:moveTo>
                  <a:lnTo>
                    <a:pt x="3007596" y="5023944"/>
                  </a:lnTo>
                  <a:lnTo>
                    <a:pt x="3007596" y="4433932"/>
                  </a:lnTo>
                  <a:cubicBezTo>
                    <a:pt x="3007596" y="4409427"/>
                    <a:pt x="3022375" y="4387449"/>
                    <a:pt x="3044985" y="4378102"/>
                  </a:cubicBezTo>
                  <a:lnTo>
                    <a:pt x="3517146" y="4184462"/>
                  </a:lnTo>
                  <a:cubicBezTo>
                    <a:pt x="3539756" y="4175241"/>
                    <a:pt x="3565524" y="4180420"/>
                    <a:pt x="3582577" y="4197599"/>
                  </a:cubicBezTo>
                  <a:lnTo>
                    <a:pt x="3998402" y="4613424"/>
                  </a:lnTo>
                  <a:lnTo>
                    <a:pt x="4613424" y="3998402"/>
                  </a:lnTo>
                  <a:lnTo>
                    <a:pt x="4196210" y="3581187"/>
                  </a:lnTo>
                  <a:cubicBezTo>
                    <a:pt x="4178905" y="3563882"/>
                    <a:pt x="4173726" y="3537862"/>
                    <a:pt x="4183199" y="3515251"/>
                  </a:cubicBezTo>
                  <a:lnTo>
                    <a:pt x="4380122" y="3044480"/>
                  </a:lnTo>
                  <a:cubicBezTo>
                    <a:pt x="4389470" y="3021996"/>
                    <a:pt x="4411448" y="3007470"/>
                    <a:pt x="4435700" y="3007470"/>
                  </a:cubicBezTo>
                  <a:lnTo>
                    <a:pt x="5023818" y="3007470"/>
                  </a:lnTo>
                  <a:lnTo>
                    <a:pt x="5023818" y="2137673"/>
                  </a:lnTo>
                  <a:lnTo>
                    <a:pt x="4433932" y="2137673"/>
                  </a:lnTo>
                  <a:cubicBezTo>
                    <a:pt x="4409427" y="2137673"/>
                    <a:pt x="4387449" y="2122894"/>
                    <a:pt x="4378228" y="2100284"/>
                  </a:cubicBezTo>
                  <a:lnTo>
                    <a:pt x="4184589" y="1628122"/>
                  </a:lnTo>
                  <a:cubicBezTo>
                    <a:pt x="4175368" y="1605639"/>
                    <a:pt x="4180546" y="1579744"/>
                    <a:pt x="4197725" y="1562692"/>
                  </a:cubicBezTo>
                  <a:lnTo>
                    <a:pt x="4613550" y="1146867"/>
                  </a:lnTo>
                  <a:lnTo>
                    <a:pt x="3998528" y="531844"/>
                  </a:lnTo>
                  <a:lnTo>
                    <a:pt x="3581314" y="949059"/>
                  </a:lnTo>
                  <a:cubicBezTo>
                    <a:pt x="3564009" y="966364"/>
                    <a:pt x="3537735" y="971543"/>
                    <a:pt x="3515504" y="962070"/>
                  </a:cubicBezTo>
                  <a:lnTo>
                    <a:pt x="3044606" y="765146"/>
                  </a:lnTo>
                  <a:cubicBezTo>
                    <a:pt x="3022122" y="755799"/>
                    <a:pt x="3007596" y="733820"/>
                    <a:pt x="3007596" y="709568"/>
                  </a:cubicBezTo>
                  <a:lnTo>
                    <a:pt x="3007596" y="121451"/>
                  </a:lnTo>
                  <a:lnTo>
                    <a:pt x="2137799" y="121451"/>
                  </a:lnTo>
                  <a:lnTo>
                    <a:pt x="2137799" y="711337"/>
                  </a:lnTo>
                  <a:cubicBezTo>
                    <a:pt x="2137799" y="735841"/>
                    <a:pt x="2123020" y="757820"/>
                    <a:pt x="2100410" y="767041"/>
                  </a:cubicBezTo>
                  <a:lnTo>
                    <a:pt x="1628249" y="960933"/>
                  </a:lnTo>
                  <a:cubicBezTo>
                    <a:pt x="1605639" y="970154"/>
                    <a:pt x="1579997" y="964975"/>
                    <a:pt x="1562818" y="947796"/>
                  </a:cubicBezTo>
                  <a:lnTo>
                    <a:pt x="1146993" y="531971"/>
                  </a:lnTo>
                  <a:lnTo>
                    <a:pt x="531971" y="1146867"/>
                  </a:lnTo>
                  <a:lnTo>
                    <a:pt x="949059" y="1564081"/>
                  </a:lnTo>
                  <a:cubicBezTo>
                    <a:pt x="966364" y="1581386"/>
                    <a:pt x="971543" y="1607407"/>
                    <a:pt x="962070" y="1630017"/>
                  </a:cubicBezTo>
                  <a:lnTo>
                    <a:pt x="765146" y="2100789"/>
                  </a:lnTo>
                  <a:cubicBezTo>
                    <a:pt x="755799" y="2123273"/>
                    <a:pt x="733820" y="2137799"/>
                    <a:pt x="709568" y="2137799"/>
                  </a:cubicBezTo>
                  <a:lnTo>
                    <a:pt x="121451" y="2137799"/>
                  </a:lnTo>
                  <a:lnTo>
                    <a:pt x="121451" y="3007596"/>
                  </a:lnTo>
                  <a:lnTo>
                    <a:pt x="711337" y="3007596"/>
                  </a:lnTo>
                  <a:cubicBezTo>
                    <a:pt x="735841" y="3007596"/>
                    <a:pt x="757820" y="3022375"/>
                    <a:pt x="767041" y="3044985"/>
                  </a:cubicBezTo>
                  <a:lnTo>
                    <a:pt x="960933" y="3517146"/>
                  </a:lnTo>
                  <a:cubicBezTo>
                    <a:pt x="970154" y="3539630"/>
                    <a:pt x="964975" y="3565524"/>
                    <a:pt x="947796" y="3582703"/>
                  </a:cubicBezTo>
                  <a:lnTo>
                    <a:pt x="532097" y="3998528"/>
                  </a:lnTo>
                  <a:lnTo>
                    <a:pt x="1146993" y="4613550"/>
                  </a:lnTo>
                  <a:lnTo>
                    <a:pt x="1564081" y="4196462"/>
                  </a:lnTo>
                  <a:cubicBezTo>
                    <a:pt x="1581386" y="4179157"/>
                    <a:pt x="1607533" y="4173978"/>
                    <a:pt x="1629891" y="4183452"/>
                  </a:cubicBezTo>
                  <a:lnTo>
                    <a:pt x="2100789" y="4380375"/>
                  </a:lnTo>
                  <a:cubicBezTo>
                    <a:pt x="2123273" y="4389722"/>
                    <a:pt x="2137799" y="4411701"/>
                    <a:pt x="2137799" y="4435953"/>
                  </a:cubicBezTo>
                  <a:lnTo>
                    <a:pt x="2137799" y="5023944"/>
                  </a:lnTo>
                  <a:close/>
                  <a:moveTo>
                    <a:pt x="2572697" y="3805016"/>
                  </a:moveTo>
                  <a:cubicBezTo>
                    <a:pt x="1893255" y="3805016"/>
                    <a:pt x="1340380" y="3252266"/>
                    <a:pt x="1340380" y="2572697"/>
                  </a:cubicBezTo>
                  <a:cubicBezTo>
                    <a:pt x="1340380" y="1893129"/>
                    <a:pt x="1893255" y="1340380"/>
                    <a:pt x="2572697" y="1340380"/>
                  </a:cubicBezTo>
                  <a:cubicBezTo>
                    <a:pt x="3252140" y="1340380"/>
                    <a:pt x="3805016" y="1893129"/>
                    <a:pt x="3805016" y="2572697"/>
                  </a:cubicBezTo>
                  <a:cubicBezTo>
                    <a:pt x="3805016" y="3252266"/>
                    <a:pt x="3252140" y="3805016"/>
                    <a:pt x="2572697" y="3805016"/>
                  </a:cubicBezTo>
                  <a:close/>
                  <a:moveTo>
                    <a:pt x="2572697" y="1461009"/>
                  </a:moveTo>
                  <a:cubicBezTo>
                    <a:pt x="1959696" y="1461009"/>
                    <a:pt x="1460883" y="1959696"/>
                    <a:pt x="1460883" y="2572697"/>
                  </a:cubicBezTo>
                  <a:cubicBezTo>
                    <a:pt x="1460883" y="3185699"/>
                    <a:pt x="1959696" y="3684386"/>
                    <a:pt x="2572697" y="3684386"/>
                  </a:cubicBezTo>
                  <a:cubicBezTo>
                    <a:pt x="3185699" y="3684386"/>
                    <a:pt x="3684512" y="3185699"/>
                    <a:pt x="3684512" y="2572697"/>
                  </a:cubicBezTo>
                  <a:cubicBezTo>
                    <a:pt x="3684512" y="1959696"/>
                    <a:pt x="3185699" y="1461009"/>
                    <a:pt x="2572697" y="1461009"/>
                  </a:cubicBezTo>
                  <a:close/>
                </a:path>
              </a:pathLst>
            </a:custGeom>
            <a:solidFill>
              <a:schemeClr val="bg1"/>
            </a:solidFill>
            <a:ln w="9525" cap="flat">
              <a:noFill/>
              <a:prstDash val="solid"/>
              <a:miter/>
            </a:ln>
          </p:spPr>
          <p:txBody>
            <a:bodyPr rtlCol="0" anchor="ctr"/>
            <a:lstStyle/>
            <a:p>
              <a:endParaRPr lang="en-US" sz="2400" dirty="0"/>
            </a:p>
          </p:txBody>
        </p:sp>
        <p:sp>
          <p:nvSpPr>
            <p:cNvPr id="38" name="Rectangle 37">
              <a:extLst>
                <a:ext uri="{FF2B5EF4-FFF2-40B4-BE49-F238E27FC236}">
                  <a16:creationId xmlns:a16="http://schemas.microsoft.com/office/drawing/2014/main" id="{E5FCE202-7CB6-1ACC-33A5-DB19C4A0CD1D}"/>
                </a:ext>
              </a:extLst>
            </p:cNvPr>
            <p:cNvSpPr/>
            <p:nvPr/>
          </p:nvSpPr>
          <p:spPr>
            <a:xfrm>
              <a:off x="7937603" y="885366"/>
              <a:ext cx="974747" cy="1005840"/>
            </a:xfrm>
            <a:prstGeom prst="rect">
              <a:avLst/>
            </a:prstGeom>
            <a:solidFill>
              <a:schemeClr val="accent2"/>
            </a:solidFill>
            <a:ln w="9525">
              <a:noFill/>
            </a:ln>
            <a:effectLst/>
          </p:spPr>
          <p:txBody>
            <a:bodyPr wrap="square" lIns="0" tIns="0" rIns="0" bIns="0" rtlCol="0" anchor="ctr">
              <a:noAutofit/>
            </a:bodyPr>
            <a:lstStyle/>
            <a:p>
              <a:pPr algn="ctr" defTabSz="914598">
                <a:defRPr/>
              </a:pPr>
              <a:endParaRPr lang="en-US" sz="1600" dirty="0">
                <a:solidFill>
                  <a:srgbClr val="FFFFFF"/>
                </a:solidFill>
                <a:cs typeface="Arial"/>
              </a:endParaRPr>
            </a:p>
          </p:txBody>
        </p:sp>
        <p:sp>
          <p:nvSpPr>
            <p:cNvPr id="39" name="TextBox 38">
              <a:extLst>
                <a:ext uri="{FF2B5EF4-FFF2-40B4-BE49-F238E27FC236}">
                  <a16:creationId xmlns:a16="http://schemas.microsoft.com/office/drawing/2014/main" id="{3F233A55-2427-876D-8081-D4C303F05BDD}"/>
                </a:ext>
              </a:extLst>
            </p:cNvPr>
            <p:cNvSpPr txBox="1"/>
            <p:nvPr/>
          </p:nvSpPr>
          <p:spPr>
            <a:xfrm>
              <a:off x="8066774" y="1503534"/>
              <a:ext cx="731520" cy="153841"/>
            </a:xfrm>
            <a:prstGeom prst="rect">
              <a:avLst/>
            </a:prstGeom>
            <a:noFill/>
          </p:spPr>
          <p:txBody>
            <a:bodyPr wrap="square" lIns="0" tIns="0" rIns="0" bIns="0" rtlCol="0">
              <a:spAutoFit/>
            </a:bodyPr>
            <a:lstStyle/>
            <a:p>
              <a:pPr algn="ctr" defTabSz="914598">
                <a:defRPr/>
              </a:pPr>
              <a:r>
                <a:rPr lang="en-US" sz="1333" dirty="0">
                  <a:solidFill>
                    <a:schemeClr val="bg1"/>
                  </a:solidFill>
                </a:rPr>
                <a:t>Dispose</a:t>
              </a:r>
            </a:p>
          </p:txBody>
        </p:sp>
        <p:sp>
          <p:nvSpPr>
            <p:cNvPr id="40" name="Freeform: Shape 127">
              <a:extLst>
                <a:ext uri="{FF2B5EF4-FFF2-40B4-BE49-F238E27FC236}">
                  <a16:creationId xmlns:a16="http://schemas.microsoft.com/office/drawing/2014/main" id="{75A18797-C8B6-294C-2034-1CA98F4F64D1}"/>
                </a:ext>
              </a:extLst>
            </p:cNvPr>
            <p:cNvSpPr/>
            <p:nvPr/>
          </p:nvSpPr>
          <p:spPr>
            <a:xfrm>
              <a:off x="8278938" y="1012090"/>
              <a:ext cx="307193" cy="344649"/>
            </a:xfrm>
            <a:custGeom>
              <a:avLst/>
              <a:gdLst>
                <a:gd name="connsiteX0" fmla="*/ 3710406 w 4319933"/>
                <a:gd name="connsiteY0" fmla="*/ 4846852 h 4846662"/>
                <a:gd name="connsiteX1" fmla="*/ 3628681 w 4319933"/>
                <a:gd name="connsiteY1" fmla="*/ 4765127 h 4846662"/>
                <a:gd name="connsiteX2" fmla="*/ 4098190 w 4319933"/>
                <a:gd name="connsiteY2" fmla="*/ 4295619 h 4846662"/>
                <a:gd name="connsiteX3" fmla="*/ 2148283 w 4319933"/>
                <a:gd name="connsiteY3" fmla="*/ 4295619 h 4846662"/>
                <a:gd name="connsiteX4" fmla="*/ 947 w 4319933"/>
                <a:gd name="connsiteY4" fmla="*/ 2148283 h 4846662"/>
                <a:gd name="connsiteX5" fmla="*/ 2148283 w 4319933"/>
                <a:gd name="connsiteY5" fmla="*/ 947 h 4846662"/>
                <a:gd name="connsiteX6" fmla="*/ 4295619 w 4319933"/>
                <a:gd name="connsiteY6" fmla="*/ 2148283 h 4846662"/>
                <a:gd name="connsiteX7" fmla="*/ 4179915 w 4319933"/>
                <a:gd name="connsiteY7" fmla="*/ 2148283 h 4846662"/>
                <a:gd name="connsiteX8" fmla="*/ 2148283 w 4319933"/>
                <a:gd name="connsiteY8" fmla="*/ 116398 h 4846662"/>
                <a:gd name="connsiteX9" fmla="*/ 116525 w 4319933"/>
                <a:gd name="connsiteY9" fmla="*/ 2148157 h 4846662"/>
                <a:gd name="connsiteX10" fmla="*/ 2148283 w 4319933"/>
                <a:gd name="connsiteY10" fmla="*/ 4179915 h 4846662"/>
                <a:gd name="connsiteX11" fmla="*/ 4098190 w 4319933"/>
                <a:gd name="connsiteY11" fmla="*/ 4179915 h 4846662"/>
                <a:gd name="connsiteX12" fmla="*/ 3628681 w 4319933"/>
                <a:gd name="connsiteY12" fmla="*/ 3710280 h 4846662"/>
                <a:gd name="connsiteX13" fmla="*/ 3710406 w 4319933"/>
                <a:gd name="connsiteY13" fmla="*/ 3628555 h 4846662"/>
                <a:gd name="connsiteX14" fmla="*/ 4319618 w 4319933"/>
                <a:gd name="connsiteY14" fmla="*/ 4237767 h 4846662"/>
                <a:gd name="connsiteX15" fmla="*/ 3710406 w 4319933"/>
                <a:gd name="connsiteY15" fmla="*/ 4846852 h 4846662"/>
                <a:gd name="connsiteX16" fmla="*/ 2148283 w 4319933"/>
                <a:gd name="connsiteY16" fmla="*/ 3491883 h 4846662"/>
                <a:gd name="connsiteX17" fmla="*/ 2090431 w 4319933"/>
                <a:gd name="connsiteY17" fmla="*/ 3491883 h 4846662"/>
                <a:gd name="connsiteX18" fmla="*/ 2090431 w 4319933"/>
                <a:gd name="connsiteY18" fmla="*/ 2822041 h 4846662"/>
                <a:gd name="connsiteX19" fmla="*/ 1561808 w 4319933"/>
                <a:gd name="connsiteY19" fmla="*/ 2469625 h 4846662"/>
                <a:gd name="connsiteX20" fmla="*/ 2526214 w 4319933"/>
                <a:gd name="connsiteY20" fmla="*/ 1826688 h 4846662"/>
                <a:gd name="connsiteX21" fmla="*/ 2090431 w 4319933"/>
                <a:gd name="connsiteY21" fmla="*/ 1536166 h 4846662"/>
                <a:gd name="connsiteX22" fmla="*/ 2090431 w 4319933"/>
                <a:gd name="connsiteY22" fmla="*/ 921396 h 4846662"/>
                <a:gd name="connsiteX23" fmla="*/ 920260 w 4319933"/>
                <a:gd name="connsiteY23" fmla="*/ 2148157 h 4846662"/>
                <a:gd name="connsiteX24" fmla="*/ 1841214 w 4319933"/>
                <a:gd name="connsiteY24" fmla="*/ 3337528 h 4846662"/>
                <a:gd name="connsiteX25" fmla="*/ 1812288 w 4319933"/>
                <a:gd name="connsiteY25" fmla="*/ 3449568 h 4846662"/>
                <a:gd name="connsiteX26" fmla="*/ 804430 w 4319933"/>
                <a:gd name="connsiteY26" fmla="*/ 2148157 h 4846662"/>
                <a:gd name="connsiteX27" fmla="*/ 2148157 w 4319933"/>
                <a:gd name="connsiteY27" fmla="*/ 804430 h 4846662"/>
                <a:gd name="connsiteX28" fmla="*/ 2206008 w 4319933"/>
                <a:gd name="connsiteY28" fmla="*/ 804430 h 4846662"/>
                <a:gd name="connsiteX29" fmla="*/ 2206008 w 4319933"/>
                <a:gd name="connsiteY29" fmla="*/ 1474272 h 4846662"/>
                <a:gd name="connsiteX30" fmla="*/ 2734632 w 4319933"/>
                <a:gd name="connsiteY30" fmla="*/ 1826688 h 4846662"/>
                <a:gd name="connsiteX31" fmla="*/ 1770225 w 4319933"/>
                <a:gd name="connsiteY31" fmla="*/ 2469625 h 4846662"/>
                <a:gd name="connsiteX32" fmla="*/ 2206008 w 4319933"/>
                <a:gd name="connsiteY32" fmla="*/ 2760147 h 4846662"/>
                <a:gd name="connsiteX33" fmla="*/ 2206008 w 4319933"/>
                <a:gd name="connsiteY33" fmla="*/ 3374917 h 4846662"/>
                <a:gd name="connsiteX34" fmla="*/ 3376180 w 4319933"/>
                <a:gd name="connsiteY34" fmla="*/ 2148157 h 4846662"/>
                <a:gd name="connsiteX35" fmla="*/ 2455226 w 4319933"/>
                <a:gd name="connsiteY35" fmla="*/ 958785 h 4846662"/>
                <a:gd name="connsiteX36" fmla="*/ 2484151 w 4319933"/>
                <a:gd name="connsiteY36" fmla="*/ 846745 h 4846662"/>
                <a:gd name="connsiteX37" fmla="*/ 3492010 w 4319933"/>
                <a:gd name="connsiteY37" fmla="*/ 2148157 h 4846662"/>
                <a:gd name="connsiteX38" fmla="*/ 2148283 w 4319933"/>
                <a:gd name="connsiteY38" fmla="*/ 3491883 h 4846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319933" h="4846662">
                  <a:moveTo>
                    <a:pt x="3710406" y="4846852"/>
                  </a:moveTo>
                  <a:lnTo>
                    <a:pt x="3628681" y="4765127"/>
                  </a:lnTo>
                  <a:lnTo>
                    <a:pt x="4098190" y="4295619"/>
                  </a:lnTo>
                  <a:lnTo>
                    <a:pt x="2148283" y="4295619"/>
                  </a:lnTo>
                  <a:cubicBezTo>
                    <a:pt x="964217" y="4295619"/>
                    <a:pt x="947" y="3332349"/>
                    <a:pt x="947" y="2148283"/>
                  </a:cubicBezTo>
                  <a:cubicBezTo>
                    <a:pt x="947" y="964217"/>
                    <a:pt x="964217" y="947"/>
                    <a:pt x="2148283" y="947"/>
                  </a:cubicBezTo>
                  <a:cubicBezTo>
                    <a:pt x="3332349" y="947"/>
                    <a:pt x="4295619" y="964217"/>
                    <a:pt x="4295619" y="2148283"/>
                  </a:cubicBezTo>
                  <a:lnTo>
                    <a:pt x="4179915" y="2148283"/>
                  </a:lnTo>
                  <a:cubicBezTo>
                    <a:pt x="4180041" y="1027879"/>
                    <a:pt x="3268560" y="116398"/>
                    <a:pt x="2148283" y="116398"/>
                  </a:cubicBezTo>
                  <a:cubicBezTo>
                    <a:pt x="1028005" y="116398"/>
                    <a:pt x="116525" y="1027879"/>
                    <a:pt x="116525" y="2148157"/>
                  </a:cubicBezTo>
                  <a:cubicBezTo>
                    <a:pt x="116525" y="3268434"/>
                    <a:pt x="1028005" y="4179915"/>
                    <a:pt x="2148283" y="4179915"/>
                  </a:cubicBezTo>
                  <a:lnTo>
                    <a:pt x="4098190" y="4179915"/>
                  </a:lnTo>
                  <a:lnTo>
                    <a:pt x="3628681" y="3710280"/>
                  </a:lnTo>
                  <a:lnTo>
                    <a:pt x="3710406" y="3628555"/>
                  </a:lnTo>
                  <a:lnTo>
                    <a:pt x="4319618" y="4237767"/>
                  </a:lnTo>
                  <a:lnTo>
                    <a:pt x="3710406" y="4846852"/>
                  </a:lnTo>
                  <a:close/>
                  <a:moveTo>
                    <a:pt x="2148283" y="3491883"/>
                  </a:moveTo>
                  <a:lnTo>
                    <a:pt x="2090431" y="3491883"/>
                  </a:lnTo>
                  <a:lnTo>
                    <a:pt x="2090431" y="2822041"/>
                  </a:lnTo>
                  <a:lnTo>
                    <a:pt x="1561808" y="2469625"/>
                  </a:lnTo>
                  <a:lnTo>
                    <a:pt x="2526214" y="1826688"/>
                  </a:lnTo>
                  <a:lnTo>
                    <a:pt x="2090431" y="1536166"/>
                  </a:lnTo>
                  <a:lnTo>
                    <a:pt x="2090431" y="921396"/>
                  </a:lnTo>
                  <a:cubicBezTo>
                    <a:pt x="1440041" y="951712"/>
                    <a:pt x="920260" y="1490314"/>
                    <a:pt x="920260" y="2148157"/>
                  </a:cubicBezTo>
                  <a:cubicBezTo>
                    <a:pt x="920260" y="2708864"/>
                    <a:pt x="1299075" y="3197951"/>
                    <a:pt x="1841214" y="3337528"/>
                  </a:cubicBezTo>
                  <a:lnTo>
                    <a:pt x="1812288" y="3449568"/>
                  </a:lnTo>
                  <a:cubicBezTo>
                    <a:pt x="1218866" y="3296855"/>
                    <a:pt x="804430" y="2761663"/>
                    <a:pt x="804430" y="2148157"/>
                  </a:cubicBezTo>
                  <a:cubicBezTo>
                    <a:pt x="804430" y="1407200"/>
                    <a:pt x="1407200" y="804430"/>
                    <a:pt x="2148157" y="804430"/>
                  </a:cubicBezTo>
                  <a:lnTo>
                    <a:pt x="2206008" y="804430"/>
                  </a:lnTo>
                  <a:lnTo>
                    <a:pt x="2206008" y="1474272"/>
                  </a:lnTo>
                  <a:lnTo>
                    <a:pt x="2734632" y="1826688"/>
                  </a:lnTo>
                  <a:lnTo>
                    <a:pt x="1770225" y="2469625"/>
                  </a:lnTo>
                  <a:lnTo>
                    <a:pt x="2206008" y="2760147"/>
                  </a:lnTo>
                  <a:lnTo>
                    <a:pt x="2206008" y="3374917"/>
                  </a:lnTo>
                  <a:cubicBezTo>
                    <a:pt x="2856399" y="3344601"/>
                    <a:pt x="3376180" y="2805999"/>
                    <a:pt x="3376180" y="2148157"/>
                  </a:cubicBezTo>
                  <a:cubicBezTo>
                    <a:pt x="3376180" y="1587449"/>
                    <a:pt x="2997365" y="1098362"/>
                    <a:pt x="2455226" y="958785"/>
                  </a:cubicBezTo>
                  <a:lnTo>
                    <a:pt x="2484151" y="846745"/>
                  </a:lnTo>
                  <a:cubicBezTo>
                    <a:pt x="3077574" y="999458"/>
                    <a:pt x="3492010" y="1534650"/>
                    <a:pt x="3492010" y="2148157"/>
                  </a:cubicBezTo>
                  <a:cubicBezTo>
                    <a:pt x="3492010" y="2889114"/>
                    <a:pt x="2889240" y="3491883"/>
                    <a:pt x="2148283" y="3491883"/>
                  </a:cubicBezTo>
                  <a:close/>
                </a:path>
              </a:pathLst>
            </a:custGeom>
            <a:solidFill>
              <a:schemeClr val="bg1"/>
            </a:solidFill>
            <a:ln w="9525" cap="flat">
              <a:noFill/>
              <a:prstDash val="solid"/>
              <a:miter/>
            </a:ln>
          </p:spPr>
          <p:txBody>
            <a:bodyPr rtlCol="0" anchor="ctr"/>
            <a:lstStyle/>
            <a:p>
              <a:endParaRPr lang="en-US" sz="2400"/>
            </a:p>
          </p:txBody>
        </p:sp>
        <p:sp>
          <p:nvSpPr>
            <p:cNvPr id="41" name="TextBox 40">
              <a:extLst>
                <a:ext uri="{FF2B5EF4-FFF2-40B4-BE49-F238E27FC236}">
                  <a16:creationId xmlns:a16="http://schemas.microsoft.com/office/drawing/2014/main" id="{6863C61D-7CB0-62CD-BD4F-681CF7629272}"/>
                </a:ext>
              </a:extLst>
            </p:cNvPr>
            <p:cNvSpPr txBox="1"/>
            <p:nvPr/>
          </p:nvSpPr>
          <p:spPr>
            <a:xfrm>
              <a:off x="4645151" y="1503534"/>
              <a:ext cx="731520" cy="307681"/>
            </a:xfrm>
            <a:prstGeom prst="rect">
              <a:avLst/>
            </a:prstGeom>
            <a:noFill/>
          </p:spPr>
          <p:txBody>
            <a:bodyPr wrap="square" lIns="0" tIns="0" rIns="0" bIns="0" rtlCol="0">
              <a:spAutoFit/>
            </a:bodyPr>
            <a:lstStyle/>
            <a:p>
              <a:pPr algn="ctr" defTabSz="914598">
                <a:defRPr/>
              </a:pPr>
              <a:r>
                <a:rPr lang="en-US" sz="1333" dirty="0">
                  <a:solidFill>
                    <a:schemeClr val="bg1"/>
                  </a:solidFill>
                </a:rPr>
                <a:t>Administer Real Estate</a:t>
              </a:r>
            </a:p>
          </p:txBody>
        </p:sp>
        <p:sp>
          <p:nvSpPr>
            <p:cNvPr id="42" name="Graphic 88">
              <a:extLst>
                <a:ext uri="{FF2B5EF4-FFF2-40B4-BE49-F238E27FC236}">
                  <a16:creationId xmlns:a16="http://schemas.microsoft.com/office/drawing/2014/main" id="{415518C6-4DF9-31F6-2D2F-D26328F59461}"/>
                </a:ext>
              </a:extLst>
            </p:cNvPr>
            <p:cNvSpPr/>
            <p:nvPr/>
          </p:nvSpPr>
          <p:spPr>
            <a:xfrm>
              <a:off x="4828032" y="1004825"/>
              <a:ext cx="365759" cy="365759"/>
            </a:xfrm>
            <a:custGeom>
              <a:avLst/>
              <a:gdLst>
                <a:gd name="connsiteX0" fmla="*/ 3577272 w 5144763"/>
                <a:gd name="connsiteY0" fmla="*/ 5144448 h 5144763"/>
                <a:gd name="connsiteX1" fmla="*/ 2011232 w 5144763"/>
                <a:gd name="connsiteY1" fmla="*/ 3637523 h 5144763"/>
                <a:gd name="connsiteX2" fmla="*/ 1400631 w 5144763"/>
                <a:gd name="connsiteY2" fmla="*/ 3637523 h 5144763"/>
                <a:gd name="connsiteX3" fmla="*/ 1340380 w 5144763"/>
                <a:gd name="connsiteY3" fmla="*/ 3577272 h 5144763"/>
                <a:gd name="connsiteX4" fmla="*/ 1340380 w 5144763"/>
                <a:gd name="connsiteY4" fmla="*/ 1400631 h 5144763"/>
                <a:gd name="connsiteX5" fmla="*/ 1400631 w 5144763"/>
                <a:gd name="connsiteY5" fmla="*/ 1340380 h 5144763"/>
                <a:gd name="connsiteX6" fmla="*/ 2237839 w 5144763"/>
                <a:gd name="connsiteY6" fmla="*/ 1340380 h 5144763"/>
                <a:gd name="connsiteX7" fmla="*/ 2280407 w 5144763"/>
                <a:gd name="connsiteY7" fmla="*/ 1358063 h 5144763"/>
                <a:gd name="connsiteX8" fmla="*/ 2298091 w 5144763"/>
                <a:gd name="connsiteY8" fmla="*/ 1400631 h 5144763"/>
                <a:gd name="connsiteX9" fmla="*/ 2297965 w 5144763"/>
                <a:gd name="connsiteY9" fmla="*/ 2672359 h 5144763"/>
                <a:gd name="connsiteX10" fmla="*/ 2679812 w 5144763"/>
                <a:gd name="connsiteY10" fmla="*/ 2293039 h 5144763"/>
                <a:gd name="connsiteX11" fmla="*/ 2679938 w 5144763"/>
                <a:gd name="connsiteY11" fmla="*/ 61199 h 5144763"/>
                <a:gd name="connsiteX12" fmla="*/ 2740190 w 5144763"/>
                <a:gd name="connsiteY12" fmla="*/ 947 h 5144763"/>
                <a:gd name="connsiteX13" fmla="*/ 3577398 w 5144763"/>
                <a:gd name="connsiteY13" fmla="*/ 947 h 5144763"/>
                <a:gd name="connsiteX14" fmla="*/ 3619966 w 5144763"/>
                <a:gd name="connsiteY14" fmla="*/ 18631 h 5144763"/>
                <a:gd name="connsiteX15" fmla="*/ 3637650 w 5144763"/>
                <a:gd name="connsiteY15" fmla="*/ 61199 h 5144763"/>
                <a:gd name="connsiteX16" fmla="*/ 3637523 w 5144763"/>
                <a:gd name="connsiteY16" fmla="*/ 2011232 h 5144763"/>
                <a:gd name="connsiteX17" fmla="*/ 5144448 w 5144763"/>
                <a:gd name="connsiteY17" fmla="*/ 3577272 h 5144763"/>
                <a:gd name="connsiteX18" fmla="*/ 3577272 w 5144763"/>
                <a:gd name="connsiteY18" fmla="*/ 5144448 h 5144763"/>
                <a:gd name="connsiteX19" fmla="*/ 3577272 w 5144763"/>
                <a:gd name="connsiteY19" fmla="*/ 2130599 h 5144763"/>
                <a:gd name="connsiteX20" fmla="*/ 2773663 w 5144763"/>
                <a:gd name="connsiteY20" fmla="*/ 2374890 h 5144763"/>
                <a:gd name="connsiteX21" fmla="*/ 2291523 w 5144763"/>
                <a:gd name="connsiteY21" fmla="*/ 2916398 h 5144763"/>
                <a:gd name="connsiteX22" fmla="*/ 2130599 w 5144763"/>
                <a:gd name="connsiteY22" fmla="*/ 3577272 h 5144763"/>
                <a:gd name="connsiteX23" fmla="*/ 3577272 w 5144763"/>
                <a:gd name="connsiteY23" fmla="*/ 5023944 h 5144763"/>
                <a:gd name="connsiteX24" fmla="*/ 5023944 w 5144763"/>
                <a:gd name="connsiteY24" fmla="*/ 3577272 h 5144763"/>
                <a:gd name="connsiteX25" fmla="*/ 3577272 w 5144763"/>
                <a:gd name="connsiteY25" fmla="*/ 2130599 h 5144763"/>
                <a:gd name="connsiteX26" fmla="*/ 1460883 w 5144763"/>
                <a:gd name="connsiteY26" fmla="*/ 3517020 h 5144763"/>
                <a:gd name="connsiteX27" fmla="*/ 2011232 w 5144763"/>
                <a:gd name="connsiteY27" fmla="*/ 3517020 h 5144763"/>
                <a:gd name="connsiteX28" fmla="*/ 2177461 w 5144763"/>
                <a:gd name="connsiteY28" fmla="*/ 2874714 h 5144763"/>
                <a:gd name="connsiteX29" fmla="*/ 2177588 w 5144763"/>
                <a:gd name="connsiteY29" fmla="*/ 1460883 h 5144763"/>
                <a:gd name="connsiteX30" fmla="*/ 1460883 w 5144763"/>
                <a:gd name="connsiteY30" fmla="*/ 1460883 h 5144763"/>
                <a:gd name="connsiteX31" fmla="*/ 1460883 w 5144763"/>
                <a:gd name="connsiteY31" fmla="*/ 3517020 h 5144763"/>
                <a:gd name="connsiteX32" fmla="*/ 2800441 w 5144763"/>
                <a:gd name="connsiteY32" fmla="*/ 121451 h 5144763"/>
                <a:gd name="connsiteX33" fmla="*/ 2800315 w 5144763"/>
                <a:gd name="connsiteY33" fmla="*/ 2216492 h 5144763"/>
                <a:gd name="connsiteX34" fmla="*/ 3517020 w 5144763"/>
                <a:gd name="connsiteY34" fmla="*/ 2011232 h 5144763"/>
                <a:gd name="connsiteX35" fmla="*/ 3517146 w 5144763"/>
                <a:gd name="connsiteY35" fmla="*/ 121451 h 5144763"/>
                <a:gd name="connsiteX36" fmla="*/ 2800441 w 5144763"/>
                <a:gd name="connsiteY36" fmla="*/ 121451 h 5144763"/>
                <a:gd name="connsiteX37" fmla="*/ 3637523 w 5144763"/>
                <a:gd name="connsiteY37" fmla="*/ 4414354 h 5144763"/>
                <a:gd name="connsiteX38" fmla="*/ 3517020 w 5144763"/>
                <a:gd name="connsiteY38" fmla="*/ 4414354 h 5144763"/>
                <a:gd name="connsiteX39" fmla="*/ 3517020 w 5144763"/>
                <a:gd name="connsiteY39" fmla="*/ 4139747 h 5144763"/>
                <a:gd name="connsiteX40" fmla="*/ 3074921 w 5144763"/>
                <a:gd name="connsiteY40" fmla="*/ 4139747 h 5144763"/>
                <a:gd name="connsiteX41" fmla="*/ 3074921 w 5144763"/>
                <a:gd name="connsiteY41" fmla="*/ 4019244 h 5144763"/>
                <a:gd name="connsiteX42" fmla="*/ 3828384 w 5144763"/>
                <a:gd name="connsiteY42" fmla="*/ 4019244 h 5144763"/>
                <a:gd name="connsiteX43" fmla="*/ 4019244 w 5144763"/>
                <a:gd name="connsiteY43" fmla="*/ 3828384 h 5144763"/>
                <a:gd name="connsiteX44" fmla="*/ 3828384 w 5144763"/>
                <a:gd name="connsiteY44" fmla="*/ 3637523 h 5144763"/>
                <a:gd name="connsiteX45" fmla="*/ 3326033 w 5144763"/>
                <a:gd name="connsiteY45" fmla="*/ 3637523 h 5144763"/>
                <a:gd name="connsiteX46" fmla="*/ 3014670 w 5144763"/>
                <a:gd name="connsiteY46" fmla="*/ 3326160 h 5144763"/>
                <a:gd name="connsiteX47" fmla="*/ 3326033 w 5144763"/>
                <a:gd name="connsiteY47" fmla="*/ 3014796 h 5144763"/>
                <a:gd name="connsiteX48" fmla="*/ 3517020 w 5144763"/>
                <a:gd name="connsiteY48" fmla="*/ 3014796 h 5144763"/>
                <a:gd name="connsiteX49" fmla="*/ 3517020 w 5144763"/>
                <a:gd name="connsiteY49" fmla="*/ 2740190 h 5144763"/>
                <a:gd name="connsiteX50" fmla="*/ 3637523 w 5144763"/>
                <a:gd name="connsiteY50" fmla="*/ 2740190 h 5144763"/>
                <a:gd name="connsiteX51" fmla="*/ 3637523 w 5144763"/>
                <a:gd name="connsiteY51" fmla="*/ 3014796 h 5144763"/>
                <a:gd name="connsiteX52" fmla="*/ 4079622 w 5144763"/>
                <a:gd name="connsiteY52" fmla="*/ 3014796 h 5144763"/>
                <a:gd name="connsiteX53" fmla="*/ 4079622 w 5144763"/>
                <a:gd name="connsiteY53" fmla="*/ 3135299 h 5144763"/>
                <a:gd name="connsiteX54" fmla="*/ 3326033 w 5144763"/>
                <a:gd name="connsiteY54" fmla="*/ 3135299 h 5144763"/>
                <a:gd name="connsiteX55" fmla="*/ 3135173 w 5144763"/>
                <a:gd name="connsiteY55" fmla="*/ 3326160 h 5144763"/>
                <a:gd name="connsiteX56" fmla="*/ 3326033 w 5144763"/>
                <a:gd name="connsiteY56" fmla="*/ 3517020 h 5144763"/>
                <a:gd name="connsiteX57" fmla="*/ 3828384 w 5144763"/>
                <a:gd name="connsiteY57" fmla="*/ 3517020 h 5144763"/>
                <a:gd name="connsiteX58" fmla="*/ 4139747 w 5144763"/>
                <a:gd name="connsiteY58" fmla="*/ 3828384 h 5144763"/>
                <a:gd name="connsiteX59" fmla="*/ 3828384 w 5144763"/>
                <a:gd name="connsiteY59" fmla="*/ 4139747 h 5144763"/>
                <a:gd name="connsiteX60" fmla="*/ 3637523 w 5144763"/>
                <a:gd name="connsiteY60" fmla="*/ 4139747 h 5144763"/>
                <a:gd name="connsiteX61" fmla="*/ 3637523 w 5144763"/>
                <a:gd name="connsiteY61" fmla="*/ 4414354 h 5144763"/>
                <a:gd name="connsiteX62" fmla="*/ 898407 w 5144763"/>
                <a:gd name="connsiteY62" fmla="*/ 3637523 h 5144763"/>
                <a:gd name="connsiteX63" fmla="*/ 61199 w 5144763"/>
                <a:gd name="connsiteY63" fmla="*/ 3637523 h 5144763"/>
                <a:gd name="connsiteX64" fmla="*/ 947 w 5144763"/>
                <a:gd name="connsiteY64" fmla="*/ 3577272 h 5144763"/>
                <a:gd name="connsiteX65" fmla="*/ 947 w 5144763"/>
                <a:gd name="connsiteY65" fmla="*/ 2405205 h 5144763"/>
                <a:gd name="connsiteX66" fmla="*/ 61199 w 5144763"/>
                <a:gd name="connsiteY66" fmla="*/ 2344954 h 5144763"/>
                <a:gd name="connsiteX67" fmla="*/ 898407 w 5144763"/>
                <a:gd name="connsiteY67" fmla="*/ 2344954 h 5144763"/>
                <a:gd name="connsiteX68" fmla="*/ 958659 w 5144763"/>
                <a:gd name="connsiteY68" fmla="*/ 2405205 h 5144763"/>
                <a:gd name="connsiteX69" fmla="*/ 958659 w 5144763"/>
                <a:gd name="connsiteY69" fmla="*/ 3577272 h 5144763"/>
                <a:gd name="connsiteX70" fmla="*/ 898407 w 5144763"/>
                <a:gd name="connsiteY70" fmla="*/ 3637523 h 5144763"/>
                <a:gd name="connsiteX71" fmla="*/ 121451 w 5144763"/>
                <a:gd name="connsiteY71" fmla="*/ 3517020 h 5144763"/>
                <a:gd name="connsiteX72" fmla="*/ 838156 w 5144763"/>
                <a:gd name="connsiteY72" fmla="*/ 3517020 h 5144763"/>
                <a:gd name="connsiteX73" fmla="*/ 838156 w 5144763"/>
                <a:gd name="connsiteY73" fmla="*/ 2465457 h 5144763"/>
                <a:gd name="connsiteX74" fmla="*/ 121451 w 5144763"/>
                <a:gd name="connsiteY74" fmla="*/ 2465457 h 5144763"/>
                <a:gd name="connsiteX75" fmla="*/ 121451 w 5144763"/>
                <a:gd name="connsiteY75" fmla="*/ 3517020 h 5144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4763" h="5144763">
                  <a:moveTo>
                    <a:pt x="3577272" y="5144448"/>
                  </a:moveTo>
                  <a:cubicBezTo>
                    <a:pt x="2733369" y="5144448"/>
                    <a:pt x="2043063" y="4473847"/>
                    <a:pt x="2011232" y="3637523"/>
                  </a:cubicBezTo>
                  <a:lnTo>
                    <a:pt x="1400631" y="3637523"/>
                  </a:lnTo>
                  <a:cubicBezTo>
                    <a:pt x="1367411" y="3637523"/>
                    <a:pt x="1340380" y="3610492"/>
                    <a:pt x="1340380" y="3577272"/>
                  </a:cubicBezTo>
                  <a:lnTo>
                    <a:pt x="1340380" y="1400631"/>
                  </a:lnTo>
                  <a:cubicBezTo>
                    <a:pt x="1340380" y="1367411"/>
                    <a:pt x="1367411" y="1340380"/>
                    <a:pt x="1400631" y="1340380"/>
                  </a:cubicBezTo>
                  <a:lnTo>
                    <a:pt x="2237839" y="1340380"/>
                  </a:lnTo>
                  <a:cubicBezTo>
                    <a:pt x="2253881" y="1340380"/>
                    <a:pt x="2269165" y="1346695"/>
                    <a:pt x="2280407" y="1358063"/>
                  </a:cubicBezTo>
                  <a:cubicBezTo>
                    <a:pt x="2291775" y="1369305"/>
                    <a:pt x="2298091" y="1384589"/>
                    <a:pt x="2298091" y="1400631"/>
                  </a:cubicBezTo>
                  <a:lnTo>
                    <a:pt x="2297965" y="2672359"/>
                  </a:lnTo>
                  <a:cubicBezTo>
                    <a:pt x="2401795" y="2524824"/>
                    <a:pt x="2531140" y="2395984"/>
                    <a:pt x="2679812" y="2293039"/>
                  </a:cubicBezTo>
                  <a:lnTo>
                    <a:pt x="2679938" y="61199"/>
                  </a:lnTo>
                  <a:cubicBezTo>
                    <a:pt x="2679938" y="27979"/>
                    <a:pt x="2706969" y="947"/>
                    <a:pt x="2740190" y="947"/>
                  </a:cubicBezTo>
                  <a:lnTo>
                    <a:pt x="3577398" y="947"/>
                  </a:lnTo>
                  <a:cubicBezTo>
                    <a:pt x="3593440" y="947"/>
                    <a:pt x="3608724" y="7263"/>
                    <a:pt x="3619966" y="18631"/>
                  </a:cubicBezTo>
                  <a:cubicBezTo>
                    <a:pt x="3631334" y="29873"/>
                    <a:pt x="3637650" y="45157"/>
                    <a:pt x="3637650" y="61199"/>
                  </a:cubicBezTo>
                  <a:lnTo>
                    <a:pt x="3637523" y="2011232"/>
                  </a:lnTo>
                  <a:cubicBezTo>
                    <a:pt x="4473974" y="2042937"/>
                    <a:pt x="5144448" y="2733243"/>
                    <a:pt x="5144448" y="3577272"/>
                  </a:cubicBezTo>
                  <a:cubicBezTo>
                    <a:pt x="5144448" y="4441385"/>
                    <a:pt x="4441385" y="5144448"/>
                    <a:pt x="3577272" y="5144448"/>
                  </a:cubicBezTo>
                  <a:close/>
                  <a:moveTo>
                    <a:pt x="3577272" y="2130599"/>
                  </a:moveTo>
                  <a:cubicBezTo>
                    <a:pt x="3289655" y="2130599"/>
                    <a:pt x="3011765" y="2215103"/>
                    <a:pt x="2773663" y="2374890"/>
                  </a:cubicBezTo>
                  <a:cubicBezTo>
                    <a:pt x="2569287" y="2510172"/>
                    <a:pt x="2402679" y="2697369"/>
                    <a:pt x="2291523" y="2916398"/>
                  </a:cubicBezTo>
                  <a:cubicBezTo>
                    <a:pt x="2186177" y="3119005"/>
                    <a:pt x="2130599" y="3347380"/>
                    <a:pt x="2130599" y="3577272"/>
                  </a:cubicBezTo>
                  <a:cubicBezTo>
                    <a:pt x="2130599" y="4374944"/>
                    <a:pt x="2779600" y="5023944"/>
                    <a:pt x="3577272" y="5023944"/>
                  </a:cubicBezTo>
                  <a:cubicBezTo>
                    <a:pt x="4374944" y="5023944"/>
                    <a:pt x="5023944" y="4374944"/>
                    <a:pt x="5023944" y="3577272"/>
                  </a:cubicBezTo>
                  <a:cubicBezTo>
                    <a:pt x="5023944" y="2779600"/>
                    <a:pt x="4374944" y="2130599"/>
                    <a:pt x="3577272" y="2130599"/>
                  </a:cubicBezTo>
                  <a:close/>
                  <a:moveTo>
                    <a:pt x="1460883" y="3517020"/>
                  </a:moveTo>
                  <a:lnTo>
                    <a:pt x="2011232" y="3517020"/>
                  </a:lnTo>
                  <a:cubicBezTo>
                    <a:pt x="2019948" y="3293318"/>
                    <a:pt x="2076916" y="3072774"/>
                    <a:pt x="2177461" y="2874714"/>
                  </a:cubicBezTo>
                  <a:lnTo>
                    <a:pt x="2177588" y="1460883"/>
                  </a:lnTo>
                  <a:lnTo>
                    <a:pt x="1460883" y="1460883"/>
                  </a:lnTo>
                  <a:lnTo>
                    <a:pt x="1460883" y="3517020"/>
                  </a:lnTo>
                  <a:close/>
                  <a:moveTo>
                    <a:pt x="2800441" y="121451"/>
                  </a:moveTo>
                  <a:lnTo>
                    <a:pt x="2800315" y="2216492"/>
                  </a:lnTo>
                  <a:cubicBezTo>
                    <a:pt x="3018964" y="2091063"/>
                    <a:pt x="3263761" y="2020832"/>
                    <a:pt x="3517020" y="2011232"/>
                  </a:cubicBezTo>
                  <a:lnTo>
                    <a:pt x="3517146" y="121451"/>
                  </a:lnTo>
                  <a:lnTo>
                    <a:pt x="2800441" y="121451"/>
                  </a:lnTo>
                  <a:close/>
                  <a:moveTo>
                    <a:pt x="3637523" y="4414354"/>
                  </a:moveTo>
                  <a:lnTo>
                    <a:pt x="3517020" y="4414354"/>
                  </a:lnTo>
                  <a:lnTo>
                    <a:pt x="3517020" y="4139747"/>
                  </a:lnTo>
                  <a:lnTo>
                    <a:pt x="3074921" y="4139747"/>
                  </a:lnTo>
                  <a:lnTo>
                    <a:pt x="3074921" y="4019244"/>
                  </a:lnTo>
                  <a:lnTo>
                    <a:pt x="3828384" y="4019244"/>
                  </a:lnTo>
                  <a:cubicBezTo>
                    <a:pt x="3933603" y="4019244"/>
                    <a:pt x="4019244" y="3933603"/>
                    <a:pt x="4019244" y="3828384"/>
                  </a:cubicBezTo>
                  <a:cubicBezTo>
                    <a:pt x="4019244" y="3723164"/>
                    <a:pt x="3933603" y="3637523"/>
                    <a:pt x="3828384" y="3637523"/>
                  </a:cubicBezTo>
                  <a:lnTo>
                    <a:pt x="3326033" y="3637523"/>
                  </a:lnTo>
                  <a:cubicBezTo>
                    <a:pt x="3154373" y="3637523"/>
                    <a:pt x="3014670" y="3497820"/>
                    <a:pt x="3014670" y="3326160"/>
                  </a:cubicBezTo>
                  <a:cubicBezTo>
                    <a:pt x="3014670" y="3154499"/>
                    <a:pt x="3154246" y="3014796"/>
                    <a:pt x="3326033" y="3014796"/>
                  </a:cubicBezTo>
                  <a:lnTo>
                    <a:pt x="3517020" y="3014796"/>
                  </a:lnTo>
                  <a:lnTo>
                    <a:pt x="3517020" y="2740190"/>
                  </a:lnTo>
                  <a:lnTo>
                    <a:pt x="3637523" y="2740190"/>
                  </a:lnTo>
                  <a:lnTo>
                    <a:pt x="3637523" y="3014796"/>
                  </a:lnTo>
                  <a:lnTo>
                    <a:pt x="4079622" y="3014796"/>
                  </a:lnTo>
                  <a:lnTo>
                    <a:pt x="4079622" y="3135299"/>
                  </a:lnTo>
                  <a:lnTo>
                    <a:pt x="3326033" y="3135299"/>
                  </a:lnTo>
                  <a:cubicBezTo>
                    <a:pt x="3220814" y="3135299"/>
                    <a:pt x="3135173" y="3220940"/>
                    <a:pt x="3135173" y="3326160"/>
                  </a:cubicBezTo>
                  <a:cubicBezTo>
                    <a:pt x="3135173" y="3431379"/>
                    <a:pt x="3220814" y="3517020"/>
                    <a:pt x="3326033" y="3517020"/>
                  </a:cubicBezTo>
                  <a:lnTo>
                    <a:pt x="3828384" y="3517020"/>
                  </a:lnTo>
                  <a:cubicBezTo>
                    <a:pt x="4000044" y="3517020"/>
                    <a:pt x="4139747" y="3656723"/>
                    <a:pt x="4139747" y="3828384"/>
                  </a:cubicBezTo>
                  <a:cubicBezTo>
                    <a:pt x="4139747" y="4000044"/>
                    <a:pt x="4000044" y="4139747"/>
                    <a:pt x="3828384" y="4139747"/>
                  </a:cubicBezTo>
                  <a:lnTo>
                    <a:pt x="3637523" y="4139747"/>
                  </a:lnTo>
                  <a:lnTo>
                    <a:pt x="3637523" y="4414354"/>
                  </a:lnTo>
                  <a:close/>
                  <a:moveTo>
                    <a:pt x="898407" y="3637523"/>
                  </a:moveTo>
                  <a:lnTo>
                    <a:pt x="61199" y="3637523"/>
                  </a:lnTo>
                  <a:cubicBezTo>
                    <a:pt x="27979" y="3637523"/>
                    <a:pt x="947" y="3610492"/>
                    <a:pt x="947" y="3577272"/>
                  </a:cubicBezTo>
                  <a:lnTo>
                    <a:pt x="947" y="2405205"/>
                  </a:lnTo>
                  <a:cubicBezTo>
                    <a:pt x="947" y="2371985"/>
                    <a:pt x="27979" y="2344954"/>
                    <a:pt x="61199" y="2344954"/>
                  </a:cubicBezTo>
                  <a:lnTo>
                    <a:pt x="898407" y="2344954"/>
                  </a:lnTo>
                  <a:cubicBezTo>
                    <a:pt x="931628" y="2344954"/>
                    <a:pt x="958659" y="2371985"/>
                    <a:pt x="958659" y="2405205"/>
                  </a:cubicBezTo>
                  <a:lnTo>
                    <a:pt x="958659" y="3577272"/>
                  </a:lnTo>
                  <a:cubicBezTo>
                    <a:pt x="958659" y="3610492"/>
                    <a:pt x="931628" y="3637523"/>
                    <a:pt x="898407" y="3637523"/>
                  </a:cubicBezTo>
                  <a:close/>
                  <a:moveTo>
                    <a:pt x="121451" y="3517020"/>
                  </a:moveTo>
                  <a:lnTo>
                    <a:pt x="838156" y="3517020"/>
                  </a:lnTo>
                  <a:lnTo>
                    <a:pt x="838156" y="2465457"/>
                  </a:lnTo>
                  <a:lnTo>
                    <a:pt x="121451" y="2465457"/>
                  </a:lnTo>
                  <a:lnTo>
                    <a:pt x="121451" y="3517020"/>
                  </a:lnTo>
                  <a:close/>
                </a:path>
              </a:pathLst>
            </a:custGeom>
            <a:solidFill>
              <a:schemeClr val="bg1"/>
            </a:solidFill>
            <a:ln w="9525" cap="flat">
              <a:noFill/>
              <a:prstDash val="solid"/>
              <a:miter/>
            </a:ln>
          </p:spPr>
          <p:txBody>
            <a:bodyPr rtlCol="0" anchor="ctr"/>
            <a:lstStyle/>
            <a:p>
              <a:endParaRPr lang="en-US" sz="2400"/>
            </a:p>
          </p:txBody>
        </p:sp>
      </p:grpSp>
      <p:grpSp>
        <p:nvGrpSpPr>
          <p:cNvPr id="44" name="Group 43">
            <a:extLst>
              <a:ext uri="{FF2B5EF4-FFF2-40B4-BE49-F238E27FC236}">
                <a16:creationId xmlns:a16="http://schemas.microsoft.com/office/drawing/2014/main" id="{8E60E4EB-0738-72E6-EA8F-0D8DCCC859F3}"/>
              </a:ext>
            </a:extLst>
          </p:cNvPr>
          <p:cNvGrpSpPr/>
          <p:nvPr/>
        </p:nvGrpSpPr>
        <p:grpSpPr>
          <a:xfrm>
            <a:off x="10850880" y="304800"/>
            <a:ext cx="1106883" cy="853440"/>
            <a:chOff x="6466321" y="769450"/>
            <a:chExt cx="830162" cy="640080"/>
          </a:xfrm>
        </p:grpSpPr>
        <p:grpSp>
          <p:nvGrpSpPr>
            <p:cNvPr id="45" name="Group 44">
              <a:extLst>
                <a:ext uri="{FF2B5EF4-FFF2-40B4-BE49-F238E27FC236}">
                  <a16:creationId xmlns:a16="http://schemas.microsoft.com/office/drawing/2014/main" id="{559797CF-527D-0934-6336-B12FF499D52D}"/>
                </a:ext>
              </a:extLst>
            </p:cNvPr>
            <p:cNvGrpSpPr>
              <a:grpSpLocks noChangeAspect="1"/>
            </p:cNvGrpSpPr>
            <p:nvPr/>
          </p:nvGrpSpPr>
          <p:grpSpPr>
            <a:xfrm>
              <a:off x="6564314" y="769450"/>
              <a:ext cx="634177" cy="640080"/>
              <a:chOff x="5423435" y="3559472"/>
              <a:chExt cx="1208648" cy="1219896"/>
            </a:xfrm>
          </p:grpSpPr>
          <p:sp>
            <p:nvSpPr>
              <p:cNvPr id="47" name="Freeform: Shape 393">
                <a:extLst>
                  <a:ext uri="{FF2B5EF4-FFF2-40B4-BE49-F238E27FC236}">
                    <a16:creationId xmlns:a16="http://schemas.microsoft.com/office/drawing/2014/main" id="{5E218CA9-274F-AF70-9C64-12A04072B70B}"/>
                  </a:ext>
                </a:extLst>
              </p:cNvPr>
              <p:cNvSpPr/>
              <p:nvPr/>
            </p:nvSpPr>
            <p:spPr>
              <a:xfrm>
                <a:off x="5423435" y="3559472"/>
                <a:ext cx="1208648" cy="1219896"/>
              </a:xfrm>
              <a:custGeom>
                <a:avLst/>
                <a:gdLst>
                  <a:gd name="connsiteX0" fmla="*/ 1202064 w 1363118"/>
                  <a:gd name="connsiteY0" fmla="*/ 240974 h 1363118"/>
                  <a:gd name="connsiteX1" fmla="*/ 1190432 w 1363118"/>
                  <a:gd name="connsiteY1" fmla="*/ 236612 h 1363118"/>
                  <a:gd name="connsiteX2" fmla="*/ 1066115 w 1363118"/>
                  <a:gd name="connsiteY2" fmla="*/ 269691 h 1363118"/>
                  <a:gd name="connsiteX3" fmla="*/ 914900 w 1363118"/>
                  <a:gd name="connsiteY3" fmla="*/ 169002 h 1363118"/>
                  <a:gd name="connsiteX4" fmla="*/ 897452 w 1363118"/>
                  <a:gd name="connsiteY4" fmla="*/ 41777 h 1363118"/>
                  <a:gd name="connsiteX5" fmla="*/ 889092 w 1363118"/>
                  <a:gd name="connsiteY5" fmla="*/ 32690 h 1363118"/>
                  <a:gd name="connsiteX6" fmla="*/ 737876 w 1363118"/>
                  <a:gd name="connsiteY6" fmla="*/ 2883 h 1363118"/>
                  <a:gd name="connsiteX7" fmla="*/ 726608 w 1363118"/>
                  <a:gd name="connsiteY7" fmla="*/ 7972 h 1363118"/>
                  <a:gd name="connsiteX8" fmla="*/ 661905 w 1363118"/>
                  <a:gd name="connsiteY8" fmla="*/ 119203 h 1363118"/>
                  <a:gd name="connsiteX9" fmla="*/ 483791 w 1363118"/>
                  <a:gd name="connsiteY9" fmla="*/ 154825 h 1363118"/>
                  <a:gd name="connsiteX10" fmla="*/ 381285 w 1363118"/>
                  <a:gd name="connsiteY10" fmla="*/ 77037 h 1363118"/>
                  <a:gd name="connsiteX11" fmla="*/ 368926 w 1363118"/>
                  <a:gd name="connsiteY11" fmla="*/ 76673 h 1363118"/>
                  <a:gd name="connsiteX12" fmla="*/ 240974 w 1363118"/>
                  <a:gd name="connsiteY12" fmla="*/ 162459 h 1363118"/>
                  <a:gd name="connsiteX13" fmla="*/ 236613 w 1363118"/>
                  <a:gd name="connsiteY13" fmla="*/ 174091 h 1363118"/>
                  <a:gd name="connsiteX14" fmla="*/ 269691 w 1363118"/>
                  <a:gd name="connsiteY14" fmla="*/ 298407 h 1363118"/>
                  <a:gd name="connsiteX15" fmla="*/ 169002 w 1363118"/>
                  <a:gd name="connsiteY15" fmla="*/ 449622 h 1363118"/>
                  <a:gd name="connsiteX16" fmla="*/ 41777 w 1363118"/>
                  <a:gd name="connsiteY16" fmla="*/ 467070 h 1363118"/>
                  <a:gd name="connsiteX17" fmla="*/ 32690 w 1363118"/>
                  <a:gd name="connsiteY17" fmla="*/ 475431 h 1363118"/>
                  <a:gd name="connsiteX18" fmla="*/ 2883 w 1363118"/>
                  <a:gd name="connsiteY18" fmla="*/ 626646 h 1363118"/>
                  <a:gd name="connsiteX19" fmla="*/ 7972 w 1363118"/>
                  <a:gd name="connsiteY19" fmla="*/ 637914 h 1363118"/>
                  <a:gd name="connsiteX20" fmla="*/ 119202 w 1363118"/>
                  <a:gd name="connsiteY20" fmla="*/ 702617 h 1363118"/>
                  <a:gd name="connsiteX21" fmla="*/ 154825 w 1363118"/>
                  <a:gd name="connsiteY21" fmla="*/ 880731 h 1363118"/>
                  <a:gd name="connsiteX22" fmla="*/ 77037 w 1363118"/>
                  <a:gd name="connsiteY22" fmla="*/ 983238 h 1363118"/>
                  <a:gd name="connsiteX23" fmla="*/ 76673 w 1363118"/>
                  <a:gd name="connsiteY23" fmla="*/ 995597 h 1363118"/>
                  <a:gd name="connsiteX24" fmla="*/ 162459 w 1363118"/>
                  <a:gd name="connsiteY24" fmla="*/ 1123548 h 1363118"/>
                  <a:gd name="connsiteX25" fmla="*/ 174091 w 1363118"/>
                  <a:gd name="connsiteY25" fmla="*/ 1127910 h 1363118"/>
                  <a:gd name="connsiteX26" fmla="*/ 298407 w 1363118"/>
                  <a:gd name="connsiteY26" fmla="*/ 1094832 h 1363118"/>
                  <a:gd name="connsiteX27" fmla="*/ 449622 w 1363118"/>
                  <a:gd name="connsiteY27" fmla="*/ 1195521 h 1363118"/>
                  <a:gd name="connsiteX28" fmla="*/ 467070 w 1363118"/>
                  <a:gd name="connsiteY28" fmla="*/ 1322745 h 1363118"/>
                  <a:gd name="connsiteX29" fmla="*/ 475431 w 1363118"/>
                  <a:gd name="connsiteY29" fmla="*/ 1331833 h 1363118"/>
                  <a:gd name="connsiteX30" fmla="*/ 626646 w 1363118"/>
                  <a:gd name="connsiteY30" fmla="*/ 1361640 h 1363118"/>
                  <a:gd name="connsiteX31" fmla="*/ 637914 w 1363118"/>
                  <a:gd name="connsiteY31" fmla="*/ 1356551 h 1363118"/>
                  <a:gd name="connsiteX32" fmla="*/ 702617 w 1363118"/>
                  <a:gd name="connsiteY32" fmla="*/ 1245320 h 1363118"/>
                  <a:gd name="connsiteX33" fmla="*/ 880731 w 1363118"/>
                  <a:gd name="connsiteY33" fmla="*/ 1209697 h 1363118"/>
                  <a:gd name="connsiteX34" fmla="*/ 983238 w 1363118"/>
                  <a:gd name="connsiteY34" fmla="*/ 1287486 h 1363118"/>
                  <a:gd name="connsiteX35" fmla="*/ 995597 w 1363118"/>
                  <a:gd name="connsiteY35" fmla="*/ 1287849 h 1363118"/>
                  <a:gd name="connsiteX36" fmla="*/ 1123548 w 1363118"/>
                  <a:gd name="connsiteY36" fmla="*/ 1202064 h 1363118"/>
                  <a:gd name="connsiteX37" fmla="*/ 1127910 w 1363118"/>
                  <a:gd name="connsiteY37" fmla="*/ 1190432 h 1363118"/>
                  <a:gd name="connsiteX38" fmla="*/ 1094832 w 1363118"/>
                  <a:gd name="connsiteY38" fmla="*/ 1066115 h 1363118"/>
                  <a:gd name="connsiteX39" fmla="*/ 1195521 w 1363118"/>
                  <a:gd name="connsiteY39" fmla="*/ 914900 h 1363118"/>
                  <a:gd name="connsiteX40" fmla="*/ 1322745 w 1363118"/>
                  <a:gd name="connsiteY40" fmla="*/ 897452 h 1363118"/>
                  <a:gd name="connsiteX41" fmla="*/ 1331833 w 1363118"/>
                  <a:gd name="connsiteY41" fmla="*/ 889092 h 1363118"/>
                  <a:gd name="connsiteX42" fmla="*/ 1361640 w 1363118"/>
                  <a:gd name="connsiteY42" fmla="*/ 737877 h 1363118"/>
                  <a:gd name="connsiteX43" fmla="*/ 1356551 w 1363118"/>
                  <a:gd name="connsiteY43" fmla="*/ 726608 h 1363118"/>
                  <a:gd name="connsiteX44" fmla="*/ 1245320 w 1363118"/>
                  <a:gd name="connsiteY44" fmla="*/ 661906 h 1363118"/>
                  <a:gd name="connsiteX45" fmla="*/ 1209697 w 1363118"/>
                  <a:gd name="connsiteY45" fmla="*/ 483791 h 1363118"/>
                  <a:gd name="connsiteX46" fmla="*/ 1287486 w 1363118"/>
                  <a:gd name="connsiteY46" fmla="*/ 381285 h 1363118"/>
                  <a:gd name="connsiteX47" fmla="*/ 1287849 w 1363118"/>
                  <a:gd name="connsiteY47" fmla="*/ 368926 h 1363118"/>
                  <a:gd name="connsiteX48" fmla="*/ 1202064 w 1363118"/>
                  <a:gd name="connsiteY48" fmla="*/ 240974 h 1363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363118" h="1363118">
                    <a:moveTo>
                      <a:pt x="1202064" y="240974"/>
                    </a:moveTo>
                    <a:cubicBezTo>
                      <a:pt x="1199519" y="237339"/>
                      <a:pt x="1194794" y="235522"/>
                      <a:pt x="1190432" y="236612"/>
                    </a:cubicBezTo>
                    <a:lnTo>
                      <a:pt x="1066115" y="269691"/>
                    </a:lnTo>
                    <a:cubicBezTo>
                      <a:pt x="1022132" y="228616"/>
                      <a:pt x="971242" y="194447"/>
                      <a:pt x="914900" y="169002"/>
                    </a:cubicBezTo>
                    <a:lnTo>
                      <a:pt x="897452" y="41777"/>
                    </a:lnTo>
                    <a:cubicBezTo>
                      <a:pt x="896725" y="37415"/>
                      <a:pt x="893454" y="33780"/>
                      <a:pt x="889092" y="32690"/>
                    </a:cubicBezTo>
                    <a:lnTo>
                      <a:pt x="737876" y="2883"/>
                    </a:lnTo>
                    <a:cubicBezTo>
                      <a:pt x="733514" y="2156"/>
                      <a:pt x="728789" y="3974"/>
                      <a:pt x="726608" y="7972"/>
                    </a:cubicBezTo>
                    <a:lnTo>
                      <a:pt x="661905" y="119203"/>
                    </a:lnTo>
                    <a:cubicBezTo>
                      <a:pt x="600111" y="121384"/>
                      <a:pt x="540134" y="133742"/>
                      <a:pt x="483791" y="154825"/>
                    </a:cubicBezTo>
                    <a:lnTo>
                      <a:pt x="381285" y="77037"/>
                    </a:lnTo>
                    <a:cubicBezTo>
                      <a:pt x="377650" y="74492"/>
                      <a:pt x="372924" y="74129"/>
                      <a:pt x="368926" y="76673"/>
                    </a:cubicBezTo>
                    <a:lnTo>
                      <a:pt x="240974" y="162459"/>
                    </a:lnTo>
                    <a:cubicBezTo>
                      <a:pt x="237339" y="165003"/>
                      <a:pt x="235522" y="169729"/>
                      <a:pt x="236613" y="174091"/>
                    </a:cubicBezTo>
                    <a:lnTo>
                      <a:pt x="269691" y="298407"/>
                    </a:lnTo>
                    <a:cubicBezTo>
                      <a:pt x="228616" y="342390"/>
                      <a:pt x="194447" y="393280"/>
                      <a:pt x="169002" y="449622"/>
                    </a:cubicBezTo>
                    <a:lnTo>
                      <a:pt x="41777" y="467070"/>
                    </a:lnTo>
                    <a:cubicBezTo>
                      <a:pt x="37415" y="467797"/>
                      <a:pt x="33780" y="471069"/>
                      <a:pt x="32690" y="475431"/>
                    </a:cubicBezTo>
                    <a:lnTo>
                      <a:pt x="2883" y="626646"/>
                    </a:lnTo>
                    <a:cubicBezTo>
                      <a:pt x="2156" y="631008"/>
                      <a:pt x="3974" y="635734"/>
                      <a:pt x="7972" y="637914"/>
                    </a:cubicBezTo>
                    <a:lnTo>
                      <a:pt x="119202" y="702617"/>
                    </a:lnTo>
                    <a:cubicBezTo>
                      <a:pt x="121384" y="764412"/>
                      <a:pt x="133742" y="824389"/>
                      <a:pt x="154825" y="880731"/>
                    </a:cubicBezTo>
                    <a:lnTo>
                      <a:pt x="77037" y="983238"/>
                    </a:lnTo>
                    <a:cubicBezTo>
                      <a:pt x="74492" y="986873"/>
                      <a:pt x="74129" y="991598"/>
                      <a:pt x="76673" y="995597"/>
                    </a:cubicBezTo>
                    <a:lnTo>
                      <a:pt x="162459" y="1123548"/>
                    </a:lnTo>
                    <a:cubicBezTo>
                      <a:pt x="165003" y="1127183"/>
                      <a:pt x="169729" y="1129001"/>
                      <a:pt x="174091" y="1127910"/>
                    </a:cubicBezTo>
                    <a:lnTo>
                      <a:pt x="298407" y="1094832"/>
                    </a:lnTo>
                    <a:cubicBezTo>
                      <a:pt x="342390" y="1135907"/>
                      <a:pt x="393280" y="1170076"/>
                      <a:pt x="449622" y="1195521"/>
                    </a:cubicBezTo>
                    <a:lnTo>
                      <a:pt x="467070" y="1322745"/>
                    </a:lnTo>
                    <a:cubicBezTo>
                      <a:pt x="467797" y="1327107"/>
                      <a:pt x="471069" y="1330742"/>
                      <a:pt x="475431" y="1331833"/>
                    </a:cubicBezTo>
                    <a:lnTo>
                      <a:pt x="626646" y="1361640"/>
                    </a:lnTo>
                    <a:cubicBezTo>
                      <a:pt x="631008" y="1362366"/>
                      <a:pt x="635734" y="1360549"/>
                      <a:pt x="637914" y="1356551"/>
                    </a:cubicBezTo>
                    <a:lnTo>
                      <a:pt x="702617" y="1245320"/>
                    </a:lnTo>
                    <a:cubicBezTo>
                      <a:pt x="764412" y="1243139"/>
                      <a:pt x="824389" y="1230780"/>
                      <a:pt x="880731" y="1209697"/>
                    </a:cubicBezTo>
                    <a:lnTo>
                      <a:pt x="983238" y="1287486"/>
                    </a:lnTo>
                    <a:cubicBezTo>
                      <a:pt x="986873" y="1290030"/>
                      <a:pt x="991598" y="1290394"/>
                      <a:pt x="995597" y="1287849"/>
                    </a:cubicBezTo>
                    <a:lnTo>
                      <a:pt x="1123548" y="1202064"/>
                    </a:lnTo>
                    <a:cubicBezTo>
                      <a:pt x="1127183" y="1199519"/>
                      <a:pt x="1129001" y="1194794"/>
                      <a:pt x="1127910" y="1190432"/>
                    </a:cubicBezTo>
                    <a:lnTo>
                      <a:pt x="1094832" y="1066115"/>
                    </a:lnTo>
                    <a:cubicBezTo>
                      <a:pt x="1135907" y="1022132"/>
                      <a:pt x="1170076" y="971242"/>
                      <a:pt x="1195521" y="914900"/>
                    </a:cubicBezTo>
                    <a:lnTo>
                      <a:pt x="1322745" y="897452"/>
                    </a:lnTo>
                    <a:cubicBezTo>
                      <a:pt x="1327107" y="896725"/>
                      <a:pt x="1330742" y="893454"/>
                      <a:pt x="1331833" y="889092"/>
                    </a:cubicBezTo>
                    <a:lnTo>
                      <a:pt x="1361640" y="737877"/>
                    </a:lnTo>
                    <a:cubicBezTo>
                      <a:pt x="1362366" y="733514"/>
                      <a:pt x="1360549" y="728789"/>
                      <a:pt x="1356551" y="726608"/>
                    </a:cubicBezTo>
                    <a:lnTo>
                      <a:pt x="1245320" y="661906"/>
                    </a:lnTo>
                    <a:cubicBezTo>
                      <a:pt x="1243139" y="600111"/>
                      <a:pt x="1230780" y="540134"/>
                      <a:pt x="1209697" y="483791"/>
                    </a:cubicBezTo>
                    <a:lnTo>
                      <a:pt x="1287486" y="381285"/>
                    </a:lnTo>
                    <a:cubicBezTo>
                      <a:pt x="1290030" y="377650"/>
                      <a:pt x="1290394" y="372924"/>
                      <a:pt x="1287849" y="368926"/>
                    </a:cubicBezTo>
                    <a:lnTo>
                      <a:pt x="1202064" y="240974"/>
                    </a:lnTo>
                    <a:close/>
                  </a:path>
                </a:pathLst>
              </a:custGeom>
              <a:solidFill>
                <a:srgbClr val="6FDC8C"/>
              </a:solidFill>
              <a:ln w="9525" cap="flat">
                <a:noFill/>
                <a:prstDash val="solid"/>
                <a:miter/>
              </a:ln>
            </p:spPr>
            <p:txBody>
              <a:bodyPr rtlCol="0" anchor="ctr"/>
              <a:lstStyle/>
              <a:p>
                <a:endParaRPr lang="en-US" sz="2400" dirty="0"/>
              </a:p>
            </p:txBody>
          </p:sp>
          <p:sp>
            <p:nvSpPr>
              <p:cNvPr id="48" name="Oval 47">
                <a:extLst>
                  <a:ext uri="{FF2B5EF4-FFF2-40B4-BE49-F238E27FC236}">
                    <a16:creationId xmlns:a16="http://schemas.microsoft.com/office/drawing/2014/main" id="{537FAEFB-167A-7DFB-3069-7D1231A83CB7}"/>
                  </a:ext>
                </a:extLst>
              </p:cNvPr>
              <p:cNvSpPr/>
              <p:nvPr/>
            </p:nvSpPr>
            <p:spPr bwMode="auto">
              <a:xfrm>
                <a:off x="5833410" y="3973262"/>
                <a:ext cx="388698" cy="392316"/>
              </a:xfrm>
              <a:prstGeom prst="ellipse">
                <a:avLst/>
              </a:prstGeom>
              <a:solidFill>
                <a:srgbClr val="A7F0BA"/>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21920" tIns="121920" rIns="121920" bIns="121920" numCol="1" rtlCol="0" anchor="t" anchorCtr="0" compatLnSpc="1">
                <a:prstTxWarp prst="textNoShape">
                  <a:avLst/>
                </a:prstTxWarp>
              </a:bodyPr>
              <a:lstStyle/>
              <a:p>
                <a:pPr defTabSz="1219170" fontAlgn="base">
                  <a:spcBef>
                    <a:spcPct val="0"/>
                  </a:spcBef>
                  <a:spcAft>
                    <a:spcPct val="0"/>
                  </a:spcAft>
                </a:pPr>
                <a:endParaRPr lang="en-US" sz="1867" dirty="0">
                  <a:solidFill>
                    <a:schemeClr val="bg1"/>
                  </a:solidFill>
                </a:endParaRPr>
              </a:p>
            </p:txBody>
          </p:sp>
        </p:grpSp>
        <p:sp>
          <p:nvSpPr>
            <p:cNvPr id="46" name="Shape 8">
              <a:extLst>
                <a:ext uri="{FF2B5EF4-FFF2-40B4-BE49-F238E27FC236}">
                  <a16:creationId xmlns:a16="http://schemas.microsoft.com/office/drawing/2014/main" id="{1BCEC97C-8A50-AB64-4225-10D80044EE80}"/>
                </a:ext>
              </a:extLst>
            </p:cNvPr>
            <p:cNvSpPr txBox="1"/>
            <p:nvPr/>
          </p:nvSpPr>
          <p:spPr>
            <a:xfrm>
              <a:off x="6466321" y="988180"/>
              <a:ext cx="830162" cy="20262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23707" numCol="1" spcCol="1270" anchor="ctr" anchorCtr="0">
              <a:spAutoFit/>
            </a:bodyPr>
            <a:lstStyle/>
            <a:p>
              <a:pPr algn="ctr" defTabSz="829713">
                <a:spcBef>
                  <a:spcPct val="0"/>
                </a:spcBef>
                <a:defRPr/>
              </a:pPr>
              <a:r>
                <a:rPr lang="en-US" sz="1600" dirty="0">
                  <a:solidFill>
                    <a:schemeClr val="tx1"/>
                  </a:solidFill>
                  <a:latin typeface="IBM Plex Sans Medm" panose="020B0603050203000203" pitchFamily="34" charset="0"/>
                </a:rPr>
                <a:t>Integration</a:t>
              </a:r>
            </a:p>
          </p:txBody>
        </p:sp>
      </p:grpSp>
    </p:spTree>
    <p:extLst>
      <p:ext uri="{BB962C8B-B14F-4D97-AF65-F5344CB8AC3E}">
        <p14:creationId xmlns:p14="http://schemas.microsoft.com/office/powerpoint/2010/main" val="27318093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D2255-0154-4971-9CCA-0B63742B2A77}"/>
              </a:ext>
            </a:extLst>
          </p:cNvPr>
          <p:cNvSpPr>
            <a:spLocks noGrp="1"/>
          </p:cNvSpPr>
          <p:nvPr>
            <p:ph type="title"/>
          </p:nvPr>
        </p:nvSpPr>
        <p:spPr>
          <a:xfrm>
            <a:off x="552150" y="222313"/>
            <a:ext cx="10023210" cy="1072616"/>
          </a:xfrm>
        </p:spPr>
        <p:txBody>
          <a:bodyPr/>
          <a:lstStyle/>
          <a:p>
            <a:r>
              <a:rPr lang="en-US"/>
              <a:t>Migration from TRIRIGA to MAS RE&amp;F</a:t>
            </a:r>
          </a:p>
        </p:txBody>
      </p:sp>
      <p:sp>
        <p:nvSpPr>
          <p:cNvPr id="31" name="Rectangle 30">
            <a:extLst>
              <a:ext uri="{FF2B5EF4-FFF2-40B4-BE49-F238E27FC236}">
                <a16:creationId xmlns:a16="http://schemas.microsoft.com/office/drawing/2014/main" id="{5585549B-7002-467B-A1DC-05F2EFB92137}"/>
              </a:ext>
            </a:extLst>
          </p:cNvPr>
          <p:cNvSpPr/>
          <p:nvPr/>
        </p:nvSpPr>
        <p:spPr>
          <a:xfrm>
            <a:off x="552149" y="856996"/>
            <a:ext cx="11091273" cy="551989"/>
          </a:xfrm>
          <a:prstGeom prst="rect">
            <a:avLst/>
          </a:prstGeom>
          <a:solidFill>
            <a:schemeClr val="accent1"/>
          </a:solidFill>
          <a:ln w="12700" cap="flat" cmpd="sng" algn="ctr">
            <a:noFill/>
            <a:prstDash val="solid"/>
            <a:miter lim="800000"/>
          </a:ln>
          <a:effectLst/>
        </p:spPr>
        <p:txBody>
          <a:bodyPr rot="0" spcFirstLastPara="0" vertOverflow="overflow" horzOverflow="overflow" vert="horz" wrap="square" lIns="76180" tIns="38090" rIns="76180" bIns="38090" numCol="1" spcCol="0" rtlCol="0" fromWordArt="0" anchor="t" anchorCtr="0" forceAA="0" compatLnSpc="1">
            <a:prstTxWarp prst="textNoShape">
              <a:avLst/>
            </a:prstTxWarp>
            <a:noAutofit/>
          </a:bodyPr>
          <a:lstStyle/>
          <a:p>
            <a:pPr defTabSz="913997">
              <a:defRPr/>
            </a:pPr>
            <a:endParaRPr lang="en-US" sz="1667" kern="0">
              <a:solidFill>
                <a:srgbClr val="FFFFFF">
                  <a:lumMod val="95000"/>
                </a:srgbClr>
              </a:solidFill>
              <a:latin typeface="IBM Plex Sans" panose="020B0503050203000203" pitchFamily="34" charset="0"/>
            </a:endParaRPr>
          </a:p>
        </p:txBody>
      </p:sp>
      <p:sp>
        <p:nvSpPr>
          <p:cNvPr id="32" name="Right Triangle 31">
            <a:extLst>
              <a:ext uri="{FF2B5EF4-FFF2-40B4-BE49-F238E27FC236}">
                <a16:creationId xmlns:a16="http://schemas.microsoft.com/office/drawing/2014/main" id="{FA481DCC-BC28-4439-88E9-4B70AE58B755}"/>
              </a:ext>
            </a:extLst>
          </p:cNvPr>
          <p:cNvSpPr/>
          <p:nvPr/>
        </p:nvSpPr>
        <p:spPr>
          <a:xfrm>
            <a:off x="550364" y="862701"/>
            <a:ext cx="11091273" cy="545647"/>
          </a:xfrm>
          <a:prstGeom prst="rtTriangle">
            <a:avLst/>
          </a:prstGeom>
          <a:solidFill>
            <a:schemeClr val="accent1">
              <a:lumMod val="20000"/>
              <a:lumOff val="80000"/>
            </a:schemeClr>
          </a:solidFill>
          <a:ln w="12700" cap="flat" cmpd="sng" algn="ctr">
            <a:noFill/>
            <a:prstDash val="solid"/>
            <a:miter lim="800000"/>
          </a:ln>
          <a:effectLst/>
        </p:spPr>
        <p:txBody>
          <a:bodyPr rot="0" spcFirstLastPara="0" vertOverflow="overflow" horzOverflow="overflow" vert="horz" wrap="square" lIns="76180" tIns="38090" rIns="76180" bIns="38090" numCol="1" spcCol="0" rtlCol="0" fromWordArt="0" anchor="t" anchorCtr="0" forceAA="0" compatLnSpc="1">
            <a:prstTxWarp prst="textNoShape">
              <a:avLst/>
            </a:prstTxWarp>
            <a:noAutofit/>
          </a:bodyPr>
          <a:lstStyle/>
          <a:p>
            <a:pPr defTabSz="913997">
              <a:defRPr/>
            </a:pPr>
            <a:endParaRPr lang="en-US" sz="1667" kern="0">
              <a:solidFill>
                <a:prstClr val="white"/>
              </a:solidFill>
              <a:latin typeface="IBM Plex Sans" panose="020B0503050203000203" pitchFamily="34" charset="0"/>
            </a:endParaRPr>
          </a:p>
        </p:txBody>
      </p:sp>
      <p:sp>
        <p:nvSpPr>
          <p:cNvPr id="33" name="TextBox 32">
            <a:extLst>
              <a:ext uri="{FF2B5EF4-FFF2-40B4-BE49-F238E27FC236}">
                <a16:creationId xmlns:a16="http://schemas.microsoft.com/office/drawing/2014/main" id="{1B027E51-5DA7-4502-A87F-8E405C81274E}"/>
              </a:ext>
            </a:extLst>
          </p:cNvPr>
          <p:cNvSpPr txBox="1"/>
          <p:nvPr/>
        </p:nvSpPr>
        <p:spPr>
          <a:xfrm>
            <a:off x="548577" y="899828"/>
            <a:ext cx="2704396" cy="528182"/>
          </a:xfrm>
          <a:prstGeom prst="rect">
            <a:avLst/>
          </a:prstGeom>
        </p:spPr>
        <p:txBody>
          <a:bodyPr wrap="square" lIns="76180" tIns="38090" rIns="76180" bIns="38090" rtlCol="0">
            <a:noAutofit/>
          </a:bodyPr>
          <a:lstStyle/>
          <a:p>
            <a:pPr defTabSz="913997">
              <a:lnSpc>
                <a:spcPct val="105000"/>
              </a:lnSpc>
              <a:spcBef>
                <a:spcPts val="833"/>
              </a:spcBef>
              <a:defRPr/>
            </a:pPr>
            <a:r>
              <a:rPr lang="en-US" sz="1667">
                <a:solidFill>
                  <a:srgbClr val="172934"/>
                </a:solidFill>
                <a:latin typeface="IBM Plex Sans" panose="020B0503050203000203" pitchFamily="34" charset="0"/>
                <a:ea typeface="IBM Plex Sans" charset="0"/>
                <a:cs typeface="IBM Plex Sans" charset="0"/>
              </a:rPr>
              <a:t>TRIRIGA</a:t>
            </a:r>
          </a:p>
        </p:txBody>
      </p:sp>
      <p:sp>
        <p:nvSpPr>
          <p:cNvPr id="54" name="TextBox 53">
            <a:extLst>
              <a:ext uri="{FF2B5EF4-FFF2-40B4-BE49-F238E27FC236}">
                <a16:creationId xmlns:a16="http://schemas.microsoft.com/office/drawing/2014/main" id="{8DA16225-8EF8-4AB7-BB91-3AC9D7FD7DA0}"/>
              </a:ext>
            </a:extLst>
          </p:cNvPr>
          <p:cNvSpPr txBox="1"/>
          <p:nvPr/>
        </p:nvSpPr>
        <p:spPr>
          <a:xfrm>
            <a:off x="9106902" y="890066"/>
            <a:ext cx="2704396" cy="528182"/>
          </a:xfrm>
          <a:prstGeom prst="rect">
            <a:avLst/>
          </a:prstGeom>
        </p:spPr>
        <p:txBody>
          <a:bodyPr wrap="square" lIns="76180" tIns="38090" rIns="76180" bIns="38090" rtlCol="0">
            <a:noAutofit/>
          </a:bodyPr>
          <a:lstStyle/>
          <a:p>
            <a:pPr defTabSz="913997">
              <a:lnSpc>
                <a:spcPct val="105000"/>
              </a:lnSpc>
              <a:spcBef>
                <a:spcPts val="833"/>
              </a:spcBef>
              <a:defRPr/>
            </a:pPr>
            <a:r>
              <a:rPr lang="en-US" sz="1667">
                <a:solidFill>
                  <a:srgbClr val="FFFFFF">
                    <a:lumMod val="95000"/>
                  </a:srgbClr>
                </a:solidFill>
                <a:latin typeface="IBM Plex Sans" panose="020B0503050203000203" pitchFamily="34" charset="0"/>
                <a:ea typeface="IBM Plex Sans" charset="0"/>
                <a:cs typeface="IBM Plex Sans" charset="0"/>
              </a:rPr>
              <a:t>Maximo Application Suite</a:t>
            </a:r>
          </a:p>
        </p:txBody>
      </p:sp>
      <p:sp>
        <p:nvSpPr>
          <p:cNvPr id="4" name="TextBox 3">
            <a:extLst>
              <a:ext uri="{FF2B5EF4-FFF2-40B4-BE49-F238E27FC236}">
                <a16:creationId xmlns:a16="http://schemas.microsoft.com/office/drawing/2014/main" id="{55C74420-7857-E5F7-574C-AD58C1C5A71C}"/>
              </a:ext>
            </a:extLst>
          </p:cNvPr>
          <p:cNvSpPr txBox="1"/>
          <p:nvPr/>
        </p:nvSpPr>
        <p:spPr>
          <a:xfrm>
            <a:off x="700964" y="2317952"/>
            <a:ext cx="3446453" cy="42710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rtlCol="0">
            <a:noAutofit/>
          </a:bodyPr>
          <a:lstStyle/>
          <a:p>
            <a:pPr defTabSz="2437424">
              <a:spcBef>
                <a:spcPts val="2898"/>
              </a:spcBef>
              <a:buSzPct val="100000"/>
            </a:pPr>
            <a:r>
              <a:rPr lang="en-IE" sz="1600" b="1" kern="0">
                <a:solidFill>
                  <a:srgbClr val="000000"/>
                </a:solidFill>
                <a:latin typeface="IBM Plex Sans Light"/>
                <a:sym typeface="IBM Plex Sans Light"/>
              </a:rPr>
              <a:t>Pre-requisites</a:t>
            </a:r>
          </a:p>
          <a:p>
            <a:pPr marL="285636" indent="-285636" defTabSz="2437424">
              <a:spcBef>
                <a:spcPts val="2898"/>
              </a:spcBef>
              <a:buSzPct val="100000"/>
              <a:buFont typeface="Arial" panose="020B0604020202020204" pitchFamily="34" charset="0"/>
              <a:buChar char="•"/>
            </a:pPr>
            <a:r>
              <a:rPr lang="en-IE" sz="1600" kern="0">
                <a:solidFill>
                  <a:srgbClr val="000000"/>
                </a:solidFill>
                <a:latin typeface="IBM Plex Sans Light"/>
                <a:sym typeface="IBM Plex Sans Light"/>
              </a:rPr>
              <a:t>TRIRIGA/TAS supported versions:</a:t>
            </a:r>
          </a:p>
          <a:p>
            <a:pPr marL="742652" lvl="1" indent="-285636" defTabSz="2437424">
              <a:spcBef>
                <a:spcPts val="2898"/>
              </a:spcBef>
              <a:buSzPct val="100000"/>
              <a:buFont typeface="Arial" panose="020B0604020202020204" pitchFamily="34" charset="0"/>
              <a:buChar char="•"/>
            </a:pPr>
            <a:r>
              <a:rPr lang="en-IE" sz="1600" kern="0">
                <a:solidFill>
                  <a:srgbClr val="000000"/>
                </a:solidFill>
                <a:latin typeface="IBM Plex Sans Light"/>
                <a:sym typeface="IBM Plex Sans Light"/>
              </a:rPr>
              <a:t>Platform: v5.0 &amp; 4.5</a:t>
            </a:r>
          </a:p>
          <a:p>
            <a:pPr marL="742652" lvl="1" indent="-285636" defTabSz="2437424">
              <a:spcBef>
                <a:spcPts val="2898"/>
              </a:spcBef>
              <a:buSzPct val="100000"/>
              <a:buFont typeface="Arial" panose="020B0604020202020204" pitchFamily="34" charset="0"/>
              <a:buChar char="•"/>
            </a:pPr>
            <a:r>
              <a:rPr lang="en-IE" sz="1600" kern="0">
                <a:solidFill>
                  <a:srgbClr val="000000"/>
                </a:solidFill>
                <a:latin typeface="IBM Plex Sans Light"/>
                <a:sym typeface="IBM Plex Sans Light"/>
              </a:rPr>
              <a:t>Applications: v11.5+</a:t>
            </a:r>
          </a:p>
        </p:txBody>
      </p:sp>
      <p:cxnSp>
        <p:nvCxnSpPr>
          <p:cNvPr id="6" name="Straight Connector 5">
            <a:extLst>
              <a:ext uri="{FF2B5EF4-FFF2-40B4-BE49-F238E27FC236}">
                <a16:creationId xmlns:a16="http://schemas.microsoft.com/office/drawing/2014/main" id="{734CDE6E-BF10-BF3E-1E1B-C69767B0C817}"/>
              </a:ext>
            </a:extLst>
          </p:cNvPr>
          <p:cNvCxnSpPr>
            <a:cxnSpLocks/>
          </p:cNvCxnSpPr>
          <p:nvPr/>
        </p:nvCxnSpPr>
        <p:spPr bwMode="auto">
          <a:xfrm>
            <a:off x="4301084" y="2519422"/>
            <a:ext cx="0" cy="3538593"/>
          </a:xfrm>
          <a:prstGeom prst="line">
            <a:avLst/>
          </a:prstGeom>
          <a:ln w="19050">
            <a:solidFill>
              <a:schemeClr val="tx2">
                <a:lumMod val="7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D5EF1BFC-B204-E742-043E-E0825EE926B9}"/>
              </a:ext>
            </a:extLst>
          </p:cNvPr>
          <p:cNvSpPr txBox="1"/>
          <p:nvPr/>
        </p:nvSpPr>
        <p:spPr>
          <a:xfrm>
            <a:off x="4734483" y="2328941"/>
            <a:ext cx="6907154" cy="440312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rtlCol="0">
            <a:noAutofit/>
          </a:bodyPr>
          <a:lstStyle/>
          <a:p>
            <a:pPr defTabSz="2437424">
              <a:spcBef>
                <a:spcPts val="2898"/>
              </a:spcBef>
              <a:buSzPct val="100000"/>
            </a:pPr>
            <a:r>
              <a:rPr lang="en-IE" sz="1600" b="1" kern="0">
                <a:solidFill>
                  <a:srgbClr val="000000"/>
                </a:solidFill>
                <a:latin typeface="IBM Plex Sans Light"/>
                <a:sym typeface="IBM Plex Sans Light"/>
              </a:rPr>
              <a:t>Migration activities</a:t>
            </a:r>
          </a:p>
          <a:p>
            <a:pPr marL="496590" indent="-496590" defTabSz="914034">
              <a:spcBef>
                <a:spcPts val="1450"/>
              </a:spcBef>
              <a:buFont typeface="Arial" panose="020B0604020202020204" pitchFamily="34" charset="0"/>
              <a:buChar char="•"/>
            </a:pPr>
            <a:r>
              <a:rPr lang="en-US" sz="1600">
                <a:solidFill>
                  <a:srgbClr val="000000"/>
                </a:solidFill>
                <a:latin typeface="IBM Plex Sans Light"/>
              </a:rPr>
              <a:t>Deploy Maximo Application Suite with Maximo Real Estate and Facilities</a:t>
            </a:r>
          </a:p>
          <a:p>
            <a:pPr marL="496590" indent="-496590" defTabSz="914034">
              <a:spcBef>
                <a:spcPts val="1450"/>
              </a:spcBef>
              <a:buFont typeface="Arial" panose="020B0604020202020204" pitchFamily="34" charset="0"/>
              <a:buChar char="•"/>
            </a:pPr>
            <a:r>
              <a:rPr lang="en-US" sz="1600">
                <a:solidFill>
                  <a:srgbClr val="000000"/>
                </a:solidFill>
                <a:latin typeface="IBM Plex Sans Light"/>
              </a:rPr>
              <a:t>Take a backup of database and restore into MAS configured database</a:t>
            </a:r>
          </a:p>
          <a:p>
            <a:pPr marL="496590" indent="-496590" defTabSz="914034">
              <a:spcBef>
                <a:spcPts val="1450"/>
              </a:spcBef>
              <a:buFont typeface="Arial" panose="020B0604020202020204" pitchFamily="34" charset="0"/>
              <a:buChar char="•"/>
            </a:pPr>
            <a:r>
              <a:rPr lang="en-US" sz="1600">
                <a:solidFill>
                  <a:srgbClr val="000000"/>
                </a:solidFill>
                <a:latin typeface="IBM Plex Sans Light"/>
              </a:rPr>
              <a:t>Configure migration tooling with MAS / MREF credentials</a:t>
            </a:r>
          </a:p>
          <a:p>
            <a:pPr marL="496590" indent="-496590" defTabSz="914034">
              <a:spcBef>
                <a:spcPts val="1450"/>
              </a:spcBef>
              <a:buFont typeface="Arial" panose="020B0604020202020204" pitchFamily="34" charset="0"/>
              <a:buChar char="•"/>
            </a:pPr>
            <a:r>
              <a:rPr lang="en-US" sz="1600">
                <a:solidFill>
                  <a:srgbClr val="000000"/>
                </a:solidFill>
                <a:latin typeface="IBM Plex Sans Light"/>
              </a:rPr>
              <a:t>Migrate users and licenses using the migration tooling</a:t>
            </a:r>
          </a:p>
          <a:p>
            <a:pPr marL="496590" indent="-496590" defTabSz="914034">
              <a:spcBef>
                <a:spcPts val="1450"/>
              </a:spcBef>
              <a:buFont typeface="Arial" panose="020B0604020202020204" pitchFamily="34" charset="0"/>
              <a:buChar char="•"/>
            </a:pPr>
            <a:r>
              <a:rPr lang="en-US" sz="1600">
                <a:solidFill>
                  <a:srgbClr val="000000"/>
                </a:solidFill>
                <a:latin typeface="IBM Plex Sans Light"/>
              </a:rPr>
              <a:t>Validate creation of user / license records in MAS Core via API</a:t>
            </a:r>
          </a:p>
          <a:p>
            <a:pPr marL="496590" indent="-496590" defTabSz="914034">
              <a:spcBef>
                <a:spcPts val="1450"/>
              </a:spcBef>
              <a:buFont typeface="Arial" panose="020B0604020202020204" pitchFamily="34" charset="0"/>
              <a:buChar char="•"/>
            </a:pPr>
            <a:r>
              <a:rPr lang="en-US" sz="1600">
                <a:solidFill>
                  <a:srgbClr val="000000"/>
                </a:solidFill>
                <a:latin typeface="IBM Plex Sans Light"/>
              </a:rPr>
              <a:t>Generate report of activities or log during process</a:t>
            </a:r>
          </a:p>
          <a:p>
            <a:pPr marL="496590" indent="-496590" defTabSz="914034">
              <a:spcBef>
                <a:spcPts val="1450"/>
              </a:spcBef>
              <a:buFont typeface="Arial" panose="020B0604020202020204" pitchFamily="34" charset="0"/>
              <a:buChar char="•"/>
            </a:pPr>
            <a:r>
              <a:rPr lang="en-US" sz="1600">
                <a:solidFill>
                  <a:srgbClr val="000000"/>
                </a:solidFill>
                <a:latin typeface="IBM Plex Sans Light"/>
              </a:rPr>
              <a:t>Apply any required patches (via the update container or tool) to the application</a:t>
            </a:r>
          </a:p>
          <a:p>
            <a:pPr marL="496590" indent="-496590" defTabSz="914034">
              <a:spcBef>
                <a:spcPts val="1450"/>
              </a:spcBef>
              <a:buFont typeface="Arial" panose="020B0604020202020204" pitchFamily="34" charset="0"/>
              <a:buChar char="•"/>
            </a:pPr>
            <a:r>
              <a:rPr lang="en-US" sz="1600">
                <a:solidFill>
                  <a:srgbClr val="000000"/>
                </a:solidFill>
                <a:latin typeface="IBM Plex Sans Light"/>
              </a:rPr>
              <a:t>Test against a provided checklist for known “change” areas</a:t>
            </a:r>
          </a:p>
        </p:txBody>
      </p:sp>
      <p:sp>
        <p:nvSpPr>
          <p:cNvPr id="9" name="TextBox 8">
            <a:extLst>
              <a:ext uri="{FF2B5EF4-FFF2-40B4-BE49-F238E27FC236}">
                <a16:creationId xmlns:a16="http://schemas.microsoft.com/office/drawing/2014/main" id="{95C57599-D272-48EF-3161-BDAF149F840F}"/>
              </a:ext>
            </a:extLst>
          </p:cNvPr>
          <p:cNvSpPr txBox="1"/>
          <p:nvPr/>
        </p:nvSpPr>
        <p:spPr>
          <a:xfrm>
            <a:off x="-327173" y="1636761"/>
            <a:ext cx="0" cy="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0" tIns="0" rIns="0" bIns="0" rtlCol="0">
            <a:noAutofit/>
          </a:bodyPr>
          <a:lstStyle/>
          <a:p>
            <a:pPr marL="444287" indent="-446571" defTabSz="2437424">
              <a:spcBef>
                <a:spcPts val="2898"/>
              </a:spcBef>
              <a:buSzPct val="100000"/>
              <a:buFontTx/>
              <a:buChar char="–"/>
            </a:pPr>
            <a:endParaRPr lang="en-IE" sz="3599" kern="0">
              <a:solidFill>
                <a:srgbClr val="000000"/>
              </a:solidFill>
              <a:latin typeface="IBM Plex Sans Light"/>
              <a:sym typeface="IBM Plex Sans Light"/>
            </a:endParaRPr>
          </a:p>
        </p:txBody>
      </p:sp>
      <p:sp>
        <p:nvSpPr>
          <p:cNvPr id="3" name="TextBox 2">
            <a:extLst>
              <a:ext uri="{FF2B5EF4-FFF2-40B4-BE49-F238E27FC236}">
                <a16:creationId xmlns:a16="http://schemas.microsoft.com/office/drawing/2014/main" id="{C4D973C0-5CE2-06B5-C758-C994D449A91E}"/>
              </a:ext>
            </a:extLst>
          </p:cNvPr>
          <p:cNvSpPr txBox="1"/>
          <p:nvPr/>
        </p:nvSpPr>
        <p:spPr>
          <a:xfrm>
            <a:off x="552150" y="1700662"/>
            <a:ext cx="11089484" cy="37852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rtlCol="0">
            <a:noAutofit/>
          </a:bodyPr>
          <a:lstStyle/>
          <a:p>
            <a:pPr algn="ctr" defTabSz="1218712">
              <a:spcBef>
                <a:spcPts val="1450"/>
              </a:spcBef>
              <a:buSzPct val="100000"/>
            </a:pPr>
            <a:r>
              <a:rPr lang="en-US" sz="900" kern="0">
                <a:solidFill>
                  <a:schemeClr val="accent1"/>
                </a:solidFill>
                <a:latin typeface="IBM Plex Sans Light"/>
                <a:sym typeface="IBM Plex Sans Light"/>
              </a:rPr>
              <a:t>IBM will deliver a tool to enable migration from traditional TRIRIGA and TRIRIGA Application Suite to MREF</a:t>
            </a:r>
          </a:p>
        </p:txBody>
      </p:sp>
    </p:spTree>
    <p:extLst>
      <p:ext uri="{BB962C8B-B14F-4D97-AF65-F5344CB8AC3E}">
        <p14:creationId xmlns:p14="http://schemas.microsoft.com/office/powerpoint/2010/main" val="36509571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789D1D3B-3842-0F96-3227-491C64E20851}"/>
              </a:ext>
            </a:extLst>
          </p:cNvPr>
          <p:cNvSpPr/>
          <p:nvPr/>
        </p:nvSpPr>
        <p:spPr>
          <a:xfrm>
            <a:off x="1166822" y="1813238"/>
            <a:ext cx="5672317" cy="1105957"/>
          </a:xfrm>
          <a:prstGeom prst="rect">
            <a:avLst/>
          </a:prstGeom>
          <a:solidFill>
            <a:srgbClr val="FFFFFF"/>
          </a:solidFill>
          <a:ln w="12700" cap="flat">
            <a:solidFill>
              <a:schemeClr val="accent1"/>
            </a:solidFill>
            <a:prstDash val="solid"/>
            <a:miter lim="800000"/>
          </a:ln>
          <a:effectLst/>
        </p:spPr>
        <p:txBody>
          <a:bodyPr wrap="square" lIns="73788" tIns="73788" rIns="73788" bIns="73788" numCol="1" anchor="t">
            <a:noAutofit/>
          </a:bodyPr>
          <a:lstStyle/>
          <a:p>
            <a:pPr algn="ctr" defTabSz="1475571">
              <a:defRPr sz="2800">
                <a:solidFill>
                  <a:srgbClr val="000000"/>
                </a:solidFill>
                <a:latin typeface="Calibri"/>
                <a:ea typeface="Calibri"/>
                <a:cs typeface="Calibri"/>
                <a:sym typeface="Calibri"/>
              </a:defRPr>
            </a:pPr>
            <a:r>
              <a:rPr lang="en-GB" sz="800" b="1">
                <a:solidFill>
                  <a:srgbClr val="000000"/>
                </a:solidFill>
                <a:latin typeface="IBM Plex Sans" panose="020B0503050203000203" pitchFamily="34" charset="0"/>
                <a:cs typeface="Calibri"/>
                <a:sym typeface="Calibri"/>
              </a:rPr>
              <a:t>Installation</a:t>
            </a:r>
            <a:endParaRPr sz="800" b="1">
              <a:solidFill>
                <a:srgbClr val="000000"/>
              </a:solidFill>
              <a:latin typeface="IBM Plex Sans" panose="020B0503050203000203" pitchFamily="34" charset="0"/>
              <a:cs typeface="Calibri"/>
              <a:sym typeface="Calibri"/>
            </a:endParaRPr>
          </a:p>
        </p:txBody>
      </p:sp>
      <p:sp>
        <p:nvSpPr>
          <p:cNvPr id="14" name="Rectangle">
            <a:extLst>
              <a:ext uri="{FF2B5EF4-FFF2-40B4-BE49-F238E27FC236}">
                <a16:creationId xmlns:a16="http://schemas.microsoft.com/office/drawing/2014/main" id="{96C3F270-FFA2-F6C9-9EBA-A6F8893DCF0F}"/>
              </a:ext>
            </a:extLst>
          </p:cNvPr>
          <p:cNvSpPr/>
          <p:nvPr/>
        </p:nvSpPr>
        <p:spPr>
          <a:xfrm>
            <a:off x="85916" y="574047"/>
            <a:ext cx="3404243" cy="1105957"/>
          </a:xfrm>
          <a:prstGeom prst="rect">
            <a:avLst/>
          </a:prstGeom>
          <a:solidFill>
            <a:srgbClr val="FFFFFF"/>
          </a:solidFill>
          <a:ln w="12700" cap="flat">
            <a:solidFill>
              <a:schemeClr val="accent1"/>
            </a:solidFill>
            <a:prstDash val="solid"/>
            <a:miter lim="800000"/>
          </a:ln>
          <a:effectLst/>
        </p:spPr>
        <p:txBody>
          <a:bodyPr wrap="square" lIns="73788" tIns="73788" rIns="73788" bIns="73788" numCol="1" anchor="t">
            <a:noAutofit/>
          </a:bodyPr>
          <a:lstStyle/>
          <a:p>
            <a:pPr algn="ctr" defTabSz="1475571">
              <a:defRPr sz="2800">
                <a:solidFill>
                  <a:srgbClr val="000000"/>
                </a:solidFill>
                <a:latin typeface="Calibri"/>
                <a:ea typeface="Calibri"/>
                <a:cs typeface="Calibri"/>
                <a:sym typeface="Calibri"/>
              </a:defRPr>
            </a:pPr>
            <a:r>
              <a:rPr lang="en-GB" sz="800" b="1">
                <a:solidFill>
                  <a:srgbClr val="000000"/>
                </a:solidFill>
                <a:latin typeface="IBM Plex Sans" panose="020B0503050203000203" pitchFamily="34" charset="0"/>
                <a:cs typeface="Calibri"/>
                <a:sym typeface="Calibri"/>
              </a:rPr>
              <a:t>Transition</a:t>
            </a:r>
            <a:endParaRPr sz="800" b="1">
              <a:solidFill>
                <a:srgbClr val="000000"/>
              </a:solidFill>
              <a:latin typeface="IBM Plex Sans" panose="020B0503050203000203" pitchFamily="34" charset="0"/>
              <a:cs typeface="Calibri"/>
              <a:sym typeface="Calibri"/>
            </a:endParaRPr>
          </a:p>
        </p:txBody>
      </p:sp>
      <p:sp>
        <p:nvSpPr>
          <p:cNvPr id="7" name="Rectangle">
            <a:extLst>
              <a:ext uri="{FF2B5EF4-FFF2-40B4-BE49-F238E27FC236}">
                <a16:creationId xmlns:a16="http://schemas.microsoft.com/office/drawing/2014/main" id="{33E897E1-1E07-D657-4F0A-02E64E2B8144}"/>
              </a:ext>
            </a:extLst>
          </p:cNvPr>
          <p:cNvSpPr/>
          <p:nvPr/>
        </p:nvSpPr>
        <p:spPr>
          <a:xfrm>
            <a:off x="4583910" y="2086542"/>
            <a:ext cx="963700" cy="642466"/>
          </a:xfrm>
          <a:prstGeom prst="rect">
            <a:avLst/>
          </a:prstGeom>
          <a:solidFill>
            <a:srgbClr val="EDF5FF"/>
          </a:solidFill>
          <a:ln w="12700" cap="flat">
            <a:solidFill>
              <a:srgbClr val="0E61FF"/>
            </a:solidFill>
            <a:prstDash val="solid"/>
            <a:miter lim="800000"/>
          </a:ln>
          <a:effectLst/>
        </p:spPr>
        <p:txBody>
          <a:bodyPr wrap="square" lIns="73788" tIns="73788" rIns="73788" bIns="73788" numCol="1" anchor="ctr">
            <a:noAutofit/>
          </a:bodyPr>
          <a:lstStyle/>
          <a:p>
            <a:pPr algn="ctr" defTabSz="1475571">
              <a:defRPr sz="2800">
                <a:solidFill>
                  <a:srgbClr val="000000"/>
                </a:solidFill>
                <a:latin typeface="Calibri"/>
                <a:ea typeface="Calibri"/>
                <a:cs typeface="Calibri"/>
                <a:sym typeface="Calibri"/>
              </a:defRPr>
            </a:pPr>
            <a:r>
              <a:rPr lang="en-GB" sz="800">
                <a:solidFill>
                  <a:srgbClr val="000000"/>
                </a:solidFill>
                <a:latin typeface="IBM Plex Sans" panose="020B0503050203000203" pitchFamily="34" charset="0"/>
                <a:cs typeface="Calibri"/>
                <a:sym typeface="Calibri"/>
              </a:rPr>
              <a:t>Install Real Estate and Facilities</a:t>
            </a:r>
            <a:endParaRPr sz="800">
              <a:solidFill>
                <a:srgbClr val="000000"/>
              </a:solidFill>
              <a:latin typeface="IBM Plex Sans" panose="020B0503050203000203" pitchFamily="34" charset="0"/>
              <a:cs typeface="Calibri"/>
              <a:sym typeface="Calibri"/>
            </a:endParaRPr>
          </a:p>
        </p:txBody>
      </p:sp>
      <p:sp>
        <p:nvSpPr>
          <p:cNvPr id="8" name="Rectangle">
            <a:extLst>
              <a:ext uri="{FF2B5EF4-FFF2-40B4-BE49-F238E27FC236}">
                <a16:creationId xmlns:a16="http://schemas.microsoft.com/office/drawing/2014/main" id="{E84DA741-9DA0-B575-4F4D-34007C8A0B48}"/>
              </a:ext>
            </a:extLst>
          </p:cNvPr>
          <p:cNvSpPr/>
          <p:nvPr/>
        </p:nvSpPr>
        <p:spPr>
          <a:xfrm>
            <a:off x="2377778" y="2086542"/>
            <a:ext cx="963700" cy="642466"/>
          </a:xfrm>
          <a:prstGeom prst="rect">
            <a:avLst/>
          </a:prstGeom>
          <a:solidFill>
            <a:srgbClr val="EDF5FF"/>
          </a:solidFill>
          <a:ln w="12700" cap="flat">
            <a:solidFill>
              <a:srgbClr val="0E61FF"/>
            </a:solidFill>
            <a:prstDash val="solid"/>
            <a:miter lim="800000"/>
          </a:ln>
          <a:effectLst/>
        </p:spPr>
        <p:txBody>
          <a:bodyPr wrap="square" lIns="73788" tIns="73788" rIns="73788" bIns="73788" numCol="1" anchor="ctr">
            <a:noAutofit/>
          </a:bodyPr>
          <a:lstStyle/>
          <a:p>
            <a:pPr algn="ctr" defTabSz="1475571">
              <a:defRPr sz="2800">
                <a:solidFill>
                  <a:srgbClr val="000000"/>
                </a:solidFill>
                <a:latin typeface="Calibri"/>
                <a:ea typeface="Calibri"/>
                <a:cs typeface="Calibri"/>
                <a:sym typeface="Calibri"/>
              </a:defRPr>
            </a:pPr>
            <a:r>
              <a:rPr lang="en-GB" sz="800">
                <a:solidFill>
                  <a:srgbClr val="000000"/>
                </a:solidFill>
                <a:latin typeface="IBM Plex Sans" panose="020B0503050203000203" pitchFamily="34" charset="0"/>
                <a:cs typeface="Calibri"/>
                <a:sym typeface="Calibri"/>
              </a:rPr>
              <a:t>Install pre-requisites (MAS Core, Foundation Services)</a:t>
            </a:r>
            <a:endParaRPr sz="800">
              <a:solidFill>
                <a:srgbClr val="000000"/>
              </a:solidFill>
              <a:latin typeface="IBM Plex Sans" panose="020B0503050203000203" pitchFamily="34" charset="0"/>
              <a:cs typeface="Calibri"/>
              <a:sym typeface="Calibri"/>
            </a:endParaRPr>
          </a:p>
        </p:txBody>
      </p:sp>
      <p:sp>
        <p:nvSpPr>
          <p:cNvPr id="9" name="Rectangle">
            <a:extLst>
              <a:ext uri="{FF2B5EF4-FFF2-40B4-BE49-F238E27FC236}">
                <a16:creationId xmlns:a16="http://schemas.microsoft.com/office/drawing/2014/main" id="{F07E0C45-F301-EE31-0AAA-F6550641F752}"/>
              </a:ext>
            </a:extLst>
          </p:cNvPr>
          <p:cNvSpPr/>
          <p:nvPr/>
        </p:nvSpPr>
        <p:spPr>
          <a:xfrm>
            <a:off x="3480844" y="2086542"/>
            <a:ext cx="963700" cy="642466"/>
          </a:xfrm>
          <a:prstGeom prst="rect">
            <a:avLst/>
          </a:prstGeom>
          <a:solidFill>
            <a:srgbClr val="EDF5FF"/>
          </a:solidFill>
          <a:ln w="12700" cap="flat">
            <a:solidFill>
              <a:srgbClr val="0E61FF"/>
            </a:solidFill>
            <a:prstDash val="solid"/>
            <a:miter lim="800000"/>
          </a:ln>
          <a:effectLst/>
        </p:spPr>
        <p:txBody>
          <a:bodyPr wrap="square" lIns="73788" tIns="73788" rIns="73788" bIns="73788" numCol="1" anchor="ctr">
            <a:noAutofit/>
          </a:bodyPr>
          <a:lstStyle/>
          <a:p>
            <a:pPr algn="ctr" defTabSz="1475571">
              <a:defRPr sz="2800">
                <a:solidFill>
                  <a:srgbClr val="000000"/>
                </a:solidFill>
                <a:latin typeface="Calibri"/>
                <a:ea typeface="Calibri"/>
                <a:cs typeface="Calibri"/>
                <a:sym typeface="Calibri"/>
              </a:defRPr>
            </a:pPr>
            <a:r>
              <a:rPr lang="en-GB" sz="800">
                <a:solidFill>
                  <a:srgbClr val="000000"/>
                </a:solidFill>
                <a:latin typeface="IBM Plex Sans" panose="020B0503050203000203" pitchFamily="34" charset="0"/>
                <a:cs typeface="Calibri"/>
                <a:sym typeface="Calibri"/>
              </a:rPr>
              <a:t>Procure or install required target database (OpenShift or outside)</a:t>
            </a:r>
            <a:endParaRPr sz="800">
              <a:solidFill>
                <a:srgbClr val="000000"/>
              </a:solidFill>
              <a:latin typeface="IBM Plex Sans" panose="020B0503050203000203" pitchFamily="34" charset="0"/>
              <a:cs typeface="Calibri"/>
              <a:sym typeface="Calibri"/>
            </a:endParaRPr>
          </a:p>
        </p:txBody>
      </p:sp>
      <p:sp>
        <p:nvSpPr>
          <p:cNvPr id="10" name="Rectangle">
            <a:extLst>
              <a:ext uri="{FF2B5EF4-FFF2-40B4-BE49-F238E27FC236}">
                <a16:creationId xmlns:a16="http://schemas.microsoft.com/office/drawing/2014/main" id="{87C44AFB-4106-2352-2BD6-063B07355573}"/>
              </a:ext>
            </a:extLst>
          </p:cNvPr>
          <p:cNvSpPr/>
          <p:nvPr/>
        </p:nvSpPr>
        <p:spPr>
          <a:xfrm>
            <a:off x="181115" y="852210"/>
            <a:ext cx="963700" cy="642466"/>
          </a:xfrm>
          <a:prstGeom prst="rect">
            <a:avLst/>
          </a:prstGeom>
          <a:solidFill>
            <a:srgbClr val="EDF5FF"/>
          </a:solidFill>
          <a:ln w="12700" cap="flat">
            <a:solidFill>
              <a:srgbClr val="0E61FF"/>
            </a:solidFill>
            <a:prstDash val="solid"/>
            <a:miter lim="800000"/>
          </a:ln>
          <a:effectLst/>
        </p:spPr>
        <p:txBody>
          <a:bodyPr wrap="square" lIns="73788" tIns="73788" rIns="73788" bIns="73788" numCol="1" anchor="ctr">
            <a:noAutofit/>
          </a:bodyPr>
          <a:lstStyle/>
          <a:p>
            <a:pPr algn="ctr" defTabSz="1475571">
              <a:defRPr sz="2800">
                <a:solidFill>
                  <a:srgbClr val="000000"/>
                </a:solidFill>
                <a:latin typeface="Calibri"/>
                <a:ea typeface="Calibri"/>
                <a:cs typeface="Calibri"/>
                <a:sym typeface="Calibri"/>
              </a:defRPr>
            </a:pPr>
            <a:r>
              <a:rPr lang="en-GB" sz="800">
                <a:solidFill>
                  <a:srgbClr val="000000"/>
                </a:solidFill>
                <a:latin typeface="IBM Plex Sans" panose="020B0503050203000203" pitchFamily="34" charset="0"/>
                <a:cs typeface="Calibri"/>
                <a:sym typeface="Calibri"/>
              </a:rPr>
              <a:t>(Optionally) move to new database vendor on source</a:t>
            </a:r>
            <a:endParaRPr sz="800">
              <a:solidFill>
                <a:srgbClr val="000000"/>
              </a:solidFill>
              <a:latin typeface="IBM Plex Sans" panose="020B0503050203000203" pitchFamily="34" charset="0"/>
              <a:cs typeface="Calibri"/>
              <a:sym typeface="Calibri"/>
            </a:endParaRPr>
          </a:p>
        </p:txBody>
      </p:sp>
      <p:sp>
        <p:nvSpPr>
          <p:cNvPr id="11" name="Rectangle">
            <a:extLst>
              <a:ext uri="{FF2B5EF4-FFF2-40B4-BE49-F238E27FC236}">
                <a16:creationId xmlns:a16="http://schemas.microsoft.com/office/drawing/2014/main" id="{9302F5F6-FF4C-E112-2DC2-F7D3CA07CC64}"/>
              </a:ext>
            </a:extLst>
          </p:cNvPr>
          <p:cNvSpPr/>
          <p:nvPr/>
        </p:nvSpPr>
        <p:spPr>
          <a:xfrm>
            <a:off x="5686977" y="2086542"/>
            <a:ext cx="963700" cy="642466"/>
          </a:xfrm>
          <a:prstGeom prst="rect">
            <a:avLst/>
          </a:prstGeom>
          <a:solidFill>
            <a:srgbClr val="EDF5FF"/>
          </a:solidFill>
          <a:ln w="12700" cap="flat">
            <a:solidFill>
              <a:srgbClr val="0E61FF"/>
            </a:solidFill>
            <a:prstDash val="solid"/>
            <a:miter lim="800000"/>
          </a:ln>
          <a:effectLst/>
        </p:spPr>
        <p:txBody>
          <a:bodyPr wrap="square" lIns="73788" tIns="73788" rIns="73788" bIns="73788" numCol="1" anchor="ctr">
            <a:noAutofit/>
          </a:bodyPr>
          <a:lstStyle/>
          <a:p>
            <a:pPr algn="ctr" defTabSz="1475571">
              <a:defRPr sz="2800">
                <a:solidFill>
                  <a:srgbClr val="000000"/>
                </a:solidFill>
                <a:latin typeface="Calibri"/>
                <a:ea typeface="Calibri"/>
                <a:cs typeface="Calibri"/>
                <a:sym typeface="Calibri"/>
              </a:defRPr>
            </a:pPr>
            <a:r>
              <a:rPr lang="en-GB" sz="800">
                <a:solidFill>
                  <a:srgbClr val="000000"/>
                </a:solidFill>
                <a:latin typeface="IBM Plex Sans" panose="020B0503050203000203" pitchFamily="34" charset="0"/>
                <a:cs typeface="Calibri"/>
                <a:sym typeface="Calibri"/>
              </a:rPr>
              <a:t>Restore source database into target database</a:t>
            </a:r>
            <a:endParaRPr sz="800">
              <a:solidFill>
                <a:srgbClr val="000000"/>
              </a:solidFill>
              <a:latin typeface="IBM Plex Sans" panose="020B0503050203000203" pitchFamily="34" charset="0"/>
              <a:cs typeface="Calibri"/>
              <a:sym typeface="Calibri"/>
            </a:endParaRPr>
          </a:p>
        </p:txBody>
      </p:sp>
      <p:sp>
        <p:nvSpPr>
          <p:cNvPr id="12" name="Rectangle">
            <a:extLst>
              <a:ext uri="{FF2B5EF4-FFF2-40B4-BE49-F238E27FC236}">
                <a16:creationId xmlns:a16="http://schemas.microsoft.com/office/drawing/2014/main" id="{D7B53D63-FEA7-4898-B15D-3927485F5A6F}"/>
              </a:ext>
            </a:extLst>
          </p:cNvPr>
          <p:cNvSpPr/>
          <p:nvPr/>
        </p:nvSpPr>
        <p:spPr>
          <a:xfrm>
            <a:off x="2387247" y="852210"/>
            <a:ext cx="963700" cy="642466"/>
          </a:xfrm>
          <a:prstGeom prst="rect">
            <a:avLst/>
          </a:prstGeom>
          <a:solidFill>
            <a:srgbClr val="EDF5FF"/>
          </a:solidFill>
          <a:ln w="12700" cap="flat">
            <a:solidFill>
              <a:srgbClr val="0E61FF"/>
            </a:solidFill>
            <a:prstDash val="solid"/>
            <a:miter lim="800000"/>
          </a:ln>
          <a:effectLst/>
        </p:spPr>
        <p:txBody>
          <a:bodyPr wrap="square" lIns="73788" tIns="73788" rIns="73788" bIns="73788" numCol="1" anchor="ctr">
            <a:noAutofit/>
          </a:bodyPr>
          <a:lstStyle/>
          <a:p>
            <a:pPr algn="ctr" defTabSz="1475571">
              <a:defRPr sz="2800">
                <a:solidFill>
                  <a:srgbClr val="000000"/>
                </a:solidFill>
                <a:latin typeface="Calibri"/>
                <a:ea typeface="Calibri"/>
                <a:cs typeface="Calibri"/>
                <a:sym typeface="Calibri"/>
              </a:defRPr>
            </a:pPr>
            <a:r>
              <a:rPr lang="en-GB" sz="800">
                <a:solidFill>
                  <a:srgbClr val="000000"/>
                </a:solidFill>
                <a:latin typeface="IBM Plex Sans" panose="020B0503050203000203" pitchFamily="34" charset="0"/>
                <a:cs typeface="Calibri"/>
                <a:sym typeface="Calibri"/>
              </a:rPr>
              <a:t>Backup  database</a:t>
            </a:r>
            <a:endParaRPr sz="800">
              <a:solidFill>
                <a:srgbClr val="000000"/>
              </a:solidFill>
              <a:latin typeface="IBM Plex Sans" panose="020B0503050203000203" pitchFamily="34" charset="0"/>
              <a:cs typeface="Calibri"/>
              <a:sym typeface="Calibri"/>
            </a:endParaRPr>
          </a:p>
        </p:txBody>
      </p:sp>
      <p:sp>
        <p:nvSpPr>
          <p:cNvPr id="15" name="Rectangle">
            <a:extLst>
              <a:ext uri="{FF2B5EF4-FFF2-40B4-BE49-F238E27FC236}">
                <a16:creationId xmlns:a16="http://schemas.microsoft.com/office/drawing/2014/main" id="{0ACA1E1B-F745-156E-B4DB-284305225487}"/>
              </a:ext>
            </a:extLst>
          </p:cNvPr>
          <p:cNvSpPr/>
          <p:nvPr/>
        </p:nvSpPr>
        <p:spPr>
          <a:xfrm>
            <a:off x="1284181" y="855386"/>
            <a:ext cx="963700" cy="642466"/>
          </a:xfrm>
          <a:prstGeom prst="rect">
            <a:avLst/>
          </a:prstGeom>
          <a:solidFill>
            <a:srgbClr val="EDF5FF"/>
          </a:solidFill>
          <a:ln w="12700" cap="flat">
            <a:solidFill>
              <a:srgbClr val="0E61FF"/>
            </a:solidFill>
            <a:prstDash val="solid"/>
            <a:miter lim="800000"/>
          </a:ln>
          <a:effectLst/>
        </p:spPr>
        <p:txBody>
          <a:bodyPr wrap="square" lIns="73788" tIns="73788" rIns="73788" bIns="73788" numCol="1" anchor="ctr">
            <a:noAutofit/>
          </a:bodyPr>
          <a:lstStyle/>
          <a:p>
            <a:pPr algn="ctr" defTabSz="1475571">
              <a:defRPr sz="2800">
                <a:solidFill>
                  <a:srgbClr val="000000"/>
                </a:solidFill>
                <a:latin typeface="Calibri"/>
                <a:ea typeface="Calibri"/>
                <a:cs typeface="Calibri"/>
                <a:sym typeface="Calibri"/>
              </a:defRPr>
            </a:pPr>
            <a:r>
              <a:rPr lang="en-GB" sz="800">
                <a:solidFill>
                  <a:srgbClr val="000000"/>
                </a:solidFill>
                <a:latin typeface="IBM Plex Sans" panose="020B0503050203000203" pitchFamily="34" charset="0"/>
                <a:cs typeface="Calibri"/>
                <a:sym typeface="Calibri"/>
              </a:rPr>
              <a:t>Shutdown TRIRIGA</a:t>
            </a:r>
            <a:endParaRPr sz="800">
              <a:solidFill>
                <a:srgbClr val="000000"/>
              </a:solidFill>
              <a:latin typeface="IBM Plex Sans" panose="020B0503050203000203" pitchFamily="34" charset="0"/>
              <a:cs typeface="Calibri"/>
              <a:sym typeface="Calibri"/>
            </a:endParaRPr>
          </a:p>
        </p:txBody>
      </p:sp>
      <p:sp>
        <p:nvSpPr>
          <p:cNvPr id="16" name="Rectangle">
            <a:extLst>
              <a:ext uri="{FF2B5EF4-FFF2-40B4-BE49-F238E27FC236}">
                <a16:creationId xmlns:a16="http://schemas.microsoft.com/office/drawing/2014/main" id="{43B33C38-4726-8637-B8DC-6C39B3B1F32C}"/>
              </a:ext>
            </a:extLst>
          </p:cNvPr>
          <p:cNvSpPr/>
          <p:nvPr/>
        </p:nvSpPr>
        <p:spPr>
          <a:xfrm>
            <a:off x="1274712" y="2086542"/>
            <a:ext cx="963700" cy="642466"/>
          </a:xfrm>
          <a:prstGeom prst="rect">
            <a:avLst/>
          </a:prstGeom>
          <a:solidFill>
            <a:srgbClr val="EDF5FF"/>
          </a:solidFill>
          <a:ln w="12700" cap="flat">
            <a:solidFill>
              <a:srgbClr val="0E61FF"/>
            </a:solidFill>
            <a:prstDash val="solid"/>
            <a:miter lim="800000"/>
          </a:ln>
          <a:effectLst/>
        </p:spPr>
        <p:txBody>
          <a:bodyPr wrap="square" lIns="73788" tIns="73788" rIns="73788" bIns="73788" numCol="1" anchor="ctr">
            <a:noAutofit/>
          </a:bodyPr>
          <a:lstStyle/>
          <a:p>
            <a:pPr algn="ctr" defTabSz="1475571">
              <a:defRPr sz="2800">
                <a:solidFill>
                  <a:srgbClr val="000000"/>
                </a:solidFill>
                <a:latin typeface="Calibri"/>
                <a:ea typeface="Calibri"/>
                <a:cs typeface="Calibri"/>
                <a:sym typeface="Calibri"/>
              </a:defRPr>
            </a:pPr>
            <a:r>
              <a:rPr lang="en-GB" sz="800">
                <a:solidFill>
                  <a:srgbClr val="000000"/>
                </a:solidFill>
                <a:latin typeface="IBM Plex Sans" panose="020B0503050203000203" pitchFamily="34" charset="0"/>
                <a:cs typeface="Calibri"/>
                <a:sym typeface="Calibri"/>
              </a:rPr>
              <a:t>Create or identify OpenShift Cluster</a:t>
            </a:r>
            <a:endParaRPr sz="800">
              <a:solidFill>
                <a:srgbClr val="000000"/>
              </a:solidFill>
              <a:latin typeface="IBM Plex Sans" panose="020B0503050203000203" pitchFamily="34" charset="0"/>
              <a:cs typeface="Calibri"/>
              <a:sym typeface="Calibri"/>
            </a:endParaRPr>
          </a:p>
        </p:txBody>
      </p:sp>
      <p:sp>
        <p:nvSpPr>
          <p:cNvPr id="18" name="Rectangle">
            <a:extLst>
              <a:ext uri="{FF2B5EF4-FFF2-40B4-BE49-F238E27FC236}">
                <a16:creationId xmlns:a16="http://schemas.microsoft.com/office/drawing/2014/main" id="{BCEBE911-2AB0-EEE8-4B35-9DE6815D5275}"/>
              </a:ext>
            </a:extLst>
          </p:cNvPr>
          <p:cNvSpPr/>
          <p:nvPr/>
        </p:nvSpPr>
        <p:spPr>
          <a:xfrm>
            <a:off x="2269888" y="3052429"/>
            <a:ext cx="5672317" cy="1105957"/>
          </a:xfrm>
          <a:prstGeom prst="rect">
            <a:avLst/>
          </a:prstGeom>
          <a:solidFill>
            <a:srgbClr val="FFFFFF"/>
          </a:solidFill>
          <a:ln w="12700" cap="flat">
            <a:solidFill>
              <a:schemeClr val="accent1"/>
            </a:solidFill>
            <a:prstDash val="solid"/>
            <a:miter lim="800000"/>
          </a:ln>
          <a:effectLst/>
        </p:spPr>
        <p:txBody>
          <a:bodyPr wrap="square" lIns="73788" tIns="73788" rIns="73788" bIns="73788" numCol="1" anchor="t">
            <a:noAutofit/>
          </a:bodyPr>
          <a:lstStyle/>
          <a:p>
            <a:pPr algn="ctr" defTabSz="1475571">
              <a:defRPr sz="2800">
                <a:solidFill>
                  <a:srgbClr val="000000"/>
                </a:solidFill>
                <a:latin typeface="Calibri"/>
                <a:ea typeface="Calibri"/>
                <a:cs typeface="Calibri"/>
                <a:sym typeface="Calibri"/>
              </a:defRPr>
            </a:pPr>
            <a:r>
              <a:rPr lang="en-GB" sz="800" b="1">
                <a:solidFill>
                  <a:srgbClr val="000000"/>
                </a:solidFill>
                <a:latin typeface="IBM Plex Sans" panose="020B0503050203000203" pitchFamily="34" charset="0"/>
                <a:cs typeface="Calibri"/>
                <a:sym typeface="Calibri"/>
              </a:rPr>
              <a:t>Configuration</a:t>
            </a:r>
            <a:endParaRPr sz="800" b="1">
              <a:solidFill>
                <a:srgbClr val="000000"/>
              </a:solidFill>
              <a:latin typeface="IBM Plex Sans" panose="020B0503050203000203" pitchFamily="34" charset="0"/>
              <a:cs typeface="Calibri"/>
              <a:sym typeface="Calibri"/>
            </a:endParaRPr>
          </a:p>
        </p:txBody>
      </p:sp>
      <p:sp>
        <p:nvSpPr>
          <p:cNvPr id="19" name="Rectangle">
            <a:extLst>
              <a:ext uri="{FF2B5EF4-FFF2-40B4-BE49-F238E27FC236}">
                <a16:creationId xmlns:a16="http://schemas.microsoft.com/office/drawing/2014/main" id="{890AA9AB-BB75-E9AE-E865-698A8ECF083E}"/>
              </a:ext>
            </a:extLst>
          </p:cNvPr>
          <p:cNvSpPr/>
          <p:nvPr/>
        </p:nvSpPr>
        <p:spPr>
          <a:xfrm>
            <a:off x="5686977" y="3325733"/>
            <a:ext cx="963700" cy="642466"/>
          </a:xfrm>
          <a:prstGeom prst="rect">
            <a:avLst/>
          </a:prstGeom>
          <a:solidFill>
            <a:srgbClr val="EDF5FF"/>
          </a:solidFill>
          <a:ln w="12700" cap="flat">
            <a:solidFill>
              <a:srgbClr val="0E61FF"/>
            </a:solidFill>
            <a:prstDash val="solid"/>
            <a:miter lim="800000"/>
          </a:ln>
          <a:effectLst/>
        </p:spPr>
        <p:txBody>
          <a:bodyPr wrap="square" lIns="73788" tIns="73788" rIns="73788" bIns="73788" numCol="1" anchor="ctr">
            <a:noAutofit/>
          </a:bodyPr>
          <a:lstStyle/>
          <a:p>
            <a:pPr algn="ctr" defTabSz="1475571">
              <a:defRPr sz="2800">
                <a:solidFill>
                  <a:srgbClr val="000000"/>
                </a:solidFill>
                <a:latin typeface="Calibri"/>
                <a:ea typeface="Calibri"/>
                <a:cs typeface="Calibri"/>
                <a:sym typeface="Calibri"/>
              </a:defRPr>
            </a:pPr>
            <a:r>
              <a:rPr lang="en-GB" sz="800">
                <a:solidFill>
                  <a:srgbClr val="000000"/>
                </a:solidFill>
                <a:latin typeface="IBM Plex Sans" panose="020B0503050203000203" pitchFamily="34" charset="0"/>
                <a:cs typeface="Calibri"/>
                <a:sym typeface="Calibri"/>
              </a:rPr>
              <a:t>Configure Database Credentials</a:t>
            </a:r>
            <a:endParaRPr sz="800">
              <a:solidFill>
                <a:srgbClr val="000000"/>
              </a:solidFill>
              <a:latin typeface="IBM Plex Sans" panose="020B0503050203000203" pitchFamily="34" charset="0"/>
              <a:cs typeface="Calibri"/>
              <a:sym typeface="Calibri"/>
            </a:endParaRPr>
          </a:p>
        </p:txBody>
      </p:sp>
      <p:sp>
        <p:nvSpPr>
          <p:cNvPr id="20" name="Rectangle">
            <a:extLst>
              <a:ext uri="{FF2B5EF4-FFF2-40B4-BE49-F238E27FC236}">
                <a16:creationId xmlns:a16="http://schemas.microsoft.com/office/drawing/2014/main" id="{6377BD43-3409-4CDD-4386-2D9AB2D42795}"/>
              </a:ext>
            </a:extLst>
          </p:cNvPr>
          <p:cNvSpPr/>
          <p:nvPr/>
        </p:nvSpPr>
        <p:spPr>
          <a:xfrm>
            <a:off x="3480845" y="3325733"/>
            <a:ext cx="963700" cy="642466"/>
          </a:xfrm>
          <a:prstGeom prst="rect">
            <a:avLst/>
          </a:prstGeom>
          <a:solidFill>
            <a:srgbClr val="EDF5FF"/>
          </a:solidFill>
          <a:ln w="12700" cap="flat">
            <a:solidFill>
              <a:srgbClr val="0E61FF"/>
            </a:solidFill>
            <a:prstDash val="solid"/>
            <a:miter lim="800000"/>
          </a:ln>
          <a:effectLst/>
        </p:spPr>
        <p:txBody>
          <a:bodyPr wrap="square" lIns="73788" tIns="73788" rIns="73788" bIns="73788" numCol="1" anchor="ctr">
            <a:noAutofit/>
          </a:bodyPr>
          <a:lstStyle/>
          <a:p>
            <a:pPr algn="ctr" defTabSz="1475571">
              <a:defRPr sz="2800">
                <a:solidFill>
                  <a:srgbClr val="000000"/>
                </a:solidFill>
                <a:latin typeface="Calibri"/>
                <a:ea typeface="Calibri"/>
                <a:cs typeface="Calibri"/>
                <a:sym typeface="Calibri"/>
              </a:defRPr>
            </a:pPr>
            <a:r>
              <a:rPr lang="en-GB" sz="800">
                <a:solidFill>
                  <a:srgbClr val="000000"/>
                </a:solidFill>
                <a:latin typeface="IBM Plex Sans" panose="020B0503050203000203" pitchFamily="34" charset="0"/>
                <a:cs typeface="Calibri"/>
                <a:sym typeface="Calibri"/>
              </a:rPr>
              <a:t>Obtain Database Credentials</a:t>
            </a:r>
            <a:endParaRPr sz="800">
              <a:solidFill>
                <a:srgbClr val="000000"/>
              </a:solidFill>
              <a:latin typeface="IBM Plex Sans" panose="020B0503050203000203" pitchFamily="34" charset="0"/>
              <a:cs typeface="Calibri"/>
              <a:sym typeface="Calibri"/>
            </a:endParaRPr>
          </a:p>
        </p:txBody>
      </p:sp>
      <p:sp>
        <p:nvSpPr>
          <p:cNvPr id="21" name="Rectangle">
            <a:extLst>
              <a:ext uri="{FF2B5EF4-FFF2-40B4-BE49-F238E27FC236}">
                <a16:creationId xmlns:a16="http://schemas.microsoft.com/office/drawing/2014/main" id="{9FB44DBA-C967-EF48-E7FB-66B429C677DC}"/>
              </a:ext>
            </a:extLst>
          </p:cNvPr>
          <p:cNvSpPr/>
          <p:nvPr/>
        </p:nvSpPr>
        <p:spPr>
          <a:xfrm>
            <a:off x="4583910" y="3325733"/>
            <a:ext cx="963700" cy="642466"/>
          </a:xfrm>
          <a:prstGeom prst="rect">
            <a:avLst/>
          </a:prstGeom>
          <a:solidFill>
            <a:srgbClr val="EDF5FF"/>
          </a:solidFill>
          <a:ln w="12700" cap="flat">
            <a:solidFill>
              <a:srgbClr val="0E61FF"/>
            </a:solidFill>
            <a:prstDash val="solid"/>
            <a:miter lim="800000"/>
          </a:ln>
          <a:effectLst/>
        </p:spPr>
        <p:txBody>
          <a:bodyPr wrap="square" lIns="73788" tIns="73788" rIns="73788" bIns="73788" numCol="1" anchor="ctr">
            <a:noAutofit/>
          </a:bodyPr>
          <a:lstStyle/>
          <a:p>
            <a:pPr algn="ctr" defTabSz="1475571">
              <a:defRPr sz="2800">
                <a:solidFill>
                  <a:srgbClr val="000000"/>
                </a:solidFill>
                <a:latin typeface="Calibri"/>
                <a:ea typeface="Calibri"/>
                <a:cs typeface="Calibri"/>
                <a:sym typeface="Calibri"/>
              </a:defRPr>
            </a:pPr>
            <a:r>
              <a:rPr lang="en-GB" sz="800">
                <a:solidFill>
                  <a:srgbClr val="000000"/>
                </a:solidFill>
                <a:latin typeface="IBM Plex Sans" panose="020B0503050203000203" pitchFamily="34" charset="0"/>
                <a:cs typeface="Calibri"/>
                <a:sym typeface="Calibri"/>
              </a:rPr>
              <a:t>Start Migration Tool Container</a:t>
            </a:r>
            <a:endParaRPr sz="800">
              <a:solidFill>
                <a:srgbClr val="000000"/>
              </a:solidFill>
              <a:latin typeface="IBM Plex Sans" panose="020B0503050203000203" pitchFamily="34" charset="0"/>
              <a:cs typeface="Calibri"/>
              <a:sym typeface="Calibri"/>
            </a:endParaRPr>
          </a:p>
        </p:txBody>
      </p:sp>
      <p:sp>
        <p:nvSpPr>
          <p:cNvPr id="22" name="Rectangle">
            <a:extLst>
              <a:ext uri="{FF2B5EF4-FFF2-40B4-BE49-F238E27FC236}">
                <a16:creationId xmlns:a16="http://schemas.microsoft.com/office/drawing/2014/main" id="{99605CD7-D60D-A415-753A-AF4A9439EB38}"/>
              </a:ext>
            </a:extLst>
          </p:cNvPr>
          <p:cNvSpPr/>
          <p:nvPr/>
        </p:nvSpPr>
        <p:spPr>
          <a:xfrm>
            <a:off x="6799359" y="3325733"/>
            <a:ext cx="963700" cy="642466"/>
          </a:xfrm>
          <a:prstGeom prst="rect">
            <a:avLst/>
          </a:prstGeom>
          <a:solidFill>
            <a:srgbClr val="EDF5FF"/>
          </a:solidFill>
          <a:ln w="12700" cap="flat">
            <a:solidFill>
              <a:srgbClr val="0E61FF"/>
            </a:solidFill>
            <a:prstDash val="solid"/>
            <a:miter lim="800000"/>
          </a:ln>
          <a:effectLst/>
        </p:spPr>
        <p:txBody>
          <a:bodyPr wrap="square" lIns="73788" tIns="73788" rIns="73788" bIns="73788" numCol="1" anchor="ctr">
            <a:noAutofit/>
          </a:bodyPr>
          <a:lstStyle/>
          <a:p>
            <a:pPr algn="ctr" defTabSz="1475571">
              <a:defRPr sz="2800">
                <a:solidFill>
                  <a:srgbClr val="000000"/>
                </a:solidFill>
                <a:latin typeface="Calibri"/>
                <a:ea typeface="Calibri"/>
                <a:cs typeface="Calibri"/>
                <a:sym typeface="Calibri"/>
              </a:defRPr>
            </a:pPr>
            <a:r>
              <a:rPr lang="en-GB" sz="800">
                <a:solidFill>
                  <a:srgbClr val="000000"/>
                </a:solidFill>
                <a:latin typeface="IBM Plex Sans" panose="020B0503050203000203" pitchFamily="34" charset="0"/>
                <a:cs typeface="Calibri"/>
                <a:sym typeface="Calibri"/>
              </a:rPr>
              <a:t>Configure API Key for MAS Core</a:t>
            </a:r>
            <a:endParaRPr sz="800">
              <a:solidFill>
                <a:srgbClr val="000000"/>
              </a:solidFill>
              <a:latin typeface="IBM Plex Sans" panose="020B0503050203000203" pitchFamily="34" charset="0"/>
              <a:cs typeface="Calibri"/>
              <a:sym typeface="Calibri"/>
            </a:endParaRPr>
          </a:p>
        </p:txBody>
      </p:sp>
      <p:sp>
        <p:nvSpPr>
          <p:cNvPr id="23" name="Rectangle">
            <a:extLst>
              <a:ext uri="{FF2B5EF4-FFF2-40B4-BE49-F238E27FC236}">
                <a16:creationId xmlns:a16="http://schemas.microsoft.com/office/drawing/2014/main" id="{93D5C2A2-3DD1-EF02-B8D4-9301AD213657}"/>
              </a:ext>
            </a:extLst>
          </p:cNvPr>
          <p:cNvSpPr/>
          <p:nvPr/>
        </p:nvSpPr>
        <p:spPr>
          <a:xfrm>
            <a:off x="2377778" y="3325733"/>
            <a:ext cx="963700" cy="642466"/>
          </a:xfrm>
          <a:prstGeom prst="rect">
            <a:avLst/>
          </a:prstGeom>
          <a:solidFill>
            <a:srgbClr val="EDF5FF"/>
          </a:solidFill>
          <a:ln w="12700" cap="flat">
            <a:solidFill>
              <a:srgbClr val="0E61FF"/>
            </a:solidFill>
            <a:prstDash val="solid"/>
            <a:miter lim="800000"/>
          </a:ln>
          <a:effectLst/>
        </p:spPr>
        <p:txBody>
          <a:bodyPr wrap="square" lIns="73788" tIns="73788" rIns="73788" bIns="73788" numCol="1" anchor="ctr">
            <a:noAutofit/>
          </a:bodyPr>
          <a:lstStyle/>
          <a:p>
            <a:pPr algn="ctr" defTabSz="1475571">
              <a:defRPr sz="2800">
                <a:solidFill>
                  <a:srgbClr val="000000"/>
                </a:solidFill>
                <a:latin typeface="Calibri"/>
                <a:ea typeface="Calibri"/>
                <a:cs typeface="Calibri"/>
                <a:sym typeface="Calibri"/>
              </a:defRPr>
            </a:pPr>
            <a:r>
              <a:rPr lang="en-GB" sz="800">
                <a:solidFill>
                  <a:srgbClr val="000000"/>
                </a:solidFill>
                <a:latin typeface="IBM Plex Sans" panose="020B0503050203000203" pitchFamily="34" charset="0"/>
                <a:cs typeface="Calibri"/>
                <a:sym typeface="Calibri"/>
              </a:rPr>
              <a:t>Obtain API Key from MAS Core</a:t>
            </a:r>
            <a:endParaRPr sz="800">
              <a:solidFill>
                <a:srgbClr val="000000"/>
              </a:solidFill>
              <a:latin typeface="IBM Plex Sans" panose="020B0503050203000203" pitchFamily="34" charset="0"/>
              <a:cs typeface="Calibri"/>
              <a:sym typeface="Calibri"/>
            </a:endParaRPr>
          </a:p>
        </p:txBody>
      </p:sp>
      <p:sp>
        <p:nvSpPr>
          <p:cNvPr id="24" name="Rectangle">
            <a:extLst>
              <a:ext uri="{FF2B5EF4-FFF2-40B4-BE49-F238E27FC236}">
                <a16:creationId xmlns:a16="http://schemas.microsoft.com/office/drawing/2014/main" id="{214F53C2-79F7-DA81-1952-D9AF84A0B0ED}"/>
              </a:ext>
            </a:extLst>
          </p:cNvPr>
          <p:cNvSpPr/>
          <p:nvPr/>
        </p:nvSpPr>
        <p:spPr>
          <a:xfrm>
            <a:off x="3375396" y="4291619"/>
            <a:ext cx="5672317" cy="1105957"/>
          </a:xfrm>
          <a:prstGeom prst="rect">
            <a:avLst/>
          </a:prstGeom>
          <a:solidFill>
            <a:srgbClr val="FFFFFF"/>
          </a:solidFill>
          <a:ln w="12700" cap="flat">
            <a:solidFill>
              <a:schemeClr val="accent1"/>
            </a:solidFill>
            <a:prstDash val="solid"/>
            <a:miter lim="800000"/>
          </a:ln>
          <a:effectLst/>
        </p:spPr>
        <p:txBody>
          <a:bodyPr wrap="square" lIns="73788" tIns="73788" rIns="73788" bIns="73788" numCol="1" anchor="t">
            <a:noAutofit/>
          </a:bodyPr>
          <a:lstStyle/>
          <a:p>
            <a:pPr algn="ctr" defTabSz="1475571">
              <a:defRPr sz="2800">
                <a:solidFill>
                  <a:srgbClr val="000000"/>
                </a:solidFill>
                <a:latin typeface="Calibri"/>
                <a:ea typeface="Calibri"/>
                <a:cs typeface="Calibri"/>
                <a:sym typeface="Calibri"/>
              </a:defRPr>
            </a:pPr>
            <a:r>
              <a:rPr lang="en-GB" sz="800" b="1">
                <a:solidFill>
                  <a:srgbClr val="000000"/>
                </a:solidFill>
                <a:latin typeface="IBM Plex Sans" panose="020B0503050203000203" pitchFamily="34" charset="0"/>
                <a:cs typeface="Calibri"/>
                <a:sym typeface="Calibri"/>
              </a:rPr>
              <a:t>Execution</a:t>
            </a:r>
            <a:endParaRPr sz="800" b="1">
              <a:solidFill>
                <a:srgbClr val="000000"/>
              </a:solidFill>
              <a:latin typeface="IBM Plex Sans" panose="020B0503050203000203" pitchFamily="34" charset="0"/>
              <a:cs typeface="Calibri"/>
              <a:sym typeface="Calibri"/>
            </a:endParaRPr>
          </a:p>
        </p:txBody>
      </p:sp>
      <p:sp>
        <p:nvSpPr>
          <p:cNvPr id="25" name="Rectangle">
            <a:extLst>
              <a:ext uri="{FF2B5EF4-FFF2-40B4-BE49-F238E27FC236}">
                <a16:creationId xmlns:a16="http://schemas.microsoft.com/office/drawing/2014/main" id="{42BD3621-DD21-CA89-F721-1FA1887D1B2B}"/>
              </a:ext>
            </a:extLst>
          </p:cNvPr>
          <p:cNvSpPr/>
          <p:nvPr/>
        </p:nvSpPr>
        <p:spPr>
          <a:xfrm>
            <a:off x="6801800" y="4564923"/>
            <a:ext cx="963700" cy="642466"/>
          </a:xfrm>
          <a:prstGeom prst="rect">
            <a:avLst/>
          </a:prstGeom>
          <a:solidFill>
            <a:srgbClr val="EDF5FF"/>
          </a:solidFill>
          <a:ln w="12700" cap="flat">
            <a:solidFill>
              <a:srgbClr val="0E61FF"/>
            </a:solidFill>
            <a:prstDash val="solid"/>
            <a:miter lim="800000"/>
          </a:ln>
          <a:effectLst/>
        </p:spPr>
        <p:txBody>
          <a:bodyPr wrap="square" lIns="73788" tIns="73788" rIns="73788" bIns="73788" numCol="1" anchor="ctr">
            <a:noAutofit/>
          </a:bodyPr>
          <a:lstStyle/>
          <a:p>
            <a:pPr algn="ctr" defTabSz="1475571">
              <a:defRPr sz="2800">
                <a:solidFill>
                  <a:srgbClr val="000000"/>
                </a:solidFill>
                <a:latin typeface="Calibri"/>
                <a:ea typeface="Calibri"/>
                <a:cs typeface="Calibri"/>
                <a:sym typeface="Calibri"/>
              </a:defRPr>
            </a:pPr>
            <a:r>
              <a:rPr lang="en-GB" sz="800">
                <a:solidFill>
                  <a:srgbClr val="000000"/>
                </a:solidFill>
                <a:latin typeface="IBM Plex Sans" panose="020B0503050203000203" pitchFamily="34" charset="0"/>
                <a:cs typeface="Calibri"/>
                <a:sym typeface="Calibri"/>
              </a:rPr>
              <a:t>Migration Tool Creates Users and Assigns Licences via API</a:t>
            </a:r>
            <a:endParaRPr sz="800">
              <a:solidFill>
                <a:srgbClr val="000000"/>
              </a:solidFill>
              <a:latin typeface="IBM Plex Sans" panose="020B0503050203000203" pitchFamily="34" charset="0"/>
              <a:cs typeface="Calibri"/>
              <a:sym typeface="Calibri"/>
            </a:endParaRPr>
          </a:p>
        </p:txBody>
      </p:sp>
      <p:sp>
        <p:nvSpPr>
          <p:cNvPr id="26" name="Rectangle">
            <a:extLst>
              <a:ext uri="{FF2B5EF4-FFF2-40B4-BE49-F238E27FC236}">
                <a16:creationId xmlns:a16="http://schemas.microsoft.com/office/drawing/2014/main" id="{6D613A3D-80EA-AD76-F241-F5768472B286}"/>
              </a:ext>
            </a:extLst>
          </p:cNvPr>
          <p:cNvSpPr/>
          <p:nvPr/>
        </p:nvSpPr>
        <p:spPr>
          <a:xfrm>
            <a:off x="4595669" y="4564923"/>
            <a:ext cx="963700" cy="642466"/>
          </a:xfrm>
          <a:prstGeom prst="rect">
            <a:avLst/>
          </a:prstGeom>
          <a:solidFill>
            <a:srgbClr val="EDF5FF"/>
          </a:solidFill>
          <a:ln w="12700" cap="flat">
            <a:solidFill>
              <a:srgbClr val="0E61FF"/>
            </a:solidFill>
            <a:prstDash val="solid"/>
            <a:miter lim="800000"/>
          </a:ln>
          <a:effectLst/>
        </p:spPr>
        <p:txBody>
          <a:bodyPr wrap="square" lIns="73788" tIns="73788" rIns="73788" bIns="73788" numCol="1" anchor="ctr">
            <a:noAutofit/>
          </a:bodyPr>
          <a:lstStyle/>
          <a:p>
            <a:pPr algn="ctr" defTabSz="1475571">
              <a:defRPr sz="2800">
                <a:solidFill>
                  <a:srgbClr val="000000"/>
                </a:solidFill>
                <a:latin typeface="Calibri"/>
                <a:ea typeface="Calibri"/>
                <a:cs typeface="Calibri"/>
                <a:sym typeface="Calibri"/>
              </a:defRPr>
            </a:pPr>
            <a:r>
              <a:rPr lang="en-GB" sz="800">
                <a:solidFill>
                  <a:srgbClr val="000000"/>
                </a:solidFill>
                <a:latin typeface="IBM Plex Sans" panose="020B0503050203000203" pitchFamily="34" charset="0"/>
                <a:cs typeface="Calibri"/>
                <a:sym typeface="Calibri"/>
              </a:rPr>
              <a:t>Migration Tool Reads Users and Licences</a:t>
            </a:r>
            <a:endParaRPr sz="800">
              <a:solidFill>
                <a:srgbClr val="000000"/>
              </a:solidFill>
              <a:latin typeface="IBM Plex Sans" panose="020B0503050203000203" pitchFamily="34" charset="0"/>
              <a:cs typeface="Calibri"/>
              <a:sym typeface="Calibri"/>
            </a:endParaRPr>
          </a:p>
        </p:txBody>
      </p:sp>
      <p:sp>
        <p:nvSpPr>
          <p:cNvPr id="27" name="Rectangle">
            <a:extLst>
              <a:ext uri="{FF2B5EF4-FFF2-40B4-BE49-F238E27FC236}">
                <a16:creationId xmlns:a16="http://schemas.microsoft.com/office/drawing/2014/main" id="{C19D4A3F-57C0-2D27-B68B-D1853A848B5B}"/>
              </a:ext>
            </a:extLst>
          </p:cNvPr>
          <p:cNvSpPr/>
          <p:nvPr/>
        </p:nvSpPr>
        <p:spPr>
          <a:xfrm>
            <a:off x="5698734" y="4564923"/>
            <a:ext cx="963700" cy="642466"/>
          </a:xfrm>
          <a:prstGeom prst="rect">
            <a:avLst/>
          </a:prstGeom>
          <a:solidFill>
            <a:srgbClr val="EDF5FF"/>
          </a:solidFill>
          <a:ln w="12700" cap="flat">
            <a:solidFill>
              <a:srgbClr val="0E61FF"/>
            </a:solidFill>
            <a:prstDash val="solid"/>
            <a:miter lim="800000"/>
          </a:ln>
          <a:effectLst/>
        </p:spPr>
        <p:txBody>
          <a:bodyPr wrap="square" lIns="73788" tIns="73788" rIns="73788" bIns="73788" numCol="1" anchor="ctr">
            <a:noAutofit/>
          </a:bodyPr>
          <a:lstStyle/>
          <a:p>
            <a:pPr algn="ctr" defTabSz="1475571">
              <a:defRPr sz="2800">
                <a:solidFill>
                  <a:srgbClr val="000000"/>
                </a:solidFill>
                <a:latin typeface="Calibri"/>
                <a:ea typeface="Calibri"/>
                <a:cs typeface="Calibri"/>
                <a:sym typeface="Calibri"/>
              </a:defRPr>
            </a:pPr>
            <a:r>
              <a:rPr lang="en-GB" sz="800">
                <a:solidFill>
                  <a:srgbClr val="000000"/>
                </a:solidFill>
                <a:latin typeface="IBM Plex Sans" panose="020B0503050203000203" pitchFamily="34" charset="0"/>
                <a:cs typeface="Calibri"/>
                <a:sym typeface="Calibri"/>
              </a:rPr>
              <a:t>Migration Tool Connects To MAS Core via API</a:t>
            </a:r>
            <a:endParaRPr sz="800">
              <a:solidFill>
                <a:srgbClr val="000000"/>
              </a:solidFill>
              <a:latin typeface="IBM Plex Sans" panose="020B0503050203000203" pitchFamily="34" charset="0"/>
              <a:cs typeface="Calibri"/>
              <a:sym typeface="Calibri"/>
            </a:endParaRPr>
          </a:p>
        </p:txBody>
      </p:sp>
      <p:sp>
        <p:nvSpPr>
          <p:cNvPr id="28" name="Rectangle">
            <a:extLst>
              <a:ext uri="{FF2B5EF4-FFF2-40B4-BE49-F238E27FC236}">
                <a16:creationId xmlns:a16="http://schemas.microsoft.com/office/drawing/2014/main" id="{4D11C5C6-E2E3-B69E-8642-EC595D58F9E2}"/>
              </a:ext>
            </a:extLst>
          </p:cNvPr>
          <p:cNvSpPr/>
          <p:nvPr/>
        </p:nvSpPr>
        <p:spPr>
          <a:xfrm>
            <a:off x="7904867" y="4564923"/>
            <a:ext cx="963700" cy="642466"/>
          </a:xfrm>
          <a:prstGeom prst="rect">
            <a:avLst/>
          </a:prstGeom>
          <a:solidFill>
            <a:srgbClr val="EDF5FF"/>
          </a:solidFill>
          <a:ln w="12700" cap="flat">
            <a:solidFill>
              <a:srgbClr val="0E61FF"/>
            </a:solidFill>
            <a:prstDash val="solid"/>
            <a:miter lim="800000"/>
          </a:ln>
          <a:effectLst/>
        </p:spPr>
        <p:txBody>
          <a:bodyPr wrap="square" lIns="73788" tIns="73788" rIns="73788" bIns="73788" numCol="1" anchor="ctr">
            <a:noAutofit/>
          </a:bodyPr>
          <a:lstStyle/>
          <a:p>
            <a:pPr algn="ctr" defTabSz="1475571">
              <a:defRPr sz="2800">
                <a:solidFill>
                  <a:srgbClr val="000000"/>
                </a:solidFill>
                <a:latin typeface="Calibri"/>
                <a:ea typeface="Calibri"/>
                <a:cs typeface="Calibri"/>
                <a:sym typeface="Calibri"/>
              </a:defRPr>
            </a:pPr>
            <a:r>
              <a:rPr lang="en-GB" sz="800">
                <a:solidFill>
                  <a:srgbClr val="000000"/>
                </a:solidFill>
                <a:latin typeface="IBM Plex Sans" panose="020B0503050203000203" pitchFamily="34" charset="0"/>
                <a:cs typeface="Calibri"/>
                <a:sym typeface="Calibri"/>
              </a:rPr>
              <a:t>Migration Tool Adds Application Patches via Update Container</a:t>
            </a:r>
            <a:endParaRPr sz="800">
              <a:solidFill>
                <a:srgbClr val="000000"/>
              </a:solidFill>
              <a:latin typeface="IBM Plex Sans" panose="020B0503050203000203" pitchFamily="34" charset="0"/>
              <a:cs typeface="Calibri"/>
              <a:sym typeface="Calibri"/>
            </a:endParaRPr>
          </a:p>
        </p:txBody>
      </p:sp>
      <p:sp>
        <p:nvSpPr>
          <p:cNvPr id="29" name="Rectangle">
            <a:extLst>
              <a:ext uri="{FF2B5EF4-FFF2-40B4-BE49-F238E27FC236}">
                <a16:creationId xmlns:a16="http://schemas.microsoft.com/office/drawing/2014/main" id="{9AE44292-7918-AA5E-B765-11F8C1863929}"/>
              </a:ext>
            </a:extLst>
          </p:cNvPr>
          <p:cNvSpPr/>
          <p:nvPr/>
        </p:nvSpPr>
        <p:spPr>
          <a:xfrm>
            <a:off x="3492602" y="4564923"/>
            <a:ext cx="963700" cy="642466"/>
          </a:xfrm>
          <a:prstGeom prst="rect">
            <a:avLst/>
          </a:prstGeom>
          <a:solidFill>
            <a:srgbClr val="EDF5FF"/>
          </a:solidFill>
          <a:ln w="12700" cap="flat">
            <a:solidFill>
              <a:srgbClr val="0E61FF"/>
            </a:solidFill>
            <a:prstDash val="solid"/>
            <a:miter lim="800000"/>
          </a:ln>
          <a:effectLst/>
        </p:spPr>
        <p:txBody>
          <a:bodyPr wrap="square" lIns="73788" tIns="73788" rIns="73788" bIns="73788" numCol="1" anchor="ctr">
            <a:noAutofit/>
          </a:bodyPr>
          <a:lstStyle/>
          <a:p>
            <a:pPr algn="ctr" defTabSz="1475571">
              <a:defRPr sz="2800">
                <a:solidFill>
                  <a:srgbClr val="000000"/>
                </a:solidFill>
                <a:latin typeface="Calibri"/>
                <a:ea typeface="Calibri"/>
                <a:cs typeface="Calibri"/>
                <a:sym typeface="Calibri"/>
              </a:defRPr>
            </a:pPr>
            <a:r>
              <a:rPr lang="en-GB" sz="800">
                <a:solidFill>
                  <a:srgbClr val="000000"/>
                </a:solidFill>
                <a:latin typeface="IBM Plex Sans" panose="020B0503050203000203" pitchFamily="34" charset="0"/>
                <a:cs typeface="Calibri"/>
                <a:sym typeface="Calibri"/>
              </a:rPr>
              <a:t>Migration Tool Connects To Database</a:t>
            </a:r>
            <a:endParaRPr sz="800">
              <a:solidFill>
                <a:srgbClr val="000000"/>
              </a:solidFill>
              <a:latin typeface="IBM Plex Sans" panose="020B0503050203000203" pitchFamily="34" charset="0"/>
              <a:cs typeface="Calibri"/>
              <a:sym typeface="Calibri"/>
            </a:endParaRPr>
          </a:p>
        </p:txBody>
      </p:sp>
      <p:sp>
        <p:nvSpPr>
          <p:cNvPr id="30" name="Rectangle">
            <a:extLst>
              <a:ext uri="{FF2B5EF4-FFF2-40B4-BE49-F238E27FC236}">
                <a16:creationId xmlns:a16="http://schemas.microsoft.com/office/drawing/2014/main" id="{0E1727CC-7F91-5DDA-B0DB-EA96DC5DC541}"/>
              </a:ext>
            </a:extLst>
          </p:cNvPr>
          <p:cNvSpPr/>
          <p:nvPr/>
        </p:nvSpPr>
        <p:spPr>
          <a:xfrm>
            <a:off x="4456302" y="5530810"/>
            <a:ext cx="5672317" cy="1105957"/>
          </a:xfrm>
          <a:prstGeom prst="rect">
            <a:avLst/>
          </a:prstGeom>
          <a:solidFill>
            <a:srgbClr val="FFFFFF"/>
          </a:solidFill>
          <a:ln w="12700" cap="flat">
            <a:solidFill>
              <a:schemeClr val="accent1"/>
            </a:solidFill>
            <a:prstDash val="solid"/>
            <a:miter lim="800000"/>
          </a:ln>
          <a:effectLst/>
        </p:spPr>
        <p:txBody>
          <a:bodyPr wrap="square" lIns="73788" tIns="73788" rIns="73788" bIns="73788" numCol="1" anchor="t">
            <a:noAutofit/>
          </a:bodyPr>
          <a:lstStyle/>
          <a:p>
            <a:pPr algn="ctr" defTabSz="1475571">
              <a:defRPr sz="2800">
                <a:solidFill>
                  <a:srgbClr val="000000"/>
                </a:solidFill>
                <a:latin typeface="Calibri"/>
                <a:ea typeface="Calibri"/>
                <a:cs typeface="Calibri"/>
                <a:sym typeface="Calibri"/>
              </a:defRPr>
            </a:pPr>
            <a:r>
              <a:rPr lang="en-GB" sz="800" b="1">
                <a:solidFill>
                  <a:srgbClr val="000000"/>
                </a:solidFill>
                <a:latin typeface="IBM Plex Sans" panose="020B0503050203000203" pitchFamily="34" charset="0"/>
                <a:cs typeface="Calibri"/>
                <a:sym typeface="Calibri"/>
              </a:rPr>
              <a:t>Validation</a:t>
            </a:r>
            <a:endParaRPr sz="800" b="1">
              <a:solidFill>
                <a:srgbClr val="000000"/>
              </a:solidFill>
              <a:latin typeface="IBM Plex Sans" panose="020B0503050203000203" pitchFamily="34" charset="0"/>
              <a:cs typeface="Calibri"/>
              <a:sym typeface="Calibri"/>
            </a:endParaRPr>
          </a:p>
        </p:txBody>
      </p:sp>
      <p:sp>
        <p:nvSpPr>
          <p:cNvPr id="31" name="Rectangle">
            <a:extLst>
              <a:ext uri="{FF2B5EF4-FFF2-40B4-BE49-F238E27FC236}">
                <a16:creationId xmlns:a16="http://schemas.microsoft.com/office/drawing/2014/main" id="{1FEAAB6C-68DA-5807-5D30-43737E7B9F32}"/>
              </a:ext>
            </a:extLst>
          </p:cNvPr>
          <p:cNvSpPr/>
          <p:nvPr/>
        </p:nvSpPr>
        <p:spPr>
          <a:xfrm>
            <a:off x="7882706" y="5804114"/>
            <a:ext cx="963700" cy="642466"/>
          </a:xfrm>
          <a:prstGeom prst="rect">
            <a:avLst/>
          </a:prstGeom>
          <a:solidFill>
            <a:srgbClr val="EDF5FF"/>
          </a:solidFill>
          <a:ln w="12700" cap="flat">
            <a:solidFill>
              <a:srgbClr val="0E61FF"/>
            </a:solidFill>
            <a:prstDash val="solid"/>
            <a:miter lim="800000"/>
          </a:ln>
          <a:effectLst/>
        </p:spPr>
        <p:txBody>
          <a:bodyPr wrap="square" lIns="73788" tIns="73788" rIns="73788" bIns="73788" numCol="1" anchor="ctr">
            <a:noAutofit/>
          </a:bodyPr>
          <a:lstStyle/>
          <a:p>
            <a:pPr algn="ctr" defTabSz="1475571">
              <a:defRPr sz="2800">
                <a:solidFill>
                  <a:srgbClr val="000000"/>
                </a:solidFill>
                <a:latin typeface="Calibri"/>
                <a:ea typeface="Calibri"/>
                <a:cs typeface="Calibri"/>
                <a:sym typeface="Calibri"/>
              </a:defRPr>
            </a:pPr>
            <a:r>
              <a:rPr lang="en-GB" sz="800">
                <a:solidFill>
                  <a:srgbClr val="000000"/>
                </a:solidFill>
                <a:latin typeface="IBM Plex Sans" panose="020B0503050203000203" pitchFamily="34" charset="0"/>
                <a:cs typeface="Calibri"/>
                <a:sym typeface="Calibri"/>
              </a:rPr>
              <a:t>Migration Tool Queries and Validates User Created via API</a:t>
            </a:r>
            <a:endParaRPr sz="800">
              <a:solidFill>
                <a:srgbClr val="000000"/>
              </a:solidFill>
              <a:latin typeface="IBM Plex Sans" panose="020B0503050203000203" pitchFamily="34" charset="0"/>
              <a:cs typeface="Calibri"/>
              <a:sym typeface="Calibri"/>
            </a:endParaRPr>
          </a:p>
        </p:txBody>
      </p:sp>
      <p:sp>
        <p:nvSpPr>
          <p:cNvPr id="32" name="Rectangle">
            <a:extLst>
              <a:ext uri="{FF2B5EF4-FFF2-40B4-BE49-F238E27FC236}">
                <a16:creationId xmlns:a16="http://schemas.microsoft.com/office/drawing/2014/main" id="{089B3C88-3020-7FBA-3A76-52F11CCECFD6}"/>
              </a:ext>
            </a:extLst>
          </p:cNvPr>
          <p:cNvSpPr/>
          <p:nvPr/>
        </p:nvSpPr>
        <p:spPr>
          <a:xfrm>
            <a:off x="5676574" y="5804114"/>
            <a:ext cx="963700" cy="642466"/>
          </a:xfrm>
          <a:prstGeom prst="rect">
            <a:avLst/>
          </a:prstGeom>
          <a:solidFill>
            <a:srgbClr val="EDF5FF"/>
          </a:solidFill>
          <a:ln w="12700" cap="flat">
            <a:solidFill>
              <a:srgbClr val="0E61FF"/>
            </a:solidFill>
            <a:prstDash val="solid"/>
            <a:miter lim="800000"/>
          </a:ln>
          <a:effectLst/>
        </p:spPr>
        <p:txBody>
          <a:bodyPr wrap="square" lIns="73788" tIns="73788" rIns="73788" bIns="73788" numCol="1" anchor="ctr">
            <a:noAutofit/>
          </a:bodyPr>
          <a:lstStyle/>
          <a:p>
            <a:pPr algn="ctr" defTabSz="1475571">
              <a:defRPr sz="2800">
                <a:solidFill>
                  <a:srgbClr val="000000"/>
                </a:solidFill>
                <a:latin typeface="Calibri"/>
                <a:ea typeface="Calibri"/>
                <a:cs typeface="Calibri"/>
                <a:sym typeface="Calibri"/>
              </a:defRPr>
            </a:pPr>
            <a:r>
              <a:rPr lang="en-GB" sz="800">
                <a:solidFill>
                  <a:srgbClr val="000000"/>
                </a:solidFill>
                <a:latin typeface="IBM Plex Sans" panose="020B0503050203000203" pitchFamily="34" charset="0"/>
                <a:cs typeface="Calibri"/>
                <a:sym typeface="Calibri"/>
              </a:rPr>
              <a:t>Migration Logs Each Licence Assignment</a:t>
            </a:r>
          </a:p>
        </p:txBody>
      </p:sp>
      <p:sp>
        <p:nvSpPr>
          <p:cNvPr id="33" name="Rectangle">
            <a:extLst>
              <a:ext uri="{FF2B5EF4-FFF2-40B4-BE49-F238E27FC236}">
                <a16:creationId xmlns:a16="http://schemas.microsoft.com/office/drawing/2014/main" id="{E5F37632-CC8B-855A-FB50-ACBC61B3B7F1}"/>
              </a:ext>
            </a:extLst>
          </p:cNvPr>
          <p:cNvSpPr/>
          <p:nvPr/>
        </p:nvSpPr>
        <p:spPr>
          <a:xfrm>
            <a:off x="6779639" y="5804114"/>
            <a:ext cx="963700" cy="642466"/>
          </a:xfrm>
          <a:prstGeom prst="rect">
            <a:avLst/>
          </a:prstGeom>
          <a:solidFill>
            <a:srgbClr val="EDF5FF"/>
          </a:solidFill>
          <a:ln w="12700" cap="flat">
            <a:solidFill>
              <a:srgbClr val="0E61FF"/>
            </a:solidFill>
            <a:prstDash val="solid"/>
            <a:miter lim="800000"/>
          </a:ln>
          <a:effectLst/>
        </p:spPr>
        <p:txBody>
          <a:bodyPr wrap="square" lIns="73788" tIns="73788" rIns="73788" bIns="73788" numCol="1" anchor="ctr">
            <a:noAutofit/>
          </a:bodyPr>
          <a:lstStyle/>
          <a:p>
            <a:pPr algn="ctr" defTabSz="1475571">
              <a:defRPr sz="2800">
                <a:solidFill>
                  <a:srgbClr val="000000"/>
                </a:solidFill>
                <a:latin typeface="Calibri"/>
                <a:ea typeface="Calibri"/>
                <a:cs typeface="Calibri"/>
                <a:sym typeface="Calibri"/>
              </a:defRPr>
            </a:pPr>
            <a:r>
              <a:rPr lang="en-GB" sz="800">
                <a:solidFill>
                  <a:srgbClr val="000000"/>
                </a:solidFill>
                <a:latin typeface="IBM Plex Sans" panose="020B0503050203000203" pitchFamily="34" charset="0"/>
                <a:cs typeface="Calibri"/>
                <a:sym typeface="Calibri"/>
              </a:rPr>
              <a:t>Migration Tool Connects To MAS Core via API</a:t>
            </a:r>
            <a:endParaRPr sz="800">
              <a:solidFill>
                <a:srgbClr val="000000"/>
              </a:solidFill>
              <a:latin typeface="IBM Plex Sans" panose="020B0503050203000203" pitchFamily="34" charset="0"/>
              <a:cs typeface="Calibri"/>
              <a:sym typeface="Calibri"/>
            </a:endParaRPr>
          </a:p>
        </p:txBody>
      </p:sp>
      <p:sp>
        <p:nvSpPr>
          <p:cNvPr id="34" name="Rectangle">
            <a:extLst>
              <a:ext uri="{FF2B5EF4-FFF2-40B4-BE49-F238E27FC236}">
                <a16:creationId xmlns:a16="http://schemas.microsoft.com/office/drawing/2014/main" id="{D772AB14-400E-33D0-A4CD-AD84FB523B48}"/>
              </a:ext>
            </a:extLst>
          </p:cNvPr>
          <p:cNvSpPr/>
          <p:nvPr/>
        </p:nvSpPr>
        <p:spPr>
          <a:xfrm>
            <a:off x="8985772" y="5804114"/>
            <a:ext cx="963700" cy="642466"/>
          </a:xfrm>
          <a:prstGeom prst="rect">
            <a:avLst/>
          </a:prstGeom>
          <a:solidFill>
            <a:srgbClr val="EDF5FF"/>
          </a:solidFill>
          <a:ln w="12700" cap="flat">
            <a:solidFill>
              <a:srgbClr val="0E61FF"/>
            </a:solidFill>
            <a:prstDash val="solid"/>
            <a:miter lim="800000"/>
          </a:ln>
          <a:effectLst/>
        </p:spPr>
        <p:txBody>
          <a:bodyPr wrap="square" lIns="73788" tIns="73788" rIns="73788" bIns="73788" numCol="1" anchor="ctr">
            <a:noAutofit/>
          </a:bodyPr>
          <a:lstStyle/>
          <a:p>
            <a:pPr algn="ctr" defTabSz="1475571">
              <a:defRPr sz="2800">
                <a:solidFill>
                  <a:srgbClr val="000000"/>
                </a:solidFill>
                <a:latin typeface="Calibri"/>
                <a:ea typeface="Calibri"/>
                <a:cs typeface="Calibri"/>
                <a:sym typeface="Calibri"/>
              </a:defRPr>
            </a:pPr>
            <a:r>
              <a:rPr lang="en-GB" sz="800">
                <a:solidFill>
                  <a:srgbClr val="000000"/>
                </a:solidFill>
                <a:latin typeface="IBM Plex Sans" panose="020B0503050203000203" pitchFamily="34" charset="0"/>
                <a:cs typeface="Calibri"/>
                <a:sym typeface="Calibri"/>
              </a:rPr>
              <a:t>Migration Tool Queries and Validates Licence Assigned via API</a:t>
            </a:r>
            <a:endParaRPr sz="800">
              <a:solidFill>
                <a:srgbClr val="000000"/>
              </a:solidFill>
              <a:latin typeface="IBM Plex Sans" panose="020B0503050203000203" pitchFamily="34" charset="0"/>
              <a:cs typeface="Calibri"/>
              <a:sym typeface="Calibri"/>
            </a:endParaRPr>
          </a:p>
        </p:txBody>
      </p:sp>
      <p:sp>
        <p:nvSpPr>
          <p:cNvPr id="35" name="Rectangle">
            <a:extLst>
              <a:ext uri="{FF2B5EF4-FFF2-40B4-BE49-F238E27FC236}">
                <a16:creationId xmlns:a16="http://schemas.microsoft.com/office/drawing/2014/main" id="{C0FA2390-38E6-0239-28CB-CFB48B5E8985}"/>
              </a:ext>
            </a:extLst>
          </p:cNvPr>
          <p:cNvSpPr/>
          <p:nvPr/>
        </p:nvSpPr>
        <p:spPr>
          <a:xfrm>
            <a:off x="4573508" y="5804114"/>
            <a:ext cx="963700" cy="642466"/>
          </a:xfrm>
          <a:prstGeom prst="rect">
            <a:avLst/>
          </a:prstGeom>
          <a:solidFill>
            <a:srgbClr val="EDF5FF"/>
          </a:solidFill>
          <a:ln w="12700" cap="flat">
            <a:solidFill>
              <a:srgbClr val="0E61FF"/>
            </a:solidFill>
            <a:prstDash val="solid"/>
            <a:miter lim="800000"/>
          </a:ln>
          <a:effectLst/>
        </p:spPr>
        <p:txBody>
          <a:bodyPr wrap="square" lIns="73788" tIns="73788" rIns="73788" bIns="73788" numCol="1" anchor="ctr">
            <a:noAutofit/>
          </a:bodyPr>
          <a:lstStyle/>
          <a:p>
            <a:pPr algn="ctr" defTabSz="1475571">
              <a:defRPr sz="2800">
                <a:solidFill>
                  <a:srgbClr val="000000"/>
                </a:solidFill>
                <a:latin typeface="Calibri"/>
                <a:ea typeface="Calibri"/>
                <a:cs typeface="Calibri"/>
                <a:sym typeface="Calibri"/>
              </a:defRPr>
            </a:pPr>
            <a:r>
              <a:rPr lang="en-GB" sz="800">
                <a:solidFill>
                  <a:srgbClr val="000000"/>
                </a:solidFill>
                <a:latin typeface="IBM Plex Sans" panose="020B0503050203000203" pitchFamily="34" charset="0"/>
                <a:cs typeface="Calibri"/>
                <a:sym typeface="Calibri"/>
              </a:rPr>
              <a:t>Migration Tool Logs Each User Creation</a:t>
            </a:r>
            <a:endParaRPr sz="800">
              <a:solidFill>
                <a:srgbClr val="000000"/>
              </a:solidFill>
              <a:latin typeface="IBM Plex Sans" panose="020B0503050203000203" pitchFamily="34" charset="0"/>
              <a:cs typeface="Calibri"/>
              <a:sym typeface="Calibri"/>
            </a:endParaRPr>
          </a:p>
        </p:txBody>
      </p:sp>
      <p:sp>
        <p:nvSpPr>
          <p:cNvPr id="38" name="Title 1">
            <a:extLst>
              <a:ext uri="{FF2B5EF4-FFF2-40B4-BE49-F238E27FC236}">
                <a16:creationId xmlns:a16="http://schemas.microsoft.com/office/drawing/2014/main" id="{679F3951-F426-6E98-20EA-E82D104C16C1}"/>
              </a:ext>
            </a:extLst>
          </p:cNvPr>
          <p:cNvSpPr txBox="1">
            <a:spLocks/>
          </p:cNvSpPr>
          <p:nvPr/>
        </p:nvSpPr>
        <p:spPr>
          <a:xfrm>
            <a:off x="119241" y="92340"/>
            <a:ext cx="11755420" cy="62663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lst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1"/>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defTabSz="2437912">
              <a:defRPr/>
            </a:pPr>
            <a:r>
              <a:rPr lang="en-US" sz="3199" kern="0">
                <a:solidFill>
                  <a:srgbClr val="000000"/>
                </a:solidFill>
                <a:latin typeface="IBM Plex Sans Light"/>
              </a:rPr>
              <a:t>Migration To Real Estate and Facilities Process</a:t>
            </a:r>
          </a:p>
        </p:txBody>
      </p:sp>
      <p:sp>
        <p:nvSpPr>
          <p:cNvPr id="39" name="Bent Arrow 38">
            <a:extLst>
              <a:ext uri="{FF2B5EF4-FFF2-40B4-BE49-F238E27FC236}">
                <a16:creationId xmlns:a16="http://schemas.microsoft.com/office/drawing/2014/main" id="{E70894F4-CA00-092F-2F88-57C4B6DB3049}"/>
              </a:ext>
            </a:extLst>
          </p:cNvPr>
          <p:cNvSpPr/>
          <p:nvPr/>
        </p:nvSpPr>
        <p:spPr>
          <a:xfrm rot="10800000" flipH="1">
            <a:off x="190431" y="1691483"/>
            <a:ext cx="976391" cy="999903"/>
          </a:xfrm>
          <a:prstGeom prst="bentArrow">
            <a:avLst>
              <a:gd name="adj1" fmla="val 25000"/>
              <a:gd name="adj2" fmla="val 25000"/>
              <a:gd name="adj3" fmla="val 25000"/>
              <a:gd name="adj4" fmla="val 43750"/>
            </a:avLst>
          </a:prstGeom>
          <a:solidFill>
            <a:srgbClr val="DEFBE6"/>
          </a:solidFill>
          <a:ln w="12700">
            <a:solidFill>
              <a:srgbClr val="1980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217">
              <a:defRPr/>
            </a:pPr>
            <a:endParaRPr lang="en-US" sz="900">
              <a:solidFill>
                <a:prstClr val="black"/>
              </a:solidFill>
              <a:latin typeface="Aptos" panose="02110004020202020204"/>
            </a:endParaRPr>
          </a:p>
        </p:txBody>
      </p:sp>
      <p:sp>
        <p:nvSpPr>
          <p:cNvPr id="40" name="Bent Arrow 39">
            <a:extLst>
              <a:ext uri="{FF2B5EF4-FFF2-40B4-BE49-F238E27FC236}">
                <a16:creationId xmlns:a16="http://schemas.microsoft.com/office/drawing/2014/main" id="{95188619-5D99-E97C-99F0-5B2863152639}"/>
              </a:ext>
            </a:extLst>
          </p:cNvPr>
          <p:cNvSpPr/>
          <p:nvPr/>
        </p:nvSpPr>
        <p:spPr>
          <a:xfrm rot="10800000" flipH="1">
            <a:off x="1284180" y="2929049"/>
            <a:ext cx="976391" cy="999903"/>
          </a:xfrm>
          <a:prstGeom prst="bentArrow">
            <a:avLst>
              <a:gd name="adj1" fmla="val 25000"/>
              <a:gd name="adj2" fmla="val 25000"/>
              <a:gd name="adj3" fmla="val 25000"/>
              <a:gd name="adj4" fmla="val 43750"/>
            </a:avLst>
          </a:prstGeom>
          <a:solidFill>
            <a:srgbClr val="DEFBE6"/>
          </a:solidFill>
          <a:ln w="12700">
            <a:solidFill>
              <a:srgbClr val="1980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217">
              <a:defRPr/>
            </a:pPr>
            <a:endParaRPr lang="en-US" sz="900">
              <a:solidFill>
                <a:prstClr val="black"/>
              </a:solidFill>
              <a:latin typeface="Aptos" panose="02110004020202020204"/>
            </a:endParaRPr>
          </a:p>
        </p:txBody>
      </p:sp>
      <p:sp>
        <p:nvSpPr>
          <p:cNvPr id="41" name="Bent Arrow 40">
            <a:extLst>
              <a:ext uri="{FF2B5EF4-FFF2-40B4-BE49-F238E27FC236}">
                <a16:creationId xmlns:a16="http://schemas.microsoft.com/office/drawing/2014/main" id="{B2D79AF3-4984-CBD8-AB07-9C23886DF943}"/>
              </a:ext>
            </a:extLst>
          </p:cNvPr>
          <p:cNvSpPr/>
          <p:nvPr/>
        </p:nvSpPr>
        <p:spPr>
          <a:xfrm rot="10800000" flipH="1">
            <a:off x="2377778" y="4158385"/>
            <a:ext cx="976391" cy="999903"/>
          </a:xfrm>
          <a:prstGeom prst="bentArrow">
            <a:avLst>
              <a:gd name="adj1" fmla="val 25000"/>
              <a:gd name="adj2" fmla="val 25000"/>
              <a:gd name="adj3" fmla="val 25000"/>
              <a:gd name="adj4" fmla="val 43750"/>
            </a:avLst>
          </a:prstGeom>
          <a:solidFill>
            <a:srgbClr val="DEFBE6"/>
          </a:solidFill>
          <a:ln w="12700">
            <a:solidFill>
              <a:srgbClr val="1980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217">
              <a:defRPr/>
            </a:pPr>
            <a:endParaRPr lang="en-US" sz="900">
              <a:solidFill>
                <a:prstClr val="black"/>
              </a:solidFill>
              <a:latin typeface="Aptos" panose="02110004020202020204"/>
            </a:endParaRPr>
          </a:p>
        </p:txBody>
      </p:sp>
      <p:sp>
        <p:nvSpPr>
          <p:cNvPr id="42" name="Bent Arrow 41">
            <a:extLst>
              <a:ext uri="{FF2B5EF4-FFF2-40B4-BE49-F238E27FC236}">
                <a16:creationId xmlns:a16="http://schemas.microsoft.com/office/drawing/2014/main" id="{6EDE27CA-1AEC-B7E1-1EAD-0B5F90EB9D29}"/>
              </a:ext>
            </a:extLst>
          </p:cNvPr>
          <p:cNvSpPr/>
          <p:nvPr/>
        </p:nvSpPr>
        <p:spPr>
          <a:xfrm rot="10800000" flipH="1">
            <a:off x="3469297" y="5397576"/>
            <a:ext cx="976391" cy="999903"/>
          </a:xfrm>
          <a:prstGeom prst="bentArrow">
            <a:avLst>
              <a:gd name="adj1" fmla="val 25000"/>
              <a:gd name="adj2" fmla="val 25000"/>
              <a:gd name="adj3" fmla="val 25000"/>
              <a:gd name="adj4" fmla="val 43750"/>
            </a:avLst>
          </a:prstGeom>
          <a:solidFill>
            <a:srgbClr val="DEFBE6"/>
          </a:solidFill>
          <a:ln w="12700">
            <a:solidFill>
              <a:srgbClr val="1980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217">
              <a:defRPr/>
            </a:pPr>
            <a:endParaRPr lang="en-US" sz="900">
              <a:solidFill>
                <a:prstClr val="black"/>
              </a:solidFill>
              <a:latin typeface="Aptos" panose="02110004020202020204"/>
            </a:endParaRPr>
          </a:p>
        </p:txBody>
      </p:sp>
      <p:pic>
        <p:nvPicPr>
          <p:cNvPr id="44" name="Picture 43">
            <a:extLst>
              <a:ext uri="{FF2B5EF4-FFF2-40B4-BE49-F238E27FC236}">
                <a16:creationId xmlns:a16="http://schemas.microsoft.com/office/drawing/2014/main" id="{D05C2D52-566B-443E-EF69-D5D459D51031}"/>
              </a:ext>
            </a:extLst>
          </p:cNvPr>
          <p:cNvPicPr>
            <a:picLocks noChangeAspect="1"/>
          </p:cNvPicPr>
          <p:nvPr/>
        </p:nvPicPr>
        <p:blipFill>
          <a:blip r:embed="rId2"/>
          <a:stretch>
            <a:fillRect/>
          </a:stretch>
        </p:blipFill>
        <p:spPr>
          <a:xfrm>
            <a:off x="10795119" y="5820152"/>
            <a:ext cx="1079542" cy="527271"/>
          </a:xfrm>
          <a:prstGeom prst="rect">
            <a:avLst/>
          </a:prstGeom>
          <a:ln>
            <a:solidFill>
              <a:schemeClr val="tx1"/>
            </a:solidFill>
          </a:ln>
        </p:spPr>
      </p:pic>
      <p:sp>
        <p:nvSpPr>
          <p:cNvPr id="45" name="Right Arrow 44">
            <a:extLst>
              <a:ext uri="{FF2B5EF4-FFF2-40B4-BE49-F238E27FC236}">
                <a16:creationId xmlns:a16="http://schemas.microsoft.com/office/drawing/2014/main" id="{5D19FF2F-A25F-1D2F-9BFE-E36C17D1A8BA}"/>
              </a:ext>
            </a:extLst>
          </p:cNvPr>
          <p:cNvSpPr/>
          <p:nvPr/>
        </p:nvSpPr>
        <p:spPr>
          <a:xfrm>
            <a:off x="10145622" y="5846184"/>
            <a:ext cx="632494" cy="475206"/>
          </a:xfrm>
          <a:prstGeom prst="rightArrow">
            <a:avLst/>
          </a:prstGeom>
          <a:solidFill>
            <a:srgbClr val="DFFCE7"/>
          </a:solidFill>
          <a:ln w="12700">
            <a:solidFill>
              <a:srgbClr val="1980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217">
              <a:defRPr/>
            </a:pPr>
            <a:endParaRPr lang="en-US" sz="900">
              <a:solidFill>
                <a:prstClr val="white"/>
              </a:solidFill>
              <a:latin typeface="Aptos" panose="02110004020202020204"/>
            </a:endParaRPr>
          </a:p>
        </p:txBody>
      </p:sp>
      <p:sp>
        <p:nvSpPr>
          <p:cNvPr id="2" name="Rounded Rectangle 1">
            <a:extLst>
              <a:ext uri="{FF2B5EF4-FFF2-40B4-BE49-F238E27FC236}">
                <a16:creationId xmlns:a16="http://schemas.microsoft.com/office/drawing/2014/main" id="{051BA680-4993-1D39-F36C-537D9A9C9B4F}"/>
              </a:ext>
            </a:extLst>
          </p:cNvPr>
          <p:cNvSpPr/>
          <p:nvPr/>
        </p:nvSpPr>
        <p:spPr>
          <a:xfrm>
            <a:off x="1822532" y="3002313"/>
            <a:ext cx="7682690" cy="2449705"/>
          </a:xfrm>
          <a:prstGeom prst="roundRect">
            <a:avLst/>
          </a:prstGeom>
          <a:noFill/>
          <a:ln w="28575">
            <a:solidFill>
              <a:schemeClr val="tx1"/>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217">
              <a:defRPr/>
            </a:pPr>
            <a:endParaRPr lang="en-US" sz="900">
              <a:solidFill>
                <a:prstClr val="white"/>
              </a:solidFill>
              <a:latin typeface="Aptos" panose="02110004020202020204"/>
            </a:endParaRPr>
          </a:p>
        </p:txBody>
      </p:sp>
      <p:sp>
        <p:nvSpPr>
          <p:cNvPr id="3" name="TextBox 2">
            <a:extLst>
              <a:ext uri="{FF2B5EF4-FFF2-40B4-BE49-F238E27FC236}">
                <a16:creationId xmlns:a16="http://schemas.microsoft.com/office/drawing/2014/main" id="{F201E18B-7597-5D29-572A-220050AF8A34}"/>
              </a:ext>
            </a:extLst>
          </p:cNvPr>
          <p:cNvSpPr txBox="1"/>
          <p:nvPr/>
        </p:nvSpPr>
        <p:spPr>
          <a:xfrm>
            <a:off x="9112872" y="1437173"/>
            <a:ext cx="2489303" cy="584775"/>
          </a:xfrm>
          <a:prstGeom prst="rect">
            <a:avLst/>
          </a:prstGeom>
          <a:noFill/>
        </p:spPr>
        <p:txBody>
          <a:bodyPr wrap="square" rtlCol="0">
            <a:spAutoFit/>
          </a:bodyPr>
          <a:lstStyle/>
          <a:p>
            <a:pPr defTabSz="914217">
              <a:defRPr/>
            </a:pPr>
            <a:r>
              <a:rPr lang="en-US" sz="1600" b="1" dirty="0">
                <a:solidFill>
                  <a:prstClr val="black"/>
                </a:solidFill>
                <a:latin typeface="Aptos" panose="02110004020202020204"/>
              </a:rPr>
              <a:t>Tooling coming in Q3 to support these activities</a:t>
            </a:r>
          </a:p>
        </p:txBody>
      </p:sp>
      <p:cxnSp>
        <p:nvCxnSpPr>
          <p:cNvPr id="5" name="Straight Connector 4">
            <a:extLst>
              <a:ext uri="{FF2B5EF4-FFF2-40B4-BE49-F238E27FC236}">
                <a16:creationId xmlns:a16="http://schemas.microsoft.com/office/drawing/2014/main" id="{9656CCA6-50B6-95AE-64F9-B5F22AB99730}"/>
              </a:ext>
            </a:extLst>
          </p:cNvPr>
          <p:cNvCxnSpPr/>
          <p:nvPr/>
        </p:nvCxnSpPr>
        <p:spPr>
          <a:xfrm flipH="1">
            <a:off x="8759451" y="2083420"/>
            <a:ext cx="845134" cy="84562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624205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 name="Picture 6">
            <a:extLst>
              <a:ext uri="{FF2B5EF4-FFF2-40B4-BE49-F238E27FC236}">
                <a16:creationId xmlns:a16="http://schemas.microsoft.com/office/drawing/2014/main" id="{FE13431C-42CB-E409-D7FA-C6193D3C7FBF}"/>
              </a:ext>
            </a:extLst>
          </p:cNvPr>
          <p:cNvPicPr>
            <a:picLocks noChangeAspect="1"/>
          </p:cNvPicPr>
          <p:nvPr/>
        </p:nvPicPr>
        <p:blipFill>
          <a:blip r:embed="rId2"/>
          <a:srcRect r="425" b="-1"/>
          <a:stretch>
            <a:fillRect/>
          </a:stretch>
        </p:blipFill>
        <p:spPr>
          <a:xfrm>
            <a:off x="20" y="1282"/>
            <a:ext cx="12191980" cy="6856718"/>
          </a:xfrm>
          <a:prstGeom prst="rect">
            <a:avLst/>
          </a:prstGeom>
        </p:spPr>
      </p:pic>
    </p:spTree>
    <p:extLst>
      <p:ext uri="{BB962C8B-B14F-4D97-AF65-F5344CB8AC3E}">
        <p14:creationId xmlns:p14="http://schemas.microsoft.com/office/powerpoint/2010/main" val="1804011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a:extLst>
              <a:ext uri="{FF2B5EF4-FFF2-40B4-BE49-F238E27FC236}">
                <a16:creationId xmlns:a16="http://schemas.microsoft.com/office/drawing/2014/main" id="{F69703DC-B5DD-E655-7914-98ACC7BACC90}"/>
              </a:ext>
            </a:extLst>
          </p:cNvPr>
          <p:cNvPicPr>
            <a:picLocks noGrp="1" noChangeAspect="1"/>
          </p:cNvPicPr>
          <p:nvPr>
            <p:ph idx="1"/>
          </p:nvPr>
        </p:nvPicPr>
        <p:blipFill>
          <a:blip r:embed="rId2"/>
          <a:srcRect b="19"/>
          <a:stretch>
            <a:fillRect/>
          </a:stretch>
        </p:blipFill>
        <p:spPr>
          <a:xfrm>
            <a:off x="20" y="1282"/>
            <a:ext cx="12191980" cy="6856718"/>
          </a:xfrm>
          <a:prstGeom prst="rect">
            <a:avLst/>
          </a:prstGeom>
        </p:spPr>
      </p:pic>
    </p:spTree>
    <p:extLst>
      <p:ext uri="{BB962C8B-B14F-4D97-AF65-F5344CB8AC3E}">
        <p14:creationId xmlns:p14="http://schemas.microsoft.com/office/powerpoint/2010/main" val="17983397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a:extLst>
              <a:ext uri="{FF2B5EF4-FFF2-40B4-BE49-F238E27FC236}">
                <a16:creationId xmlns:a16="http://schemas.microsoft.com/office/drawing/2014/main" id="{F0BB0BEE-52E7-1021-393B-ADC90FC2C806}"/>
              </a:ext>
            </a:extLst>
          </p:cNvPr>
          <p:cNvPicPr>
            <a:picLocks noGrp="1" noChangeAspect="1"/>
          </p:cNvPicPr>
          <p:nvPr>
            <p:ph idx="1"/>
          </p:nvPr>
        </p:nvPicPr>
        <p:blipFill>
          <a:blip r:embed="rId2"/>
          <a:srcRect r="3094" b="1"/>
          <a:stretch>
            <a:fillRect/>
          </a:stretch>
        </p:blipFill>
        <p:spPr>
          <a:xfrm>
            <a:off x="20" y="1282"/>
            <a:ext cx="12191980" cy="6856718"/>
          </a:xfrm>
          <a:prstGeom prst="rect">
            <a:avLst/>
          </a:prstGeom>
        </p:spPr>
      </p:pic>
    </p:spTree>
    <p:extLst>
      <p:ext uri="{BB962C8B-B14F-4D97-AF65-F5344CB8AC3E}">
        <p14:creationId xmlns:p14="http://schemas.microsoft.com/office/powerpoint/2010/main" val="25709299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a:extLst>
              <a:ext uri="{FF2B5EF4-FFF2-40B4-BE49-F238E27FC236}">
                <a16:creationId xmlns:a16="http://schemas.microsoft.com/office/drawing/2014/main" id="{38EA73EC-0131-86E7-2D09-9A82AF88843A}"/>
              </a:ext>
            </a:extLst>
          </p:cNvPr>
          <p:cNvPicPr>
            <a:picLocks noGrp="1" noChangeAspect="1"/>
          </p:cNvPicPr>
          <p:nvPr>
            <p:ph idx="1"/>
          </p:nvPr>
        </p:nvPicPr>
        <p:blipFill>
          <a:blip r:embed="rId2"/>
          <a:srcRect r="872" b="1"/>
          <a:stretch>
            <a:fillRect/>
          </a:stretch>
        </p:blipFill>
        <p:spPr>
          <a:xfrm>
            <a:off x="20" y="1282"/>
            <a:ext cx="12191980" cy="6856718"/>
          </a:xfrm>
          <a:prstGeom prst="rect">
            <a:avLst/>
          </a:prstGeom>
        </p:spPr>
      </p:pic>
    </p:spTree>
    <p:extLst>
      <p:ext uri="{BB962C8B-B14F-4D97-AF65-F5344CB8AC3E}">
        <p14:creationId xmlns:p14="http://schemas.microsoft.com/office/powerpoint/2010/main" val="24784081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a:extLst>
              <a:ext uri="{FF2B5EF4-FFF2-40B4-BE49-F238E27FC236}">
                <a16:creationId xmlns:a16="http://schemas.microsoft.com/office/drawing/2014/main" id="{F05B66EC-4957-6413-806C-19ACE2BA5B2F}"/>
              </a:ext>
            </a:extLst>
          </p:cNvPr>
          <p:cNvPicPr>
            <a:picLocks noGrp="1" noChangeAspect="1"/>
          </p:cNvPicPr>
          <p:nvPr>
            <p:ph idx="1"/>
          </p:nvPr>
        </p:nvPicPr>
        <p:blipFill>
          <a:blip r:embed="rId2"/>
          <a:srcRect r="425" b="-1"/>
          <a:stretch>
            <a:fillRect/>
          </a:stretch>
        </p:blipFill>
        <p:spPr>
          <a:xfrm>
            <a:off x="20" y="1282"/>
            <a:ext cx="12191980" cy="6856718"/>
          </a:xfrm>
          <a:prstGeom prst="rect">
            <a:avLst/>
          </a:prstGeom>
        </p:spPr>
      </p:pic>
    </p:spTree>
    <p:extLst>
      <p:ext uri="{BB962C8B-B14F-4D97-AF65-F5344CB8AC3E}">
        <p14:creationId xmlns:p14="http://schemas.microsoft.com/office/powerpoint/2010/main" val="41207411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a:extLst>
              <a:ext uri="{FF2B5EF4-FFF2-40B4-BE49-F238E27FC236}">
                <a16:creationId xmlns:a16="http://schemas.microsoft.com/office/drawing/2014/main" id="{4FA89BD3-7D0D-FC26-2C20-663228A53A4D}"/>
              </a:ext>
            </a:extLst>
          </p:cNvPr>
          <p:cNvPicPr>
            <a:picLocks noGrp="1" noChangeAspect="1"/>
          </p:cNvPicPr>
          <p:nvPr>
            <p:ph idx="1"/>
          </p:nvPr>
        </p:nvPicPr>
        <p:blipFill>
          <a:blip r:embed="rId2"/>
          <a:srcRect r="4428" b="1"/>
          <a:stretch>
            <a:fillRect/>
          </a:stretch>
        </p:blipFill>
        <p:spPr>
          <a:xfrm>
            <a:off x="20" y="1282"/>
            <a:ext cx="12191980" cy="6856718"/>
          </a:xfrm>
          <a:prstGeom prst="rect">
            <a:avLst/>
          </a:prstGeom>
        </p:spPr>
      </p:pic>
    </p:spTree>
    <p:extLst>
      <p:ext uri="{BB962C8B-B14F-4D97-AF65-F5344CB8AC3E}">
        <p14:creationId xmlns:p14="http://schemas.microsoft.com/office/powerpoint/2010/main" val="40951181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a:extLst>
              <a:ext uri="{FF2B5EF4-FFF2-40B4-BE49-F238E27FC236}">
                <a16:creationId xmlns:a16="http://schemas.microsoft.com/office/drawing/2014/main" id="{691A52CA-1033-5F7E-6550-A852036E58F2}"/>
              </a:ext>
            </a:extLst>
          </p:cNvPr>
          <p:cNvPicPr>
            <a:picLocks noGrp="1" noChangeAspect="1"/>
          </p:cNvPicPr>
          <p:nvPr>
            <p:ph idx="1"/>
          </p:nvPr>
        </p:nvPicPr>
        <p:blipFill>
          <a:blip r:embed="rId2"/>
          <a:srcRect r="3982"/>
          <a:stretch>
            <a:fillRect/>
          </a:stretch>
        </p:blipFill>
        <p:spPr>
          <a:xfrm>
            <a:off x="20" y="1282"/>
            <a:ext cx="12191980" cy="6856718"/>
          </a:xfrm>
          <a:prstGeom prst="rect">
            <a:avLst/>
          </a:prstGeom>
        </p:spPr>
      </p:pic>
    </p:spTree>
    <p:extLst>
      <p:ext uri="{BB962C8B-B14F-4D97-AF65-F5344CB8AC3E}">
        <p14:creationId xmlns:p14="http://schemas.microsoft.com/office/powerpoint/2010/main" val="2409500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a:extLst>
              <a:ext uri="{FF2B5EF4-FFF2-40B4-BE49-F238E27FC236}">
                <a16:creationId xmlns:a16="http://schemas.microsoft.com/office/drawing/2014/main" id="{2E0DCCEB-7A85-FC5F-8C05-06DD0F9D2B1A}"/>
              </a:ext>
            </a:extLst>
          </p:cNvPr>
          <p:cNvPicPr>
            <a:picLocks noGrp="1" noChangeAspect="1"/>
          </p:cNvPicPr>
          <p:nvPr>
            <p:ph idx="1"/>
          </p:nvPr>
        </p:nvPicPr>
        <p:blipFill>
          <a:blip r:embed="rId2"/>
          <a:srcRect r="4428" b="1"/>
          <a:stretch>
            <a:fillRect/>
          </a:stretch>
        </p:blipFill>
        <p:spPr>
          <a:xfrm>
            <a:off x="20" y="1282"/>
            <a:ext cx="12191980" cy="6856718"/>
          </a:xfrm>
          <a:prstGeom prst="rect">
            <a:avLst/>
          </a:prstGeom>
        </p:spPr>
      </p:pic>
    </p:spTree>
    <p:extLst>
      <p:ext uri="{BB962C8B-B14F-4D97-AF65-F5344CB8AC3E}">
        <p14:creationId xmlns:p14="http://schemas.microsoft.com/office/powerpoint/2010/main" val="30104667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a:extLst>
              <a:ext uri="{FF2B5EF4-FFF2-40B4-BE49-F238E27FC236}">
                <a16:creationId xmlns:a16="http://schemas.microsoft.com/office/drawing/2014/main" id="{09A1AC9E-CDE9-DDD6-8414-FCE9E9934A2C}"/>
              </a:ext>
            </a:extLst>
          </p:cNvPr>
          <p:cNvPicPr>
            <a:picLocks noGrp="1" noChangeAspect="1"/>
          </p:cNvPicPr>
          <p:nvPr>
            <p:ph idx="1"/>
          </p:nvPr>
        </p:nvPicPr>
        <p:blipFill>
          <a:blip r:embed="rId2"/>
          <a:srcRect r="4872" b="1"/>
          <a:stretch>
            <a:fillRect/>
          </a:stretch>
        </p:blipFill>
        <p:spPr>
          <a:xfrm>
            <a:off x="20" y="1282"/>
            <a:ext cx="12191980" cy="6856718"/>
          </a:xfrm>
          <a:prstGeom prst="rect">
            <a:avLst/>
          </a:prstGeom>
        </p:spPr>
      </p:pic>
    </p:spTree>
    <p:extLst>
      <p:ext uri="{BB962C8B-B14F-4D97-AF65-F5344CB8AC3E}">
        <p14:creationId xmlns:p14="http://schemas.microsoft.com/office/powerpoint/2010/main" val="4438951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4488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814</TotalTime>
  <Words>4203</Words>
  <Application>Microsoft Macintosh PowerPoint</Application>
  <PresentationFormat>Widescreen</PresentationFormat>
  <Paragraphs>626</Paragraphs>
  <Slides>23</Slides>
  <Notes>11</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23</vt:i4>
      </vt:variant>
    </vt:vector>
  </HeadingPairs>
  <TitlesOfParts>
    <vt:vector size="38" baseType="lpstr">
      <vt:lpstr>ＭＳ Ｐゴシック</vt:lpstr>
      <vt:lpstr>ＭＳ Ｐゴシック</vt:lpstr>
      <vt:lpstr>Aptos</vt:lpstr>
      <vt:lpstr>Aptos Display</vt:lpstr>
      <vt:lpstr>Arial</vt:lpstr>
      <vt:lpstr>Calibri</vt:lpstr>
      <vt:lpstr>Calibri Light</vt:lpstr>
      <vt:lpstr>IBM Plex Sans</vt:lpstr>
      <vt:lpstr>IBM Plex Sans Condensed</vt:lpstr>
      <vt:lpstr>IBM Plex Sans Light</vt:lpstr>
      <vt:lpstr>IBM Plex Sans Medium</vt:lpstr>
      <vt:lpstr>IBM Plex Sans Medm</vt:lpstr>
      <vt:lpstr>Source Sans Pro</vt:lpstr>
      <vt:lpstr>System Font Regular</vt:lpstr>
      <vt:lpstr>Office Theme</vt:lpstr>
      <vt:lpstr>IBM Maximo  Real Estate and Facilities the evolution of TRIRIGA</vt:lpstr>
      <vt:lpstr>Maximo Application Suite</vt:lpstr>
      <vt:lpstr>TRIRIGA is the leading enterprise solution  to manage real estate portfolios and operations </vt:lpstr>
      <vt:lpstr>Strategic Real Estate Asset Management can extend beyond IWMS to manage complex business operations</vt:lpstr>
      <vt:lpstr>Portfolios of IBM TRIRIGA </vt:lpstr>
      <vt:lpstr>Transitioning to ALM introduces new possibilities to extend sustainability, maintenance and asset management capabilities</vt:lpstr>
      <vt:lpstr>TRIRIGA manages real estate  throughout its lifecycle</vt:lpstr>
      <vt:lpstr>MAS REF AppPoint consumption tiers</vt:lpstr>
      <vt:lpstr>These embedded building blocks provide powerful capabilities to enhance out-of-box use cases and enable complex business processes</vt:lpstr>
      <vt:lpstr>TRIRIGA offers a highly configurable application platform</vt:lpstr>
      <vt:lpstr>TRIRIGA provides several integration methods</vt:lpstr>
      <vt:lpstr>Migration from TRIRIGA to MAS RE&amp;F</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TANMAY PARASHAR</dc:creator>
  <cp:lastModifiedBy>TANMAY PARASHAR</cp:lastModifiedBy>
  <cp:revision>10</cp:revision>
  <dcterms:created xsi:type="dcterms:W3CDTF">2025-09-09T17:14:13Z</dcterms:created>
  <dcterms:modified xsi:type="dcterms:W3CDTF">2025-10-29T00:11:28Z</dcterms:modified>
</cp:coreProperties>
</file>